
<file path=[Content_Types].xml><?xml version="1.0" encoding="utf-8"?>
<Types xmlns="http://schemas.openxmlformats.org/package/2006/content-types">
  <Default Extension="xml" ContentType="application/xml"/>
  <Default Extension="gif" ContentType="image/gif"/>
  <Default Extension="jpg" ContentType="image/jpeg"/>
  <Default Extension="svg" ContentType="image/svg+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4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20.xml" ContentType="application/vnd.openxmlformats-officedocument.presentationml.slide+xml"/>
  <Override PartName="/ppt/slides/slide28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2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  <Override PartName="/ppt/slideLayouts/slideLayout7.xml" ContentType="application/vnd.openxmlformats-officedocument.presentationml.slideLayout+xml"/>
  <Override PartName="/ppt/notesSlides/notesSlide28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32.xml" ContentType="application/vnd.openxmlformats-officedocument.presentationml.slide+xml"/>
  <Override PartName="/ppt/slides/slide8.xml" ContentType="application/vnd.openxmlformats-officedocument.presentationml.slide+xml"/>
  <Override PartName="/ppt/notesSlides/notesSlide37.xml" ContentType="application/vnd.openxmlformats-officedocument.presentationml.notesSlide+xml"/>
  <Override PartName="/ppt/notesSlides/notesSlide7.xml" ContentType="application/vnd.openxmlformats-officedocument.presentationml.notesSlide+xml"/>
  <Override PartName="/ppt/viewProps.xml" ContentType="application/vnd.openxmlformats-officedocument.presentationml.viewProps+xml"/>
  <Override PartName="/ppt/slides/slide17.xml" ContentType="application/vnd.openxmlformats-officedocument.presentationml.slide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s/slide7.xml" ContentType="application/vnd.openxmlformats-officedocument.presentationml.slide+xml"/>
  <Override PartName="/ppt/slides/slide41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0.xml" ContentType="application/vnd.openxmlformats-officedocument.presentationml.notesSlide+xml"/>
  <Override PartName="/ppt/notesSlides/notesSlide20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2.xml" ContentType="application/vnd.openxmlformats-officedocument.presentationml.notesSlide+xml"/>
  <Override PartName="/ppt/theme/theme1.xml" ContentType="application/vnd.openxmlformats-officedocument.theme+xml"/>
  <Override PartName="/ppt/notesSlides/notesSlide15.xml" ContentType="application/vnd.openxmlformats-officedocument.presentationml.notesSlide+xml"/>
  <Override PartName="/ppt/slides/slide13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5.xml" ContentType="application/vnd.openxmlformats-officedocument.presentationml.slide+xml"/>
  <Override PartName="/ppt/notesSlides/notesSlide4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22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26.xml" ContentType="application/vnd.openxmlformats-officedocument.presentationml.slide+xml"/>
  <Override PartName="/ppt/theme/theme2.xml" ContentType="application/vnd.openxmlformats-officedocument.them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3.xml" ContentType="application/vnd.openxmlformats-officedocument.presentationml.slide+xml"/>
  <Override PartName="/ppt/slides/slide24.xml" ContentType="application/vnd.openxmlformats-officedocument.presentationml.slide+xml"/>
  <Override PartName="/ppt/slides/slide40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Slides/notesSlide33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9.xml" ContentType="application/vnd.openxmlformats-officedocument.presentationml.slide+xml"/>
  <Override PartName="/ppt/presentation.xml" ContentType="application/vnd.openxmlformats-officedocument.presentationml.presentation.main+xml"/>
  <Override PartName="/ppt/slides/slide42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presProps.xml" ContentType="application/vnd.openxmlformats-officedocument.presentationml.presProps+xml"/>
  <Override PartName="/ppt/slides/slide21.xml" ContentType="application/vnd.openxmlformats-officedocument.presentationml.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4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</p:sldIdLst>
  <p:sldSz cx="12192000" cy="6858000"/>
  <p:notesSz cx="6858000" cy="9144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74" d="100"/>
          <a:sy n="74" d="100"/>
        </p:scale>
        <p:origin x="322" y="283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 /><Relationship Id="rId48" Type="http://schemas.openxmlformats.org/officeDocument/2006/relationships/tableStyles" Target="tableStyles.xml" /><Relationship Id="rId4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4214375" name="Espace réservé de l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70211564" name="Espace réservé de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8551296C-918B-487F-B6B8-D063F55D0BEA}" type="datetimeFigureOut">
              <a:rPr/>
              <a:t>06/08/2025</a:t>
            </a:fld>
            <a:endParaRPr lang="fr-FR"/>
          </a:p>
        </p:txBody>
      </p:sp>
      <p:sp>
        <p:nvSpPr>
          <p:cNvPr id="1783928762" name="Espace réservé de l'image des diapositives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1505941207" name="Espace réservé des note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2063101183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670744422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1213820-5C22-4A73-A8FA-3A89E08C055E}" type="slidenum">
              <a:r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Relationship Id="rId3" Type="http://schemas.openxmlformats.org/officeDocument/2006/relationships/hyperlink" Target="https://www.bmj.com/content/389/bmj-2024-082068#F2" TargetMode="Externa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 ?>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 ?>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 ?>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 ?>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33935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52924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54916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25DD4D-0D6C-F275-938A-E33ACFE12A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038007" name="Espace réservé de l'image des diapositives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4445047" name="Espace réservé des not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ea typeface="Calibri"/>
                <a:cs typeface="Calibri"/>
              </a:rPr>
              <a:t>Gene Glass</a:t>
            </a:r>
            <a:endParaRPr/>
          </a:p>
        </p:txBody>
      </p:sp>
      <p:sp>
        <p:nvSpPr>
          <p:cNvPr id="1321053479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51213820-5C22-4A73-A8FA-3A89E08C055E}" type="slidenum">
              <a:rPr/>
              <a:t>2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30473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1362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92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0B23A4-CC7F-E429-F175-C1D323E98C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9902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0566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09050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98DE50-FFC7-D3BF-D3F4-8FEB38A3ACC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02008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2985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04036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7704355-69D8-3AF0-140A-17F041914AE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39644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90228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2272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83600C-EF1A-8A95-8802-4094040712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597631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209363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07237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2333E3-6E3D-5215-67BE-F08DA0CF92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3128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64519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94069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77B470-EA7F-C0C7-A27D-1E4F44D95E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02100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015291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96375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BC1167-F594-35B9-FC75-DD3D6D1B74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11139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65525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118905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00165E-6FB6-4F4E-1E74-122AC760F75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0269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71631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70756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407762-F3B4-2740-E3D2-E96F03259C0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2119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46162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0226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9C24C9-F77F-37EF-88A1-E0A6EAA1BB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99299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35623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36468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E0017A-5A3D-FCFE-E237-F242A5CE2C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4652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423101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417058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E51EF22-E507-C3FB-FE21-640DF0198D0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707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21857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9312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22C41-62C2-B9A2-321E-FABE1B37603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111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29752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235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0EE07C-0554-3916-5893-6CA657BEBC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8588154" name="Espace réservé de l'image des diapositives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9789059" name="Espace réservé des not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ea typeface="Calibri"/>
                <a:cs typeface="Calibri"/>
              </a:rPr>
              <a:t>Probit is the only RCT on the subject</a:t>
            </a:r>
            <a:endParaRPr/>
          </a:p>
          <a:p>
            <a:pPr>
              <a:defRPr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1417509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51213820-5C22-4A73-A8FA-3A89E08C055E}" type="slidenum">
              <a:rPr lang="fr-FR"/>
              <a:t>17</a:t>
            </a:fld>
            <a:endParaRPr lang="fr-F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9873009" name="Espace réservé de l'image des diapositives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7197306" name="Espace réservé des not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ea typeface="Calibri"/>
                <a:cs typeface="Calibri"/>
              </a:rPr>
              <a:t>Garbage in garbage out</a:t>
            </a:r>
            <a:endParaRPr/>
          </a:p>
          <a:p>
            <a:pPr>
              <a:defRPr/>
            </a:pPr>
            <a:r>
              <a:rPr lang="en-US">
                <a:ea typeface="Calibri"/>
                <a:cs typeface="Calibri"/>
              </a:rPr>
              <a:t>Nudge is not a homogeneous construct.</a:t>
            </a:r>
            <a:endParaRPr/>
          </a:p>
        </p:txBody>
      </p:sp>
      <p:sp>
        <p:nvSpPr>
          <p:cNvPr id="30654567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51213820-5C22-4A73-A8FA-3A89E08C055E}" type="slidenum">
              <a:rPr lang="fr-FR"/>
              <a:t>18</a:t>
            </a:fld>
            <a:endParaRPr lang="fr-F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38446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522378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441851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1D563C7-9D62-99C1-9406-58CBEB4570E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116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03253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41052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35B3137-3686-A287-C706-55763041A6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2928383" name="Espace réservé de l'image des diapositives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3382430" name="Espace réservé des not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ea typeface="Calibri"/>
                <a:cs typeface="Calibri"/>
              </a:rPr>
              <a:t>EVIDENCE INFLATION FACTOR</a:t>
            </a:r>
            <a:endParaRPr/>
          </a:p>
        </p:txBody>
      </p:sp>
      <p:sp>
        <p:nvSpPr>
          <p:cNvPr id="1744765701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51213820-5C22-4A73-A8FA-3A89E08C055E}" type="slidenum">
              <a:rPr lang="fr-FR"/>
              <a:t>21</a:t>
            </a:fld>
            <a:endParaRPr lang="fr-F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521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75925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17656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71E2EB0-6582-0343-358B-3FD5DD0BAB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00370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47067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5800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1DBA27-67BC-62E3-9D2F-0587DE7BED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493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16267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35722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56A8E7-2343-AC8C-481A-F7CEEEF23E9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182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0849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No publication bias = seen</a:t>
            </a:r>
            <a:endParaRPr/>
          </a:p>
        </p:txBody>
      </p:sp>
      <p:sp>
        <p:nvSpPr>
          <p:cNvPr id="5349157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D5F4E6-54B2-DC6F-2397-0CB392A0BF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96011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36979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11658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4C9E7-24C0-53B0-F721-04F5DD5F008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2806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80571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12858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02EBD87-A683-96DA-2C24-6ADBEFB2F8B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7645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20326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700356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C54699-5FD4-3AD7-2173-4AEAF9E484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28722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42427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58763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C0C43C-DB63-1840-5F7F-0F11E514F6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6611103" name="Espace réservé de l'image des diapositives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5058258" name="Espace réservé des not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>
                <a:ea typeface="Calibri"/>
                <a:cs typeface="Calibri"/>
              </a:rPr>
              <a:t>We</a:t>
            </a:r>
            <a:r>
              <a:rPr lang="en-US">
                <a:ea typeface="Calibri"/>
                <a:cs typeface="Calibri"/>
              </a:rPr>
              <a:t> are supposed to look at the effect of RP on stress but clearly we are not as there are </a:t>
            </a:r>
            <a:r>
              <a:rPr lang="en-US">
                <a:ea typeface="Calibri"/>
                <a:cs typeface="Calibri"/>
              </a:rPr>
              <a:t>literaly</a:t>
            </a:r>
            <a:r>
              <a:rPr lang="en-US">
                <a:ea typeface="Calibri"/>
                <a:cs typeface="Calibri"/>
              </a:rPr>
              <a:t> no effect based on stress for both. Only change in dispersion.</a:t>
            </a:r>
            <a:endParaRPr/>
          </a:p>
          <a:p>
            <a:pPr>
              <a:defRPr/>
            </a:pPr>
            <a:endParaRPr lang="en-US">
              <a:ea typeface="Calibri"/>
              <a:cs typeface="Calibri"/>
            </a:endParaRPr>
          </a:p>
          <a:p>
            <a:pPr>
              <a:defRPr/>
            </a:pPr>
            <a:r>
              <a:rPr lang="en-US">
                <a:ea typeface="Calibri"/>
                <a:cs typeface="Calibri"/>
              </a:rPr>
              <a:t>Again, decisions to extract the data lead to a highly positive effect, while another would have resulted in no effect at all.</a:t>
            </a:r>
            <a:endParaRPr/>
          </a:p>
        </p:txBody>
      </p:sp>
      <p:sp>
        <p:nvSpPr>
          <p:cNvPr id="3424123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51213820-5C22-4A73-A8FA-3A89E08C055E}" type="slidenum">
              <a:rPr lang="fr-FR"/>
              <a:t>33</a:t>
            </a:fld>
            <a:endParaRPr lang="fr-F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08697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57340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92805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D43C5D-780E-9B9D-AC30-89BE3A493BD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8002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79699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94955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F4CADA-6348-5C8C-F27B-EF24BA3ED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93068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995801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2649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16ABF1-A9C3-B100-2D50-1D028004EC3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66743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99004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40572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49A0C0-3F00-7E7F-F191-4A580A2AD9E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496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19019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90036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9C3BC23-4DC0-F1D8-B285-E506AEEE356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3028112" name="Espace réservé de l'image des diapositives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4296116" name="Espace réservé des not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 u="sng">
                <a:solidFill>
                  <a:srgbClr val="2A6EBB"/>
                </a:solidFill>
                <a:hlinkClick r:id="rId3" tooltip="https://www.bmj.com/content/389/bmj-2024-082068#F2"/>
              </a:rPr>
              <a:t>Figure 2</a:t>
            </a:r>
            <a:r>
              <a:rPr lang="en-US">
                <a:solidFill>
                  <a:srgbClr val="333333"/>
                </a:solidFill>
              </a:rPr>
              <a:t> shows the impact of retracted trials on the results of meta-analyses (n=3902). We found that the exclusion of the retracted trials from the meta-analyses led to a change in the direction of the pooled effect in 8.4% (95% confidence interval (CI) 6.8% to 10.1%; n=392) of the meta-analyses, and a change in the significance of the P value occurred in 16.0% (14.2% to 17.9%; n=692). The proportion of meta-analyses in which both the direction of the effects and the significance of the P value were altered was 3.9% (95% CI 2.5% to 5.2%; n=218), and the proportion of meta-analyses in which either the direction of the effects or the significance of the P value was altered was 20.6% (18.5% to 22.8%; n=866). In 15.7% (95% CI 13.5% to 17.9%; n=659) meta-analyses, the magnitude of the effects changed by more than 50% when retracted trials were excluded.</a:t>
            </a:r>
            <a:endParaRPr lang="fr-FR"/>
          </a:p>
        </p:txBody>
      </p:sp>
      <p:sp>
        <p:nvSpPr>
          <p:cNvPr id="2019933597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/>
          <a:lstStyle/>
          <a:p>
            <a:pPr>
              <a:defRPr/>
            </a:pPr>
            <a:fld id="{51213820-5C22-4A73-A8FA-3A89E08C055E}" type="slidenum">
              <a:rPr lang="fr-FR"/>
              <a:t>40</a:t>
            </a:fld>
            <a:endParaRPr lang="fr-FR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0099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65022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02686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8D4A8F-214C-86F7-4D7B-EA1C78F965D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786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483133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1612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D1C785-EDD7-CEBA-183E-B64DDD47EF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2933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26924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39318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65F004-95DC-CB49-34E0-D5228706457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9234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0792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60418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B43603-FB6B-CDAF-12D7-095AEB564C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75523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3017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571193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EEECB7-7A7A-9E22-A026-FC35F3FC8E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7579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856542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52763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77EE438-C576-5685-00E3-04C862D36D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4831359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40019345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/>
          </a:p>
        </p:txBody>
      </p:sp>
      <p:sp>
        <p:nvSpPr>
          <p:cNvPr id="1471386336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8941B0-F4D5-4460-BCAD-F7E2B41A8257}" type="datetimeFigureOut">
              <a:rPr lang="fr-FR"/>
              <a:t>08/09/2025</a:t>
            </a:fld>
            <a:endParaRPr lang="fr-FR"/>
          </a:p>
        </p:txBody>
      </p:sp>
      <p:sp>
        <p:nvSpPr>
          <p:cNvPr id="629020768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81778638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C6CCC6-2BE5-4E42-96A4-D1E8E81A3D8E}" type="slidenum">
              <a:rPr lang="fr-FR"/>
              <a:t>1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372095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050183747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796515385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8941B0-F4D5-4460-BCAD-F7E2B41A8257}" type="datetimeFigureOut">
              <a:rPr lang="fr-FR"/>
              <a:t>08/09/2025</a:t>
            </a:fld>
            <a:endParaRPr lang="fr-FR"/>
          </a:p>
        </p:txBody>
      </p:sp>
      <p:sp>
        <p:nvSpPr>
          <p:cNvPr id="10600743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176637425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C6CCC6-2BE5-4E42-96A4-D1E8E81A3D8E}" type="slidenum">
              <a:rPr lang="fr-FR"/>
              <a:t>2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7826806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185999668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734861173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8941B0-F4D5-4460-BCAD-F7E2B41A8257}" type="datetimeFigureOut">
              <a:rPr lang="fr-FR"/>
              <a:t>08/09/2025</a:t>
            </a:fld>
            <a:endParaRPr lang="fr-FR"/>
          </a:p>
        </p:txBody>
      </p:sp>
      <p:sp>
        <p:nvSpPr>
          <p:cNvPr id="214109619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003112875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C6CCC6-2BE5-4E42-96A4-D1E8E81A3D8E}" type="slidenum">
              <a:rPr lang="fr-FR"/>
              <a:t>&lt;#&gt;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3274090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832927210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144742297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486964998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8941B0-F4D5-4460-BCAD-F7E2B41A8257}" type="datetimeFigureOut">
              <a:rPr lang="fr-FR"/>
              <a:t>08/09/2025</a:t>
            </a:fld>
            <a:endParaRPr lang="fr-FR"/>
          </a:p>
        </p:txBody>
      </p:sp>
      <p:sp>
        <p:nvSpPr>
          <p:cNvPr id="941565005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137346184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C6CCC6-2BE5-4E42-96A4-D1E8E81A3D8E}" type="slidenum">
              <a:rPr lang="fr-FR"/>
              <a:t>&lt;#&gt;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4695638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228302421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765329190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6832035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944490961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49900114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8941B0-F4D5-4460-BCAD-F7E2B41A8257}" type="datetimeFigureOut">
              <a:rPr lang="fr-FR"/>
              <a:t>08/09/2025</a:t>
            </a:fld>
            <a:endParaRPr lang="fr-FR"/>
          </a:p>
        </p:txBody>
      </p:sp>
      <p:sp>
        <p:nvSpPr>
          <p:cNvPr id="805666882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600698251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C6CCC6-2BE5-4E42-96A4-D1E8E81A3D8E}" type="slidenum">
              <a:rPr lang="fr-FR"/>
              <a:t>&lt;#&gt;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30275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053701273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8941B0-F4D5-4460-BCAD-F7E2B41A8257}" type="datetimeFigureOut">
              <a:rPr lang="fr-FR"/>
              <a:t>08/09/2025</a:t>
            </a:fld>
            <a:endParaRPr lang="fr-FR"/>
          </a:p>
        </p:txBody>
      </p:sp>
      <p:sp>
        <p:nvSpPr>
          <p:cNvPr id="1760322782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945419705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C6CCC6-2BE5-4E42-96A4-D1E8E81A3D8E}" type="slidenum">
              <a:rPr lang="fr-FR"/>
              <a:t>&lt;#&gt;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6510457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8941B0-F4D5-4460-BCAD-F7E2B41A8257}" type="datetimeFigureOut">
              <a:rPr lang="fr-FR"/>
              <a:t>08/09/2025</a:t>
            </a:fld>
            <a:endParaRPr lang="fr-FR"/>
          </a:p>
        </p:txBody>
      </p:sp>
      <p:sp>
        <p:nvSpPr>
          <p:cNvPr id="1588104346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90022885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C6CCC6-2BE5-4E42-96A4-D1E8E81A3D8E}" type="slidenum">
              <a:rPr lang="fr-FR"/>
              <a:t>&lt;#&gt;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1964959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353490271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959262286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565026694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8941B0-F4D5-4460-BCAD-F7E2B41A8257}" type="datetimeFigureOut">
              <a:rPr lang="fr-FR"/>
              <a:t>08/09/2025</a:t>
            </a:fld>
            <a:endParaRPr lang="fr-FR"/>
          </a:p>
        </p:txBody>
      </p:sp>
      <p:sp>
        <p:nvSpPr>
          <p:cNvPr id="185853829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349104703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C6CCC6-2BE5-4E42-96A4-D1E8E81A3D8E}" type="slidenum">
              <a:rPr lang="fr-FR"/>
              <a:t>&lt;#&gt;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674399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731662928" name="Espace réservé pour une image 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fr-FR"/>
          </a:p>
        </p:txBody>
      </p:sp>
      <p:sp>
        <p:nvSpPr>
          <p:cNvPr id="86732909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1324981802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8941B0-F4D5-4460-BCAD-F7E2B41A8257}" type="datetimeFigureOut">
              <a:rPr lang="fr-FR"/>
              <a:t>08/09/2025</a:t>
            </a:fld>
            <a:endParaRPr lang="fr-FR"/>
          </a:p>
        </p:txBody>
      </p:sp>
      <p:sp>
        <p:nvSpPr>
          <p:cNvPr id="2144682672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00576031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C6CCC6-2BE5-4E42-96A4-D1E8E81A3D8E}" type="slidenum">
              <a:rPr lang="fr-FR"/>
              <a:t>&lt;#&gt;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5230308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737393039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58928185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8941B0-F4D5-4460-BCAD-F7E2B41A8257}" type="datetimeFigureOut">
              <a:rPr lang="fr-FR"/>
              <a:t>08/09/2025</a:t>
            </a:fld>
            <a:endParaRPr lang="fr-FR"/>
          </a:p>
        </p:txBody>
      </p:sp>
      <p:sp>
        <p:nvSpPr>
          <p:cNvPr id="1781922428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3023945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C6CCC6-2BE5-4E42-96A4-D1E8E81A3D8E}" type="slidenum">
              <a:rPr lang="fr-FR"/>
              <a:t>&lt;#&gt;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9420441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451264450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6773659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38941B0-F4D5-4460-BCAD-F7E2B41A8257}" type="datetimeFigureOut">
              <a:rPr lang="fr-FR"/>
              <a:t>08/09/2025</a:t>
            </a:fld>
            <a:endParaRPr lang="fr-FR"/>
          </a:p>
        </p:txBody>
      </p:sp>
      <p:sp>
        <p:nvSpPr>
          <p:cNvPr id="1300181377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322002540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27C6CCC6-2BE5-4E42-96A4-D1E8E81A3D8E}" type="slidenum">
              <a:rPr lang="fr-FR"/>
              <a:t>&lt;#&gt;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7635365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761041700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279607677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638941B0-F4D5-4460-BCAD-F7E2B41A8257}" type="datetimeFigureOut">
              <a:rPr lang="fr-FR"/>
              <a:t>08/09/2025</a:t>
            </a:fld>
            <a:endParaRPr lang="fr-FR"/>
          </a:p>
        </p:txBody>
      </p:sp>
      <p:sp>
        <p:nvSpPr>
          <p:cNvPr id="1903042027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299370139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>
              <a:defRPr/>
            </a:pPr>
            <a:fld id="{27C6CCC6-2BE5-4E42-96A4-D1E8E81A3D8E}" type="slidenum">
              <a:rPr lang="fr-FR"/>
              <a:t>1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media1.sv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1.png"/><Relationship Id="rId4" Type="http://schemas.openxmlformats.org/officeDocument/2006/relationships/hyperlink" Target="https://www.crd.york.ac.uk/prospero/display_record.php?RecordID=15812" TargetMode="External"/><Relationship Id="rId5" Type="http://schemas.openxmlformats.org/officeDocument/2006/relationships/hyperlink" Target="https://www.bmj.com/content/343/bmj.d5928.full" TargetMode="External"/><Relationship Id="rId6" Type="http://schemas.openxmlformats.org/officeDocument/2006/relationships/hyperlink" Target="https://www.ephpp.ca/quality-assessment-tool-for-quantitative-studies/" TargetMode="External"/><Relationship Id="rId7" Type="http://schemas.openxmlformats.org/officeDocument/2006/relationships/hyperlink" Target="https://bestpractice.bmj.com/info/toolkit/learn-ebm/what-is-grade/" TargetMode="External"/><Relationship Id="rId8" Type="http://schemas.openxmlformats.org/officeDocument/2006/relationships/hyperlink" Target="https://handbook-5-1.cochrane.org/chapter_9/9_5_1_what_is_heterogeneity.htm" TargetMode="External"/><Relationship Id="rId9" Type="http://schemas.openxmlformats.org/officeDocument/2006/relationships/image" Target="../media/image22.png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oi.org/10.1002/jrsm.1703" TargetMode="External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7.gif"/><Relationship Id="rId4" Type="http://schemas.openxmlformats.org/officeDocument/2006/relationships/image" Target="../media/image38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9.png"/><Relationship Id="rId4" Type="http://schemas.openxmlformats.org/officeDocument/2006/relationships/image" Target="../media/image40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0.png"/><Relationship Id="rId4" Type="http://schemas.openxmlformats.org/officeDocument/2006/relationships/image" Target="../media/image46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2.png"/><Relationship Id="rId4" Type="http://schemas.openxmlformats.org/officeDocument/2006/relationships/image" Target="../media/image53.jp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56.png"/><Relationship Id="rId8" Type="http://schemas.openxmlformats.org/officeDocument/2006/relationships/image" Target="../media/image57.png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2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8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Relationship Id="rId6" Type="http://schemas.openxmlformats.org/officeDocument/2006/relationships/image" Target="../media/image61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doi.org/10.1136/bmj-2024-082068" TargetMode="External"/><Relationship Id="rId4" Type="http://schemas.openxmlformats.org/officeDocument/2006/relationships/image" Target="../media/image62.jp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63.png"/><Relationship Id="rId4" Type="http://schemas.openxmlformats.org/officeDocument/2006/relationships/image" Target="../media/image64.png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9.png"/><Relationship Id="rId4" Type="http://schemas.openxmlformats.org/officeDocument/2006/relationships/image" Target="../media/image70.png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7869279" name="Titre 1"/>
          <p:cNvSpPr>
            <a:spLocks noGrp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Rethinking </a:t>
            </a:r>
            <a:r>
              <a:rPr lang="fr-FR"/>
              <a:t>meta-analysis</a:t>
            </a:r>
            <a:r>
              <a:rPr lang="fr-FR"/>
              <a:t> </a:t>
            </a:r>
            <a:r>
              <a:rPr lang="fr-FR"/>
              <a:t>purpose</a:t>
            </a:r>
            <a:endParaRPr/>
          </a:p>
        </p:txBody>
      </p:sp>
      <p:sp>
        <p:nvSpPr>
          <p:cNvPr id="1533295449" name="Sous-titre 2"/>
          <p:cNvSpPr>
            <a:spLocks noGrp="1"/>
          </p:cNvSpPr>
          <p:nvPr>
            <p:ph type="subTitle" idx="1"/>
          </p:nvPr>
        </p:nvSpPr>
        <p:spPr bwMode="auto"/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fr-FR" sz="1200"/>
              <a:t>Adrien Fillon</a:t>
            </a:r>
            <a:endParaRPr lang="fr-FR"/>
          </a:p>
          <a:p>
            <a:pPr>
              <a:defRPr/>
            </a:pPr>
            <a:r>
              <a:rPr lang="fr-FR" sz="1200"/>
              <a:t>TWIN4MERIT </a:t>
            </a:r>
            <a:r>
              <a:rPr lang="fr-FR" sz="1200"/>
              <a:t>summer</a:t>
            </a:r>
            <a:r>
              <a:rPr lang="fr-FR" sz="1200"/>
              <a:t> </a:t>
            </a:r>
            <a:r>
              <a:rPr lang="fr-FR" sz="1200"/>
              <a:t>school</a:t>
            </a:r>
            <a:r>
              <a:rPr lang="fr-FR" sz="1200"/>
              <a:t> </a:t>
            </a:r>
            <a:endParaRPr/>
          </a:p>
          <a:p>
            <a:pPr>
              <a:defRPr/>
            </a:pPr>
            <a:r>
              <a:rPr lang="fr-FR" sz="1200"/>
              <a:t>September</a:t>
            </a:r>
            <a:r>
              <a:rPr lang="fr-FR" sz="1200"/>
              <a:t>, 9,  2025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2791004" name="Image 6" descr="Une image contenant texte, Visage humain, homme, capture d’écran&#10;&#10;Le contenu généré par l’IA peut être incorrect.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899833" y="379320"/>
            <a:ext cx="10157011" cy="59648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14142119" name="Espace réservé du contenu 3" descr="Méta-analyse — Wikipédia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2561146" y="771996"/>
            <a:ext cx="7060299" cy="5837707"/>
          </a:xfrm>
        </p:spPr>
      </p:pic>
      <p:pic>
        <p:nvPicPr>
          <p:cNvPr id="1703255732" name="Graphique 4" descr="Couronne avec un remplissage uni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 bwMode="auto">
          <a:xfrm>
            <a:off x="4999096" y="992647"/>
            <a:ext cx="1093694" cy="11161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3255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03255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2865259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What is the purpose of meta-analyses?</a:t>
            </a:r>
            <a:endParaRPr/>
          </a:p>
        </p:txBody>
      </p:sp>
      <p:sp>
        <p:nvSpPr>
          <p:cNvPr id="160086183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635000" y="1800225"/>
            <a:ext cx="5016500" cy="16335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en-AU"/>
              <a:t>Traditionally</a:t>
            </a:r>
            <a:r>
              <a:rPr lang="fr-FR"/>
              <a:t> : </a:t>
            </a:r>
            <a:r>
              <a:rPr lang="fr-FR"/>
              <a:t>assess</a:t>
            </a:r>
            <a:r>
              <a:rPr lang="fr-FR"/>
              <a:t> </a:t>
            </a:r>
            <a:r>
              <a:rPr lang="fr-FR"/>
              <a:t>effect</a:t>
            </a:r>
            <a:r>
              <a:rPr lang="fr-FR"/>
              <a:t> </a:t>
            </a:r>
            <a:r>
              <a:rPr lang="fr-FR"/>
              <a:t>size of a </a:t>
            </a:r>
            <a:r>
              <a:rPr lang="fr-FR"/>
              <a:t>particular</a:t>
            </a:r>
            <a:r>
              <a:rPr lang="fr-FR"/>
              <a:t> </a:t>
            </a:r>
            <a:r>
              <a:rPr lang="fr-FR"/>
              <a:t>effect</a:t>
            </a:r>
            <a:r>
              <a:rPr lang="fr-FR"/>
              <a:t> </a:t>
            </a:r>
            <a:r>
              <a:rPr lang="fr-FR"/>
              <a:t>(</a:t>
            </a:r>
            <a:r>
              <a:rPr lang="fr-FR"/>
              <a:t>whatever</a:t>
            </a:r>
            <a:r>
              <a:rPr lang="fr-FR"/>
              <a:t> </a:t>
            </a:r>
            <a:r>
              <a:rPr lang="fr-FR"/>
              <a:t>standardized</a:t>
            </a:r>
            <a:r>
              <a:rPr lang="fr-FR"/>
              <a:t> </a:t>
            </a:r>
            <a:r>
              <a:rPr lang="fr-FR"/>
              <a:t>it</a:t>
            </a:r>
            <a:r>
              <a:rPr lang="fr-FR"/>
              <a:t> </a:t>
            </a:r>
            <a:r>
              <a:rPr lang="fr-FR"/>
              <a:t>is</a:t>
            </a:r>
            <a:r>
              <a:rPr lang="fr-FR"/>
              <a:t>)</a:t>
            </a:r>
            <a:endParaRPr/>
          </a:p>
          <a:p>
            <a:pPr>
              <a:defRPr/>
            </a:pPr>
            <a:endParaRPr lang="fr-FR"/>
          </a:p>
          <a:p>
            <a:pPr>
              <a:defRPr/>
            </a:pPr>
            <a:endParaRPr lang="fr-FR"/>
          </a:p>
          <a:p>
            <a:pPr>
              <a:defRPr/>
            </a:pPr>
            <a:endParaRPr lang="fr-FR"/>
          </a:p>
          <a:p>
            <a:pPr>
              <a:defRPr/>
            </a:pPr>
            <a:endParaRPr lang="fr-FR"/>
          </a:p>
        </p:txBody>
      </p:sp>
      <p:cxnSp>
        <p:nvCxnSpPr>
          <p:cNvPr id="471173442" name="Connecteur droit avec flèche 5"/>
          <p:cNvCxnSpPr/>
          <p:nvPr/>
        </p:nvCxnSpPr>
        <p:spPr bwMode="auto">
          <a:xfrm>
            <a:off x="5536444" y="2493779"/>
            <a:ext cx="1496987" cy="1578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2225826" name="ZoneTexte 8"/>
          <p:cNvSpPr txBox="1"/>
          <p:nvPr/>
        </p:nvSpPr>
        <p:spPr bwMode="auto">
          <a:xfrm>
            <a:off x="7278604" y="2052011"/>
            <a:ext cx="274320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fr-FR" sz="2800"/>
              <a:t>Fixed-effect</a:t>
            </a:r>
            <a:r>
              <a:rPr lang="fr-FR" sz="2800"/>
              <a:t> </a:t>
            </a:r>
            <a:r>
              <a:rPr lang="fr-FR" sz="2800"/>
              <a:t>meta-analysis</a:t>
            </a:r>
            <a:endParaRPr lang="fr-FR" sz="2800"/>
          </a:p>
        </p:txBody>
      </p:sp>
      <p:sp>
        <p:nvSpPr>
          <p:cNvPr id="159180578" name="ZoneTexte 9"/>
          <p:cNvSpPr txBox="1"/>
          <p:nvPr/>
        </p:nvSpPr>
        <p:spPr bwMode="auto">
          <a:xfrm>
            <a:off x="685800" y="4292600"/>
            <a:ext cx="4457700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457200" indent="-457200">
              <a:buFont typeface="Arial"/>
              <a:buChar char="•"/>
              <a:defRPr/>
            </a:pPr>
            <a:r>
              <a:rPr lang="en-US" sz="2800"/>
              <a:t>Test if an effect exists and is consistent in the literature</a:t>
            </a:r>
            <a:endParaRPr lang="en-US"/>
          </a:p>
        </p:txBody>
      </p:sp>
      <p:cxnSp>
        <p:nvCxnSpPr>
          <p:cNvPr id="544787713" name="Connecteur droit avec flèche 10"/>
          <p:cNvCxnSpPr/>
          <p:nvPr/>
        </p:nvCxnSpPr>
        <p:spPr bwMode="auto">
          <a:xfrm flipV="1">
            <a:off x="5141066" y="4669694"/>
            <a:ext cx="1496987" cy="14475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2754019" name="ZoneTexte 11"/>
          <p:cNvSpPr txBox="1"/>
          <p:nvPr/>
        </p:nvSpPr>
        <p:spPr bwMode="auto">
          <a:xfrm>
            <a:off x="6892812" y="4458781"/>
            <a:ext cx="445817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sz="2800"/>
              <a:t>P-value of difference with 0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8618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73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71173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225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2225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8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787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754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02754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0861833" grpId="0" build="p"/>
      <p:bldP spid="372225826" grpId="0"/>
      <p:bldP spid="159180578" grpId="0"/>
      <p:bldP spid="16027540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6163310" name="Titre 1"/>
          <p:cNvSpPr>
            <a:spLocks noGrp="1"/>
          </p:cNvSpPr>
          <p:nvPr>
            <p:ph type="title"/>
          </p:nvPr>
        </p:nvSpPr>
        <p:spPr bwMode="auto">
          <a:xfrm>
            <a:off x="838200" y="1746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First </a:t>
            </a:r>
            <a:r>
              <a:rPr lang="fr-FR"/>
              <a:t>problems</a:t>
            </a:r>
            <a:endParaRPr/>
          </a:p>
        </p:txBody>
      </p:sp>
      <p:sp>
        <p:nvSpPr>
          <p:cNvPr id="2046461714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1495425"/>
            <a:ext cx="10515600" cy="24844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en-GB"/>
              <a:t>Researchers don't standardise their practices</a:t>
            </a:r>
            <a:endParaRPr/>
          </a:p>
          <a:p>
            <a:pPr lvl="1">
              <a:buFont typeface="Courier New"/>
              <a:buChar char="o"/>
              <a:defRPr/>
            </a:pPr>
            <a:r>
              <a:rPr lang="en-GB"/>
              <a:t>In the selection of participants</a:t>
            </a:r>
            <a:endParaRPr/>
          </a:p>
          <a:p>
            <a:pPr lvl="1">
              <a:buFont typeface="Courier New"/>
              <a:buChar char="o"/>
              <a:defRPr/>
            </a:pPr>
            <a:r>
              <a:rPr lang="en-GB"/>
              <a:t>In design</a:t>
            </a:r>
            <a:endParaRPr/>
          </a:p>
          <a:p>
            <a:pPr lvl="1">
              <a:buFont typeface="Courier New"/>
              <a:buChar char="o"/>
              <a:defRPr/>
            </a:pPr>
            <a:r>
              <a:rPr lang="en-GB"/>
              <a:t>In measures</a:t>
            </a:r>
            <a:endParaRPr/>
          </a:p>
          <a:p>
            <a:pPr lvl="1">
              <a:buFont typeface="Courier New"/>
              <a:buChar char="o"/>
              <a:defRPr/>
            </a:pPr>
            <a:r>
              <a:rPr lang="en-GB"/>
              <a:t>When reporting their results</a:t>
            </a:r>
            <a:endParaRPr/>
          </a:p>
          <a:p>
            <a:pPr lvl="1">
              <a:buFont typeface="Courier New"/>
              <a:buChar char="o"/>
              <a:defRPr/>
            </a:pPr>
            <a:r>
              <a:rPr lang="en-GB"/>
              <a:t>Etc.</a:t>
            </a:r>
            <a:endParaRPr/>
          </a:p>
        </p:txBody>
      </p:sp>
      <p:cxnSp>
        <p:nvCxnSpPr>
          <p:cNvPr id="230150417" name="Connecteur droit avec flèche 3"/>
          <p:cNvCxnSpPr/>
          <p:nvPr/>
        </p:nvCxnSpPr>
        <p:spPr bwMode="auto">
          <a:xfrm>
            <a:off x="603532" y="4852403"/>
            <a:ext cx="857016" cy="1207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4899220" name="ZoneTexte 4"/>
          <p:cNvSpPr txBox="1"/>
          <p:nvPr/>
        </p:nvSpPr>
        <p:spPr bwMode="auto">
          <a:xfrm>
            <a:off x="1720439" y="4675232"/>
            <a:ext cx="74676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CA"/>
              <a:t>Very high heterogeneity not solely due to "measurement </a:t>
            </a:r>
            <a:r>
              <a:rPr lang="en-CA">
                <a:solidFill>
                  <a:srgbClr val="000000"/>
                </a:solidFill>
                <a:latin typeface="Aptos"/>
              </a:rPr>
              <a:t>errors"</a:t>
            </a:r>
            <a:endParaRPr lang="en-CA"/>
          </a:p>
        </p:txBody>
      </p:sp>
      <p:cxnSp>
        <p:nvCxnSpPr>
          <p:cNvPr id="322907957" name="Connecteur droit avec flèche 5"/>
          <p:cNvCxnSpPr/>
          <p:nvPr/>
        </p:nvCxnSpPr>
        <p:spPr bwMode="auto">
          <a:xfrm>
            <a:off x="527331" y="5589003"/>
            <a:ext cx="857016" cy="1207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933940" name="ZoneTexte 6"/>
          <p:cNvSpPr txBox="1"/>
          <p:nvPr/>
        </p:nvSpPr>
        <p:spPr bwMode="auto">
          <a:xfrm>
            <a:off x="1644239" y="5411831"/>
            <a:ext cx="74676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GB"/>
              <a:t>In a leap of faith: moved from Fixed to Random effect </a:t>
            </a:r>
            <a:r>
              <a:rPr lang="en-GB"/>
              <a:t>modelling</a:t>
            </a:r>
            <a:endParaRPr lang="en-GB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64617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64617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64617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64617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64617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64617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150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0150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89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4489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907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33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6461714" grpId="0" build="p"/>
      <p:bldP spid="1444899220" grpId="0"/>
      <p:bldP spid="519339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8909334" name="Titre 1"/>
          <p:cNvSpPr>
            <a:spLocks noGrp="1"/>
          </p:cNvSpPr>
          <p:nvPr>
            <p:ph type="title"/>
          </p:nvPr>
        </p:nvSpPr>
        <p:spPr bwMode="auto">
          <a:xfrm>
            <a:off x="275976" y="5434652"/>
            <a:ext cx="8547232" cy="91270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upright="0" compatLnSpc="0">
            <a:normAutofit fontScale="90000" lnSpcReduction="2000"/>
          </a:bodyPr>
          <a:lstStyle/>
          <a:p>
            <a:pPr marL="571500" indent="-571500">
              <a:buFont typeface="Arial"/>
              <a:buChar char="•"/>
              <a:defRPr/>
            </a:pPr>
            <a:r>
              <a:rPr lang="fr-FR" sz="3600"/>
              <a:t>We</a:t>
            </a:r>
            <a:r>
              <a:rPr lang="fr-FR" sz="3600"/>
              <a:t> suppose </a:t>
            </a:r>
            <a:r>
              <a:rPr lang="fr-FR" sz="3600"/>
              <a:t>that</a:t>
            </a:r>
            <a:r>
              <a:rPr lang="fr-FR" sz="3600"/>
              <a:t> the </a:t>
            </a:r>
            <a:r>
              <a:rPr lang="fr-FR" sz="3600"/>
              <a:t>whole</a:t>
            </a:r>
            <a:r>
              <a:rPr lang="fr-FR" sz="3600"/>
              <a:t> </a:t>
            </a:r>
            <a:r>
              <a:rPr lang="fr-FR" sz="3600"/>
              <a:t>heterogeneity</a:t>
            </a:r>
            <a:r>
              <a:rPr lang="fr-FR" sz="3600"/>
              <a:t> </a:t>
            </a:r>
            <a:r>
              <a:rPr lang="fr-FR" sz="3600"/>
              <a:t>is</a:t>
            </a:r>
            <a:r>
              <a:rPr lang="fr-FR" sz="3600"/>
              <a:t> </a:t>
            </a:r>
            <a:r>
              <a:rPr lang="fr-FR" sz="3600"/>
              <a:t>still</a:t>
            </a:r>
            <a:r>
              <a:rPr lang="fr-FR" sz="3600"/>
              <a:t> </a:t>
            </a:r>
            <a:r>
              <a:rPr lang="fr-FR" sz="3600"/>
              <a:t>random</a:t>
            </a:r>
            <a:br>
              <a:rPr lang="fr-FR" sz="3600"/>
            </a:br>
            <a:br>
              <a:rPr lang="fr-FR" sz="3600"/>
            </a:br>
            <a:endParaRPr lang="fr-FR" sz="3600"/>
          </a:p>
        </p:txBody>
      </p:sp>
      <p:pic>
        <p:nvPicPr>
          <p:cNvPr id="1937659435" name="Espace réservé du contenu 3" descr="Une image contenant texte, capture d’écran, conception&#10;&#10;Le contenu généré par l’IA peut être incorrect.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282576" y="284692"/>
            <a:ext cx="5056713" cy="4351338"/>
          </a:xfrm>
        </p:spPr>
      </p:pic>
      <p:pic>
        <p:nvPicPr>
          <p:cNvPr id="587678823" name="Image 4" descr="Une image contenant texte, capture d’écran, conception&#10;&#10;Le contenu généré par l’IA peut être incorrect.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977467" y="286211"/>
            <a:ext cx="5054599" cy="4346712"/>
          </a:xfrm>
          <a:prstGeom prst="rect">
            <a:avLst/>
          </a:prstGeom>
        </p:spPr>
      </p:pic>
      <p:sp>
        <p:nvSpPr>
          <p:cNvPr id="2132988021" name="ZoneTexte 5"/>
          <p:cNvSpPr txBox="1"/>
          <p:nvPr/>
        </p:nvSpPr>
        <p:spPr bwMode="auto">
          <a:xfrm>
            <a:off x="8454437" y="5383859"/>
            <a:ext cx="3740385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>
                <a:solidFill>
                  <a:srgbClr val="495057"/>
                </a:solidFill>
                <a:latin typeface="Inter"/>
              </a:rPr>
              <a:t>Jané, M. B. (2024). Artifact Corrections for Effect Sizes: Seeing Reality for What It Is. https://matthewbjane.quarto.pub/artifact-corrections-for-effect-sizes/</a:t>
            </a:r>
            <a:endParaRPr lang="en-US"/>
          </a:p>
        </p:txBody>
      </p:sp>
      <p:sp>
        <p:nvSpPr>
          <p:cNvPr id="1873103793" name="ZoneTexte 2"/>
          <p:cNvSpPr txBox="1"/>
          <p:nvPr/>
        </p:nvSpPr>
        <p:spPr bwMode="auto">
          <a:xfrm>
            <a:off x="274696" y="5919140"/>
            <a:ext cx="8547928" cy="640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571500" indent="-571500">
              <a:buFont typeface="Arial"/>
              <a:buChar char="•"/>
              <a:defRPr/>
            </a:pPr>
            <a:r>
              <a:rPr lang="fr-FR" sz="3600">
                <a:latin typeface="Aptos Display"/>
              </a:rPr>
              <a:t>Real </a:t>
            </a:r>
            <a:r>
              <a:rPr lang="fr-FR" sz="3600">
                <a:latin typeface="Aptos Display"/>
              </a:rPr>
              <a:t>effect</a:t>
            </a:r>
            <a:r>
              <a:rPr lang="fr-FR" sz="3600">
                <a:latin typeface="Aptos Display"/>
              </a:rPr>
              <a:t> -&gt; </a:t>
            </a:r>
            <a:r>
              <a:rPr lang="fr-FR" sz="3600">
                <a:latin typeface="Aptos Display"/>
              </a:rPr>
              <a:t>Effect</a:t>
            </a:r>
            <a:r>
              <a:rPr lang="fr-FR" sz="3600">
                <a:latin typeface="Aptos Display"/>
              </a:rPr>
              <a:t> in the </a:t>
            </a:r>
            <a:r>
              <a:rPr lang="fr-FR" sz="3600">
                <a:latin typeface="Aptos Display"/>
              </a:rPr>
              <a:t>literature</a:t>
            </a:r>
            <a:r>
              <a:rPr lang="fr-FR" sz="3600">
                <a:latin typeface="Aptos Display"/>
              </a:rPr>
              <a:t>​</a:t>
            </a:r>
            <a:endParaRPr lang="fr-FR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659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678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909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98909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103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73103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8909334" grpId="0"/>
      <p:bldP spid="187310379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8360265" name="Image 3" descr="Une image contenant texte, capture d’écran, Police, conception&#10;&#10;Le contenu généré par l’IA peut être incorrect.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527175" y="1587"/>
            <a:ext cx="9048750" cy="6854825"/>
          </a:xfrm>
          <a:prstGeom prst="rect">
            <a:avLst/>
          </a:prstGeom>
        </p:spPr>
      </p:pic>
      <p:sp>
        <p:nvSpPr>
          <p:cNvPr id="268325226" name="ZoneTexte 4"/>
          <p:cNvSpPr txBox="1"/>
          <p:nvPr/>
        </p:nvSpPr>
        <p:spPr bwMode="auto">
          <a:xfrm>
            <a:off x="2273300" y="3581400"/>
            <a:ext cx="5156200" cy="646331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>
                <a:solidFill>
                  <a:srgbClr val="002060"/>
                </a:solidFill>
              </a:rPr>
              <a:t>Explore heterogeneity with pre-defined subgroup, meta regression or sensitivity analyses.</a:t>
            </a:r>
            <a:endParaRPr/>
          </a:p>
        </p:txBody>
      </p:sp>
      <p:sp>
        <p:nvSpPr>
          <p:cNvPr id="1110181992" name="ZoneTexte 5"/>
          <p:cNvSpPr txBox="1"/>
          <p:nvPr/>
        </p:nvSpPr>
        <p:spPr bwMode="auto">
          <a:xfrm>
            <a:off x="2273300" y="4343400"/>
            <a:ext cx="4622799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>
                <a:solidFill>
                  <a:srgbClr val="002060"/>
                </a:solidFill>
              </a:rPr>
              <a:t>Reconsider the effect measure</a:t>
            </a:r>
            <a:endParaRPr/>
          </a:p>
        </p:txBody>
      </p:sp>
      <p:sp>
        <p:nvSpPr>
          <p:cNvPr id="695909222" name="ZoneTexte 6"/>
          <p:cNvSpPr txBox="1"/>
          <p:nvPr/>
        </p:nvSpPr>
        <p:spPr bwMode="auto">
          <a:xfrm flipH="0" flipV="0">
            <a:off x="2273299" y="4813299"/>
            <a:ext cx="2743920" cy="64044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>
                <a:solidFill>
                  <a:srgbClr val="002060"/>
                </a:solidFill>
              </a:rPr>
              <a:t> Do not synthesize results 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36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836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325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8325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18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1018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90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9590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325226" grpId="0"/>
      <p:bldP spid="1110181992" grpId="0"/>
      <p:bldP spid="69590922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639588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However</a:t>
            </a:r>
            <a:r>
              <a:rPr lang="fr-FR"/>
              <a:t>, problems </a:t>
            </a:r>
            <a:r>
              <a:rPr lang="fr-FR"/>
              <a:t>happened</a:t>
            </a:r>
            <a:endParaRPr/>
          </a:p>
        </p:txBody>
      </p:sp>
      <p:sp>
        <p:nvSpPr>
          <p:cNvPr id="509165574" name="Espace réservé du contenu 2"/>
          <p:cNvSpPr>
            <a:spLocks noGrp="1"/>
          </p:cNvSpPr>
          <p:nvPr>
            <p:ph idx="1"/>
          </p:nvPr>
        </p:nvSpPr>
        <p:spPr bwMode="auto"/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fr-FR"/>
              <a:t>Meta-analyses </a:t>
            </a:r>
            <a:r>
              <a:rPr lang="fr-FR"/>
              <a:t>contradict</a:t>
            </a:r>
            <a:r>
              <a:rPr lang="fr-FR"/>
              <a:t> </a:t>
            </a:r>
            <a:r>
              <a:rPr lang="fr-FR"/>
              <a:t>with</a:t>
            </a:r>
            <a:r>
              <a:rPr lang="fr-FR"/>
              <a:t> </a:t>
            </a:r>
            <a:r>
              <a:rPr lang="fr-FR"/>
              <a:t>each</a:t>
            </a:r>
            <a:r>
              <a:rPr lang="fr-FR"/>
              <a:t> </a:t>
            </a:r>
            <a:r>
              <a:rPr lang="fr-FR"/>
              <a:t>others</a:t>
            </a:r>
            <a:endParaRPr lang="fr-FR"/>
          </a:p>
        </p:txBody>
      </p:sp>
      <p:pic>
        <p:nvPicPr>
          <p:cNvPr id="160128031" name="Image 3" descr="Une image contenant texte, capture d’écran, Police, nombre&#10;&#10;Le contenu généré par l’IA peut être incorrect.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08119" y="2531603"/>
            <a:ext cx="5769464" cy="3646265"/>
          </a:xfrm>
          <a:prstGeom prst="rect">
            <a:avLst/>
          </a:prstGeom>
        </p:spPr>
      </p:pic>
      <p:sp>
        <p:nvSpPr>
          <p:cNvPr id="852909702" name=""/>
          <p:cNvSpPr txBox="1"/>
          <p:nvPr/>
        </p:nvSpPr>
        <p:spPr bwMode="auto">
          <a:xfrm flipH="0" flipV="0">
            <a:off x="9129140" y="5670947"/>
            <a:ext cx="3067320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 i="1"/>
              <a:t>de Vrieze, J. (2018). The metawars. Science, 361(6408), 1184–1188. https://doi.org/10.1126/science.361.6408.1184</a:t>
            </a:r>
            <a:endParaRPr sz="1400" i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165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91655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28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916557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9409035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However</a:t>
            </a:r>
            <a:r>
              <a:rPr lang="fr-FR"/>
              <a:t>, </a:t>
            </a:r>
            <a:r>
              <a:rPr lang="fr-FR" sz="4400" b="0" i="0" u="none" strike="noStrike" cap="none" spc="0">
                <a:solidFill>
                  <a:schemeClr val="tx1"/>
                </a:solidFill>
                <a:latin typeface="Aptos Display"/>
                <a:ea typeface="Arial"/>
                <a:cs typeface="Arial"/>
              </a:rPr>
              <a:t>problems </a:t>
            </a:r>
            <a:r>
              <a:rPr lang="fr-FR"/>
              <a:t>happened</a:t>
            </a:r>
            <a:endParaRPr/>
          </a:p>
        </p:txBody>
      </p:sp>
      <p:sp>
        <p:nvSpPr>
          <p:cNvPr id="860745919" name="Espace réservé du contenu 2"/>
          <p:cNvSpPr>
            <a:spLocks noGrp="1"/>
          </p:cNvSpPr>
          <p:nvPr>
            <p:ph idx="1"/>
          </p:nvPr>
        </p:nvSpPr>
        <p:spPr bwMode="auto"/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fr-FR"/>
              <a:t>Meta-analyses </a:t>
            </a:r>
            <a:r>
              <a:rPr lang="fr-FR"/>
              <a:t>contradict</a:t>
            </a:r>
            <a:r>
              <a:rPr lang="fr-FR"/>
              <a:t> </a:t>
            </a:r>
            <a:r>
              <a:rPr lang="fr-FR"/>
              <a:t>with</a:t>
            </a:r>
            <a:r>
              <a:rPr lang="fr-FR"/>
              <a:t> </a:t>
            </a:r>
            <a:r>
              <a:rPr lang="fr-FR"/>
              <a:t>each</a:t>
            </a:r>
            <a:r>
              <a:rPr lang="fr-FR"/>
              <a:t> </a:t>
            </a:r>
            <a:r>
              <a:rPr lang="fr-FR"/>
              <a:t>others</a:t>
            </a:r>
            <a:endParaRPr lang="fr-FR"/>
          </a:p>
        </p:txBody>
      </p:sp>
      <p:pic>
        <p:nvPicPr>
          <p:cNvPr id="5089032" name="Image 4" descr="Une image contenant texte, capture d’écran, Police, nombre&#10;&#10;Le contenu généré par l’IA peut être incorrect.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2315" y="2841639"/>
            <a:ext cx="5438777" cy="3334775"/>
          </a:xfrm>
          <a:prstGeom prst="rect">
            <a:avLst/>
          </a:prstGeom>
        </p:spPr>
      </p:pic>
      <p:sp>
        <p:nvSpPr>
          <p:cNvPr id="1903940454" name="Rectangle : coins arrondis 7"/>
          <p:cNvSpPr/>
          <p:nvPr/>
        </p:nvSpPr>
        <p:spPr bwMode="auto">
          <a:xfrm>
            <a:off x="232762" y="5450598"/>
            <a:ext cx="4078865" cy="238988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/>
              <a:t>v</a:t>
            </a:r>
            <a:endParaRPr/>
          </a:p>
        </p:txBody>
      </p:sp>
      <p:pic>
        <p:nvPicPr>
          <p:cNvPr id="1053057526" name="Image 8" descr="Une image contenant texte, capture d’écran, Police, nombre&#10;&#10;Le contenu généré par l’IA peut être incorrect.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602864" y="2752725"/>
            <a:ext cx="6087263" cy="3600766"/>
          </a:xfrm>
          <a:prstGeom prst="rect">
            <a:avLst/>
          </a:prstGeom>
        </p:spPr>
      </p:pic>
      <p:sp>
        <p:nvSpPr>
          <p:cNvPr id="1675069063" name="Rectangle : coins arrondis 9"/>
          <p:cNvSpPr/>
          <p:nvPr/>
        </p:nvSpPr>
        <p:spPr bwMode="auto">
          <a:xfrm>
            <a:off x="5654927" y="5337243"/>
            <a:ext cx="4532286" cy="478293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/>
              <a:t>v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9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940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05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53057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06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75069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3940454" grpId="0" animBg="1"/>
      <p:bldP spid="167506906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2330261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However</a:t>
            </a:r>
            <a:r>
              <a:rPr lang="fr-FR"/>
              <a:t>, </a:t>
            </a:r>
            <a:r>
              <a:rPr lang="fr-FR" sz="4400" b="0" i="0" u="none" strike="noStrike" cap="none" spc="0">
                <a:solidFill>
                  <a:schemeClr val="tx1"/>
                </a:solidFill>
                <a:latin typeface="Aptos Display"/>
                <a:ea typeface="Arial"/>
                <a:cs typeface="Arial"/>
              </a:rPr>
              <a:t>problems </a:t>
            </a:r>
            <a:r>
              <a:rPr lang="fr-FR"/>
              <a:t>happened</a:t>
            </a:r>
            <a:endParaRPr/>
          </a:p>
        </p:txBody>
      </p:sp>
      <p:sp>
        <p:nvSpPr>
          <p:cNvPr id="1093169947" name="Espace réservé du contenu 2"/>
          <p:cNvSpPr>
            <a:spLocks noGrp="1"/>
          </p:cNvSpPr>
          <p:nvPr>
            <p:ph idx="1"/>
          </p:nvPr>
        </p:nvSpPr>
        <p:spPr bwMode="auto"/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fr-FR"/>
              <a:t>Meta-analyses </a:t>
            </a:r>
            <a:r>
              <a:rPr lang="fr-FR"/>
              <a:t>contradict</a:t>
            </a:r>
            <a:r>
              <a:rPr lang="fr-FR"/>
              <a:t> </a:t>
            </a:r>
            <a:r>
              <a:rPr lang="fr-FR"/>
              <a:t>with</a:t>
            </a:r>
            <a:r>
              <a:rPr lang="fr-FR"/>
              <a:t> </a:t>
            </a:r>
            <a:r>
              <a:rPr lang="fr-FR"/>
              <a:t>each</a:t>
            </a:r>
            <a:r>
              <a:rPr lang="fr-FR"/>
              <a:t> </a:t>
            </a:r>
            <a:r>
              <a:rPr lang="fr-FR"/>
              <a:t>others</a:t>
            </a:r>
            <a:endParaRPr lang="fr-FR"/>
          </a:p>
        </p:txBody>
      </p:sp>
      <p:pic>
        <p:nvPicPr>
          <p:cNvPr id="1148564443" name="Image 3" descr="Une image contenant texte, capture d’écran, Police, nombre&#10;&#10;Le contenu généré par l’IA peut être incorrect.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9327" y="2435212"/>
            <a:ext cx="4816108" cy="2403213"/>
          </a:xfrm>
          <a:prstGeom prst="rect">
            <a:avLst/>
          </a:prstGeom>
        </p:spPr>
      </p:pic>
      <p:sp>
        <p:nvSpPr>
          <p:cNvPr id="736563624" name="Rectangle : coins arrondis 7"/>
          <p:cNvSpPr/>
          <p:nvPr/>
        </p:nvSpPr>
        <p:spPr bwMode="auto">
          <a:xfrm>
            <a:off x="308332" y="4178499"/>
            <a:ext cx="4337063" cy="33345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/>
              <a:t>v</a:t>
            </a:r>
            <a:endParaRPr/>
          </a:p>
        </p:txBody>
      </p:sp>
      <p:pic>
        <p:nvPicPr>
          <p:cNvPr id="1870410571" name="Image 5" descr="Une image contenant texte, capture d’écran, Police, noir et blanc&#10;&#10;Le contenu généré par l’IA peut être incorrect.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823711" y="2294737"/>
            <a:ext cx="5028413" cy="3509136"/>
          </a:xfrm>
          <a:prstGeom prst="rect">
            <a:avLst/>
          </a:prstGeom>
        </p:spPr>
      </p:pic>
      <p:sp>
        <p:nvSpPr>
          <p:cNvPr id="192242731" name="Rectangle : coins arrondis 9"/>
          <p:cNvSpPr/>
          <p:nvPr/>
        </p:nvSpPr>
        <p:spPr bwMode="auto">
          <a:xfrm>
            <a:off x="6429522" y="4600433"/>
            <a:ext cx="3782882" cy="591647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/>
              <a:t>v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564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48564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563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365636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410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4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6563624" grpId="0" animBg="1"/>
      <p:bldP spid="19224273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7277734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However</a:t>
            </a:r>
            <a:r>
              <a:rPr lang="fr-FR"/>
              <a:t>, </a:t>
            </a:r>
            <a:r>
              <a:rPr lang="fr-FR" sz="4400" b="0" i="0" u="none" strike="noStrike" cap="none" spc="0">
                <a:solidFill>
                  <a:schemeClr val="tx1"/>
                </a:solidFill>
                <a:latin typeface="Aptos Display"/>
                <a:ea typeface="Arial"/>
                <a:cs typeface="Arial"/>
              </a:rPr>
              <a:t>problems </a:t>
            </a:r>
            <a:r>
              <a:rPr lang="fr-FR"/>
              <a:t>happened</a:t>
            </a:r>
            <a:endParaRPr/>
          </a:p>
        </p:txBody>
      </p:sp>
      <p:sp>
        <p:nvSpPr>
          <p:cNvPr id="745624694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246233" y="151074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fr-FR"/>
              <a:t>Meta-analyses </a:t>
            </a:r>
            <a:r>
              <a:rPr lang="fr-FR"/>
              <a:t>contradict</a:t>
            </a:r>
            <a:r>
              <a:rPr lang="fr-FR"/>
              <a:t> </a:t>
            </a:r>
            <a:r>
              <a:rPr lang="fr-FR"/>
              <a:t>with</a:t>
            </a:r>
            <a:r>
              <a:rPr lang="fr-FR"/>
              <a:t> </a:t>
            </a:r>
            <a:r>
              <a:rPr lang="fr-FR"/>
              <a:t>each</a:t>
            </a:r>
            <a:r>
              <a:rPr lang="fr-FR"/>
              <a:t> </a:t>
            </a:r>
            <a:r>
              <a:rPr lang="fr-FR"/>
              <a:t>others</a:t>
            </a:r>
            <a:endParaRPr lang="fr-FR"/>
          </a:p>
        </p:txBody>
      </p:sp>
      <p:pic>
        <p:nvPicPr>
          <p:cNvPr id="1654382692" name="Image 8" descr="Une image contenant texte, capture d’écran, Police, document&#10;&#10;Le contenu généré par l’IA peut être incorrect.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802718" y="2967509"/>
            <a:ext cx="3553770" cy="2043940"/>
          </a:xfrm>
          <a:prstGeom prst="rect">
            <a:avLst/>
          </a:prstGeom>
        </p:spPr>
      </p:pic>
      <p:sp>
        <p:nvSpPr>
          <p:cNvPr id="816896901" name="Rectangle : coins arrondis 10"/>
          <p:cNvSpPr/>
          <p:nvPr/>
        </p:nvSpPr>
        <p:spPr bwMode="auto">
          <a:xfrm>
            <a:off x="3803455" y="2887506"/>
            <a:ext cx="3644336" cy="221011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/>
              <a:t>v</a:t>
            </a:r>
            <a:endParaRPr/>
          </a:p>
        </p:txBody>
      </p:sp>
      <p:pic>
        <p:nvPicPr>
          <p:cNvPr id="75302622" name="Image 11" descr="Une image contenant texte, Police, capture d’écran, document&#10;&#10;Le contenu généré par l’IA peut être incorrect.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634405" y="2169457"/>
            <a:ext cx="4026793" cy="4068278"/>
          </a:xfrm>
          <a:prstGeom prst="rect">
            <a:avLst/>
          </a:prstGeom>
        </p:spPr>
      </p:pic>
      <p:sp>
        <p:nvSpPr>
          <p:cNvPr id="1233699581" name="Rectangle : coins arrondis 12"/>
          <p:cNvSpPr/>
          <p:nvPr/>
        </p:nvSpPr>
        <p:spPr bwMode="auto">
          <a:xfrm flipH="0" flipV="0">
            <a:off x="7707916" y="3544660"/>
            <a:ext cx="4028483" cy="620921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/>
              <a:t>v</a:t>
            </a:r>
            <a:endParaRPr/>
          </a:p>
        </p:txBody>
      </p:sp>
      <p:pic>
        <p:nvPicPr>
          <p:cNvPr id="1551378183" name="Image 13" descr="Une image contenant texte, capture d’écran, Police, nombre&#10;&#10;Le contenu généré par l’IA peut être incorrect.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8793779" y="295984"/>
            <a:ext cx="2155170" cy="18136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382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896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378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699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02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6896901" grpId="0" animBg="1"/>
      <p:bldP spid="123369958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9620856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However</a:t>
            </a:r>
            <a:r>
              <a:rPr lang="fr-FR"/>
              <a:t>, </a:t>
            </a:r>
            <a:r>
              <a:rPr lang="fr-FR" sz="4400" b="0" i="0" u="none" strike="noStrike" cap="none" spc="0">
                <a:solidFill>
                  <a:schemeClr val="tx1"/>
                </a:solidFill>
                <a:latin typeface="Aptos Display"/>
                <a:ea typeface="Arial"/>
                <a:cs typeface="Arial"/>
              </a:rPr>
              <a:t>problems </a:t>
            </a:r>
            <a:r>
              <a:rPr lang="fr-FR"/>
              <a:t>happened</a:t>
            </a:r>
            <a:endParaRPr/>
          </a:p>
        </p:txBody>
      </p:sp>
      <p:sp>
        <p:nvSpPr>
          <p:cNvPr id="1816492339" name="Espace réservé du contenu 2"/>
          <p:cNvSpPr>
            <a:spLocks noGrp="1"/>
          </p:cNvSpPr>
          <p:nvPr>
            <p:ph idx="1"/>
          </p:nvPr>
        </p:nvSpPr>
        <p:spPr bwMode="auto"/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fr-FR"/>
              <a:t>Meta-analyses </a:t>
            </a:r>
            <a:r>
              <a:rPr lang="fr-FR"/>
              <a:t>contradict</a:t>
            </a:r>
            <a:r>
              <a:rPr lang="fr-FR"/>
              <a:t> </a:t>
            </a:r>
            <a:r>
              <a:rPr lang="fr-FR"/>
              <a:t>with</a:t>
            </a:r>
            <a:r>
              <a:rPr lang="fr-FR"/>
              <a:t> </a:t>
            </a:r>
            <a:r>
              <a:rPr lang="fr-FR"/>
              <a:t>each</a:t>
            </a:r>
            <a:r>
              <a:rPr lang="fr-FR"/>
              <a:t> </a:t>
            </a:r>
            <a:r>
              <a:rPr lang="fr-FR"/>
              <a:t>others</a:t>
            </a:r>
            <a:endParaRPr lang="fr-FR"/>
          </a:p>
          <a:p>
            <a:pPr>
              <a:defRPr/>
            </a:pPr>
            <a:r>
              <a:rPr lang="fr-FR"/>
              <a:t>Meta-analyses </a:t>
            </a:r>
            <a:r>
              <a:rPr lang="fr-FR"/>
              <a:t>contradict</a:t>
            </a:r>
            <a:r>
              <a:rPr lang="fr-FR"/>
              <a:t> </a:t>
            </a:r>
            <a:r>
              <a:rPr lang="fr-FR"/>
              <a:t>multilab</a:t>
            </a:r>
            <a:r>
              <a:rPr lang="fr-FR"/>
              <a:t>-analyses</a:t>
            </a:r>
            <a:endParaRPr/>
          </a:p>
        </p:txBody>
      </p:sp>
      <p:pic>
        <p:nvPicPr>
          <p:cNvPr id="1815443651" name="Image 3" descr="Une image contenant texte, capture d’écran, habits, Police&#10;&#10;Le contenu généré par l’IA peut être incorrect.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4125" y="2870961"/>
            <a:ext cx="4152113" cy="4101103"/>
          </a:xfrm>
          <a:prstGeom prst="rect">
            <a:avLst/>
          </a:prstGeom>
        </p:spPr>
      </p:pic>
      <p:pic>
        <p:nvPicPr>
          <p:cNvPr id="561772294" name="Image 4" descr="Une image contenant texte, capture d’écran, Police, nombre&#10;&#10;Le contenu généré par l’IA peut être incorrect.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319002" y="2997619"/>
            <a:ext cx="3474741" cy="3841488"/>
          </a:xfrm>
          <a:prstGeom prst="rect">
            <a:avLst/>
          </a:prstGeom>
        </p:spPr>
      </p:pic>
      <p:pic>
        <p:nvPicPr>
          <p:cNvPr id="485228416" name="Image 5" descr="Une image contenant texte, capture d’écran, Police, document&#10;&#10;Le contenu généré par l’IA peut être incorrect.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8707183" y="843868"/>
            <a:ext cx="3487106" cy="430120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5443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77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6177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5228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5228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3924489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However</a:t>
            </a:r>
            <a:r>
              <a:rPr lang="fr-FR"/>
              <a:t>, </a:t>
            </a:r>
            <a:r>
              <a:rPr lang="fr-FR" sz="4400" b="0" i="0" u="none" strike="noStrike" cap="none" spc="0">
                <a:solidFill>
                  <a:schemeClr val="tx1"/>
                </a:solidFill>
                <a:latin typeface="Aptos Display"/>
                <a:ea typeface="Arial"/>
                <a:cs typeface="Arial"/>
              </a:rPr>
              <a:t>problems </a:t>
            </a:r>
            <a:r>
              <a:rPr lang="fr-FR"/>
              <a:t>happened</a:t>
            </a:r>
            <a:endParaRPr/>
          </a:p>
        </p:txBody>
      </p:sp>
      <p:sp>
        <p:nvSpPr>
          <p:cNvPr id="1315336389" name="Espace réservé du contenu 2"/>
          <p:cNvSpPr>
            <a:spLocks noGrp="1"/>
          </p:cNvSpPr>
          <p:nvPr>
            <p:ph idx="1"/>
          </p:nvPr>
        </p:nvSpPr>
        <p:spPr bwMode="auto"/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fr-FR"/>
              <a:t>Meta-analyses </a:t>
            </a:r>
            <a:r>
              <a:rPr lang="fr-FR"/>
              <a:t>contradict</a:t>
            </a:r>
            <a:r>
              <a:rPr lang="fr-FR"/>
              <a:t> </a:t>
            </a:r>
            <a:r>
              <a:rPr lang="fr-FR"/>
              <a:t>with</a:t>
            </a:r>
            <a:r>
              <a:rPr lang="fr-FR"/>
              <a:t> </a:t>
            </a:r>
            <a:r>
              <a:rPr lang="fr-FR"/>
              <a:t>each</a:t>
            </a:r>
            <a:r>
              <a:rPr lang="fr-FR"/>
              <a:t> </a:t>
            </a:r>
            <a:r>
              <a:rPr lang="fr-FR"/>
              <a:t>others</a:t>
            </a:r>
            <a:endParaRPr lang="fr-FR"/>
          </a:p>
          <a:p>
            <a:pPr>
              <a:defRPr/>
            </a:pPr>
            <a:r>
              <a:rPr lang="fr-FR"/>
              <a:t>Meta-analyses </a:t>
            </a:r>
            <a:r>
              <a:rPr lang="fr-FR"/>
              <a:t>contradict</a:t>
            </a:r>
            <a:r>
              <a:rPr lang="fr-FR"/>
              <a:t> </a:t>
            </a:r>
            <a:r>
              <a:rPr lang="fr-FR"/>
              <a:t>multilab</a:t>
            </a:r>
            <a:r>
              <a:rPr lang="fr-FR"/>
              <a:t>-analyses</a:t>
            </a:r>
            <a:endParaRPr/>
          </a:p>
        </p:txBody>
      </p:sp>
      <p:sp>
        <p:nvSpPr>
          <p:cNvPr id="1957077973" name="ZoneTexte 6"/>
          <p:cNvSpPr txBox="1"/>
          <p:nvPr/>
        </p:nvSpPr>
        <p:spPr bwMode="auto">
          <a:xfrm>
            <a:off x="1465985" y="363350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fr-FR"/>
              <a:t>15 multi-</a:t>
            </a:r>
            <a:r>
              <a:rPr lang="fr-FR"/>
              <a:t>lab</a:t>
            </a:r>
            <a:r>
              <a:rPr lang="fr-FR"/>
              <a:t> </a:t>
            </a:r>
            <a:r>
              <a:rPr lang="fr-FR"/>
              <a:t>replications</a:t>
            </a:r>
            <a:endParaRPr/>
          </a:p>
        </p:txBody>
      </p:sp>
      <p:sp>
        <p:nvSpPr>
          <p:cNvPr id="830310723" name="ZoneTexte 7"/>
          <p:cNvSpPr txBox="1"/>
          <p:nvPr/>
        </p:nvSpPr>
        <p:spPr bwMode="auto">
          <a:xfrm>
            <a:off x="4463604" y="3633508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fr-FR"/>
              <a:t>15 </a:t>
            </a:r>
            <a:r>
              <a:rPr lang="fr-FR"/>
              <a:t>meta</a:t>
            </a:r>
            <a:r>
              <a:rPr lang="fr-FR"/>
              <a:t>-analyses</a:t>
            </a:r>
            <a:endParaRPr lang="fr-FR"/>
          </a:p>
        </p:txBody>
      </p:sp>
      <p:sp>
        <p:nvSpPr>
          <p:cNvPr id="1220232089" name="ZoneTexte 8"/>
          <p:cNvSpPr txBox="1"/>
          <p:nvPr/>
        </p:nvSpPr>
        <p:spPr bwMode="auto">
          <a:xfrm>
            <a:off x="57937" y="5146335"/>
            <a:ext cx="2812471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sz="1400">
                <a:solidFill>
                  <a:srgbClr val="222222"/>
                </a:solidFill>
                <a:latin typeface="-apple-system"/>
              </a:rPr>
              <a:t>Kvarven</a:t>
            </a:r>
            <a:r>
              <a:rPr lang="en-US" sz="1400">
                <a:solidFill>
                  <a:srgbClr val="222222"/>
                </a:solidFill>
                <a:latin typeface="-apple-system"/>
              </a:rPr>
              <a:t>, A., </a:t>
            </a:r>
            <a:r>
              <a:rPr lang="en-US" sz="1400">
                <a:solidFill>
                  <a:srgbClr val="222222"/>
                </a:solidFill>
                <a:latin typeface="-apple-system"/>
              </a:rPr>
              <a:t>Strømland</a:t>
            </a:r>
            <a:r>
              <a:rPr lang="en-US" sz="1400">
                <a:solidFill>
                  <a:srgbClr val="222222"/>
                </a:solidFill>
                <a:latin typeface="-apple-system"/>
              </a:rPr>
              <a:t>, E. &amp; Johannesson, M. Comparing meta-analyses and preregistered multiple-laboratory replication projects. </a:t>
            </a:r>
            <a:r>
              <a:rPr lang="en-US" sz="1400" i="1">
                <a:solidFill>
                  <a:srgbClr val="222222"/>
                </a:solidFill>
                <a:latin typeface="-apple-system"/>
              </a:rPr>
              <a:t>Nat Hum </a:t>
            </a:r>
            <a:r>
              <a:rPr lang="en-US" sz="1400" i="1">
                <a:solidFill>
                  <a:srgbClr val="222222"/>
                </a:solidFill>
                <a:latin typeface="-apple-system"/>
              </a:rPr>
              <a:t>Behav</a:t>
            </a:r>
            <a:r>
              <a:rPr lang="en-US" sz="1400">
                <a:solidFill>
                  <a:srgbClr val="222222"/>
                </a:solidFill>
                <a:latin typeface="-apple-system"/>
              </a:rPr>
              <a:t> </a:t>
            </a:r>
            <a:r>
              <a:rPr lang="en-US" sz="1400" b="1">
                <a:solidFill>
                  <a:srgbClr val="222222"/>
                </a:solidFill>
                <a:latin typeface="-apple-system"/>
              </a:rPr>
              <a:t>4</a:t>
            </a:r>
            <a:r>
              <a:rPr lang="en-US" sz="1400">
                <a:solidFill>
                  <a:srgbClr val="222222"/>
                </a:solidFill>
                <a:latin typeface="-apple-system"/>
              </a:rPr>
              <a:t>, 423–434 (2020). https://doi.org/10.1038/s41562-019-0787-z</a:t>
            </a:r>
            <a:endParaRPr lang="en-US" sz="1400"/>
          </a:p>
        </p:txBody>
      </p:sp>
      <p:cxnSp>
        <p:nvCxnSpPr>
          <p:cNvPr id="544135208" name="Connecteur droit avec flèche 9"/>
          <p:cNvCxnSpPr/>
          <p:nvPr/>
        </p:nvCxnSpPr>
        <p:spPr bwMode="auto">
          <a:xfrm flipV="1">
            <a:off x="2327169" y="4528833"/>
            <a:ext cx="873844" cy="6317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7586017" name="ZoneTexte 10"/>
          <p:cNvSpPr txBox="1"/>
          <p:nvPr/>
        </p:nvSpPr>
        <p:spPr bwMode="auto">
          <a:xfrm>
            <a:off x="3411916" y="4250664"/>
            <a:ext cx="2743560" cy="640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fr-FR"/>
              <a:t>12 </a:t>
            </a:r>
            <a:r>
              <a:rPr lang="fr-FR"/>
              <a:t>effect</a:t>
            </a:r>
            <a:r>
              <a:rPr lang="fr-FR"/>
              <a:t> sizes are </a:t>
            </a:r>
            <a:r>
              <a:rPr lang="fr-FR"/>
              <a:t>significantly</a:t>
            </a:r>
            <a:r>
              <a:rPr lang="fr-FR"/>
              <a:t> </a:t>
            </a:r>
            <a:r>
              <a:rPr lang="fr-FR"/>
              <a:t>different</a:t>
            </a:r>
            <a:endParaRPr/>
          </a:p>
        </p:txBody>
      </p:sp>
      <p:cxnSp>
        <p:nvCxnSpPr>
          <p:cNvPr id="613110873" name="Connecteur droit avec flèche 11"/>
          <p:cNvCxnSpPr/>
          <p:nvPr/>
        </p:nvCxnSpPr>
        <p:spPr bwMode="auto">
          <a:xfrm>
            <a:off x="2325386" y="5095807"/>
            <a:ext cx="866655" cy="8061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9995632" name="ZoneTexte 12"/>
          <p:cNvSpPr txBox="1"/>
          <p:nvPr/>
        </p:nvSpPr>
        <p:spPr bwMode="auto">
          <a:xfrm>
            <a:off x="3411917" y="4962283"/>
            <a:ext cx="3165133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fr-FR"/>
              <a:t>On </a:t>
            </a:r>
            <a:r>
              <a:rPr lang="fr-FR"/>
              <a:t>average</a:t>
            </a:r>
            <a:r>
              <a:rPr lang="fr-FR"/>
              <a:t>, </a:t>
            </a:r>
            <a:r>
              <a:rPr lang="fr-FR">
                <a:ea typeface="Aptos"/>
                <a:cs typeface="Aptos"/>
              </a:rPr>
              <a:t>meta-analytic</a:t>
            </a:r>
            <a:r>
              <a:rPr lang="fr-FR">
                <a:ea typeface="Aptos"/>
                <a:cs typeface="Aptos"/>
              </a:rPr>
              <a:t> </a:t>
            </a:r>
            <a:r>
              <a:rPr lang="fr-FR">
                <a:ea typeface="Aptos"/>
                <a:cs typeface="Aptos"/>
              </a:rPr>
              <a:t>effect</a:t>
            </a:r>
            <a:r>
              <a:rPr lang="fr-FR">
                <a:ea typeface="Aptos"/>
                <a:cs typeface="Aptos"/>
              </a:rPr>
              <a:t> sizes are </a:t>
            </a:r>
            <a:r>
              <a:rPr lang="fr-FR">
                <a:ea typeface="Aptos"/>
                <a:cs typeface="Aptos"/>
              </a:rPr>
              <a:t>almost</a:t>
            </a:r>
            <a:r>
              <a:rPr lang="fr-FR">
                <a:ea typeface="Aptos"/>
                <a:cs typeface="Aptos"/>
              </a:rPr>
              <a:t> </a:t>
            </a:r>
            <a:r>
              <a:rPr lang="fr-FR">
                <a:ea typeface="Aptos"/>
                <a:cs typeface="Aptos"/>
              </a:rPr>
              <a:t>three</a:t>
            </a:r>
            <a:r>
              <a:rPr lang="fr-FR">
                <a:ea typeface="Aptos"/>
                <a:cs typeface="Aptos"/>
              </a:rPr>
              <a:t> times as large as </a:t>
            </a:r>
            <a:r>
              <a:rPr lang="fr-FR">
                <a:ea typeface="Aptos"/>
                <a:cs typeface="Aptos"/>
              </a:rPr>
              <a:t>replication</a:t>
            </a:r>
            <a:r>
              <a:rPr lang="fr-FR">
                <a:ea typeface="Aptos"/>
                <a:cs typeface="Aptos"/>
              </a:rPr>
              <a:t> </a:t>
            </a:r>
            <a:r>
              <a:rPr lang="fr-FR">
                <a:ea typeface="Aptos"/>
                <a:cs typeface="Aptos"/>
              </a:rPr>
              <a:t>effect</a:t>
            </a:r>
            <a:r>
              <a:rPr lang="fr-FR">
                <a:ea typeface="Aptos"/>
                <a:cs typeface="Aptos"/>
              </a:rPr>
              <a:t> sizes.</a:t>
            </a:r>
            <a:endParaRPr lang="fr-FR"/>
          </a:p>
        </p:txBody>
      </p:sp>
      <p:sp>
        <p:nvSpPr>
          <p:cNvPr id="1276392598" name="ZoneTexte 13"/>
          <p:cNvSpPr txBox="1"/>
          <p:nvPr/>
        </p:nvSpPr>
        <p:spPr bwMode="auto">
          <a:xfrm>
            <a:off x="8689239" y="2739259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ctr">
              <a:defRPr/>
            </a:pPr>
            <a:r>
              <a:rPr lang="fr-FR"/>
              <a:t>Why</a:t>
            </a:r>
            <a:r>
              <a:rPr lang="fr-FR"/>
              <a:t> ?</a:t>
            </a:r>
            <a:endParaRPr/>
          </a:p>
        </p:txBody>
      </p:sp>
      <p:sp>
        <p:nvSpPr>
          <p:cNvPr id="1732776131" name="ZoneTexte 14"/>
          <p:cNvSpPr txBox="1"/>
          <p:nvPr/>
        </p:nvSpPr>
        <p:spPr bwMode="auto">
          <a:xfrm>
            <a:off x="8462529" y="3431986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fr-FR"/>
              <a:t>Heterogeneity</a:t>
            </a:r>
            <a:r>
              <a:rPr lang="fr-FR"/>
              <a:t> in the </a:t>
            </a:r>
            <a:r>
              <a:rPr lang="fr-FR"/>
              <a:t>included</a:t>
            </a:r>
            <a:r>
              <a:rPr lang="fr-FR"/>
              <a:t> </a:t>
            </a:r>
            <a:r>
              <a:rPr lang="fr-FR"/>
              <a:t>studies</a:t>
            </a:r>
            <a:endParaRPr/>
          </a:p>
        </p:txBody>
      </p:sp>
      <p:sp>
        <p:nvSpPr>
          <p:cNvPr id="1816371268" name="ZoneTexte 15"/>
          <p:cNvSpPr txBox="1"/>
          <p:nvPr/>
        </p:nvSpPr>
        <p:spPr bwMode="auto">
          <a:xfrm>
            <a:off x="8462528" y="4112117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fr-FR"/>
              <a:t>Publication </a:t>
            </a:r>
            <a:r>
              <a:rPr lang="fr-FR"/>
              <a:t>biases</a:t>
            </a:r>
            <a:endParaRPr/>
          </a:p>
        </p:txBody>
      </p:sp>
      <p:sp>
        <p:nvSpPr>
          <p:cNvPr id="1327001538" name="ZoneTexte 16"/>
          <p:cNvSpPr txBox="1"/>
          <p:nvPr/>
        </p:nvSpPr>
        <p:spPr bwMode="auto">
          <a:xfrm>
            <a:off x="8462527" y="4527752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fr-FR"/>
              <a:t>Standardisation in </a:t>
            </a:r>
            <a:r>
              <a:rPr lang="fr-FR"/>
              <a:t>multilab</a:t>
            </a:r>
            <a:endParaRPr/>
          </a:p>
        </p:txBody>
      </p:sp>
      <p:sp>
        <p:nvSpPr>
          <p:cNvPr id="2058389718" name="ZoneTexte 17"/>
          <p:cNvSpPr txBox="1"/>
          <p:nvPr/>
        </p:nvSpPr>
        <p:spPr bwMode="auto">
          <a:xfrm>
            <a:off x="8462527" y="5144908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fr-FR"/>
              <a:t>Unknown</a:t>
            </a:r>
            <a:r>
              <a:rPr lang="fr-FR"/>
              <a:t> </a:t>
            </a:r>
            <a:r>
              <a:rPr lang="fr-FR"/>
              <a:t>factors</a:t>
            </a:r>
            <a:endParaRPr/>
          </a:p>
        </p:txBody>
      </p:sp>
      <p:sp>
        <p:nvSpPr>
          <p:cNvPr id="1104197904" name="ZoneTexte 18"/>
          <p:cNvSpPr txBox="1"/>
          <p:nvPr/>
        </p:nvSpPr>
        <p:spPr bwMode="auto">
          <a:xfrm>
            <a:off x="8383259" y="1027754"/>
            <a:ext cx="3725613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buFont typeface="Arial"/>
              <a:buChar char="•"/>
              <a:defRPr/>
            </a:pPr>
            <a:r>
              <a:rPr lang="en-US" sz="1400">
                <a:solidFill>
                  <a:srgbClr val="333132"/>
                </a:solidFill>
                <a:ea typeface="Aptos"/>
                <a:cs typeface="Aptos"/>
              </a:rPr>
              <a:t>Lewis Molly, Mathur Maya B., </a:t>
            </a:r>
            <a:r>
              <a:rPr lang="en-US" sz="1400">
                <a:solidFill>
                  <a:srgbClr val="333132"/>
                </a:solidFill>
                <a:ea typeface="Aptos"/>
                <a:cs typeface="Aptos"/>
              </a:rPr>
              <a:t>VanderWeele</a:t>
            </a:r>
            <a:r>
              <a:rPr lang="en-US" sz="1400">
                <a:solidFill>
                  <a:srgbClr val="333132"/>
                </a:solidFill>
                <a:ea typeface="Aptos"/>
                <a:cs typeface="Aptos"/>
              </a:rPr>
              <a:t> Tyler J. and Frank Michael C. (2022)</a:t>
            </a:r>
            <a:br>
              <a:rPr lang="en-US" sz="1400">
                <a:solidFill>
                  <a:srgbClr val="333132"/>
                </a:solidFill>
                <a:ea typeface="Aptos"/>
                <a:cs typeface="Aptos"/>
              </a:rPr>
            </a:br>
            <a:r>
              <a:rPr lang="en-US" sz="1400">
                <a:solidFill>
                  <a:srgbClr val="333132"/>
                </a:solidFill>
                <a:ea typeface="Aptos"/>
                <a:cs typeface="Aptos"/>
              </a:rPr>
              <a:t>The puzzling relationship between multi-laboratory replications and meta-analyses of the published literature </a:t>
            </a:r>
            <a:endParaRPr lang="en-US" sz="1400">
              <a:solidFill>
                <a:srgbClr val="333132"/>
              </a:solidFill>
              <a:latin typeface="Proxima Nova"/>
              <a:ea typeface="Aptos"/>
              <a:cs typeface="Aptos"/>
            </a:endParaRPr>
          </a:p>
          <a:p>
            <a:pPr>
              <a:defRPr/>
            </a:pPr>
            <a:r>
              <a:rPr lang="en-US" sz="1400">
                <a:solidFill>
                  <a:srgbClr val="333132"/>
                </a:solidFill>
                <a:ea typeface="Aptos"/>
                <a:cs typeface="Aptos"/>
              </a:rPr>
              <a:t>R. Soc. Open Sci.9211499</a:t>
            </a:r>
            <a:endParaRPr lang="en-US" sz="1400">
              <a:solidFill>
                <a:srgbClr val="333132"/>
              </a:solidFill>
              <a:latin typeface="Proxima Nova"/>
            </a:endParaRPr>
          </a:p>
          <a:p>
            <a:pPr>
              <a:defRPr/>
            </a:pPr>
            <a:r>
              <a:rPr lang="en-US" sz="1400">
                <a:solidFill>
                  <a:srgbClr val="333132"/>
                </a:solidFill>
                <a:ea typeface="Aptos"/>
                <a:cs typeface="Aptos"/>
              </a:rPr>
              <a:t>http://doi.org/10.1098/rsos.211499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7077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570779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310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135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7586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110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99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19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639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776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637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001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38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7077973" grpId="0"/>
      <p:bldP spid="830310723" grpId="0"/>
      <p:bldP spid="1767586017" grpId="0"/>
      <p:bldP spid="1539995632" grpId="0"/>
      <p:bldP spid="1276392598" grpId="0"/>
      <p:bldP spid="1732776131" grpId="0"/>
      <p:bldP spid="1816371268" grpId="0"/>
      <p:bldP spid="1327001538" grpId="0"/>
      <p:bldP spid="2058389718" grpId="0"/>
      <p:bldP spid="110419790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5332065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However</a:t>
            </a:r>
            <a:r>
              <a:rPr lang="fr-FR"/>
              <a:t>, </a:t>
            </a:r>
            <a:r>
              <a:rPr lang="fr-FR" sz="4400" b="0" i="0" u="none" strike="noStrike" cap="none" spc="0">
                <a:solidFill>
                  <a:schemeClr val="tx1"/>
                </a:solidFill>
                <a:latin typeface="Aptos Display"/>
                <a:ea typeface="Arial"/>
                <a:cs typeface="Arial"/>
              </a:rPr>
              <a:t>problems </a:t>
            </a:r>
            <a:r>
              <a:rPr lang="fr-FR"/>
              <a:t>happened</a:t>
            </a:r>
            <a:endParaRPr/>
          </a:p>
        </p:txBody>
      </p:sp>
      <p:sp>
        <p:nvSpPr>
          <p:cNvPr id="615536521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134071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fr-FR"/>
              <a:t>Meta-analyses </a:t>
            </a:r>
            <a:r>
              <a:rPr lang="fr-FR"/>
              <a:t>contradict</a:t>
            </a:r>
            <a:r>
              <a:rPr lang="fr-FR"/>
              <a:t> </a:t>
            </a:r>
            <a:r>
              <a:rPr lang="fr-FR"/>
              <a:t>with</a:t>
            </a:r>
            <a:r>
              <a:rPr lang="fr-FR"/>
              <a:t> </a:t>
            </a:r>
            <a:r>
              <a:rPr lang="fr-FR"/>
              <a:t>each</a:t>
            </a:r>
            <a:r>
              <a:rPr lang="fr-FR"/>
              <a:t> </a:t>
            </a:r>
            <a:r>
              <a:rPr lang="fr-FR"/>
              <a:t>others</a:t>
            </a:r>
            <a:endParaRPr lang="fr-FR"/>
          </a:p>
          <a:p>
            <a:pPr>
              <a:defRPr/>
            </a:pPr>
            <a:r>
              <a:rPr lang="fr-FR"/>
              <a:t>Meta-analyses </a:t>
            </a:r>
            <a:r>
              <a:rPr lang="fr-FR"/>
              <a:t>contradict</a:t>
            </a:r>
            <a:r>
              <a:rPr lang="fr-FR"/>
              <a:t> </a:t>
            </a:r>
            <a:r>
              <a:rPr lang="fr-FR"/>
              <a:t>many</a:t>
            </a:r>
            <a:r>
              <a:rPr lang="fr-FR"/>
              <a:t>-analyses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298245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However</a:t>
            </a:r>
            <a:r>
              <a:rPr lang="fr-FR"/>
              <a:t>, </a:t>
            </a:r>
            <a:r>
              <a:rPr lang="fr-FR" sz="4400" b="0" i="0" u="none" strike="noStrike" cap="none" spc="0">
                <a:solidFill>
                  <a:schemeClr val="tx1"/>
                </a:solidFill>
                <a:latin typeface="Aptos Display"/>
                <a:ea typeface="Arial"/>
                <a:cs typeface="Arial"/>
              </a:rPr>
              <a:t>problems </a:t>
            </a:r>
            <a:r>
              <a:rPr lang="fr-FR"/>
              <a:t>happened</a:t>
            </a:r>
            <a:endParaRPr/>
          </a:p>
        </p:txBody>
      </p:sp>
      <p:sp>
        <p:nvSpPr>
          <p:cNvPr id="1262614737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131552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fr-FR"/>
              <a:t>Meta-analyses </a:t>
            </a:r>
            <a:r>
              <a:rPr lang="fr-FR"/>
              <a:t>contradict</a:t>
            </a:r>
            <a:r>
              <a:rPr lang="fr-FR"/>
              <a:t> </a:t>
            </a:r>
            <a:r>
              <a:rPr lang="fr-FR"/>
              <a:t>with</a:t>
            </a:r>
            <a:r>
              <a:rPr lang="fr-FR"/>
              <a:t> </a:t>
            </a:r>
            <a:r>
              <a:rPr lang="fr-FR"/>
              <a:t>each</a:t>
            </a:r>
            <a:r>
              <a:rPr lang="fr-FR"/>
              <a:t> </a:t>
            </a:r>
            <a:r>
              <a:rPr lang="fr-FR"/>
              <a:t>others</a:t>
            </a:r>
            <a:endParaRPr lang="fr-FR"/>
          </a:p>
          <a:p>
            <a:pPr>
              <a:defRPr/>
            </a:pPr>
            <a:r>
              <a:rPr lang="fr-FR"/>
              <a:t>Meta-analyses </a:t>
            </a:r>
            <a:r>
              <a:rPr lang="fr-FR"/>
              <a:t>contradict</a:t>
            </a:r>
            <a:r>
              <a:rPr lang="fr-FR"/>
              <a:t> </a:t>
            </a:r>
            <a:r>
              <a:rPr lang="fr-FR"/>
              <a:t>many</a:t>
            </a:r>
            <a:r>
              <a:rPr lang="fr-FR"/>
              <a:t>-analyses</a:t>
            </a:r>
            <a:endParaRPr/>
          </a:p>
          <a:p>
            <a:pPr>
              <a:defRPr/>
            </a:pPr>
            <a:r>
              <a:rPr lang="fr-FR"/>
              <a:t>Meta-analyses </a:t>
            </a:r>
            <a:r>
              <a:rPr lang="fr-FR"/>
              <a:t>contradict</a:t>
            </a:r>
            <a:r>
              <a:rPr lang="fr-FR"/>
              <a:t> </a:t>
            </a:r>
            <a:r>
              <a:rPr lang="fr-FR"/>
              <a:t>common</a:t>
            </a:r>
            <a:r>
              <a:rPr lang="fr-FR"/>
              <a:t> </a:t>
            </a:r>
            <a:r>
              <a:rPr lang="fr-FR"/>
              <a:t>knowledge</a:t>
            </a:r>
            <a:endParaRPr lang="fr-FR"/>
          </a:p>
        </p:txBody>
      </p:sp>
      <p:pic>
        <p:nvPicPr>
          <p:cNvPr id="1667183829" name="Image 3" descr="Une image contenant texte, Appareils électroniques, capture d’écran, logiciel&#10;&#10;Le contenu généré par l’IA peut être incorrect.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72511" y="2959638"/>
            <a:ext cx="5144681" cy="3426245"/>
          </a:xfrm>
          <a:prstGeom prst="rect">
            <a:avLst/>
          </a:prstGeom>
        </p:spPr>
      </p:pic>
      <p:pic>
        <p:nvPicPr>
          <p:cNvPr id="1562025961" name="Image 4" descr="Une image contenant texte, capture d’écran, Police, logiciel&#10;&#10;Le contenu généré par l’IA peut être incorrect.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020429" y="2800244"/>
            <a:ext cx="6089702" cy="1755016"/>
          </a:xfrm>
          <a:prstGeom prst="rect">
            <a:avLst/>
          </a:prstGeom>
        </p:spPr>
      </p:pic>
      <p:pic>
        <p:nvPicPr>
          <p:cNvPr id="1668398456" name="Image 5" descr="Une image contenant texte, capture d’écran, Police, information&#10;&#10;Le contenu généré par l’IA peut être incorrect.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096551" y="4673272"/>
            <a:ext cx="5584799" cy="1497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18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025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839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0831627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However</a:t>
            </a:r>
            <a:r>
              <a:rPr lang="fr-FR"/>
              <a:t>, </a:t>
            </a:r>
            <a:r>
              <a:rPr lang="fr-FR" sz="4400" b="0" i="0" u="none" strike="noStrike" cap="none" spc="0">
                <a:solidFill>
                  <a:schemeClr val="tx1"/>
                </a:solidFill>
                <a:latin typeface="Aptos Display"/>
                <a:ea typeface="Arial"/>
                <a:cs typeface="Arial"/>
              </a:rPr>
              <a:t>problems </a:t>
            </a:r>
            <a:r>
              <a:rPr lang="fr-FR"/>
              <a:t>happened</a:t>
            </a:r>
            <a:endParaRPr/>
          </a:p>
        </p:txBody>
      </p:sp>
      <p:sp>
        <p:nvSpPr>
          <p:cNvPr id="865422334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131552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fr-FR"/>
              <a:t>Meta-analyses </a:t>
            </a:r>
            <a:r>
              <a:rPr lang="fr-FR"/>
              <a:t>contradict</a:t>
            </a:r>
            <a:r>
              <a:rPr lang="fr-FR"/>
              <a:t> </a:t>
            </a:r>
            <a:r>
              <a:rPr lang="fr-FR"/>
              <a:t>with</a:t>
            </a:r>
            <a:r>
              <a:rPr lang="fr-FR"/>
              <a:t> </a:t>
            </a:r>
            <a:r>
              <a:rPr lang="fr-FR"/>
              <a:t>each</a:t>
            </a:r>
            <a:r>
              <a:rPr lang="fr-FR"/>
              <a:t> </a:t>
            </a:r>
            <a:r>
              <a:rPr lang="fr-FR"/>
              <a:t>others</a:t>
            </a:r>
            <a:endParaRPr lang="fr-FR"/>
          </a:p>
          <a:p>
            <a:pPr>
              <a:defRPr/>
            </a:pPr>
            <a:r>
              <a:rPr lang="fr-FR"/>
              <a:t>Meta-analyses </a:t>
            </a:r>
            <a:r>
              <a:rPr lang="fr-FR"/>
              <a:t>contradict</a:t>
            </a:r>
            <a:r>
              <a:rPr lang="fr-FR"/>
              <a:t> </a:t>
            </a:r>
            <a:r>
              <a:rPr lang="fr-FR"/>
              <a:t>many</a:t>
            </a:r>
            <a:r>
              <a:rPr lang="fr-FR"/>
              <a:t>-analyses</a:t>
            </a:r>
            <a:endParaRPr/>
          </a:p>
          <a:p>
            <a:pPr>
              <a:defRPr/>
            </a:pPr>
            <a:r>
              <a:rPr lang="fr-FR"/>
              <a:t>Meta-analyses </a:t>
            </a:r>
            <a:r>
              <a:rPr lang="fr-FR"/>
              <a:t>contradict</a:t>
            </a:r>
            <a:r>
              <a:rPr lang="fr-FR"/>
              <a:t> </a:t>
            </a:r>
            <a:r>
              <a:rPr lang="fr-FR"/>
              <a:t>common</a:t>
            </a:r>
            <a:r>
              <a:rPr lang="fr-FR"/>
              <a:t> </a:t>
            </a:r>
            <a:r>
              <a:rPr lang="fr-FR"/>
              <a:t>knowledge</a:t>
            </a:r>
            <a:endParaRPr lang="fr-FR"/>
          </a:p>
        </p:txBody>
      </p:sp>
      <p:pic>
        <p:nvPicPr>
          <p:cNvPr id="350028644" name="Image 6" descr="Une image contenant texte, capture d’écran, Police, document&#10;&#10;Le contenu généré par l’IA peut être incorrect.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51361" y="2865372"/>
            <a:ext cx="2299243" cy="3627372"/>
          </a:xfrm>
          <a:prstGeom prst="rect">
            <a:avLst/>
          </a:prstGeom>
        </p:spPr>
      </p:pic>
      <p:sp>
        <p:nvSpPr>
          <p:cNvPr id="1788490175" name="ZoneTexte 8"/>
          <p:cNvSpPr txBox="1"/>
          <p:nvPr/>
        </p:nvSpPr>
        <p:spPr bwMode="auto">
          <a:xfrm>
            <a:off x="3657521" y="3312333"/>
            <a:ext cx="6175348" cy="27392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Was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 </a:t>
            </a:r>
            <a:r>
              <a:rPr lang="fr-FR" sz="1400" u="sng">
                <a:solidFill>
                  <a:srgbClr val="363737"/>
                </a:solidFill>
                <a:ea typeface="Aptos"/>
                <a:cs typeface="Aptos"/>
                <a:hlinkClick r:id="rId4" tooltip="https://www.crd.york.ac.uk/prospero/display_record.php?RecordID=15812"/>
              </a:rPr>
              <a:t>pre-registered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,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making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sure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that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all the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criteria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and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rules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for handling the data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were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set out in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advance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;</a:t>
            </a:r>
            <a:endParaRPr lang="fr-FR"/>
          </a:p>
          <a:p>
            <a:pPr marL="285750" indent="-285750">
              <a:buFont typeface="Arial"/>
              <a:buChar char="•"/>
              <a:defRPr/>
            </a:pP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Had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a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fairly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clear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set of inclusion and exclusion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criteria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and a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nice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flowchart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to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illustrate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which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studies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were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and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weren’t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analysed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and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why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;</a:t>
            </a:r>
            <a:endParaRPr lang="fr-FR"/>
          </a:p>
          <a:p>
            <a:pPr marL="285750" indent="-285750">
              <a:buFont typeface="Arial"/>
              <a:buChar char="•"/>
              <a:defRPr/>
            </a:pP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Assessed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the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quality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and “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risk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of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bias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” of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each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of the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included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studies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using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two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separate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checklists: the one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used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by the </a:t>
            </a:r>
            <a:r>
              <a:rPr lang="fr-FR" sz="1400" u="sng">
                <a:solidFill>
                  <a:srgbClr val="363737"/>
                </a:solidFill>
                <a:ea typeface="Aptos"/>
                <a:cs typeface="Aptos"/>
                <a:hlinkClick r:id="rId5" tooltip="https://www.bmj.com/content/343/bmj.d5928.full"/>
              </a:rPr>
              <a:t>Cochrane Collaboration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, and </a:t>
            </a:r>
            <a:r>
              <a:rPr lang="fr-FR" sz="1400" u="sng">
                <a:solidFill>
                  <a:srgbClr val="363737"/>
                </a:solidFill>
                <a:ea typeface="Aptos"/>
                <a:cs typeface="Aptos"/>
                <a:hlinkClick r:id="rId6" tooltip="https://www.ephpp.ca/quality-assessment-tool-for-quantitative-studies/"/>
              </a:rPr>
              <a:t>another one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;</a:t>
            </a:r>
            <a:endParaRPr lang="fr-FR"/>
          </a:p>
          <a:p>
            <a:pPr marL="285750" indent="-285750">
              <a:buFont typeface="Arial"/>
              <a:buChar char="•"/>
              <a:defRPr/>
            </a:pP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Used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the “</a:t>
            </a:r>
            <a:r>
              <a:rPr lang="fr-FR" sz="1400" u="sng">
                <a:solidFill>
                  <a:srgbClr val="363737"/>
                </a:solidFill>
                <a:ea typeface="Aptos"/>
                <a:cs typeface="Aptos"/>
                <a:hlinkClick r:id="rId7" tooltip="https://bestpractice.bmj.com/info/toolkit/learn-ebm/what-is-grade/"/>
              </a:rPr>
              <a:t>GRADE guidelines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” to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assess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the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strength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of the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evidence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;</a:t>
            </a:r>
            <a:endParaRPr lang="fr-FR"/>
          </a:p>
          <a:p>
            <a:pPr marL="285750" indent="-285750">
              <a:buFont typeface="Arial"/>
              <a:buChar char="•"/>
              <a:defRPr/>
            </a:pP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Included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a test of the </a:t>
            </a:r>
            <a:r>
              <a:rPr lang="fr-FR" sz="1400" u="sng">
                <a:solidFill>
                  <a:srgbClr val="363737"/>
                </a:solidFill>
                <a:ea typeface="Aptos"/>
                <a:cs typeface="Aptos"/>
                <a:hlinkClick r:id="rId8" tooltip="https://handbook-5-1.cochrane.org/chapter_9/9_5_1_what_is_heterogeneity.htm"/>
              </a:rPr>
              <a:t>heterogeneity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 of the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studies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;</a:t>
            </a:r>
            <a:endParaRPr lang="fr-FR"/>
          </a:p>
          <a:p>
            <a:pPr marL="285750" indent="-285750">
              <a:buFont typeface="Arial"/>
              <a:buChar char="•"/>
              <a:defRPr/>
            </a:pP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Included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a publication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bias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test;</a:t>
            </a:r>
            <a:endParaRPr lang="fr-FR"/>
          </a:p>
          <a:p>
            <a:pPr marL="285750" indent="-285750">
              <a:buFont typeface="Arial"/>
              <a:buChar char="•"/>
              <a:defRPr/>
            </a:pP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Is Open-Access,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so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anyone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can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read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 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it</a:t>
            </a:r>
            <a:r>
              <a:rPr lang="fr-FR" sz="1400">
                <a:solidFill>
                  <a:srgbClr val="363737"/>
                </a:solidFill>
                <a:ea typeface="Aptos"/>
                <a:cs typeface="Aptos"/>
              </a:rPr>
              <a:t>.</a:t>
            </a:r>
            <a:endParaRPr lang="fr-FR"/>
          </a:p>
          <a:p>
            <a:pPr>
              <a:defRPr/>
            </a:pPr>
            <a:endParaRPr lang="fr-FR"/>
          </a:p>
        </p:txBody>
      </p:sp>
      <p:pic>
        <p:nvPicPr>
          <p:cNvPr id="1729907042" name="Image 9" descr="Une image contenant texte, capture d’écran, Police&#10;&#10;Le contenu généré par l’IA peut être incorrect.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8478038" y="5273779"/>
            <a:ext cx="3107827" cy="10209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02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8490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8849017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8475323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However</a:t>
            </a:r>
            <a:r>
              <a:rPr lang="fr-FR"/>
              <a:t>, </a:t>
            </a:r>
            <a:r>
              <a:rPr lang="fr-FR" sz="4400" b="0" i="0" u="none" strike="noStrike" cap="none" spc="0">
                <a:solidFill>
                  <a:schemeClr val="tx1"/>
                </a:solidFill>
                <a:latin typeface="Aptos Display"/>
                <a:ea typeface="Arial"/>
                <a:cs typeface="Arial"/>
              </a:rPr>
              <a:t>problems </a:t>
            </a:r>
            <a:r>
              <a:rPr lang="fr-FR"/>
              <a:t>happened</a:t>
            </a:r>
            <a:endParaRPr/>
          </a:p>
        </p:txBody>
      </p:sp>
      <p:sp>
        <p:nvSpPr>
          <p:cNvPr id="549847519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131552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fr-FR"/>
              <a:t>Meta-analyses </a:t>
            </a:r>
            <a:r>
              <a:rPr lang="fr-FR"/>
              <a:t>contradict</a:t>
            </a:r>
            <a:r>
              <a:rPr lang="fr-FR"/>
              <a:t> </a:t>
            </a:r>
            <a:r>
              <a:rPr lang="fr-FR"/>
              <a:t>with</a:t>
            </a:r>
            <a:r>
              <a:rPr lang="fr-FR"/>
              <a:t> </a:t>
            </a:r>
            <a:r>
              <a:rPr lang="fr-FR"/>
              <a:t>each</a:t>
            </a:r>
            <a:r>
              <a:rPr lang="fr-FR"/>
              <a:t> </a:t>
            </a:r>
            <a:r>
              <a:rPr lang="fr-FR"/>
              <a:t>others</a:t>
            </a:r>
            <a:endParaRPr lang="fr-FR"/>
          </a:p>
          <a:p>
            <a:pPr>
              <a:defRPr/>
            </a:pPr>
            <a:r>
              <a:rPr lang="fr-FR"/>
              <a:t>Meta-analyses </a:t>
            </a:r>
            <a:r>
              <a:rPr lang="fr-FR"/>
              <a:t>contradict</a:t>
            </a:r>
            <a:r>
              <a:rPr lang="fr-FR"/>
              <a:t> </a:t>
            </a:r>
            <a:r>
              <a:rPr lang="fr-FR"/>
              <a:t>many</a:t>
            </a:r>
            <a:r>
              <a:rPr lang="fr-FR"/>
              <a:t>-analyses</a:t>
            </a:r>
            <a:endParaRPr/>
          </a:p>
          <a:p>
            <a:pPr>
              <a:defRPr/>
            </a:pPr>
            <a:r>
              <a:rPr lang="fr-FR"/>
              <a:t>Meta-analyses </a:t>
            </a:r>
            <a:r>
              <a:rPr lang="fr-FR"/>
              <a:t>contradict</a:t>
            </a:r>
            <a:r>
              <a:rPr lang="fr-FR"/>
              <a:t> </a:t>
            </a:r>
            <a:r>
              <a:rPr lang="fr-FR"/>
              <a:t>common</a:t>
            </a:r>
            <a:r>
              <a:rPr lang="fr-FR"/>
              <a:t> </a:t>
            </a:r>
            <a:r>
              <a:rPr lang="fr-FR"/>
              <a:t>knowledge</a:t>
            </a:r>
            <a:endParaRPr lang="fr-FR"/>
          </a:p>
        </p:txBody>
      </p:sp>
      <p:pic>
        <p:nvPicPr>
          <p:cNvPr id="1442027047" name="Image 3" descr="Une image contenant texte, capture d’écran, Police, document&#10;&#10;Le contenu généré par l’IA peut être incorrect.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60133" y="3029107"/>
            <a:ext cx="2837617" cy="3658860"/>
          </a:xfrm>
          <a:prstGeom prst="rect">
            <a:avLst/>
          </a:prstGeom>
        </p:spPr>
      </p:pic>
      <p:pic>
        <p:nvPicPr>
          <p:cNvPr id="1234287330" name="Image 4" descr="Une image contenant texte, Police, capture d’écran, document&#10;&#10;Le contenu généré par l’IA peut être incorrect.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8403511" y="2306437"/>
            <a:ext cx="3530050" cy="4452407"/>
          </a:xfrm>
          <a:prstGeom prst="rect">
            <a:avLst/>
          </a:prstGeom>
        </p:spPr>
      </p:pic>
      <p:pic>
        <p:nvPicPr>
          <p:cNvPr id="1226487966" name="Image 5" descr="Une image contenant texte, capture d’écran, Police, ligne&#10;&#10;Le contenu généré par l’IA peut être incorrect.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5104273" y="3430420"/>
            <a:ext cx="3052014" cy="6782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02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4202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487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26487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287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34287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0961093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However</a:t>
            </a:r>
            <a:r>
              <a:rPr lang="fr-FR"/>
              <a:t>, </a:t>
            </a:r>
            <a:r>
              <a:rPr lang="fr-FR" sz="4400" b="0" i="0" u="none" strike="noStrike" cap="none" spc="0">
                <a:solidFill>
                  <a:schemeClr val="tx1"/>
                </a:solidFill>
                <a:latin typeface="Aptos Display"/>
                <a:ea typeface="Arial"/>
                <a:cs typeface="Arial"/>
              </a:rPr>
              <a:t>problems </a:t>
            </a:r>
            <a:r>
              <a:rPr lang="fr-FR"/>
              <a:t>happened</a:t>
            </a:r>
            <a:endParaRPr/>
          </a:p>
        </p:txBody>
      </p:sp>
      <p:sp>
        <p:nvSpPr>
          <p:cNvPr id="926333811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131552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fr-FR"/>
              <a:t>Meta-analyses </a:t>
            </a:r>
            <a:r>
              <a:rPr lang="fr-FR"/>
              <a:t>contradict</a:t>
            </a:r>
            <a:r>
              <a:rPr lang="fr-FR"/>
              <a:t> </a:t>
            </a:r>
            <a:r>
              <a:rPr lang="fr-FR"/>
              <a:t>with</a:t>
            </a:r>
            <a:r>
              <a:rPr lang="fr-FR"/>
              <a:t> </a:t>
            </a:r>
            <a:r>
              <a:rPr lang="fr-FR"/>
              <a:t>each</a:t>
            </a:r>
            <a:r>
              <a:rPr lang="fr-FR"/>
              <a:t> </a:t>
            </a:r>
            <a:r>
              <a:rPr lang="fr-FR"/>
              <a:t>others</a:t>
            </a:r>
            <a:endParaRPr lang="fr-FR"/>
          </a:p>
          <a:p>
            <a:pPr>
              <a:defRPr/>
            </a:pPr>
            <a:r>
              <a:rPr lang="fr-FR"/>
              <a:t>Meta-analyses </a:t>
            </a:r>
            <a:r>
              <a:rPr lang="fr-FR"/>
              <a:t>contradict</a:t>
            </a:r>
            <a:r>
              <a:rPr lang="fr-FR"/>
              <a:t> </a:t>
            </a:r>
            <a:r>
              <a:rPr lang="fr-FR"/>
              <a:t>many</a:t>
            </a:r>
            <a:r>
              <a:rPr lang="fr-FR"/>
              <a:t>-analyses</a:t>
            </a:r>
            <a:endParaRPr/>
          </a:p>
          <a:p>
            <a:pPr>
              <a:defRPr/>
            </a:pPr>
            <a:r>
              <a:rPr lang="fr-FR"/>
              <a:t>Meta-analyses </a:t>
            </a:r>
            <a:r>
              <a:rPr lang="fr-FR"/>
              <a:t>contradict</a:t>
            </a:r>
            <a:r>
              <a:rPr lang="fr-FR"/>
              <a:t> </a:t>
            </a:r>
            <a:r>
              <a:rPr lang="fr-FR"/>
              <a:t>common</a:t>
            </a:r>
            <a:r>
              <a:rPr lang="fr-FR"/>
              <a:t> </a:t>
            </a:r>
            <a:r>
              <a:rPr lang="fr-FR"/>
              <a:t>knowledge</a:t>
            </a:r>
            <a:endParaRPr lang="fr-FR"/>
          </a:p>
        </p:txBody>
      </p:sp>
      <p:pic>
        <p:nvPicPr>
          <p:cNvPr id="280893950" name="Image 6" descr="Une image contenant texte, capture d’écran, Police, Page web&#10;&#10;Le contenu généré par l’IA peut être incorrect.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01177" y="2689041"/>
            <a:ext cx="3146192" cy="2978728"/>
          </a:xfrm>
          <a:prstGeom prst="rect">
            <a:avLst/>
          </a:prstGeom>
        </p:spPr>
      </p:pic>
      <p:pic>
        <p:nvPicPr>
          <p:cNvPr id="930498765" name="Image 7" descr="Une image contenant texte, Visage humain, homme, capture d’écran&#10;&#10;Le contenu généré par l’IA peut être incorrect.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413555" y="2949677"/>
            <a:ext cx="3554117" cy="3367549"/>
          </a:xfrm>
          <a:prstGeom prst="rect">
            <a:avLst/>
          </a:prstGeom>
        </p:spPr>
      </p:pic>
      <p:pic>
        <p:nvPicPr>
          <p:cNvPr id="666354711" name="Image 8" descr="Une image contenant texte, capture d’écran, Police&#10;&#10;Le contenu généré par l’IA peut être incorrect.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8091692" y="2948141"/>
            <a:ext cx="3358229" cy="1395976"/>
          </a:xfrm>
          <a:prstGeom prst="rect">
            <a:avLst/>
          </a:prstGeom>
        </p:spPr>
      </p:pic>
      <p:pic>
        <p:nvPicPr>
          <p:cNvPr id="461191964" name="Image 9" descr="Une image contenant texte, capture d’écran, Police, nombre&#10;&#10;Le contenu généré par l’IA peut être incorrect.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6870213" y="4958566"/>
            <a:ext cx="5227483" cy="11389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893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498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354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66354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191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14817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However</a:t>
            </a:r>
            <a:r>
              <a:rPr lang="fr-FR"/>
              <a:t>, </a:t>
            </a:r>
            <a:r>
              <a:rPr lang="fr-FR" sz="4400" b="0" i="0" u="none" strike="noStrike" cap="none" spc="0">
                <a:solidFill>
                  <a:schemeClr val="tx1"/>
                </a:solidFill>
                <a:latin typeface="Aptos Display"/>
                <a:ea typeface="Arial"/>
                <a:cs typeface="Arial"/>
              </a:rPr>
              <a:t>problems </a:t>
            </a:r>
            <a:r>
              <a:rPr lang="fr-FR"/>
              <a:t>happened</a:t>
            </a:r>
            <a:endParaRPr/>
          </a:p>
        </p:txBody>
      </p:sp>
      <p:sp>
        <p:nvSpPr>
          <p:cNvPr id="1395373999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131552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fr-FR"/>
              <a:t>Meta-analyses </a:t>
            </a:r>
            <a:r>
              <a:rPr lang="fr-FR"/>
              <a:t>contradict</a:t>
            </a:r>
            <a:r>
              <a:rPr lang="fr-FR"/>
              <a:t> </a:t>
            </a:r>
            <a:r>
              <a:rPr lang="fr-FR"/>
              <a:t>with</a:t>
            </a:r>
            <a:r>
              <a:rPr lang="fr-FR"/>
              <a:t> </a:t>
            </a:r>
            <a:r>
              <a:rPr lang="fr-FR"/>
              <a:t>each</a:t>
            </a:r>
            <a:r>
              <a:rPr lang="fr-FR"/>
              <a:t> </a:t>
            </a:r>
            <a:r>
              <a:rPr lang="fr-FR"/>
              <a:t>others</a:t>
            </a:r>
            <a:endParaRPr lang="fr-FR"/>
          </a:p>
          <a:p>
            <a:pPr>
              <a:defRPr/>
            </a:pPr>
            <a:r>
              <a:rPr lang="fr-FR"/>
              <a:t>Meta-analyses </a:t>
            </a:r>
            <a:r>
              <a:rPr lang="fr-FR"/>
              <a:t>contradict</a:t>
            </a:r>
            <a:r>
              <a:rPr lang="fr-FR"/>
              <a:t> </a:t>
            </a:r>
            <a:r>
              <a:rPr lang="fr-FR"/>
              <a:t>many</a:t>
            </a:r>
            <a:r>
              <a:rPr lang="fr-FR"/>
              <a:t>-analyses</a:t>
            </a:r>
            <a:endParaRPr/>
          </a:p>
          <a:p>
            <a:pPr>
              <a:defRPr/>
            </a:pPr>
            <a:r>
              <a:rPr lang="fr-FR"/>
              <a:t>Meta-analyses </a:t>
            </a:r>
            <a:r>
              <a:rPr lang="fr-FR"/>
              <a:t>contradict</a:t>
            </a:r>
            <a:r>
              <a:rPr lang="fr-FR"/>
              <a:t> </a:t>
            </a:r>
            <a:endParaRPr/>
          </a:p>
          <a:p>
            <a:pPr marL="0" indent="0">
              <a:buNone/>
              <a:defRPr/>
            </a:pPr>
            <a:r>
              <a:rPr lang="fr-FR"/>
              <a:t>common</a:t>
            </a:r>
            <a:r>
              <a:rPr lang="fr-FR"/>
              <a:t> </a:t>
            </a:r>
            <a:r>
              <a:rPr lang="fr-FR"/>
              <a:t>knowledge</a:t>
            </a:r>
            <a:endParaRPr lang="fr-FR"/>
          </a:p>
        </p:txBody>
      </p:sp>
      <p:pic>
        <p:nvPicPr>
          <p:cNvPr id="1646160110" name="Image 3" descr="Une image contenant texte, capture d’écran, Police, ligne&#10;&#10;Le contenu généré par l’IA peut être incorrect.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2644" y="3345016"/>
            <a:ext cx="2092326" cy="815259"/>
          </a:xfrm>
          <a:prstGeom prst="rect">
            <a:avLst/>
          </a:prstGeom>
        </p:spPr>
      </p:pic>
      <p:pic>
        <p:nvPicPr>
          <p:cNvPr id="704795747" name="Image 4" descr="Une image contenant texte, Police, capture d’écran, nombre&#10;&#10;Le contenu généré par l’IA peut être incorrect.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564631" y="3261441"/>
            <a:ext cx="3891833" cy="3317568"/>
          </a:xfrm>
          <a:prstGeom prst="rect">
            <a:avLst/>
          </a:prstGeom>
        </p:spPr>
      </p:pic>
      <p:pic>
        <p:nvPicPr>
          <p:cNvPr id="1476524071" name="Image 5" descr="Une image contenant texte, capture d’écran, ligne, diagramme&#10;&#10;Le contenu généré par l’IA peut être incorrect.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997085" y="4164012"/>
            <a:ext cx="5096797" cy="2446492"/>
          </a:xfrm>
          <a:prstGeom prst="rect">
            <a:avLst/>
          </a:prstGeom>
        </p:spPr>
      </p:pic>
      <p:pic>
        <p:nvPicPr>
          <p:cNvPr id="2112712165" name="Image 10" descr="Une image contenant texte, capture d’écran, Police, document&#10;&#10;Le contenu généré par l’IA peut être incorrect.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7806914" y="319344"/>
            <a:ext cx="4288299" cy="38431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160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46160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4795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04795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271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12712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524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76524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267494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Why</a:t>
            </a:r>
            <a:r>
              <a:rPr lang="fr-FR"/>
              <a:t>?</a:t>
            </a:r>
            <a:endParaRPr/>
          </a:p>
        </p:txBody>
      </p:sp>
      <p:sp>
        <p:nvSpPr>
          <p:cNvPr id="1667214033" name="Espace réservé du contenu 2"/>
          <p:cNvSpPr>
            <a:spLocks noGrp="1"/>
          </p:cNvSpPr>
          <p:nvPr>
            <p:ph idx="1"/>
          </p:nvPr>
        </p:nvSpPr>
        <p:spPr bwMode="auto"/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en-US"/>
              <a:t>The too high prevalence of publication bias</a:t>
            </a:r>
            <a:endParaRPr/>
          </a:p>
          <a:p>
            <a:pPr lvl="1">
              <a:buFont typeface="Courier New"/>
              <a:buChar char="o"/>
              <a:defRPr/>
            </a:pPr>
            <a:r>
              <a:rPr lang="en-US"/>
              <a:t>Meta-analysis analyses only the published literature (or the </a:t>
            </a:r>
            <a:r>
              <a:rPr lang="en-US"/>
              <a:t>tracable</a:t>
            </a:r>
            <a:r>
              <a:rPr lang="en-US"/>
              <a:t> literature)</a:t>
            </a:r>
            <a:endParaRPr/>
          </a:p>
          <a:p>
            <a:pPr>
              <a:defRPr/>
            </a:pPr>
            <a:r>
              <a:rPr lang="en-US"/>
              <a:t>Selection of false positives</a:t>
            </a:r>
            <a:endParaRPr/>
          </a:p>
          <a:p>
            <a:pPr>
              <a:defRPr/>
            </a:pPr>
            <a:r>
              <a:rPr lang="en-US"/>
              <a:t>Hiding of true negatives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214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672140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2140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672140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2140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672140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2140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672140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721403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5053088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616350" y="-300"/>
            <a:ext cx="3578525" cy="2115659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defRPr/>
            </a:pPr>
            <a:r>
              <a:rPr lang="fr-FR" sz="1400">
                <a:ea typeface="Aptos"/>
                <a:cs typeface="Aptos"/>
              </a:rPr>
              <a:t>Bartoš</a:t>
            </a:r>
            <a:r>
              <a:rPr lang="fr-FR" sz="1400">
                <a:ea typeface="Aptos"/>
                <a:cs typeface="Aptos"/>
              </a:rPr>
              <a:t>, F., Maier, M., </a:t>
            </a:r>
            <a:r>
              <a:rPr lang="fr-FR" sz="1400">
                <a:ea typeface="Aptos"/>
                <a:cs typeface="Aptos"/>
              </a:rPr>
              <a:t>Wagenmakers</a:t>
            </a:r>
            <a:r>
              <a:rPr lang="fr-FR" sz="1400">
                <a:ea typeface="Aptos"/>
                <a:cs typeface="Aptos"/>
              </a:rPr>
              <a:t>, E., </a:t>
            </a:r>
            <a:r>
              <a:rPr lang="fr-FR" sz="1400">
                <a:ea typeface="Aptos"/>
                <a:cs typeface="Aptos"/>
              </a:rPr>
              <a:t>Nippold</a:t>
            </a:r>
            <a:r>
              <a:rPr lang="fr-FR" sz="1400">
                <a:ea typeface="Aptos"/>
                <a:cs typeface="Aptos"/>
              </a:rPr>
              <a:t>, F., </a:t>
            </a:r>
            <a:r>
              <a:rPr lang="fr-FR" sz="1400">
                <a:ea typeface="Aptos"/>
                <a:cs typeface="Aptos"/>
              </a:rPr>
              <a:t>Doucouliagos</a:t>
            </a:r>
            <a:r>
              <a:rPr lang="fr-FR" sz="1400">
                <a:ea typeface="Aptos"/>
                <a:cs typeface="Aptos"/>
              </a:rPr>
              <a:t>, H., </a:t>
            </a:r>
            <a:r>
              <a:rPr lang="fr-FR" sz="1400">
                <a:ea typeface="Aptos"/>
                <a:cs typeface="Aptos"/>
              </a:rPr>
              <a:t>Ioannidis</a:t>
            </a:r>
            <a:r>
              <a:rPr lang="fr-FR" sz="1400">
                <a:ea typeface="Aptos"/>
                <a:cs typeface="Aptos"/>
              </a:rPr>
              <a:t>, J. P. A., </a:t>
            </a:r>
            <a:r>
              <a:rPr lang="fr-FR" sz="1400">
                <a:ea typeface="Aptos"/>
                <a:cs typeface="Aptos"/>
              </a:rPr>
              <a:t>Otte</a:t>
            </a:r>
            <a:r>
              <a:rPr lang="fr-FR" sz="1400">
                <a:ea typeface="Aptos"/>
                <a:cs typeface="Aptos"/>
              </a:rPr>
              <a:t>, W. M., </a:t>
            </a:r>
            <a:r>
              <a:rPr lang="fr-FR" sz="1400">
                <a:ea typeface="Aptos"/>
                <a:cs typeface="Aptos"/>
              </a:rPr>
              <a:t>Sladekova</a:t>
            </a:r>
            <a:r>
              <a:rPr lang="fr-FR" sz="1400">
                <a:ea typeface="Aptos"/>
                <a:cs typeface="Aptos"/>
              </a:rPr>
              <a:t>, M., </a:t>
            </a:r>
            <a:r>
              <a:rPr lang="fr-FR" sz="1400">
                <a:ea typeface="Aptos"/>
                <a:cs typeface="Aptos"/>
              </a:rPr>
              <a:t>Deresssa</a:t>
            </a:r>
            <a:r>
              <a:rPr lang="fr-FR" sz="1400">
                <a:ea typeface="Aptos"/>
                <a:cs typeface="Aptos"/>
              </a:rPr>
              <a:t>, T. K., Bruns, S. B., </a:t>
            </a:r>
            <a:r>
              <a:rPr lang="fr-FR" sz="1400">
                <a:ea typeface="Aptos"/>
                <a:cs typeface="Aptos"/>
              </a:rPr>
              <a:t>Fanelli</a:t>
            </a:r>
            <a:r>
              <a:rPr lang="fr-FR" sz="1400">
                <a:ea typeface="Aptos"/>
                <a:cs typeface="Aptos"/>
              </a:rPr>
              <a:t>, D., &amp; Stanley, T. D. (2024). </a:t>
            </a:r>
            <a:r>
              <a:rPr lang="fr-FR" sz="1400">
                <a:ea typeface="Aptos"/>
                <a:cs typeface="Aptos"/>
              </a:rPr>
              <a:t>Footprint</a:t>
            </a:r>
            <a:r>
              <a:rPr lang="fr-FR" sz="1400">
                <a:ea typeface="Aptos"/>
                <a:cs typeface="Aptos"/>
              </a:rPr>
              <a:t> of publication </a:t>
            </a:r>
            <a:r>
              <a:rPr lang="fr-FR" sz="1400">
                <a:ea typeface="Aptos"/>
                <a:cs typeface="Aptos"/>
              </a:rPr>
              <a:t>selection</a:t>
            </a:r>
            <a:r>
              <a:rPr lang="fr-FR" sz="1400">
                <a:ea typeface="Aptos"/>
                <a:cs typeface="Aptos"/>
              </a:rPr>
              <a:t> </a:t>
            </a:r>
            <a:r>
              <a:rPr lang="fr-FR" sz="1400">
                <a:ea typeface="Aptos"/>
                <a:cs typeface="Aptos"/>
              </a:rPr>
              <a:t>bias</a:t>
            </a:r>
            <a:r>
              <a:rPr lang="fr-FR" sz="1400">
                <a:ea typeface="Aptos"/>
                <a:cs typeface="Aptos"/>
              </a:rPr>
              <a:t> on </a:t>
            </a:r>
            <a:r>
              <a:rPr lang="fr-FR" sz="1400">
                <a:ea typeface="Aptos"/>
                <a:cs typeface="Aptos"/>
              </a:rPr>
              <a:t>meta</a:t>
            </a:r>
            <a:r>
              <a:rPr lang="fr-FR" sz="1400">
                <a:ea typeface="Aptos"/>
                <a:cs typeface="Aptos"/>
              </a:rPr>
              <a:t>‐analyses in </a:t>
            </a:r>
            <a:r>
              <a:rPr lang="fr-FR" sz="1400">
                <a:ea typeface="Aptos"/>
                <a:cs typeface="Aptos"/>
              </a:rPr>
              <a:t>medicine</a:t>
            </a:r>
            <a:r>
              <a:rPr lang="fr-FR" sz="1400">
                <a:ea typeface="Aptos"/>
                <a:cs typeface="Aptos"/>
              </a:rPr>
              <a:t>, </a:t>
            </a:r>
            <a:r>
              <a:rPr lang="fr-FR" sz="1400">
                <a:ea typeface="Aptos"/>
                <a:cs typeface="Aptos"/>
              </a:rPr>
              <a:t>environmental</a:t>
            </a:r>
            <a:r>
              <a:rPr lang="fr-FR" sz="1400">
                <a:ea typeface="Aptos"/>
                <a:cs typeface="Aptos"/>
              </a:rPr>
              <a:t> sciences, </a:t>
            </a:r>
            <a:r>
              <a:rPr lang="fr-FR" sz="1400">
                <a:ea typeface="Aptos"/>
                <a:cs typeface="Aptos"/>
              </a:rPr>
              <a:t>psychology</a:t>
            </a:r>
            <a:r>
              <a:rPr lang="fr-FR" sz="1400">
                <a:ea typeface="Aptos"/>
                <a:cs typeface="Aptos"/>
              </a:rPr>
              <a:t>, and </a:t>
            </a:r>
            <a:r>
              <a:rPr lang="fr-FR" sz="1400">
                <a:ea typeface="Aptos"/>
                <a:cs typeface="Aptos"/>
              </a:rPr>
              <a:t>economics</a:t>
            </a:r>
            <a:r>
              <a:rPr lang="fr-FR" sz="1400">
                <a:ea typeface="Aptos"/>
                <a:cs typeface="Aptos"/>
              </a:rPr>
              <a:t>. </a:t>
            </a:r>
            <a:r>
              <a:rPr lang="fr-FR" sz="1400">
                <a:ea typeface="Aptos"/>
                <a:cs typeface="Aptos"/>
              </a:rPr>
              <a:t>Research</a:t>
            </a:r>
            <a:r>
              <a:rPr lang="fr-FR" sz="1400">
                <a:ea typeface="Aptos"/>
                <a:cs typeface="Aptos"/>
              </a:rPr>
              <a:t> </a:t>
            </a:r>
            <a:r>
              <a:rPr lang="fr-FR" sz="1400">
                <a:ea typeface="Aptos"/>
                <a:cs typeface="Aptos"/>
              </a:rPr>
              <a:t>Synthesis</a:t>
            </a:r>
            <a:r>
              <a:rPr lang="fr-FR" sz="1400">
                <a:ea typeface="Aptos"/>
                <a:cs typeface="Aptos"/>
              </a:rPr>
              <a:t> Methods, 15(3), 500–511. </a:t>
            </a:r>
            <a:r>
              <a:rPr lang="fr-FR" sz="1400" u="sng">
                <a:ea typeface="Aptos"/>
                <a:cs typeface="Aptos"/>
                <a:hlinkClick r:id="rId3" tooltip="https://doi.org/10.1002/jrsm.1703"/>
              </a:rPr>
              <a:t>https://doi.org/10.1002/jrsm.1703</a:t>
            </a:r>
            <a:endParaRPr lang="fr-FR" sz="1400"/>
          </a:p>
          <a:p>
            <a:pPr>
              <a:defRPr/>
            </a:pPr>
            <a:endParaRPr lang="fr-FR" sz="1400"/>
          </a:p>
        </p:txBody>
      </p:sp>
      <p:pic>
        <p:nvPicPr>
          <p:cNvPr id="1326400001" name="Image 3" descr="Une image contenant texte, capture d’écran, Police, nombre&#10;&#10;Le contenu généré par l’IA peut être incorrect.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90320" y="320973"/>
            <a:ext cx="3565945" cy="1248674"/>
          </a:xfrm>
          <a:prstGeom prst="rect">
            <a:avLst/>
          </a:prstGeom>
        </p:spPr>
      </p:pic>
      <p:sp>
        <p:nvSpPr>
          <p:cNvPr id="169089486" name="Espace réservé du contenu 2"/>
          <p:cNvSpPr txBox="1"/>
          <p:nvPr/>
        </p:nvSpPr>
        <p:spPr bwMode="auto">
          <a:xfrm>
            <a:off x="842341" y="1957357"/>
            <a:ext cx="10515600" cy="6347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/>
              <a:t>6 </a:t>
            </a:r>
            <a:r>
              <a:rPr lang="fr-FR"/>
              <a:t>models</a:t>
            </a:r>
            <a:r>
              <a:rPr lang="fr-FR"/>
              <a:t> </a:t>
            </a:r>
            <a:r>
              <a:rPr lang="fr-FR"/>
              <a:t>adjusting</a:t>
            </a:r>
            <a:r>
              <a:rPr lang="fr-FR"/>
              <a:t> for publication </a:t>
            </a:r>
            <a:r>
              <a:rPr lang="fr-FR"/>
              <a:t>biases</a:t>
            </a:r>
            <a:r>
              <a:rPr lang="fr-FR"/>
              <a:t> + PET-PEESE</a:t>
            </a:r>
            <a:endParaRPr/>
          </a:p>
        </p:txBody>
      </p:sp>
      <p:pic>
        <p:nvPicPr>
          <p:cNvPr id="374616413" name="Image 6" descr="Une image contenant texte, Police, blanc, ligne&#10;&#10;Le contenu généré par l’IA peut être incorrect.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4776249" y="2592148"/>
            <a:ext cx="1704975" cy="581025"/>
          </a:xfrm>
          <a:prstGeom prst="rect">
            <a:avLst/>
          </a:prstGeom>
        </p:spPr>
      </p:pic>
      <p:pic>
        <p:nvPicPr>
          <p:cNvPr id="1965744734" name="Image 7" descr="Une image contenant texte, capture d’écran, Police, nombre&#10;&#10;Le contenu généré par l’IA peut être incorrect.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3078646" y="3316564"/>
            <a:ext cx="6042992" cy="3190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400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08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69089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6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7461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5744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965744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08948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017234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Why</a:t>
            </a:r>
            <a:r>
              <a:rPr lang="fr-FR"/>
              <a:t>?</a:t>
            </a:r>
            <a:endParaRPr/>
          </a:p>
        </p:txBody>
      </p:sp>
      <p:sp>
        <p:nvSpPr>
          <p:cNvPr id="1062748747" name="Espace réservé du contenu 2"/>
          <p:cNvSpPr>
            <a:spLocks noGrp="1"/>
          </p:cNvSpPr>
          <p:nvPr>
            <p:ph idx="1"/>
          </p:nvPr>
        </p:nvSpPr>
        <p:spPr bwMode="auto"/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en-GB"/>
              <a:t>The large degree of freedom from meta-analysts</a:t>
            </a:r>
            <a:endParaRPr/>
          </a:p>
          <a:p>
            <a:pPr>
              <a:defRPr/>
            </a:pPr>
            <a:r>
              <a:rPr lang="en-GB"/>
              <a:t>The lack of transparency of meta-analyses who overgeneralize the tested</a:t>
            </a:r>
            <a:r>
              <a:rPr lang="en-GB" sz="2800" b="0" i="0" u="none" strike="noStrike" cap="none" spc="0">
                <a:solidFill>
                  <a:schemeClr val="tx1"/>
                </a:solidFill>
                <a:latin typeface="Aptos"/>
                <a:ea typeface="Arial"/>
                <a:cs typeface="Arial"/>
              </a:rPr>
              <a:t> effect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748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62748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748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62748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274874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604367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7940792" y="28810"/>
            <a:ext cx="4250267" cy="199948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fr-FR" sz="1400">
                <a:ea typeface="Aptos"/>
                <a:cs typeface="Aptos"/>
              </a:rPr>
              <a:t>Sandoval-</a:t>
            </a:r>
            <a:r>
              <a:rPr lang="fr-FR" sz="1400">
                <a:ea typeface="Aptos"/>
                <a:cs typeface="Aptos"/>
              </a:rPr>
              <a:t>Lentisco</a:t>
            </a:r>
            <a:r>
              <a:rPr lang="fr-FR" sz="1400">
                <a:ea typeface="Aptos"/>
                <a:cs typeface="Aptos"/>
              </a:rPr>
              <a:t>, A., </a:t>
            </a:r>
            <a:r>
              <a:rPr lang="fr-FR" sz="1400">
                <a:ea typeface="Aptos"/>
                <a:cs typeface="Aptos"/>
              </a:rPr>
              <a:t>Tortajada</a:t>
            </a:r>
            <a:r>
              <a:rPr lang="fr-FR" sz="1400">
                <a:ea typeface="Aptos"/>
                <a:cs typeface="Aptos"/>
              </a:rPr>
              <a:t>, M., Lopez-Nicolas, R., </a:t>
            </a:r>
            <a:r>
              <a:rPr lang="fr-FR" sz="1400">
                <a:ea typeface="Aptos"/>
                <a:cs typeface="Aptos"/>
              </a:rPr>
              <a:t>López-López</a:t>
            </a:r>
            <a:r>
              <a:rPr lang="fr-FR" sz="1400">
                <a:ea typeface="Aptos"/>
                <a:cs typeface="Aptos"/>
              </a:rPr>
              <a:t>, J., </a:t>
            </a:r>
            <a:r>
              <a:rPr lang="fr-FR" sz="1400">
                <a:ea typeface="Aptos"/>
                <a:cs typeface="Aptos"/>
              </a:rPr>
              <a:t>Wagenmakers</a:t>
            </a:r>
            <a:r>
              <a:rPr lang="fr-FR" sz="1400">
                <a:ea typeface="Aptos"/>
                <a:cs typeface="Aptos"/>
              </a:rPr>
              <a:t>, E., </a:t>
            </a:r>
            <a:r>
              <a:rPr lang="fr-FR" sz="1400">
                <a:ea typeface="Aptos"/>
                <a:cs typeface="Aptos"/>
              </a:rPr>
              <a:t>Sánchez</a:t>
            </a:r>
            <a:r>
              <a:rPr lang="fr-FR" sz="1400">
                <a:ea typeface="Aptos"/>
                <a:cs typeface="Aptos"/>
              </a:rPr>
              <a:t>-Meca, J., &amp; </a:t>
            </a:r>
            <a:r>
              <a:rPr lang="fr-FR" sz="1400">
                <a:ea typeface="Aptos"/>
                <a:cs typeface="Aptos"/>
              </a:rPr>
              <a:t>Hardwicke</a:t>
            </a:r>
            <a:r>
              <a:rPr lang="fr-FR" sz="1400">
                <a:ea typeface="Aptos"/>
                <a:cs typeface="Aptos"/>
              </a:rPr>
              <a:t>, T. E. (2024, May 13). </a:t>
            </a:r>
            <a:r>
              <a:rPr lang="fr-FR" sz="1400">
                <a:ea typeface="Aptos"/>
                <a:cs typeface="Aptos"/>
              </a:rPr>
              <a:t>Preregistration</a:t>
            </a:r>
            <a:r>
              <a:rPr lang="fr-FR" sz="1400">
                <a:ea typeface="Aptos"/>
                <a:cs typeface="Aptos"/>
              </a:rPr>
              <a:t> of </a:t>
            </a:r>
            <a:r>
              <a:rPr lang="fr-FR" sz="1400">
                <a:ea typeface="Aptos"/>
                <a:cs typeface="Aptos"/>
              </a:rPr>
              <a:t>psychology</a:t>
            </a:r>
            <a:r>
              <a:rPr lang="fr-FR" sz="1400">
                <a:ea typeface="Aptos"/>
                <a:cs typeface="Aptos"/>
              </a:rPr>
              <a:t> </a:t>
            </a:r>
            <a:r>
              <a:rPr lang="fr-FR" sz="1400">
                <a:ea typeface="Aptos"/>
                <a:cs typeface="Aptos"/>
              </a:rPr>
              <a:t>meta</a:t>
            </a:r>
            <a:r>
              <a:rPr lang="fr-FR" sz="1400">
                <a:ea typeface="Aptos"/>
                <a:cs typeface="Aptos"/>
              </a:rPr>
              <a:t>-analyses: A cross-sectional </a:t>
            </a:r>
            <a:r>
              <a:rPr lang="fr-FR" sz="1400">
                <a:ea typeface="Aptos"/>
                <a:cs typeface="Aptos"/>
              </a:rPr>
              <a:t>study</a:t>
            </a:r>
            <a:r>
              <a:rPr lang="fr-FR" sz="1400">
                <a:ea typeface="Aptos"/>
                <a:cs typeface="Aptos"/>
              </a:rPr>
              <a:t> of </a:t>
            </a:r>
            <a:r>
              <a:rPr lang="fr-FR" sz="1400">
                <a:ea typeface="Aptos"/>
                <a:cs typeface="Aptos"/>
              </a:rPr>
              <a:t>prevalence</a:t>
            </a:r>
            <a:r>
              <a:rPr lang="fr-FR" sz="1400">
                <a:ea typeface="Aptos"/>
                <a:cs typeface="Aptos"/>
              </a:rPr>
              <a:t> and practice. https://doi.org/10.31222/osf.io/627a4</a:t>
            </a:r>
            <a:endParaRPr lang="fr-FR" sz="1400"/>
          </a:p>
        </p:txBody>
      </p:sp>
      <p:sp>
        <p:nvSpPr>
          <p:cNvPr id="1143895878" name="Espace réservé du contenu 2"/>
          <p:cNvSpPr txBox="1"/>
          <p:nvPr/>
        </p:nvSpPr>
        <p:spPr bwMode="auto">
          <a:xfrm>
            <a:off x="838200" y="1825625"/>
            <a:ext cx="10515600" cy="5334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/>
              <a:t>1403 </a:t>
            </a:r>
            <a:r>
              <a:rPr lang="fr-FR"/>
              <a:t>meta</a:t>
            </a:r>
            <a:r>
              <a:rPr lang="fr-FR"/>
              <a:t>-analyses in </a:t>
            </a:r>
            <a:r>
              <a:rPr lang="fr-FR"/>
              <a:t>psychology</a:t>
            </a:r>
            <a:r>
              <a:rPr lang="fr-FR"/>
              <a:t> </a:t>
            </a:r>
            <a:r>
              <a:rPr lang="fr-FR"/>
              <a:t>published</a:t>
            </a:r>
            <a:r>
              <a:rPr lang="fr-FR"/>
              <a:t> in 2021</a:t>
            </a:r>
            <a:endParaRPr/>
          </a:p>
          <a:p>
            <a:pPr>
              <a:defRPr/>
            </a:pPr>
            <a:endParaRPr lang="fr-FR"/>
          </a:p>
        </p:txBody>
      </p:sp>
      <p:sp>
        <p:nvSpPr>
          <p:cNvPr id="855479503" name="ZoneTexte 1"/>
          <p:cNvSpPr txBox="1"/>
          <p:nvPr/>
        </p:nvSpPr>
        <p:spPr bwMode="auto">
          <a:xfrm>
            <a:off x="835843" y="2414833"/>
            <a:ext cx="9860437" cy="10445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28600" indent="-228600">
              <a:lnSpc>
                <a:spcPts val="3825"/>
              </a:lnSpc>
              <a:buFont typeface="Arial"/>
              <a:buChar char="•"/>
              <a:defRPr/>
            </a:pPr>
            <a:r>
              <a:rPr lang="fr-FR" sz="2800">
                <a:cs typeface="Arial"/>
              </a:rPr>
              <a:t>382 (27%) </a:t>
            </a:r>
            <a:r>
              <a:rPr lang="fr-FR" sz="2800">
                <a:cs typeface="Arial"/>
              </a:rPr>
              <a:t>were</a:t>
            </a:r>
            <a:r>
              <a:rPr lang="fr-FR" sz="2800">
                <a:cs typeface="Arial"/>
              </a:rPr>
              <a:t> </a:t>
            </a:r>
            <a:r>
              <a:rPr lang="fr-FR" sz="2800">
                <a:cs typeface="Arial"/>
              </a:rPr>
              <a:t>preregistered</a:t>
            </a:r>
            <a:r>
              <a:rPr lang="fr-FR" sz="2800">
                <a:cs typeface="Arial"/>
              </a:rPr>
              <a:t>​</a:t>
            </a:r>
            <a:endParaRPr/>
          </a:p>
          <a:p>
            <a:pPr marL="228600" indent="-228600">
              <a:lnSpc>
                <a:spcPts val="3825"/>
              </a:lnSpc>
              <a:buFont typeface="Arial"/>
              <a:buChar char="•"/>
              <a:defRPr/>
            </a:pPr>
            <a:endParaRPr lang="fr-FR" sz="2800">
              <a:cs typeface="Arial"/>
            </a:endParaRPr>
          </a:p>
        </p:txBody>
      </p:sp>
      <p:sp>
        <p:nvSpPr>
          <p:cNvPr id="614756476" name="ZoneTexte 3"/>
          <p:cNvSpPr txBox="1"/>
          <p:nvPr/>
        </p:nvSpPr>
        <p:spPr bwMode="auto">
          <a:xfrm>
            <a:off x="835844" y="2941163"/>
            <a:ext cx="6113282" cy="6591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28600" indent="-228600">
              <a:lnSpc>
                <a:spcPts val="4882"/>
              </a:lnSpc>
              <a:buFont typeface="Arial"/>
              <a:buChar char="•"/>
              <a:defRPr/>
            </a:pPr>
            <a:r>
              <a:rPr lang="fr-FR" sz="2800">
                <a:cs typeface="Arial"/>
              </a:rPr>
              <a:t>PRISMA – 23 </a:t>
            </a:r>
            <a:r>
              <a:rPr lang="fr-FR" sz="2800">
                <a:cs typeface="Arial"/>
              </a:rPr>
              <a:t>decisions</a:t>
            </a:r>
            <a:r>
              <a:rPr lang="fr-FR" sz="2800">
                <a:cs typeface="Arial"/>
              </a:rPr>
              <a:t>​</a:t>
            </a:r>
            <a:r>
              <a:rPr lang="en-US" sz="2800">
                <a:cs typeface="Arial"/>
              </a:rPr>
              <a:t>​</a:t>
            </a:r>
            <a:endParaRPr lang="fr-FR" sz="2800">
              <a:cs typeface="Arial"/>
            </a:endParaRPr>
          </a:p>
        </p:txBody>
      </p:sp>
      <p:sp>
        <p:nvSpPr>
          <p:cNvPr id="1896277199" name="ZoneTexte 5"/>
          <p:cNvSpPr txBox="1"/>
          <p:nvPr/>
        </p:nvSpPr>
        <p:spPr bwMode="auto">
          <a:xfrm>
            <a:off x="835844" y="3271101"/>
            <a:ext cx="5971880" cy="7841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28600" indent="-228600">
              <a:lnSpc>
                <a:spcPts val="6231"/>
              </a:lnSpc>
              <a:buFont typeface="Arial"/>
              <a:buChar char="•"/>
              <a:defRPr/>
            </a:pPr>
            <a:r>
              <a:rPr lang="fr-FR" sz="2800">
                <a:cs typeface="Arial"/>
              </a:rPr>
              <a:t>Median</a:t>
            </a:r>
            <a:r>
              <a:rPr lang="fr-FR" sz="2800">
                <a:cs typeface="Arial"/>
              </a:rPr>
              <a:t> of 13 </a:t>
            </a:r>
            <a:r>
              <a:rPr lang="fr-FR" sz="2800">
                <a:cs typeface="Arial"/>
              </a:rPr>
              <a:t>decisions</a:t>
            </a:r>
            <a:r>
              <a:rPr lang="fr-FR" sz="2800">
                <a:cs typeface="Arial"/>
              </a:rPr>
              <a:t> </a:t>
            </a:r>
            <a:r>
              <a:rPr lang="fr-FR" sz="2800">
                <a:cs typeface="Arial"/>
              </a:rPr>
              <a:t>covered</a:t>
            </a:r>
            <a:r>
              <a:rPr lang="fr-FR" sz="2800">
                <a:cs typeface="Arial"/>
              </a:rPr>
              <a:t>​</a:t>
            </a:r>
            <a:r>
              <a:rPr lang="en-US" sz="2800">
                <a:cs typeface="Arial"/>
              </a:rPr>
              <a:t>​​</a:t>
            </a:r>
            <a:endParaRPr/>
          </a:p>
        </p:txBody>
      </p:sp>
      <p:sp>
        <p:nvSpPr>
          <p:cNvPr id="283771568" name="ZoneTexte 6"/>
          <p:cNvSpPr txBox="1"/>
          <p:nvPr/>
        </p:nvSpPr>
        <p:spPr bwMode="auto">
          <a:xfrm>
            <a:off x="835843" y="3734586"/>
            <a:ext cx="9978272" cy="9573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28600" indent="-228600">
              <a:lnSpc>
                <a:spcPts val="7953"/>
              </a:lnSpc>
              <a:buFont typeface="Arial"/>
              <a:buChar char="•"/>
              <a:defRPr/>
            </a:pPr>
            <a:r>
              <a:rPr lang="fr-FR" sz="2800">
                <a:cs typeface="Arial"/>
              </a:rPr>
              <a:t>Out of </a:t>
            </a:r>
            <a:r>
              <a:rPr lang="fr-FR" sz="2800">
                <a:cs typeface="Arial"/>
              </a:rPr>
              <a:t>these</a:t>
            </a:r>
            <a:r>
              <a:rPr lang="fr-FR" sz="2800">
                <a:cs typeface="Arial"/>
              </a:rPr>
              <a:t> 13, all </a:t>
            </a:r>
            <a:r>
              <a:rPr lang="fr-FR" sz="2800">
                <a:cs typeface="Arial"/>
              </a:rPr>
              <a:t>meta</a:t>
            </a:r>
            <a:r>
              <a:rPr lang="fr-FR" sz="2800">
                <a:cs typeface="Arial"/>
              </a:rPr>
              <a:t>-analyses </a:t>
            </a:r>
            <a:r>
              <a:rPr lang="fr-FR" sz="2800">
                <a:cs typeface="Arial"/>
              </a:rPr>
              <a:t>had</a:t>
            </a:r>
            <a:r>
              <a:rPr lang="fr-FR" sz="2800">
                <a:cs typeface="Arial"/>
              </a:rPr>
              <a:t> at least one </a:t>
            </a:r>
            <a:r>
              <a:rPr lang="fr-FR" sz="2800">
                <a:cs typeface="Arial"/>
              </a:rPr>
              <a:t>deviation</a:t>
            </a:r>
            <a:r>
              <a:rPr lang="fr-FR" sz="2800">
                <a:cs typeface="Arial"/>
              </a:rPr>
              <a:t>​</a:t>
            </a:r>
            <a:r>
              <a:rPr lang="en-US" sz="2800">
                <a:cs typeface="Arial"/>
              </a:rPr>
              <a:t>​​​</a:t>
            </a:r>
            <a:endParaRPr/>
          </a:p>
        </p:txBody>
      </p:sp>
      <p:sp>
        <p:nvSpPr>
          <p:cNvPr id="1685337265" name="ZoneTexte 7"/>
          <p:cNvSpPr txBox="1"/>
          <p:nvPr/>
        </p:nvSpPr>
        <p:spPr bwMode="auto">
          <a:xfrm>
            <a:off x="835844" y="4111658"/>
            <a:ext cx="6631756" cy="11689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28600" indent="-228600">
              <a:lnSpc>
                <a:spcPts val="10151"/>
              </a:lnSpc>
              <a:buFont typeface="Arial"/>
              <a:buChar char="•"/>
              <a:defRPr/>
            </a:pPr>
            <a:r>
              <a:rPr lang="fr-FR" sz="2800">
                <a:cs typeface="Arial"/>
              </a:rPr>
              <a:t>Median of 8 deviations undisclosed</a:t>
            </a:r>
            <a:r>
              <a:rPr lang="en-US" sz="2800">
                <a:cs typeface="Arial"/>
              </a:rPr>
              <a:t>​​​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95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43895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47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479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56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14756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277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96277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77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3771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337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85337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3895878" grpId="0"/>
      <p:bldP spid="855479503" grpId="0"/>
      <p:bldP spid="614756476" grpId="0"/>
      <p:bldP spid="1896277199" grpId="0"/>
      <p:bldP spid="283771568" grpId="0"/>
      <p:bldP spid="168533726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2647638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Why</a:t>
            </a:r>
            <a:r>
              <a:rPr lang="fr-FR"/>
              <a:t>?</a:t>
            </a:r>
            <a:endParaRPr/>
          </a:p>
        </p:txBody>
      </p:sp>
      <p:sp>
        <p:nvSpPr>
          <p:cNvPr id="1496785187" name="Espace réservé du contenu 2"/>
          <p:cNvSpPr>
            <a:spLocks noGrp="1"/>
          </p:cNvSpPr>
          <p:nvPr>
            <p:ph idx="1"/>
          </p:nvPr>
        </p:nvSpPr>
        <p:spPr bwMode="auto"/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en-GB"/>
              <a:t>The difficulty to conduct meta-analyses and the lack of proper training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0070254" name="Espace réservé du contenu 3" descr="Une image contenant diagramme, Plan, Dessin technique, schématique&#10;&#10;Le contenu généré par l’IA peut être incorrect.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3048000" y="2159393"/>
            <a:ext cx="6096000" cy="3683803"/>
          </a:xfrm>
          <a:prstGeom prst="rect">
            <a:avLst/>
          </a:prstGeom>
        </p:spPr>
      </p:pic>
      <p:sp>
        <p:nvSpPr>
          <p:cNvPr id="1484218412" name="ZoneTexte 4"/>
          <p:cNvSpPr txBox="1"/>
          <p:nvPr/>
        </p:nvSpPr>
        <p:spPr bwMode="auto">
          <a:xfrm>
            <a:off x="77857" y="2156791"/>
            <a:ext cx="2743200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>
                <a:solidFill>
                  <a:srgbClr val="2E2E2E"/>
                </a:solidFill>
                <a:latin typeface="Elsevier Sans"/>
              </a:rPr>
              <a:t> For each of the following plots, please place an “X” in front of the response that best fits your interpretation of whether there is evidence for publication bias: “yes,” “no,” or “maybe.”</a:t>
            </a:r>
            <a:endParaRPr lang="en-US"/>
          </a:p>
        </p:txBody>
      </p:sp>
      <p:sp>
        <p:nvSpPr>
          <p:cNvPr id="1619001797" name="Rectangle 5"/>
          <p:cNvSpPr/>
          <p:nvPr/>
        </p:nvSpPr>
        <p:spPr bwMode="auto">
          <a:xfrm>
            <a:off x="5001365" y="3032059"/>
            <a:ext cx="975392" cy="96752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76508291" name="Rectangle 6"/>
          <p:cNvSpPr/>
          <p:nvPr/>
        </p:nvSpPr>
        <p:spPr bwMode="auto">
          <a:xfrm>
            <a:off x="3046670" y="3984559"/>
            <a:ext cx="975392" cy="96752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84892088" name="Rectangle 7"/>
          <p:cNvSpPr/>
          <p:nvPr/>
        </p:nvSpPr>
        <p:spPr bwMode="auto">
          <a:xfrm>
            <a:off x="6218909" y="3032058"/>
            <a:ext cx="1969305" cy="967526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94474363" name="Rectangle 8"/>
          <p:cNvSpPr/>
          <p:nvPr/>
        </p:nvSpPr>
        <p:spPr bwMode="auto">
          <a:xfrm>
            <a:off x="5001365" y="2062991"/>
            <a:ext cx="975393" cy="90954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244398799" name="Rectangle 9"/>
          <p:cNvSpPr/>
          <p:nvPr/>
        </p:nvSpPr>
        <p:spPr bwMode="auto">
          <a:xfrm>
            <a:off x="5001365" y="4001122"/>
            <a:ext cx="975393" cy="90954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406076" name="Rectangle 10"/>
          <p:cNvSpPr/>
          <p:nvPr/>
        </p:nvSpPr>
        <p:spPr bwMode="auto">
          <a:xfrm>
            <a:off x="2972126" y="2062991"/>
            <a:ext cx="1049936" cy="90954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714328427" name="Rectangle 11"/>
          <p:cNvSpPr/>
          <p:nvPr/>
        </p:nvSpPr>
        <p:spPr bwMode="auto">
          <a:xfrm>
            <a:off x="7204539" y="4001121"/>
            <a:ext cx="1049936" cy="909548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pic>
        <p:nvPicPr>
          <p:cNvPr id="629444085" name="Image 12" descr="Une image contenant texte, capture d’écran, Police, nombre&#10;&#10;Le contenu généré par l’IA peut être incorrect.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9433063" y="520769"/>
            <a:ext cx="2685222" cy="2395745"/>
          </a:xfrm>
          <a:prstGeom prst="rect">
            <a:avLst/>
          </a:prstGeom>
        </p:spPr>
      </p:pic>
      <p:sp>
        <p:nvSpPr>
          <p:cNvPr id="742636407" name="ZoneTexte 13"/>
          <p:cNvSpPr txBox="1"/>
          <p:nvPr/>
        </p:nvSpPr>
        <p:spPr bwMode="auto">
          <a:xfrm>
            <a:off x="9379226" y="4815508"/>
            <a:ext cx="2809461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sz="1400"/>
              <a:t>Terrin, N., Schmid, C. H., &amp; Lau, J. (2005). In an empirical evaluation of the funnel plot, researchers could not visually identify publication bias. Journal of Clinical Epidemiology, 58(9), 894–901. https://doi.org/10.1016/j.jclinepi.2005.01.006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218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06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474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900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892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848920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8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398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328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444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218412" grpId="0"/>
      <p:bldP spid="1619001797" grpId="0" animBg="1"/>
      <p:bldP spid="276508291" grpId="0" animBg="1"/>
      <p:bldP spid="784892088" grpId="0" animBg="1"/>
      <p:bldP spid="294474363" grpId="0" animBg="1"/>
      <p:bldP spid="1244398799" grpId="0" animBg="1"/>
      <p:bldP spid="11406076" grpId="0" animBg="1"/>
      <p:bldP spid="7143284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532136" name="ZoneTexte 3"/>
          <p:cNvSpPr txBox="1"/>
          <p:nvPr/>
        </p:nvSpPr>
        <p:spPr bwMode="auto">
          <a:xfrm>
            <a:off x="8778993" y="227659"/>
            <a:ext cx="3411125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sz="1400"/>
              <a:t>Chiesa, A., &amp; </a:t>
            </a:r>
            <a:r>
              <a:rPr lang="en-US" sz="1400"/>
              <a:t>Serretti</a:t>
            </a:r>
            <a:r>
              <a:rPr lang="en-US" sz="1400"/>
              <a:t>, A. (2009). Mindfulness-Based Stress Reduction for Stress Management in Healthy People: A Review and Meta-Analysis. The Journal of Alternative and Complementary Medicine, 15(5), 593–600. https://doi.org/10.1089/acm.2008.0495 </a:t>
            </a:r>
            <a:endParaRPr/>
          </a:p>
        </p:txBody>
      </p:sp>
      <p:pic>
        <p:nvPicPr>
          <p:cNvPr id="211792130" name="Image 5" descr="Une image contenant texte, capture d’écran, Police&#10;&#10;Le contenu généré par l’IA peut être incorrect.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31493" y="229540"/>
            <a:ext cx="5254273" cy="1911586"/>
          </a:xfrm>
          <a:prstGeom prst="rect">
            <a:avLst/>
          </a:prstGeom>
        </p:spPr>
      </p:pic>
      <p:pic>
        <p:nvPicPr>
          <p:cNvPr id="1282665936" name="Image 7" descr="Une image contenant texte, capture d’écran, Police, nombre&#10;&#10;Le contenu généré par l’IA peut être incorrect.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819446" y="2144889"/>
            <a:ext cx="6562515" cy="4713112"/>
          </a:xfrm>
          <a:prstGeom prst="rect">
            <a:avLst/>
          </a:prstGeom>
        </p:spPr>
      </p:pic>
      <p:sp>
        <p:nvSpPr>
          <p:cNvPr id="304133305" name="ZoneTexte 8"/>
          <p:cNvSpPr txBox="1"/>
          <p:nvPr/>
        </p:nvSpPr>
        <p:spPr bwMode="auto">
          <a:xfrm>
            <a:off x="9446919" y="4131733"/>
            <a:ext cx="27432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b="1" cap="all">
                <a:solidFill>
                  <a:srgbClr val="1A1A1A"/>
                </a:solidFill>
                <a:latin typeface="Helvetica"/>
                <a:cs typeface="Helvetica"/>
              </a:rPr>
              <a:t>Error Report #1</a:t>
            </a:r>
            <a:endParaRPr/>
          </a:p>
          <a:p>
            <a:pPr>
              <a:defRPr/>
            </a:pPr>
            <a:r>
              <a:rPr lang="en-US" b="1" cap="all">
                <a:solidFill>
                  <a:srgbClr val="1A1A1A"/>
                </a:solidFill>
                <a:latin typeface="Helvetica"/>
                <a:cs typeface="Helvetica"/>
              </a:rPr>
              <a:t>Matthew B. </a:t>
            </a:r>
            <a:r>
              <a:rPr lang="en-US" b="1" cap="all">
                <a:solidFill>
                  <a:srgbClr val="1A1A1A"/>
                </a:solidFill>
                <a:latin typeface="Helvetica"/>
                <a:cs typeface="Helvetica"/>
              </a:rPr>
              <a:t>Jané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3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665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82665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3330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928374" name="Espace réservé du contenu 3" descr="Une image contenant texte, capture d’écran, Police&#10;&#10;Le contenu généré par l’IA peut être incorrect.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3057" y="1323"/>
            <a:ext cx="7124700" cy="2581275"/>
          </a:xfrm>
          <a:prstGeom prst="rect">
            <a:avLst/>
          </a:prstGeom>
        </p:spPr>
      </p:pic>
      <p:pic>
        <p:nvPicPr>
          <p:cNvPr id="893855536" name="Image 4" descr="Une image contenant texte, capture d’écran, nombre, Police&#10;&#10;Le contenu généré par l’IA peut être incorrect.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59514" y="2877197"/>
            <a:ext cx="8777935" cy="3653014"/>
          </a:xfrm>
          <a:prstGeom prst="rect">
            <a:avLst/>
          </a:prstGeom>
        </p:spPr>
      </p:pic>
      <p:pic>
        <p:nvPicPr>
          <p:cNvPr id="226416039" name="Image 5" descr="Une image contenant texte, capture d’écran, nombre, Police&#10;&#10;Le contenu généré par l’IA peut être incorrect.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7377583" y="301155"/>
            <a:ext cx="4812242" cy="2831395"/>
          </a:xfrm>
          <a:prstGeom prst="rect">
            <a:avLst/>
          </a:prstGeom>
        </p:spPr>
      </p:pic>
      <p:pic>
        <p:nvPicPr>
          <p:cNvPr id="742232860" name="Image 7" descr="Une image contenant texte, capture d’écran, conception&#10;&#10;Le contenu généré par l’IA peut être incorrect.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396502" y="2300082"/>
            <a:ext cx="5619002" cy="4313208"/>
          </a:xfrm>
          <a:prstGeom prst="rect">
            <a:avLst/>
          </a:prstGeom>
        </p:spPr>
      </p:pic>
      <p:pic>
        <p:nvPicPr>
          <p:cNvPr id="1923357333" name="Image 8" descr="Une image contenant texte, capture d’écran, logiciel, Police&#10;&#10;Le contenu généré par l’IA peut être incorrect.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4547109" y="588720"/>
            <a:ext cx="7482876" cy="2285282"/>
          </a:xfrm>
          <a:prstGeom prst="rect">
            <a:avLst/>
          </a:prstGeom>
        </p:spPr>
      </p:pic>
      <p:sp>
        <p:nvSpPr>
          <p:cNvPr id="969420242" name="ZoneTexte 10"/>
          <p:cNvSpPr txBox="1"/>
          <p:nvPr/>
        </p:nvSpPr>
        <p:spPr bwMode="auto">
          <a:xfrm>
            <a:off x="6805678" y="3133357"/>
            <a:ext cx="4276310" cy="3383639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4472C4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85750" indent="-285750">
              <a:buFont typeface="Arial"/>
              <a:buChar char="•"/>
              <a:defRPr/>
            </a:pPr>
            <a:r>
              <a:rPr lang="en-US"/>
              <a:t>Means for both conditions were mathematically impossible</a:t>
            </a:r>
            <a:endParaRPr/>
          </a:p>
          <a:p>
            <a:pPr marL="742950" lvl="1" indent="-285750">
              <a:buFont typeface="Courier New"/>
              <a:buChar char="o"/>
              <a:defRPr/>
            </a:pPr>
            <a:r>
              <a:rPr lang="en-US"/>
              <a:t>For age, and for BDI (depression) for all 3 time points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/>
              <a:t>SD for  both conditions were mathematically impossible</a:t>
            </a:r>
            <a:endParaRPr/>
          </a:p>
          <a:p>
            <a:pPr marL="742950" lvl="1" indent="-285750">
              <a:buFont typeface="Courier New"/>
              <a:buChar char="o"/>
              <a:defRPr/>
            </a:pPr>
            <a:r>
              <a:rPr lang="en-US"/>
              <a:t>For age, and for BDI (depression) for all 3time points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/>
              <a:t>T-values reported are inconsistent with means and </a:t>
            </a:r>
            <a:r>
              <a:rPr lang="en-US"/>
              <a:t>sds</a:t>
            </a:r>
            <a:r>
              <a:rPr lang="en-US"/>
              <a:t> reported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en-US"/>
              <a:t>It leads to an impossible effect size of </a:t>
            </a:r>
            <a:r>
              <a:rPr lang="en-US"/>
              <a:t>cohen's</a:t>
            </a:r>
            <a:r>
              <a:rPr lang="en-US"/>
              <a:t> d = 2.62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855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16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35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23357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420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23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42232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942024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5186916" name="Espace réservé du contenu 3" descr="Une image contenant texte, capture d’écran, Police, algèbre&#10;&#10;Le contenu généré par l’IA peut être incorrect.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719698" y="251525"/>
            <a:ext cx="3518087" cy="1708337"/>
          </a:xfrm>
          <a:prstGeom prst="rect">
            <a:avLst/>
          </a:prstGeom>
        </p:spPr>
      </p:pic>
      <p:pic>
        <p:nvPicPr>
          <p:cNvPr id="95813528" name="Image 4" descr="Une image contenant texte, Police, capture d’écran, ligne&#10;&#10;Le contenu généré par l’IA peut être incorrect.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89965" y="2287680"/>
            <a:ext cx="4392706" cy="615203"/>
          </a:xfrm>
          <a:prstGeom prst="rect">
            <a:avLst/>
          </a:prstGeom>
        </p:spPr>
      </p:pic>
      <p:pic>
        <p:nvPicPr>
          <p:cNvPr id="1853699882" name="Image 5" descr="Une image contenant texte, Police, capture d’écran, violette&#10;&#10;Le contenu généré par l’IA peut être incorrect.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301438" y="3255029"/>
            <a:ext cx="4569759" cy="1862978"/>
          </a:xfrm>
          <a:prstGeom prst="rect">
            <a:avLst/>
          </a:prstGeom>
        </p:spPr>
      </p:pic>
      <p:pic>
        <p:nvPicPr>
          <p:cNvPr id="2071984866" name="Image 6" descr="Une image contenant texte, capture d’écran, nombre, Parallèle&#10;&#10;Le contenu généré par l’IA peut être incorrect.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6206938" y="1504670"/>
            <a:ext cx="4681818" cy="35080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13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99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98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53514638" name="Espace réservé du contenu 3" descr="Une image contenant texte, capture d’écran, Police, nombre&#10;&#10;Le contenu généré par l’IA peut être incorrect.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390113" y="408075"/>
            <a:ext cx="3707107" cy="2256955"/>
          </a:xfrm>
          <a:prstGeom prst="rect">
            <a:avLst/>
          </a:prstGeom>
        </p:spPr>
      </p:pic>
      <p:sp>
        <p:nvSpPr>
          <p:cNvPr id="1570307086" name="ZoneTexte 4"/>
          <p:cNvSpPr txBox="1"/>
          <p:nvPr/>
        </p:nvSpPr>
        <p:spPr bwMode="auto">
          <a:xfrm>
            <a:off x="4489215" y="547511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>
                <a:solidFill>
                  <a:srgbClr val="3E3F3A"/>
                </a:solidFill>
                <a:latin typeface="Open Sans"/>
                <a:ea typeface="Open Sans"/>
                <a:cs typeface="Open Sans"/>
              </a:rPr>
              <a:t> SE = SD/sqrt(n).</a:t>
            </a:r>
            <a:endParaRPr lang="en-US"/>
          </a:p>
        </p:txBody>
      </p:sp>
      <p:sp>
        <p:nvSpPr>
          <p:cNvPr id="1907286292" name="ZoneTexte 5"/>
          <p:cNvSpPr txBox="1"/>
          <p:nvPr/>
        </p:nvSpPr>
        <p:spPr bwMode="auto">
          <a:xfrm>
            <a:off x="4065881" y="1920993"/>
            <a:ext cx="368394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>
                <a:solidFill>
                  <a:srgbClr val="3E3F3A"/>
                </a:solidFill>
                <a:latin typeface="Open Sans"/>
                <a:ea typeface="Open Sans"/>
                <a:cs typeface="Open Sans"/>
              </a:rPr>
              <a:t>SD = 0.03xsqrt(32) = 0.1643</a:t>
            </a:r>
            <a:endParaRPr/>
          </a:p>
          <a:p>
            <a:pPr>
              <a:defRPr/>
            </a:pPr>
            <a:endParaRPr lang="en-US">
              <a:solidFill>
                <a:srgbClr val="3E3F3A"/>
              </a:solidFill>
              <a:latin typeface="Open Sans"/>
              <a:ea typeface="Open Sans"/>
              <a:cs typeface="Open Sans"/>
            </a:endParaRPr>
          </a:p>
        </p:txBody>
      </p:sp>
      <p:sp>
        <p:nvSpPr>
          <p:cNvPr id="14194540" name="ZoneTexte 6"/>
          <p:cNvSpPr txBox="1"/>
          <p:nvPr/>
        </p:nvSpPr>
        <p:spPr bwMode="auto">
          <a:xfrm>
            <a:off x="4065881" y="2203215"/>
            <a:ext cx="3590586" cy="3661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>
                <a:solidFill>
                  <a:srgbClr val="3E3F3A"/>
                </a:solidFill>
                <a:latin typeface="Open Sans"/>
              </a:rPr>
              <a:t>SD = 0.01xsqrt(30) = 0.05656</a:t>
            </a:r>
            <a:endParaRPr lang="fr-FR"/>
          </a:p>
        </p:txBody>
      </p:sp>
      <p:cxnSp>
        <p:nvCxnSpPr>
          <p:cNvPr id="444354699" name="Connecteur droit avec flèche 7"/>
          <p:cNvCxnSpPr/>
          <p:nvPr/>
        </p:nvCxnSpPr>
        <p:spPr bwMode="auto">
          <a:xfrm flipH="1">
            <a:off x="2529778" y="2134186"/>
            <a:ext cx="1622400" cy="65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1058456" name="Connecteur droit avec flèche 8"/>
          <p:cNvCxnSpPr/>
          <p:nvPr/>
        </p:nvCxnSpPr>
        <p:spPr bwMode="auto">
          <a:xfrm flipH="1" flipV="1">
            <a:off x="2539185" y="2331326"/>
            <a:ext cx="1603586" cy="380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0018598" name="ZoneTexte 9"/>
          <p:cNvSpPr txBox="1"/>
          <p:nvPr/>
        </p:nvSpPr>
        <p:spPr bwMode="auto">
          <a:xfrm>
            <a:off x="7969955" y="1347139"/>
            <a:ext cx="3473329" cy="3661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>
                <a:latin typeface="Open Sans"/>
                <a:ea typeface="Open Sans"/>
                <a:cs typeface="Open Sans"/>
              </a:rPr>
              <a:t>Cohen's </a:t>
            </a:r>
            <a:r>
              <a:rPr lang="en-US" i="1">
                <a:latin typeface="Open Sans"/>
                <a:ea typeface="Open Sans"/>
                <a:cs typeface="Open Sans"/>
              </a:rPr>
              <a:t>d</a:t>
            </a:r>
            <a:r>
              <a:rPr lang="en-US">
                <a:latin typeface="Open Sans"/>
                <a:ea typeface="Open Sans"/>
                <a:cs typeface="Open Sans"/>
              </a:rPr>
              <a:t>  =  (</a:t>
            </a:r>
            <a:r>
              <a:rPr lang="en-US" i="1">
                <a:latin typeface="Open Sans"/>
                <a:ea typeface="Open Sans"/>
                <a:cs typeface="Open Sans"/>
              </a:rPr>
              <a:t>M</a:t>
            </a:r>
            <a:r>
              <a:rPr lang="en-US" baseline="-25000">
                <a:latin typeface="Open Sans"/>
                <a:ea typeface="Open Sans"/>
                <a:cs typeface="Open Sans"/>
              </a:rPr>
              <a:t>2</a:t>
            </a:r>
            <a:r>
              <a:rPr lang="en-US">
                <a:latin typeface="Open Sans"/>
                <a:ea typeface="Open Sans"/>
                <a:cs typeface="Open Sans"/>
              </a:rPr>
              <a:t> - </a:t>
            </a:r>
            <a:r>
              <a:rPr lang="en-US" i="1">
                <a:latin typeface="Open Sans"/>
                <a:ea typeface="Open Sans"/>
                <a:cs typeface="Open Sans"/>
              </a:rPr>
              <a:t>M</a:t>
            </a:r>
            <a:r>
              <a:rPr lang="en-US" baseline="-25000">
                <a:latin typeface="Open Sans"/>
                <a:ea typeface="Open Sans"/>
                <a:cs typeface="Open Sans"/>
              </a:rPr>
              <a:t>1</a:t>
            </a:r>
            <a:r>
              <a:rPr lang="en-US">
                <a:latin typeface="Open Sans"/>
                <a:ea typeface="Open Sans"/>
                <a:cs typeface="Open Sans"/>
              </a:rPr>
              <a:t>) ⁄ </a:t>
            </a:r>
            <a:r>
              <a:rPr lang="en-US" i="1">
                <a:latin typeface="Open Sans"/>
                <a:ea typeface="Open Sans"/>
                <a:cs typeface="Open Sans"/>
              </a:rPr>
              <a:t>SD</a:t>
            </a:r>
            <a:r>
              <a:rPr lang="en-US" baseline="-25000">
                <a:latin typeface="Open Sans"/>
                <a:ea typeface="Open Sans"/>
                <a:cs typeface="Open Sans"/>
              </a:rPr>
              <a:t>pooled</a:t>
            </a:r>
            <a:endParaRPr lang="en-US"/>
          </a:p>
        </p:txBody>
      </p:sp>
      <p:sp>
        <p:nvSpPr>
          <p:cNvPr id="1869482938" name="ZoneTexte 10"/>
          <p:cNvSpPr txBox="1"/>
          <p:nvPr/>
        </p:nvSpPr>
        <p:spPr bwMode="auto">
          <a:xfrm>
            <a:off x="8111066" y="2024473"/>
            <a:ext cx="3473329" cy="3661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>
                <a:latin typeface="Open Sans"/>
                <a:ea typeface="Open Sans"/>
                <a:cs typeface="Open Sans"/>
              </a:rPr>
              <a:t>Cohen's </a:t>
            </a:r>
            <a:r>
              <a:rPr lang="en-US" i="1">
                <a:latin typeface="Open Sans"/>
                <a:ea typeface="Open Sans"/>
                <a:cs typeface="Open Sans"/>
              </a:rPr>
              <a:t>d</a:t>
            </a:r>
            <a:r>
              <a:rPr lang="en-US">
                <a:latin typeface="Open Sans"/>
                <a:ea typeface="Open Sans"/>
                <a:cs typeface="Open Sans"/>
              </a:rPr>
              <a:t>  =  2.03</a:t>
            </a:r>
            <a:endParaRPr lang="en-US" baseline="-25000">
              <a:latin typeface="Open Sans"/>
              <a:ea typeface="Open Sans"/>
              <a:cs typeface="Open Sans"/>
            </a:endParaRPr>
          </a:p>
        </p:txBody>
      </p:sp>
      <p:pic>
        <p:nvPicPr>
          <p:cNvPr id="520673358" name="Image 11" descr="Une image contenant texte, capture d’écran, Police&#10;&#10;Le contenu généré par l’IA peut être incorrect.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65759" y="3816174"/>
            <a:ext cx="3457223" cy="2207801"/>
          </a:xfrm>
          <a:prstGeom prst="rect">
            <a:avLst/>
          </a:prstGeom>
        </p:spPr>
      </p:pic>
      <p:sp>
        <p:nvSpPr>
          <p:cNvPr id="1188886778" name="ZoneTexte 12"/>
          <p:cNvSpPr txBox="1"/>
          <p:nvPr/>
        </p:nvSpPr>
        <p:spPr bwMode="auto">
          <a:xfrm>
            <a:off x="3877733" y="3981215"/>
            <a:ext cx="4848489" cy="20120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>
                <a:solidFill>
                  <a:srgbClr val="3E3F3A"/>
                </a:solidFill>
                <a:latin typeface="Open Sans"/>
                <a:ea typeface="Open Sans"/>
                <a:cs typeface="Open Sans"/>
              </a:rPr>
              <a:t>SDrplow</a:t>
            </a:r>
            <a:r>
              <a:rPr lang="en-US">
                <a:solidFill>
                  <a:srgbClr val="3E3F3A"/>
                </a:solidFill>
                <a:latin typeface="Open Sans"/>
                <a:ea typeface="Open Sans"/>
                <a:cs typeface="Open Sans"/>
              </a:rPr>
              <a:t> = 0.005001xsqrt(32) = 0.02829</a:t>
            </a:r>
            <a:endParaRPr/>
          </a:p>
          <a:p>
            <a:pPr>
              <a:defRPr/>
            </a:pPr>
            <a:endParaRPr lang="en-US">
              <a:solidFill>
                <a:srgbClr val="3E3F3A"/>
              </a:solidFill>
              <a:latin typeface="Open Sans"/>
              <a:ea typeface="Open Sans"/>
              <a:cs typeface="Open Sans"/>
            </a:endParaRPr>
          </a:p>
          <a:p>
            <a:pPr>
              <a:defRPr/>
            </a:pPr>
            <a:r>
              <a:rPr lang="en-US">
                <a:solidFill>
                  <a:srgbClr val="3E3F3A"/>
                </a:solidFill>
                <a:latin typeface="Open Sans"/>
                <a:ea typeface="Open Sans"/>
                <a:cs typeface="Open Sans"/>
              </a:rPr>
              <a:t>SDrphigh</a:t>
            </a:r>
            <a:r>
              <a:rPr lang="en-US">
                <a:solidFill>
                  <a:srgbClr val="3E3F3A"/>
                </a:solidFill>
                <a:latin typeface="Open Sans"/>
                <a:ea typeface="Open Sans"/>
                <a:cs typeface="Open Sans"/>
              </a:rPr>
              <a:t> = 0.0149999xsqrt(32) = 0.08484</a:t>
            </a:r>
            <a:endParaRPr/>
          </a:p>
          <a:p>
            <a:pPr>
              <a:defRPr/>
            </a:pPr>
            <a:endParaRPr lang="en-US">
              <a:solidFill>
                <a:srgbClr val="3E3F3A"/>
              </a:solidFill>
              <a:latin typeface="Open Sans"/>
              <a:ea typeface="Open Sans"/>
              <a:cs typeface="Open Sans"/>
            </a:endParaRPr>
          </a:p>
          <a:p>
            <a:pPr>
              <a:defRPr/>
            </a:pPr>
            <a:r>
              <a:rPr lang="en-US">
                <a:solidFill>
                  <a:srgbClr val="3E3F3A"/>
                </a:solidFill>
                <a:latin typeface="Open Sans"/>
                <a:ea typeface="Open Sans"/>
                <a:cs typeface="Open Sans"/>
              </a:rPr>
              <a:t>SDptclow</a:t>
            </a:r>
            <a:r>
              <a:rPr lang="en-US">
                <a:solidFill>
                  <a:srgbClr val="3E3F3A"/>
                </a:solidFill>
                <a:latin typeface="Open Sans"/>
                <a:ea typeface="Open Sans"/>
                <a:cs typeface="Open Sans"/>
              </a:rPr>
              <a:t> = 0.025001xsqrt(30) = 0.13693</a:t>
            </a:r>
            <a:endParaRPr/>
          </a:p>
          <a:p>
            <a:pPr>
              <a:defRPr/>
            </a:pPr>
            <a:endParaRPr lang="en-US">
              <a:solidFill>
                <a:srgbClr val="3E3F3A"/>
              </a:solidFill>
              <a:latin typeface="Open Sans"/>
              <a:ea typeface="Open Sans"/>
              <a:cs typeface="Open Sans"/>
            </a:endParaRPr>
          </a:p>
          <a:p>
            <a:pPr>
              <a:defRPr/>
            </a:pPr>
            <a:r>
              <a:rPr lang="en-US">
                <a:solidFill>
                  <a:srgbClr val="3E3F3A"/>
                </a:solidFill>
                <a:latin typeface="Open Sans"/>
                <a:ea typeface="Open Sans"/>
                <a:cs typeface="Open Sans"/>
              </a:rPr>
              <a:t>SDptchigh</a:t>
            </a:r>
            <a:r>
              <a:rPr lang="en-US">
                <a:solidFill>
                  <a:srgbClr val="3E3F3A"/>
                </a:solidFill>
                <a:latin typeface="Open Sans"/>
                <a:ea typeface="Open Sans"/>
                <a:cs typeface="Open Sans"/>
              </a:rPr>
              <a:t> = 0.0349999xsqrt(30) = 0.191697</a:t>
            </a:r>
            <a:endParaRPr/>
          </a:p>
        </p:txBody>
      </p:sp>
      <p:sp>
        <p:nvSpPr>
          <p:cNvPr id="709007675" name="ZoneTexte 13"/>
          <p:cNvSpPr txBox="1"/>
          <p:nvPr/>
        </p:nvSpPr>
        <p:spPr bwMode="auto">
          <a:xfrm>
            <a:off x="8797807" y="5232399"/>
            <a:ext cx="3471529" cy="3661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>
                <a:latin typeface="Open Sans"/>
                <a:ea typeface="Open Sans"/>
                <a:cs typeface="Open Sans"/>
              </a:rPr>
              <a:t>Cohen's </a:t>
            </a:r>
            <a:r>
              <a:rPr lang="en-US" i="1">
                <a:latin typeface="Open Sans"/>
                <a:ea typeface="Open Sans"/>
                <a:cs typeface="Open Sans"/>
              </a:rPr>
              <a:t>d</a:t>
            </a:r>
            <a:r>
              <a:rPr lang="en-US">
                <a:latin typeface="Open Sans"/>
                <a:ea typeface="Open Sans"/>
                <a:cs typeface="Open Sans"/>
              </a:rPr>
              <a:t>  =   1.68</a:t>
            </a:r>
            <a:endParaRPr lang="en-US" baseline="-25000">
              <a:latin typeface="Open Sans"/>
              <a:ea typeface="Open Sans"/>
              <a:cs typeface="Open Sans"/>
            </a:endParaRPr>
          </a:p>
        </p:txBody>
      </p:sp>
      <p:sp>
        <p:nvSpPr>
          <p:cNvPr id="1430521548" name="ZoneTexte 14"/>
          <p:cNvSpPr txBox="1"/>
          <p:nvPr/>
        </p:nvSpPr>
        <p:spPr bwMode="auto">
          <a:xfrm>
            <a:off x="8797807" y="4404547"/>
            <a:ext cx="3467929" cy="3661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>
                <a:latin typeface="Open Sans"/>
                <a:ea typeface="Open Sans"/>
                <a:cs typeface="Open Sans"/>
              </a:rPr>
              <a:t>Cohen's </a:t>
            </a:r>
            <a:r>
              <a:rPr lang="en-US" i="1">
                <a:latin typeface="Open Sans"/>
                <a:ea typeface="Open Sans"/>
                <a:cs typeface="Open Sans"/>
              </a:rPr>
              <a:t>d </a:t>
            </a:r>
            <a:r>
              <a:rPr lang="en-US">
                <a:latin typeface="Open Sans"/>
                <a:ea typeface="Open Sans"/>
                <a:cs typeface="Open Sans"/>
              </a:rPr>
              <a:t> = 2.53</a:t>
            </a:r>
            <a:endParaRPr lang="en-US" baseline="-25000">
              <a:latin typeface="Open Sans"/>
              <a:ea typeface="Open Sans"/>
              <a:cs typeface="Open Sans"/>
            </a:endParaRPr>
          </a:p>
        </p:txBody>
      </p:sp>
      <p:cxnSp>
        <p:nvCxnSpPr>
          <p:cNvPr id="1145934595" name="Connecteur droit avec flèche 15"/>
          <p:cNvCxnSpPr/>
          <p:nvPr/>
        </p:nvCxnSpPr>
        <p:spPr bwMode="auto">
          <a:xfrm flipH="1" flipV="1">
            <a:off x="8230667" y="4175177"/>
            <a:ext cx="644030" cy="4425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687390" name="Connecteur droit avec flèche 16"/>
          <p:cNvCxnSpPr/>
          <p:nvPr/>
        </p:nvCxnSpPr>
        <p:spPr bwMode="auto">
          <a:xfrm flipH="1">
            <a:off x="8277704" y="4693000"/>
            <a:ext cx="559364" cy="573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8199939" name="Connecteur droit avec flèche 17"/>
          <p:cNvCxnSpPr/>
          <p:nvPr/>
        </p:nvCxnSpPr>
        <p:spPr bwMode="auto">
          <a:xfrm flipH="1" flipV="1">
            <a:off x="8400001" y="4824288"/>
            <a:ext cx="437067" cy="5460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218961" name="Connecteur droit avec flèche 18"/>
          <p:cNvCxnSpPr/>
          <p:nvPr/>
        </p:nvCxnSpPr>
        <p:spPr bwMode="auto">
          <a:xfrm flipH="1">
            <a:off x="8588149" y="5426778"/>
            <a:ext cx="248920" cy="26299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3514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307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354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105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728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4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194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018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00018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948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69482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673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886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93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687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521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30521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199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581999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218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562189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007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09007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70307086" grpId="0"/>
      <p:bldP spid="1907286292" grpId="0"/>
      <p:bldP spid="14194540" grpId="0"/>
      <p:bldP spid="1100018598" grpId="0"/>
      <p:bldP spid="1869482938" grpId="0"/>
      <p:bldP spid="1188886778" grpId="0"/>
      <p:bldP spid="709007675" grpId="0"/>
      <p:bldP spid="143052154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0209747" name="Espace réservé du contenu 3" descr="Une image contenant texte, capture d’écran, Police, nombre&#10;&#10;Le contenu généré par l’IA peut être incorrect.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2918160" y="2891298"/>
            <a:ext cx="4800801" cy="2920343"/>
          </a:xfrm>
          <a:prstGeom prst="rect">
            <a:avLst/>
          </a:prstGeom>
        </p:spPr>
      </p:pic>
      <p:pic>
        <p:nvPicPr>
          <p:cNvPr id="1652301771" name="Espace réservé du contenu 3" descr="Une image contenant texte, capture d’écran, Police, algèbre&#10;&#10;Le contenu généré par l’IA peut être incorrect.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39016" y="511502"/>
            <a:ext cx="3518087" cy="1708337"/>
          </a:xfrm>
          <a:prstGeom prst="rect">
            <a:avLst/>
          </a:prstGeom>
        </p:spPr>
      </p:pic>
      <p:sp>
        <p:nvSpPr>
          <p:cNvPr id="2111606274" name="Rectangle 20"/>
          <p:cNvSpPr/>
          <p:nvPr/>
        </p:nvSpPr>
        <p:spPr bwMode="auto">
          <a:xfrm>
            <a:off x="1188149" y="610709"/>
            <a:ext cx="2511183" cy="282019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937916311" name="Rectangle 23"/>
          <p:cNvSpPr/>
          <p:nvPr/>
        </p:nvSpPr>
        <p:spPr bwMode="auto">
          <a:xfrm>
            <a:off x="5051937" y="5155816"/>
            <a:ext cx="772031" cy="326842"/>
          </a:xfrm>
          <a:prstGeom prst="rect">
            <a:avLst/>
          </a:pr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593506511" name="Rectangle 24"/>
          <p:cNvSpPr/>
          <p:nvPr/>
        </p:nvSpPr>
        <p:spPr bwMode="auto">
          <a:xfrm>
            <a:off x="5051937" y="4483463"/>
            <a:ext cx="772031" cy="326842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cxnSp>
        <p:nvCxnSpPr>
          <p:cNvPr id="165016547" name="Connecteur droit avec flèche 25"/>
          <p:cNvCxnSpPr/>
          <p:nvPr/>
        </p:nvCxnSpPr>
        <p:spPr bwMode="auto">
          <a:xfrm>
            <a:off x="5354423" y="4902421"/>
            <a:ext cx="97719" cy="25155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301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1606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209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916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16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506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11606274" grpId="0" animBg="1"/>
      <p:bldP spid="1937916311" grpId="0" animBg="1"/>
      <p:bldP spid="59350651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0034251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Why</a:t>
            </a:r>
            <a:r>
              <a:rPr lang="fr-FR"/>
              <a:t>?</a:t>
            </a:r>
            <a:endParaRPr/>
          </a:p>
        </p:txBody>
      </p:sp>
      <p:sp>
        <p:nvSpPr>
          <p:cNvPr id="1039813398" name="Espace réservé du contenu 2"/>
          <p:cNvSpPr>
            <a:spLocks noGrp="1"/>
          </p:cNvSpPr>
          <p:nvPr>
            <p:ph idx="1"/>
          </p:nvPr>
        </p:nvSpPr>
        <p:spPr bwMode="auto"/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fr-FR"/>
              <a:t>Negligence</a:t>
            </a:r>
            <a:r>
              <a:rPr lang="fr-FR"/>
              <a:t> </a:t>
            </a:r>
            <a:r>
              <a:rPr lang="fr-FR"/>
              <a:t>that</a:t>
            </a:r>
            <a:r>
              <a:rPr lang="fr-FR"/>
              <a:t> can </a:t>
            </a:r>
            <a:r>
              <a:rPr lang="fr-FR"/>
              <a:t>be</a:t>
            </a:r>
            <a:r>
              <a:rPr lang="fr-FR"/>
              <a:t> </a:t>
            </a:r>
            <a:r>
              <a:rPr lang="fr-FR"/>
              <a:t>voluntary</a:t>
            </a:r>
            <a:r>
              <a:rPr lang="fr-FR"/>
              <a:t>/</a:t>
            </a:r>
            <a:r>
              <a:rPr lang="fr-FR"/>
              <a:t>conflict</a:t>
            </a:r>
            <a:r>
              <a:rPr lang="fr-FR"/>
              <a:t> of </a:t>
            </a:r>
            <a:r>
              <a:rPr lang="fr-FR"/>
              <a:t>interest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7899378" name="Espace réservé du contenu 3" descr="Une image contenant texte, capture d’écran, Police, nombre&#10;&#10;Le contenu généré par l’IA peut être incorrect.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517151" y="104448"/>
            <a:ext cx="4407274" cy="2809315"/>
          </a:xfrm>
          <a:prstGeom prst="rect">
            <a:avLst/>
          </a:prstGeom>
        </p:spPr>
      </p:pic>
      <p:pic>
        <p:nvPicPr>
          <p:cNvPr id="198106620" name="Image 4" descr="Une image contenant texte, capture d’écran, nombre&#10;&#10;Le contenu généré par l’IA peut être incorrect.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68393" y="3236259"/>
            <a:ext cx="5170955" cy="3263153"/>
          </a:xfrm>
          <a:prstGeom prst="rect">
            <a:avLst/>
          </a:prstGeom>
        </p:spPr>
      </p:pic>
      <p:pic>
        <p:nvPicPr>
          <p:cNvPr id="623908613" name="Image 5" descr="Une image contenant texte, Police, capture d’écran, ligne&#10;&#10;Le contenu généré par l’IA peut être incorrect.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585697" y="291633"/>
            <a:ext cx="5295899" cy="752475"/>
          </a:xfrm>
          <a:prstGeom prst="rect">
            <a:avLst/>
          </a:prstGeom>
        </p:spPr>
      </p:pic>
      <p:pic>
        <p:nvPicPr>
          <p:cNvPr id="1175077265" name="Image 6" descr="Une image contenant texte, capture d’écran, Police&#10;&#10;Le contenu généré par l’IA peut être incorrect.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7004517" y="1033743"/>
            <a:ext cx="5076825" cy="2074209"/>
          </a:xfrm>
          <a:prstGeom prst="rect">
            <a:avLst/>
          </a:prstGeom>
        </p:spPr>
      </p:pic>
      <p:pic>
        <p:nvPicPr>
          <p:cNvPr id="410468996" name="Image 7" descr="Une image contenant texte, Police, capture d’écran, nombre&#10;&#10;Le contenu généré par l’IA peut être incorrect.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5645804" y="2968438"/>
            <a:ext cx="6449546" cy="1405218"/>
          </a:xfrm>
          <a:prstGeom prst="rect">
            <a:avLst/>
          </a:prstGeom>
        </p:spPr>
      </p:pic>
      <p:pic>
        <p:nvPicPr>
          <p:cNvPr id="2011060099" name="Image 8" descr="Une image contenant texte, capture d’écran, Police, nombre&#10;&#10;Le contenu généré par l’IA peut être incorrect.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8136031" y="4378979"/>
            <a:ext cx="3961280" cy="2474820"/>
          </a:xfrm>
          <a:prstGeom prst="rect">
            <a:avLst/>
          </a:prstGeom>
        </p:spPr>
      </p:pic>
      <p:sp>
        <p:nvSpPr>
          <p:cNvPr id="2105483122" name="Rectangle : coins arrondis 9"/>
          <p:cNvSpPr/>
          <p:nvPr/>
        </p:nvSpPr>
        <p:spPr bwMode="auto">
          <a:xfrm>
            <a:off x="204455" y="4097627"/>
            <a:ext cx="4847296" cy="178898"/>
          </a:xfrm>
          <a:prstGeom prst="roundRect">
            <a:avLst>
              <a:gd name="adj" fmla="val 16667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06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5483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05483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908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23908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077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75077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68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1060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0548312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1629721" name="ZoneTexte 3"/>
          <p:cNvSpPr txBox="1"/>
          <p:nvPr/>
        </p:nvSpPr>
        <p:spPr bwMode="auto">
          <a:xfrm>
            <a:off x="1250144" y="2199823"/>
            <a:ext cx="9430098" cy="39703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just">
              <a:defRPr/>
            </a:pPr>
            <a:r>
              <a:rPr lang="en-US" sz="2800" i="1">
                <a:solidFill>
                  <a:srgbClr val="363737"/>
                </a:solidFill>
                <a:latin typeface="Spectral"/>
              </a:rPr>
              <a:t>It’s time we downgraded meta-analyses in our mental hierarchy of evidence. At the very least we shouldn’t be particularly impressed at the mere mention of a meta-analysis, until we’ve judged each one on its merits. Despite their reputation, there’s nothing magical about meta-analyses: they’re just studies like everything else. And, like everything else in science—to a greater or lesser extent—they’re fucked.</a:t>
            </a:r>
            <a:endParaRPr/>
          </a:p>
          <a:p>
            <a:pPr algn="just">
              <a:defRPr/>
            </a:pPr>
            <a:endParaRPr lang="en-US" sz="2800" i="1"/>
          </a:p>
          <a:p>
            <a:pPr algn="just">
              <a:defRPr/>
            </a:pPr>
            <a:endParaRPr lang="en-US" sz="2800" i="1">
              <a:solidFill>
                <a:srgbClr val="363737"/>
              </a:solidFill>
              <a:latin typeface="system-ui"/>
            </a:endParaRPr>
          </a:p>
        </p:txBody>
      </p:sp>
      <p:pic>
        <p:nvPicPr>
          <p:cNvPr id="10133512" name="Image 5" descr="Une image contenant texte, capture d’écran, Police&#10;&#10;Le contenu généré par l’IA peut être incorrect.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406134" y="808006"/>
            <a:ext cx="3107827" cy="10209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6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1629721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480631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Where</a:t>
            </a:r>
            <a:r>
              <a:rPr lang="fr-FR"/>
              <a:t> </a:t>
            </a:r>
            <a:r>
              <a:rPr lang="fr-FR"/>
              <a:t>does</a:t>
            </a:r>
            <a:r>
              <a:rPr lang="fr-FR"/>
              <a:t> </a:t>
            </a:r>
            <a:r>
              <a:rPr lang="fr-FR"/>
              <a:t>it</a:t>
            </a:r>
            <a:r>
              <a:rPr lang="fr-FR"/>
              <a:t> lead to?</a:t>
            </a:r>
            <a:endParaRPr/>
          </a:p>
        </p:txBody>
      </p:sp>
      <p:sp>
        <p:nvSpPr>
          <p:cNvPr id="469374876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838200" y="169207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fr-FR"/>
              <a:t>Increased</a:t>
            </a:r>
            <a:r>
              <a:rPr lang="fr-FR"/>
              <a:t> </a:t>
            </a:r>
            <a:r>
              <a:rPr lang="fr-FR"/>
              <a:t>risk</a:t>
            </a:r>
            <a:r>
              <a:rPr lang="fr-FR"/>
              <a:t> for population</a:t>
            </a:r>
            <a:endParaRPr/>
          </a:p>
        </p:txBody>
      </p:sp>
      <p:pic>
        <p:nvPicPr>
          <p:cNvPr id="1374189476" name="Image 3" descr="Une image contenant texte, capture d’écran, Police, document&#10;&#10;Le contenu généré par l’IA peut être incorrect.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37843" y="3294120"/>
            <a:ext cx="6229350" cy="3562350"/>
          </a:xfrm>
          <a:prstGeom prst="rect">
            <a:avLst/>
          </a:prstGeom>
        </p:spPr>
      </p:pic>
      <p:pic>
        <p:nvPicPr>
          <p:cNvPr id="1658753565" name="Image 4" descr="Une image contenant texte, capture d’écran, Police, ligne&#10;&#10;Le contenu généré par l’IA peut être incorrect.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281046" y="2192102"/>
            <a:ext cx="6286500" cy="1495425"/>
          </a:xfrm>
          <a:prstGeom prst="rect">
            <a:avLst/>
          </a:prstGeom>
        </p:spPr>
      </p:pic>
      <p:pic>
        <p:nvPicPr>
          <p:cNvPr id="185327108" name="Image 5" descr="Une image contenant texte, capture d’écran, Police&#10;&#10;Le contenu généré par l’IA peut être incorrect.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978297" y="265642"/>
            <a:ext cx="4895850" cy="1924050"/>
          </a:xfrm>
          <a:prstGeom prst="rect">
            <a:avLst/>
          </a:prstGeom>
        </p:spPr>
      </p:pic>
      <p:pic>
        <p:nvPicPr>
          <p:cNvPr id="697950608" name="Image 6" descr="Une image contenant texte, capture d’écran, Police&#10;&#10;Le contenu généré par l’IA peut être incorrect.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6728942" y="3424767"/>
            <a:ext cx="5394561" cy="1814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3748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753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18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2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950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9374876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0283041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Where</a:t>
            </a:r>
            <a:r>
              <a:rPr lang="fr-FR"/>
              <a:t> </a:t>
            </a:r>
            <a:r>
              <a:rPr lang="fr-FR"/>
              <a:t>does</a:t>
            </a:r>
            <a:r>
              <a:rPr lang="fr-FR"/>
              <a:t> </a:t>
            </a:r>
            <a:r>
              <a:rPr lang="fr-FR"/>
              <a:t>it</a:t>
            </a:r>
            <a:r>
              <a:rPr lang="fr-FR"/>
              <a:t> lead to?</a:t>
            </a:r>
            <a:endParaRPr/>
          </a:p>
        </p:txBody>
      </p:sp>
      <p:sp>
        <p:nvSpPr>
          <p:cNvPr id="1667493517" name="Espace réservé du contenu 2"/>
          <p:cNvSpPr>
            <a:spLocks noGrp="1"/>
          </p:cNvSpPr>
          <p:nvPr>
            <p:ph idx="1"/>
          </p:nvPr>
        </p:nvSpPr>
        <p:spPr bwMode="auto"/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fr-FR"/>
              <a:t>Increased</a:t>
            </a:r>
            <a:r>
              <a:rPr lang="fr-FR"/>
              <a:t> </a:t>
            </a:r>
            <a:r>
              <a:rPr lang="fr-FR"/>
              <a:t>risk</a:t>
            </a:r>
            <a:r>
              <a:rPr lang="fr-FR"/>
              <a:t> for population</a:t>
            </a:r>
            <a:endParaRPr/>
          </a:p>
          <a:p>
            <a:pPr>
              <a:defRPr/>
            </a:pPr>
            <a:r>
              <a:rPr lang="fr-FR"/>
              <a:t>8 </a:t>
            </a:r>
            <a:r>
              <a:rPr lang="fr-FR"/>
              <a:t>untrustworthy</a:t>
            </a:r>
            <a:r>
              <a:rPr lang="fr-FR"/>
              <a:t> trial on spinal pain</a:t>
            </a:r>
            <a:endParaRPr/>
          </a:p>
          <a:p>
            <a:pPr>
              <a:defRPr/>
            </a:pPr>
            <a:r>
              <a:rPr lang="fr-FR"/>
              <a:t>Used</a:t>
            </a:r>
            <a:r>
              <a:rPr lang="fr-FR"/>
              <a:t> in 32 </a:t>
            </a:r>
            <a:r>
              <a:rPr lang="fr-FR"/>
              <a:t>reviews</a:t>
            </a:r>
            <a:r>
              <a:rPr lang="fr-FR"/>
              <a:t> and </a:t>
            </a:r>
            <a:r>
              <a:rPr lang="fr-FR"/>
              <a:t>meta</a:t>
            </a:r>
            <a:r>
              <a:rPr lang="fr-FR"/>
              <a:t>-analyses</a:t>
            </a:r>
            <a:endParaRPr/>
          </a:p>
          <a:p>
            <a:pPr>
              <a:defRPr/>
            </a:pPr>
            <a:r>
              <a:rPr lang="fr-FR"/>
              <a:t>None </a:t>
            </a:r>
            <a:r>
              <a:rPr lang="fr-FR"/>
              <a:t>raised</a:t>
            </a:r>
            <a:r>
              <a:rPr lang="fr-FR"/>
              <a:t> </a:t>
            </a:r>
            <a:r>
              <a:rPr lang="fr-FR"/>
              <a:t>concerns</a:t>
            </a:r>
            <a:r>
              <a:rPr lang="fr-FR"/>
              <a:t> about </a:t>
            </a:r>
            <a:r>
              <a:rPr lang="fr-FR"/>
              <a:t>them</a:t>
            </a:r>
            <a:endParaRPr/>
          </a:p>
          <a:p>
            <a:pPr>
              <a:defRPr/>
            </a:pPr>
            <a:r>
              <a:rPr lang="fr-FR"/>
              <a:t>In </a:t>
            </a:r>
            <a:r>
              <a:rPr lang="fr-FR"/>
              <a:t>meta</a:t>
            </a:r>
            <a:r>
              <a:rPr lang="fr-FR"/>
              <a:t>-analyses, </a:t>
            </a:r>
            <a:r>
              <a:rPr lang="fr-FR"/>
              <a:t>deleting</a:t>
            </a:r>
            <a:r>
              <a:rPr lang="fr-FR"/>
              <a:t> </a:t>
            </a:r>
            <a:r>
              <a:rPr lang="fr-FR"/>
              <a:t>these</a:t>
            </a:r>
            <a:r>
              <a:rPr lang="fr-FR"/>
              <a:t> trials </a:t>
            </a:r>
            <a:r>
              <a:rPr lang="fr-FR"/>
              <a:t>reduced</a:t>
            </a:r>
            <a:r>
              <a:rPr lang="fr-FR"/>
              <a:t> the </a:t>
            </a:r>
            <a:r>
              <a:rPr lang="fr-FR"/>
              <a:t>effect</a:t>
            </a:r>
            <a:r>
              <a:rPr lang="fr-FR"/>
              <a:t> size by 58%</a:t>
            </a:r>
            <a:endParaRPr/>
          </a:p>
          <a:p>
            <a:pPr>
              <a:defRPr/>
            </a:pPr>
            <a:r>
              <a:rPr lang="fr-FR"/>
              <a:t>9/10 of </a:t>
            </a:r>
            <a:r>
              <a:rPr lang="fr-FR"/>
              <a:t>reviews</a:t>
            </a:r>
            <a:r>
              <a:rPr lang="fr-FR"/>
              <a:t> </a:t>
            </a:r>
            <a:r>
              <a:rPr lang="fr-FR"/>
              <a:t>drawn</a:t>
            </a:r>
            <a:r>
              <a:rPr lang="fr-FR"/>
              <a:t> </a:t>
            </a:r>
            <a:r>
              <a:rPr lang="fr-FR"/>
              <a:t>recommendations</a:t>
            </a:r>
            <a:r>
              <a:rPr lang="fr-FR"/>
              <a:t> </a:t>
            </a:r>
            <a:r>
              <a:rPr lang="fr-FR"/>
              <a:t>based</a:t>
            </a:r>
            <a:r>
              <a:rPr lang="fr-FR"/>
              <a:t> on </a:t>
            </a:r>
            <a:r>
              <a:rPr lang="fr-FR"/>
              <a:t>these</a:t>
            </a:r>
            <a:r>
              <a:rPr lang="fr-FR"/>
              <a:t> trials</a:t>
            </a:r>
            <a:endParaRPr/>
          </a:p>
        </p:txBody>
      </p:sp>
      <p:sp>
        <p:nvSpPr>
          <p:cNvPr id="814160908" name="ZoneTexte 7"/>
          <p:cNvSpPr txBox="1"/>
          <p:nvPr/>
        </p:nvSpPr>
        <p:spPr bwMode="auto">
          <a:xfrm>
            <a:off x="9278471" y="152400"/>
            <a:ext cx="2743200" cy="246221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sz="1400"/>
              <a:t>O’Connell, N., Moore, R. A., Stewart, G., Fisher, E., Hearn, L., Eccleston, C., </a:t>
            </a:r>
            <a:r>
              <a:rPr lang="en-US" sz="1400"/>
              <a:t>Wewege</a:t>
            </a:r>
            <a:r>
              <a:rPr lang="en-US" sz="1400"/>
              <a:t>, M., &amp; De C Williams, A. C. (2023). Trials We Cannot Trust: Investigating Their Impact on Systematic Reviews and Clinical Guidelines in Spinal Pain. The Journal of Pain, 24(12), 2103–2130. https://doi.org/10.1016/j.jpain.2023.07.003 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4935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4935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4935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4935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4935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4935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7493517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107388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Where</a:t>
            </a:r>
            <a:r>
              <a:rPr lang="fr-FR"/>
              <a:t> </a:t>
            </a:r>
            <a:r>
              <a:rPr lang="fr-FR"/>
              <a:t>does</a:t>
            </a:r>
            <a:r>
              <a:rPr lang="fr-FR"/>
              <a:t> </a:t>
            </a:r>
            <a:r>
              <a:rPr lang="fr-FR"/>
              <a:t>it</a:t>
            </a:r>
            <a:r>
              <a:rPr lang="fr-FR"/>
              <a:t> lead to?</a:t>
            </a:r>
            <a:endParaRPr/>
          </a:p>
        </p:txBody>
      </p:sp>
      <p:sp>
        <p:nvSpPr>
          <p:cNvPr id="1903129201" name="Espace réservé du contenu 2"/>
          <p:cNvSpPr>
            <a:spLocks noGrp="1"/>
          </p:cNvSpPr>
          <p:nvPr>
            <p:ph idx="1"/>
          </p:nvPr>
        </p:nvSpPr>
        <p:spPr bwMode="auto"/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fr-FR"/>
              <a:t>Increased</a:t>
            </a:r>
            <a:r>
              <a:rPr lang="fr-FR"/>
              <a:t> </a:t>
            </a:r>
            <a:r>
              <a:rPr lang="fr-FR"/>
              <a:t>risk</a:t>
            </a:r>
            <a:r>
              <a:rPr lang="fr-FR"/>
              <a:t> for population</a:t>
            </a:r>
            <a:endParaRPr/>
          </a:p>
          <a:p>
            <a:pPr>
              <a:defRPr/>
            </a:pPr>
            <a:r>
              <a:rPr lang="fr-FR"/>
              <a:t>1330 </a:t>
            </a:r>
            <a:r>
              <a:rPr lang="fr-FR"/>
              <a:t>retracted</a:t>
            </a:r>
            <a:r>
              <a:rPr lang="fr-FR"/>
              <a:t> trials – 847 </a:t>
            </a:r>
            <a:r>
              <a:rPr lang="fr-FR"/>
              <a:t>systematic</a:t>
            </a:r>
            <a:r>
              <a:rPr lang="fr-FR"/>
              <a:t> </a:t>
            </a:r>
            <a:r>
              <a:rPr lang="fr-FR"/>
              <a:t>reviews</a:t>
            </a:r>
            <a:r>
              <a:rPr lang="fr-FR"/>
              <a:t> </a:t>
            </a:r>
            <a:r>
              <a:rPr lang="fr-FR"/>
              <a:t>that</a:t>
            </a:r>
            <a:r>
              <a:rPr lang="fr-FR"/>
              <a:t> </a:t>
            </a:r>
            <a:endParaRPr/>
          </a:p>
          <a:p>
            <a:pPr marL="0" indent="0">
              <a:buNone/>
              <a:defRPr/>
            </a:pPr>
            <a:r>
              <a:rPr lang="fr-FR"/>
              <a:t>included</a:t>
            </a:r>
            <a:r>
              <a:rPr lang="fr-FR"/>
              <a:t> </a:t>
            </a:r>
            <a:r>
              <a:rPr lang="fr-FR"/>
              <a:t>them</a:t>
            </a:r>
            <a:r>
              <a:rPr lang="fr-FR"/>
              <a:t> + 3902 </a:t>
            </a:r>
            <a:r>
              <a:rPr lang="fr-FR"/>
              <a:t>meta</a:t>
            </a:r>
            <a:r>
              <a:rPr lang="fr-FR"/>
              <a:t>-analyses</a:t>
            </a:r>
            <a:endParaRPr/>
          </a:p>
        </p:txBody>
      </p:sp>
      <p:sp>
        <p:nvSpPr>
          <p:cNvPr id="1368147367" name="ZoneTexte 7"/>
          <p:cNvSpPr txBox="1"/>
          <p:nvPr/>
        </p:nvSpPr>
        <p:spPr bwMode="auto">
          <a:xfrm>
            <a:off x="9278471" y="152400"/>
            <a:ext cx="2743200" cy="28931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sz="1400">
                <a:ea typeface="Aptos"/>
                <a:cs typeface="Aptos"/>
              </a:rPr>
              <a:t>Xu, C., Fan, S., Tian, Y., Liu, F., Furuya-Kanamori, L., Clark, J., Zhang, C., Li, S., Lin, L., Chu, H., Li, S., Golder, S., Loke, Y., Vohra, S., </a:t>
            </a:r>
            <a:r>
              <a:rPr lang="en-US" sz="1400">
                <a:ea typeface="Aptos"/>
                <a:cs typeface="Aptos"/>
              </a:rPr>
              <a:t>Glasziou</a:t>
            </a:r>
            <a:r>
              <a:rPr lang="en-US" sz="1400">
                <a:ea typeface="Aptos"/>
                <a:cs typeface="Aptos"/>
              </a:rPr>
              <a:t>, P., Doi, S. A., &amp; Liu, H. (2025). Investigating the impact of trial retractions on the healthcare evidence ecosystem (VITALITY Study I): retrospective cohort study. BMJ, 389, e082068. </a:t>
            </a:r>
            <a:r>
              <a:rPr lang="en-US" sz="1400" u="sng">
                <a:ea typeface="Aptos"/>
                <a:cs typeface="Aptos"/>
                <a:hlinkClick r:id="rId3" tooltip="https://doi.org/10.1136/bmj-2024-082068"/>
              </a:rPr>
              <a:t>https://doi.org/10.1136/bmj-2024-082068</a:t>
            </a:r>
            <a:endParaRPr lang="fr-FR"/>
          </a:p>
          <a:p>
            <a:pPr>
              <a:defRPr/>
            </a:pPr>
            <a:endParaRPr lang="en-US" sz="1400"/>
          </a:p>
        </p:txBody>
      </p:sp>
      <p:pic>
        <p:nvPicPr>
          <p:cNvPr id="1543321452" name="Image 3" descr="Fig 2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636494" y="3539295"/>
            <a:ext cx="6687669" cy="2388137"/>
          </a:xfrm>
          <a:prstGeom prst="rect">
            <a:avLst/>
          </a:prstGeom>
        </p:spPr>
      </p:pic>
      <p:sp>
        <p:nvSpPr>
          <p:cNvPr id="1624560861" name="ZoneTexte 4"/>
          <p:cNvSpPr txBox="1"/>
          <p:nvPr/>
        </p:nvSpPr>
        <p:spPr bwMode="auto">
          <a:xfrm>
            <a:off x="8606118" y="3541059"/>
            <a:ext cx="27432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>
              <a:defRPr/>
            </a:pPr>
            <a:r>
              <a:rPr lang="en-US" sz="1400">
                <a:ea typeface="Aptos"/>
                <a:cs typeface="Aptos"/>
              </a:rPr>
              <a:t>3 guidelines from the English Health </a:t>
            </a:r>
            <a:r>
              <a:rPr lang="en-US" sz="1400">
                <a:ea typeface="Aptos"/>
                <a:cs typeface="Aptos"/>
              </a:rPr>
              <a:t>institute</a:t>
            </a:r>
            <a:r>
              <a:rPr lang="en-US" sz="1400">
                <a:ea typeface="Aptos"/>
                <a:cs typeface="Aptos"/>
              </a:rPr>
              <a:t> used these meta-analyses in their decisions.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1292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1292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31292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32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560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3129201" grpId="0" build="p"/>
      <p:bldP spid="162456086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1768493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pic>
        <p:nvPicPr>
          <p:cNvPr id="2050135790" name="Espace réservé du contenu 3" descr="Une image contenant texte, capture d’écran, Police, nombre&#10;&#10;Le contenu généré par l’IA peut être incorrect.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918590" y="1542237"/>
            <a:ext cx="4598886" cy="4351338"/>
          </a:xfrm>
          <a:prstGeom prst="rect">
            <a:avLst/>
          </a:prstGeom>
        </p:spPr>
      </p:pic>
      <p:pic>
        <p:nvPicPr>
          <p:cNvPr id="1047610095" name="Image 4" descr="Une image contenant texte, capture d’écran, Police&#10;&#10;Le contenu généré par l’IA peut être incorrect.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746251" y="715949"/>
            <a:ext cx="4786589" cy="31526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3503130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My</a:t>
            </a:r>
            <a:r>
              <a:rPr lang="fr-FR"/>
              <a:t> proposition: </a:t>
            </a:r>
            <a:r>
              <a:rPr lang="fr-FR"/>
              <a:t>redefine</a:t>
            </a:r>
            <a:r>
              <a:rPr lang="fr-FR"/>
              <a:t> the </a:t>
            </a:r>
            <a:r>
              <a:rPr lang="fr-FR"/>
              <a:t>purpose</a:t>
            </a:r>
            <a:r>
              <a:rPr lang="fr-FR"/>
              <a:t> of </a:t>
            </a:r>
            <a:r>
              <a:rPr lang="fr-FR"/>
              <a:t>meta-analysis</a:t>
            </a:r>
            <a:r>
              <a:rPr lang="fr-FR"/>
              <a:t> </a:t>
            </a:r>
            <a:endParaRPr/>
          </a:p>
        </p:txBody>
      </p:sp>
      <p:sp>
        <p:nvSpPr>
          <p:cNvPr id="1431526228" name="Espace réservé du contenu 2"/>
          <p:cNvSpPr txBox="1"/>
          <p:nvPr/>
        </p:nvSpPr>
        <p:spPr bwMode="auto">
          <a:xfrm>
            <a:off x="900953" y="185251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/>
              <a:t>Meta-analyses </a:t>
            </a:r>
            <a:r>
              <a:rPr lang="fr-FR"/>
              <a:t>should</a:t>
            </a:r>
            <a:r>
              <a:rPr lang="fr-FR"/>
              <a:t> not, by </a:t>
            </a:r>
            <a:r>
              <a:rPr lang="fr-FR"/>
              <a:t>any</a:t>
            </a:r>
            <a:r>
              <a:rPr lang="fr-FR"/>
              <a:t> </a:t>
            </a:r>
            <a:r>
              <a:rPr lang="fr-FR"/>
              <a:t>means</a:t>
            </a:r>
            <a:r>
              <a:rPr lang="fr-FR"/>
              <a:t>, </a:t>
            </a:r>
            <a:r>
              <a:rPr lang="fr-FR"/>
              <a:t>be</a:t>
            </a:r>
            <a:r>
              <a:rPr lang="fr-FR"/>
              <a:t> </a:t>
            </a:r>
            <a:r>
              <a:rPr lang="fr-FR"/>
              <a:t>seen</a:t>
            </a:r>
            <a:r>
              <a:rPr lang="fr-FR"/>
              <a:t> as a </a:t>
            </a:r>
            <a:r>
              <a:rPr lang="fr-FR"/>
              <a:t>tool</a:t>
            </a:r>
            <a:r>
              <a:rPr lang="fr-FR"/>
              <a:t> to </a:t>
            </a:r>
            <a:r>
              <a:rPr lang="fr-FR"/>
              <a:t>estimate</a:t>
            </a:r>
            <a:r>
              <a:rPr lang="fr-FR"/>
              <a:t> an </a:t>
            </a:r>
            <a:r>
              <a:rPr lang="fr-FR"/>
              <a:t>effect</a:t>
            </a:r>
            <a:r>
              <a:rPr lang="fr-FR"/>
              <a:t> size</a:t>
            </a:r>
            <a:endParaRPr/>
          </a:p>
          <a:p>
            <a:pPr>
              <a:defRPr/>
            </a:pPr>
            <a:r>
              <a:rPr lang="fr-FR"/>
              <a:t>Therefore</a:t>
            </a:r>
            <a:r>
              <a:rPr lang="fr-FR"/>
              <a:t>, </a:t>
            </a:r>
            <a:r>
              <a:rPr lang="fr-FR"/>
              <a:t>they</a:t>
            </a:r>
            <a:r>
              <a:rPr lang="fr-FR"/>
              <a:t> </a:t>
            </a:r>
            <a:r>
              <a:rPr lang="fr-FR"/>
              <a:t>should</a:t>
            </a:r>
            <a:r>
              <a:rPr lang="fr-FR"/>
              <a:t> not </a:t>
            </a:r>
            <a:r>
              <a:rPr lang="fr-FR"/>
              <a:t>be</a:t>
            </a:r>
            <a:r>
              <a:rPr lang="fr-FR"/>
              <a:t> </a:t>
            </a:r>
            <a:r>
              <a:rPr lang="fr-FR"/>
              <a:t>used</a:t>
            </a:r>
            <a:r>
              <a:rPr lang="fr-FR"/>
              <a:t> in </a:t>
            </a:r>
            <a:r>
              <a:rPr lang="fr-FR"/>
              <a:t>recommendations</a:t>
            </a:r>
            <a:r>
              <a:rPr lang="fr-FR"/>
              <a:t>, or guidance, </a:t>
            </a:r>
            <a:r>
              <a:rPr lang="fr-FR"/>
              <a:t>without</a:t>
            </a:r>
            <a:r>
              <a:rPr lang="fr-FR"/>
              <a:t> a </a:t>
            </a:r>
            <a:r>
              <a:rPr lang="fr-FR"/>
              <a:t>clear</a:t>
            </a:r>
            <a:r>
              <a:rPr lang="fr-FR"/>
              <a:t> </a:t>
            </a:r>
            <a:r>
              <a:rPr lang="fr-FR"/>
              <a:t>understanding</a:t>
            </a:r>
            <a:r>
              <a:rPr lang="fr-FR"/>
              <a:t> of </a:t>
            </a:r>
            <a:r>
              <a:rPr lang="fr-FR"/>
              <a:t>each</a:t>
            </a:r>
            <a:r>
              <a:rPr lang="fr-FR"/>
              <a:t> </a:t>
            </a:r>
            <a:r>
              <a:rPr lang="fr-FR"/>
              <a:t>specific</a:t>
            </a:r>
            <a:r>
              <a:rPr lang="fr-FR"/>
              <a:t> </a:t>
            </a:r>
            <a:r>
              <a:rPr lang="fr-FR"/>
              <a:t>study</a:t>
            </a:r>
            <a:r>
              <a:rPr lang="fr-FR"/>
              <a:t> </a:t>
            </a:r>
            <a:r>
              <a:rPr lang="fr-FR"/>
              <a:t>included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6706312" name="Espace réservé du contenu 2"/>
          <p:cNvSpPr>
            <a:spLocks noGrp="1"/>
          </p:cNvSpPr>
          <p:nvPr/>
        </p:nvSpPr>
        <p:spPr bwMode="auto">
          <a:xfrm>
            <a:off x="838200" y="902260"/>
            <a:ext cx="10515600" cy="511333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/>
              <a:t>Meta-</a:t>
            </a:r>
            <a:r>
              <a:rPr lang="fr-FR"/>
              <a:t>analysis</a:t>
            </a:r>
            <a:r>
              <a:rPr lang="fr-FR"/>
              <a:t> </a:t>
            </a:r>
            <a:r>
              <a:rPr lang="fr-FR"/>
              <a:t>is</a:t>
            </a:r>
            <a:r>
              <a:rPr lang="fr-FR"/>
              <a:t> an important </a:t>
            </a:r>
            <a:r>
              <a:rPr lang="fr-FR"/>
              <a:t>tool</a:t>
            </a:r>
            <a:r>
              <a:rPr lang="fr-FR"/>
              <a:t> to flag </a:t>
            </a:r>
            <a:r>
              <a:rPr lang="fr-FR"/>
              <a:t>potential</a:t>
            </a:r>
            <a:r>
              <a:rPr lang="fr-FR"/>
              <a:t> </a:t>
            </a:r>
            <a:r>
              <a:rPr lang="fr-FR"/>
              <a:t>outliers</a:t>
            </a:r>
            <a:r>
              <a:rPr lang="fr-FR"/>
              <a:t> in a </a:t>
            </a:r>
            <a:r>
              <a:rPr lang="fr-FR"/>
              <a:t>given</a:t>
            </a:r>
            <a:r>
              <a:rPr lang="fr-FR"/>
              <a:t> </a:t>
            </a:r>
            <a:r>
              <a:rPr lang="fr-FR"/>
              <a:t>literature</a:t>
            </a:r>
            <a:r>
              <a:rPr lang="fr-FR"/>
              <a:t>, </a:t>
            </a:r>
            <a:r>
              <a:rPr lang="fr-FR"/>
              <a:t>understand</a:t>
            </a:r>
            <a:r>
              <a:rPr lang="fr-FR"/>
              <a:t> </a:t>
            </a:r>
            <a:r>
              <a:rPr lang="fr-FR"/>
              <a:t>why</a:t>
            </a:r>
            <a:r>
              <a:rPr lang="fr-FR"/>
              <a:t> </a:t>
            </a:r>
            <a:r>
              <a:rPr lang="fr-FR"/>
              <a:t>they</a:t>
            </a:r>
            <a:r>
              <a:rPr lang="fr-FR"/>
              <a:t> are </a:t>
            </a:r>
            <a:r>
              <a:rPr lang="fr-FR"/>
              <a:t>outliers</a:t>
            </a:r>
            <a:r>
              <a:rPr lang="fr-FR"/>
              <a:t> and how </a:t>
            </a:r>
            <a:r>
              <a:rPr lang="fr-FR"/>
              <a:t>they</a:t>
            </a:r>
            <a:r>
              <a:rPr lang="fr-FR"/>
              <a:t> </a:t>
            </a:r>
            <a:r>
              <a:rPr lang="fr-FR"/>
              <a:t>appeared</a:t>
            </a:r>
            <a:r>
              <a:rPr lang="fr-FR"/>
              <a:t> in the </a:t>
            </a:r>
            <a:r>
              <a:rPr lang="fr-FR"/>
              <a:t>literature</a:t>
            </a:r>
            <a:endParaRPr lang="fr-FR"/>
          </a:p>
          <a:p>
            <a:pPr>
              <a:defRPr/>
            </a:pPr>
            <a:r>
              <a:rPr lang="fr-FR"/>
              <a:t>Using</a:t>
            </a:r>
            <a:r>
              <a:rPr lang="fr-FR"/>
              <a:t> </a:t>
            </a:r>
            <a:r>
              <a:rPr lang="fr-FR"/>
              <a:t>this</a:t>
            </a:r>
            <a:r>
              <a:rPr lang="fr-FR"/>
              <a:t> </a:t>
            </a:r>
            <a:r>
              <a:rPr lang="fr-FR"/>
              <a:t>understanding</a:t>
            </a:r>
            <a:r>
              <a:rPr lang="fr-FR"/>
              <a:t>, </a:t>
            </a:r>
            <a:r>
              <a:rPr lang="fr-FR"/>
              <a:t>it</a:t>
            </a:r>
            <a:r>
              <a:rPr lang="fr-FR"/>
              <a:t> can </a:t>
            </a:r>
            <a:r>
              <a:rPr lang="fr-FR"/>
              <a:t>provide</a:t>
            </a:r>
            <a:r>
              <a:rPr lang="fr-FR"/>
              <a:t> guidance on how to </a:t>
            </a:r>
            <a:r>
              <a:rPr lang="fr-FR"/>
              <a:t>improve</a:t>
            </a:r>
            <a:r>
              <a:rPr lang="fr-FR"/>
              <a:t> new </a:t>
            </a:r>
            <a:r>
              <a:rPr lang="fr-FR"/>
              <a:t>studies</a:t>
            </a:r>
            <a:r>
              <a:rPr lang="fr-FR"/>
              <a:t> in </a:t>
            </a:r>
            <a:r>
              <a:rPr lang="fr-FR"/>
              <a:t>terms</a:t>
            </a:r>
            <a:r>
              <a:rPr lang="fr-FR"/>
              <a:t> of design and </a:t>
            </a:r>
            <a:r>
              <a:rPr lang="fr-FR"/>
              <a:t>protocol</a:t>
            </a:r>
            <a:endParaRPr lang="fr-FR"/>
          </a:p>
          <a:p>
            <a:pPr>
              <a:defRPr/>
            </a:pPr>
            <a:r>
              <a:rPr lang="fr-FR"/>
              <a:t>At the </a:t>
            </a:r>
            <a:r>
              <a:rPr lang="fr-FR"/>
              <a:t>bare</a:t>
            </a:r>
            <a:r>
              <a:rPr lang="fr-FR"/>
              <a:t> minimum, </a:t>
            </a:r>
            <a:r>
              <a:rPr lang="fr-FR"/>
              <a:t>it</a:t>
            </a:r>
            <a:r>
              <a:rPr lang="fr-FR"/>
              <a:t> can help </a:t>
            </a:r>
            <a:r>
              <a:rPr lang="fr-FR"/>
              <a:t>detect</a:t>
            </a:r>
            <a:r>
              <a:rPr lang="fr-FR"/>
              <a:t> false </a:t>
            </a:r>
            <a:r>
              <a:rPr lang="fr-FR"/>
              <a:t>effects</a:t>
            </a:r>
            <a:r>
              <a:rPr lang="fr-FR"/>
              <a:t> in single </a:t>
            </a:r>
            <a:r>
              <a:rPr lang="fr-FR"/>
              <a:t>studies</a:t>
            </a:r>
            <a:r>
              <a:rPr lang="fr-FR"/>
              <a:t> (</a:t>
            </a:r>
            <a:r>
              <a:rPr lang="fr-FR"/>
              <a:t>detect</a:t>
            </a:r>
            <a:r>
              <a:rPr lang="fr-FR"/>
              <a:t> </a:t>
            </a:r>
            <a:r>
              <a:rPr lang="fr-FR"/>
              <a:t>retracted</a:t>
            </a:r>
            <a:r>
              <a:rPr lang="fr-FR"/>
              <a:t> </a:t>
            </a:r>
            <a:r>
              <a:rPr lang="fr-FR"/>
              <a:t>studies</a:t>
            </a:r>
            <a:r>
              <a:rPr lang="fr-FR"/>
              <a:t> – impossible </a:t>
            </a:r>
            <a:r>
              <a:rPr lang="fr-FR"/>
              <a:t>effect</a:t>
            </a:r>
            <a:r>
              <a:rPr lang="fr-FR"/>
              <a:t> sizes – </a:t>
            </a:r>
            <a:r>
              <a:rPr lang="fr-FR"/>
              <a:t>studies</a:t>
            </a:r>
            <a:r>
              <a:rPr lang="fr-FR"/>
              <a:t> </a:t>
            </a:r>
            <a:r>
              <a:rPr lang="fr-FR"/>
              <a:t>lacking</a:t>
            </a:r>
            <a:r>
              <a:rPr lang="fr-FR"/>
              <a:t> crucial information)</a:t>
            </a:r>
            <a:endParaRPr/>
          </a:p>
          <a:p>
            <a:pPr>
              <a:defRPr/>
            </a:pPr>
            <a:r>
              <a:rPr lang="fr-FR"/>
              <a:t>The </a:t>
            </a:r>
            <a:r>
              <a:rPr lang="fr-FR"/>
              <a:t>most</a:t>
            </a:r>
            <a:r>
              <a:rPr lang="fr-FR"/>
              <a:t> important part of a </a:t>
            </a:r>
            <a:r>
              <a:rPr lang="fr-FR"/>
              <a:t>meta-analysis</a:t>
            </a:r>
            <a:r>
              <a:rPr lang="fr-FR"/>
              <a:t> </a:t>
            </a:r>
            <a:r>
              <a:rPr lang="fr-FR"/>
              <a:t>is</a:t>
            </a:r>
            <a:r>
              <a:rPr lang="fr-FR"/>
              <a:t> the qualitative </a:t>
            </a:r>
            <a:r>
              <a:rPr lang="fr-FR"/>
              <a:t>risk</a:t>
            </a:r>
            <a:r>
              <a:rPr lang="fr-FR"/>
              <a:t> of </a:t>
            </a:r>
            <a:r>
              <a:rPr lang="fr-FR"/>
              <a:t>bias</a:t>
            </a:r>
            <a:r>
              <a:rPr lang="fr-FR"/>
              <a:t> </a:t>
            </a:r>
            <a:r>
              <a:rPr lang="fr-FR"/>
              <a:t>analysis</a:t>
            </a:r>
            <a:r>
              <a:rPr lang="fr-FR"/>
              <a:t>. In </a:t>
            </a:r>
            <a:r>
              <a:rPr lang="fr-FR"/>
              <a:t>most</a:t>
            </a:r>
            <a:r>
              <a:rPr lang="fr-FR"/>
              <a:t> </a:t>
            </a:r>
            <a:r>
              <a:rPr lang="fr-FR"/>
              <a:t>studies</a:t>
            </a:r>
            <a:r>
              <a:rPr lang="fr-FR"/>
              <a:t>, </a:t>
            </a:r>
            <a:r>
              <a:rPr lang="fr-FR"/>
              <a:t>meta-analysts</a:t>
            </a:r>
            <a:r>
              <a:rPr lang="fr-FR"/>
              <a:t> do not </a:t>
            </a:r>
            <a:r>
              <a:rPr lang="fr-FR"/>
              <a:t>explain</a:t>
            </a:r>
            <a:r>
              <a:rPr lang="fr-FR"/>
              <a:t> </a:t>
            </a:r>
            <a:r>
              <a:rPr lang="fr-FR"/>
              <a:t>why</a:t>
            </a:r>
            <a:r>
              <a:rPr lang="fr-FR"/>
              <a:t> </a:t>
            </a:r>
            <a:r>
              <a:rPr lang="fr-FR"/>
              <a:t>they</a:t>
            </a:r>
            <a:r>
              <a:rPr lang="fr-FR"/>
              <a:t> </a:t>
            </a:r>
            <a:r>
              <a:rPr lang="fr-FR"/>
              <a:t>coded</a:t>
            </a:r>
            <a:r>
              <a:rPr lang="fr-FR"/>
              <a:t> </a:t>
            </a:r>
            <a:r>
              <a:rPr lang="fr-FR"/>
              <a:t>their</a:t>
            </a:r>
            <a:r>
              <a:rPr lang="fr-FR"/>
              <a:t> </a:t>
            </a:r>
            <a:r>
              <a:rPr lang="fr-FR"/>
              <a:t>risk</a:t>
            </a:r>
            <a:r>
              <a:rPr lang="fr-FR"/>
              <a:t> of </a:t>
            </a:r>
            <a:r>
              <a:rPr lang="fr-FR"/>
              <a:t>bias</a:t>
            </a:r>
            <a:r>
              <a:rPr lang="fr-FR"/>
              <a:t> the </a:t>
            </a:r>
            <a:r>
              <a:rPr lang="fr-FR"/>
              <a:t>way</a:t>
            </a:r>
            <a:r>
              <a:rPr lang="fr-FR"/>
              <a:t> </a:t>
            </a:r>
            <a:r>
              <a:rPr lang="fr-FR"/>
              <a:t>they</a:t>
            </a:r>
            <a:r>
              <a:rPr lang="fr-FR"/>
              <a:t> </a:t>
            </a:r>
            <a:r>
              <a:rPr lang="fr-FR"/>
              <a:t>coded</a:t>
            </a:r>
            <a:r>
              <a:rPr lang="fr-FR"/>
              <a:t> </a:t>
            </a:r>
            <a:r>
              <a:rPr lang="fr-FR"/>
              <a:t>it!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45129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pic>
        <p:nvPicPr>
          <p:cNvPr id="966160163" name="Espace réservé du contenu 3" descr="Une image contenant texte, capture d’écran, Police, nombre&#10;&#10;Le contenu généré par l’IA peut être incorrect.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545688" y="239330"/>
            <a:ext cx="5004624" cy="2669704"/>
          </a:xfrm>
          <a:prstGeom prst="rect">
            <a:avLst/>
          </a:prstGeom>
        </p:spPr>
      </p:pic>
      <p:pic>
        <p:nvPicPr>
          <p:cNvPr id="237143992" name="Image 4" descr="Une image contenant texte, capture d’écran, Police, nombre&#10;&#10;Le contenu généré par l’IA peut être incorrect.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1213732" y="3432763"/>
            <a:ext cx="3414536" cy="1986845"/>
          </a:xfrm>
          <a:prstGeom prst="rect">
            <a:avLst/>
          </a:prstGeom>
        </p:spPr>
      </p:pic>
      <p:pic>
        <p:nvPicPr>
          <p:cNvPr id="1604997986" name="Image 5" descr="Une image contenant texte, capture d’écran, Police, nombre&#10;&#10;Le contenu généré par l’IA peut être incorrect.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6336065" y="365478"/>
            <a:ext cx="5183129" cy="3474156"/>
          </a:xfrm>
          <a:prstGeom prst="rect">
            <a:avLst/>
          </a:prstGeom>
        </p:spPr>
      </p:pic>
      <p:pic>
        <p:nvPicPr>
          <p:cNvPr id="1508289271" name="Image 6" descr="Une image contenant texte, capture d’écran, Police, nombre&#10;&#10;Le contenu généré par l’IA peut être incorrect.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6601002" y="4031192"/>
            <a:ext cx="4916665" cy="25773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16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143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997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828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878322" name="Espace réservé du contenu 3" descr="Une image contenant texte, capture d’écran, Police&#10;&#10;Le contenu généré par l’IA peut être incorrect."/>
          <p:cNvPicPr>
            <a:picLocks noChangeAspect="1" noGrp="1"/>
          </p:cNvPicPr>
          <p:nvPr>
            <p:ph idx="1"/>
          </p:nvPr>
        </p:nvPicPr>
        <p:blipFill>
          <a:blip r:embed="rId3"/>
          <a:stretch/>
        </p:blipFill>
        <p:spPr bwMode="auto">
          <a:xfrm>
            <a:off x="529735" y="227081"/>
            <a:ext cx="4133726" cy="3473382"/>
          </a:xfrm>
          <a:prstGeom prst="rect">
            <a:avLst/>
          </a:prstGeom>
        </p:spPr>
      </p:pic>
      <p:sp>
        <p:nvSpPr>
          <p:cNvPr id="992298906" name="Espace réservé du contenu 2"/>
          <p:cNvSpPr>
            <a:spLocks noGrp="1"/>
          </p:cNvSpPr>
          <p:nvPr/>
        </p:nvSpPr>
        <p:spPr bwMode="auto">
          <a:xfrm>
            <a:off x="5051315" y="396935"/>
            <a:ext cx="6225209" cy="6157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/>
              <a:t>72 checks (</a:t>
            </a:r>
            <a:r>
              <a:rPr lang="fr-FR"/>
              <a:t>inspect</a:t>
            </a:r>
            <a:r>
              <a:rPr lang="fr-FR"/>
              <a:t>-SR questions)</a:t>
            </a:r>
            <a:endParaRPr/>
          </a:p>
          <a:p>
            <a:pPr>
              <a:defRPr/>
            </a:pPr>
            <a:endParaRPr lang="fr-FR">
              <a:solidFill>
                <a:srgbClr val="000000"/>
              </a:solidFill>
            </a:endParaRPr>
          </a:p>
        </p:txBody>
      </p:sp>
      <p:sp>
        <p:nvSpPr>
          <p:cNvPr id="87775641" name="ZoneTexte 1"/>
          <p:cNvSpPr txBox="1"/>
          <p:nvPr/>
        </p:nvSpPr>
        <p:spPr bwMode="auto">
          <a:xfrm>
            <a:off x="5054337" y="835843"/>
            <a:ext cx="7173797" cy="4514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28600" indent="-228600">
              <a:lnSpc>
                <a:spcPts val="2775"/>
              </a:lnSpc>
              <a:buFont typeface="Arial"/>
              <a:buChar char="•"/>
              <a:defRPr/>
            </a:pPr>
            <a:r>
              <a:rPr lang="fr-FR" sz="2600">
                <a:cs typeface="Arial"/>
              </a:rPr>
              <a:t>59 </a:t>
            </a:r>
            <a:r>
              <a:rPr lang="fr-FR" sz="2600">
                <a:cs typeface="Arial"/>
              </a:rPr>
              <a:t>RCTs</a:t>
            </a:r>
            <a:r>
              <a:rPr lang="fr-FR" sz="2600">
                <a:cs typeface="Arial"/>
              </a:rPr>
              <a:t>​</a:t>
            </a:r>
            <a:endParaRPr/>
          </a:p>
        </p:txBody>
      </p:sp>
      <p:sp>
        <p:nvSpPr>
          <p:cNvPr id="1923640860" name="ZoneTexte 2"/>
          <p:cNvSpPr txBox="1"/>
          <p:nvPr/>
        </p:nvSpPr>
        <p:spPr bwMode="auto">
          <a:xfrm>
            <a:off x="5077905" y="1197204"/>
            <a:ext cx="7252354" cy="5176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28600" indent="-228600">
              <a:lnSpc>
                <a:spcPts val="3542"/>
              </a:lnSpc>
              <a:buFont typeface="Arial"/>
              <a:buChar char="•"/>
              <a:defRPr/>
            </a:pPr>
            <a:r>
              <a:rPr lang="fr-FR" sz="2600">
                <a:cs typeface="Arial"/>
              </a:rPr>
              <a:t>50 </a:t>
            </a:r>
            <a:r>
              <a:rPr lang="fr-FR" sz="2600">
                <a:cs typeface="Arial"/>
              </a:rPr>
              <a:t>cochrane</a:t>
            </a:r>
            <a:r>
              <a:rPr lang="fr-FR" sz="2600">
                <a:cs typeface="Arial"/>
              </a:rPr>
              <a:t> </a:t>
            </a:r>
            <a:r>
              <a:rPr lang="fr-FR" sz="2600">
                <a:cs typeface="Arial"/>
              </a:rPr>
              <a:t>reviews</a:t>
            </a:r>
            <a:r>
              <a:rPr lang="fr-FR" sz="2600">
                <a:cs typeface="Arial"/>
              </a:rPr>
              <a:t>​</a:t>
            </a:r>
            <a:r>
              <a:rPr lang="en-US" sz="2600">
                <a:cs typeface="Arial"/>
              </a:rPr>
              <a:t>​</a:t>
            </a:r>
            <a:endParaRPr lang="fr-FR"/>
          </a:p>
        </p:txBody>
      </p:sp>
      <p:sp>
        <p:nvSpPr>
          <p:cNvPr id="641923364" name="ZoneTexte 4"/>
          <p:cNvSpPr txBox="1"/>
          <p:nvPr/>
        </p:nvSpPr>
        <p:spPr bwMode="auto">
          <a:xfrm>
            <a:off x="5077905" y="1605699"/>
            <a:ext cx="7173797" cy="119090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28600" indent="-228600">
              <a:lnSpc>
                <a:spcPts val="4521"/>
              </a:lnSpc>
              <a:buFont typeface="Arial"/>
              <a:buChar char="•"/>
              <a:defRPr/>
            </a:pPr>
            <a:r>
              <a:rPr lang="fr-FR" sz="2600">
                <a:cs typeface="Arial"/>
              </a:rPr>
              <a:t>25% of </a:t>
            </a:r>
            <a:r>
              <a:rPr lang="fr-FR" sz="2600">
                <a:cs typeface="Arial"/>
              </a:rPr>
              <a:t>RCTs</a:t>
            </a:r>
            <a:r>
              <a:rPr lang="fr-FR" sz="2600">
                <a:cs typeface="Arial"/>
              </a:rPr>
              <a:t> </a:t>
            </a:r>
            <a:r>
              <a:rPr lang="fr-FR" sz="2600">
                <a:cs typeface="Arial"/>
              </a:rPr>
              <a:t>had</a:t>
            </a:r>
            <a:r>
              <a:rPr lang="fr-FR" sz="2600">
                <a:cs typeface="Arial"/>
              </a:rPr>
              <a:t> </a:t>
            </a:r>
            <a:r>
              <a:rPr lang="fr-FR" sz="2600">
                <a:cs typeface="Arial"/>
              </a:rPr>
              <a:t>moderate</a:t>
            </a:r>
            <a:r>
              <a:rPr lang="fr-FR" sz="2600">
                <a:cs typeface="Arial"/>
              </a:rPr>
              <a:t> </a:t>
            </a:r>
            <a:r>
              <a:rPr lang="fr-FR" sz="2600">
                <a:cs typeface="Arial"/>
              </a:rPr>
              <a:t>concerns</a:t>
            </a:r>
            <a:r>
              <a:rPr lang="fr-FR" sz="2600">
                <a:cs typeface="Arial"/>
              </a:rPr>
              <a:t> for </a:t>
            </a:r>
            <a:r>
              <a:rPr lang="fr-FR" sz="2600">
                <a:cs typeface="Arial"/>
              </a:rPr>
              <a:t>authenticity</a:t>
            </a:r>
            <a:r>
              <a:rPr lang="fr-FR" sz="2600">
                <a:cs typeface="Arial"/>
              </a:rPr>
              <a:t> and 6% </a:t>
            </a:r>
            <a:r>
              <a:rPr lang="fr-FR" sz="2600">
                <a:cs typeface="Arial"/>
              </a:rPr>
              <a:t>serious</a:t>
            </a:r>
            <a:r>
              <a:rPr lang="fr-FR" sz="2600">
                <a:cs typeface="Arial"/>
              </a:rPr>
              <a:t> </a:t>
            </a:r>
            <a:r>
              <a:rPr lang="fr-FR" sz="2600">
                <a:cs typeface="Arial"/>
              </a:rPr>
              <a:t>concerns</a:t>
            </a:r>
            <a:r>
              <a:rPr lang="fr-FR" sz="2600">
                <a:cs typeface="Arial"/>
              </a:rPr>
              <a:t>​</a:t>
            </a:r>
            <a:r>
              <a:rPr lang="en-US" sz="2600">
                <a:cs typeface="Arial"/>
              </a:rPr>
              <a:t>​​</a:t>
            </a:r>
            <a:endParaRPr/>
          </a:p>
        </p:txBody>
      </p:sp>
      <p:sp>
        <p:nvSpPr>
          <p:cNvPr id="1969818909" name="ZoneTexte 6"/>
          <p:cNvSpPr txBox="1"/>
          <p:nvPr/>
        </p:nvSpPr>
        <p:spPr bwMode="auto">
          <a:xfrm>
            <a:off x="5054337" y="2532668"/>
            <a:ext cx="6788870" cy="14826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28600" indent="-228600">
              <a:lnSpc>
                <a:spcPts val="5769"/>
              </a:lnSpc>
              <a:buFont typeface="Arial"/>
              <a:buChar char="•"/>
              <a:defRPr/>
            </a:pPr>
            <a:r>
              <a:rPr lang="fr-FR" sz="2600">
                <a:cs typeface="Arial"/>
              </a:rPr>
              <a:t>Removing</a:t>
            </a:r>
            <a:r>
              <a:rPr lang="fr-FR" sz="2600">
                <a:cs typeface="Arial"/>
              </a:rPr>
              <a:t> </a:t>
            </a:r>
            <a:r>
              <a:rPr lang="fr-FR" sz="2600">
                <a:cs typeface="Arial"/>
              </a:rPr>
              <a:t>them</a:t>
            </a:r>
            <a:r>
              <a:rPr lang="fr-FR" sz="2600">
                <a:cs typeface="Arial"/>
              </a:rPr>
              <a:t>, 22% of the </a:t>
            </a:r>
            <a:r>
              <a:rPr lang="fr-FR" sz="2600">
                <a:cs typeface="Arial"/>
              </a:rPr>
              <a:t>reviews</a:t>
            </a:r>
            <a:r>
              <a:rPr lang="fr-FR" sz="2600">
                <a:cs typeface="Arial"/>
              </a:rPr>
              <a:t> </a:t>
            </a:r>
            <a:r>
              <a:rPr lang="fr-FR" sz="2600">
                <a:cs typeface="Arial"/>
              </a:rPr>
              <a:t>had</a:t>
            </a:r>
            <a:r>
              <a:rPr lang="fr-FR" sz="2600">
                <a:cs typeface="Arial"/>
              </a:rPr>
              <a:t> NO </a:t>
            </a:r>
            <a:r>
              <a:rPr lang="fr-FR" sz="2600">
                <a:cs typeface="Arial"/>
              </a:rPr>
              <a:t>RTCs</a:t>
            </a:r>
            <a:r>
              <a:rPr lang="fr-FR" sz="2600">
                <a:cs typeface="Arial"/>
              </a:rPr>
              <a:t> at all.</a:t>
            </a:r>
            <a:r>
              <a:rPr lang="en-US" sz="2600">
                <a:cs typeface="Arial"/>
              </a:rPr>
              <a:t>​​​​</a:t>
            </a:r>
            <a:endParaRPr/>
          </a:p>
        </p:txBody>
      </p:sp>
      <p:sp>
        <p:nvSpPr>
          <p:cNvPr id="1966273889" name="ZoneTexte 7"/>
          <p:cNvSpPr txBox="1"/>
          <p:nvPr/>
        </p:nvSpPr>
        <p:spPr bwMode="auto">
          <a:xfrm>
            <a:off x="4787244" y="3923121"/>
            <a:ext cx="6482858" cy="12927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28600" indent="274320">
              <a:spcBef>
                <a:spcPts val="200"/>
              </a:spcBef>
              <a:spcAft>
                <a:spcPts val="200"/>
              </a:spcAft>
              <a:buFont typeface="Arial"/>
              <a:buChar char="•"/>
              <a:defRPr/>
            </a:pPr>
            <a:r>
              <a:rPr lang="fr-FR" sz="2600">
                <a:cs typeface="Arial"/>
              </a:rPr>
              <a:t>No </a:t>
            </a:r>
            <a:r>
              <a:rPr lang="fr-FR" sz="2600">
                <a:cs typeface="Arial"/>
              </a:rPr>
              <a:t>relationship</a:t>
            </a:r>
            <a:r>
              <a:rPr lang="fr-FR" sz="2600">
                <a:cs typeface="Arial"/>
              </a:rPr>
              <a:t> </a:t>
            </a:r>
            <a:r>
              <a:rPr lang="fr-FR" sz="2600">
                <a:cs typeface="Arial"/>
              </a:rPr>
              <a:t>between</a:t>
            </a:r>
            <a:r>
              <a:rPr lang="fr-FR" sz="2600">
                <a:cs typeface="Arial"/>
              </a:rPr>
              <a:t> </a:t>
            </a:r>
            <a:r>
              <a:rPr lang="fr-FR" sz="2600">
                <a:cs typeface="Arial"/>
              </a:rPr>
              <a:t>inspect</a:t>
            </a:r>
            <a:r>
              <a:rPr lang="fr-FR" sz="2600">
                <a:cs typeface="Arial"/>
              </a:rPr>
              <a:t>-SR and ROB2 (the Cochrane Risk of </a:t>
            </a:r>
            <a:r>
              <a:rPr lang="fr-FR" sz="2600">
                <a:cs typeface="Arial"/>
              </a:rPr>
              <a:t>bias</a:t>
            </a:r>
            <a:r>
              <a:rPr lang="fr-FR" sz="2600">
                <a:cs typeface="Arial"/>
              </a:rPr>
              <a:t> </a:t>
            </a:r>
            <a:r>
              <a:rPr lang="fr-FR" sz="2600">
                <a:cs typeface="Arial"/>
              </a:rPr>
              <a:t>tool</a:t>
            </a:r>
            <a:r>
              <a:rPr lang="fr-FR" sz="2600">
                <a:cs typeface="Arial"/>
              </a:rPr>
              <a:t>)</a:t>
            </a:r>
            <a:r>
              <a:rPr lang="en-US" sz="2600">
                <a:cs typeface="Arial"/>
              </a:rPr>
              <a:t>​​​​​</a:t>
            </a:r>
            <a:endParaRPr lang="fr-FR"/>
          </a:p>
        </p:txBody>
      </p:sp>
      <p:sp>
        <p:nvSpPr>
          <p:cNvPr id="1474978294" name="ZoneTexte 8"/>
          <p:cNvSpPr txBox="1"/>
          <p:nvPr/>
        </p:nvSpPr>
        <p:spPr bwMode="auto">
          <a:xfrm>
            <a:off x="5051314" y="5110562"/>
            <a:ext cx="6655324" cy="16927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marL="228600" indent="-228600">
              <a:buFont typeface="Arial"/>
              <a:buChar char="•"/>
              <a:defRPr/>
            </a:pPr>
            <a:r>
              <a:rPr lang="fr-FR" sz="2600">
                <a:cs typeface="Arial"/>
              </a:rPr>
              <a:t>However</a:t>
            </a:r>
            <a:r>
              <a:rPr lang="fr-FR" sz="2600">
                <a:cs typeface="Arial"/>
              </a:rPr>
              <a:t>, </a:t>
            </a:r>
            <a:r>
              <a:rPr lang="fr-FR" sz="2600">
                <a:cs typeface="Arial"/>
              </a:rPr>
              <a:t>many</a:t>
            </a:r>
            <a:r>
              <a:rPr lang="fr-FR" sz="2600">
                <a:cs typeface="Arial"/>
              </a:rPr>
              <a:t> checks </a:t>
            </a:r>
            <a:r>
              <a:rPr lang="fr-FR" sz="2600">
                <a:cs typeface="Arial"/>
              </a:rPr>
              <a:t>proved</a:t>
            </a:r>
            <a:r>
              <a:rPr lang="fr-FR" sz="2600">
                <a:cs typeface="Arial"/>
              </a:rPr>
              <a:t> </a:t>
            </a:r>
            <a:r>
              <a:rPr lang="fr-FR" sz="2600">
                <a:cs typeface="Arial"/>
              </a:rPr>
              <a:t>difficult</a:t>
            </a:r>
            <a:r>
              <a:rPr lang="fr-FR" sz="2600">
                <a:cs typeface="Arial"/>
              </a:rPr>
              <a:t> to </a:t>
            </a:r>
            <a:r>
              <a:rPr lang="fr-FR" sz="2600">
                <a:cs typeface="Arial"/>
              </a:rPr>
              <a:t>understand</a:t>
            </a:r>
            <a:r>
              <a:rPr lang="fr-FR" sz="2600">
                <a:cs typeface="Arial"/>
              </a:rPr>
              <a:t> or </a:t>
            </a:r>
            <a:r>
              <a:rPr lang="fr-FR" sz="2600">
                <a:cs typeface="Arial"/>
              </a:rPr>
              <a:t>implement</a:t>
            </a:r>
            <a:r>
              <a:rPr lang="fr-FR" sz="2600">
                <a:cs typeface="Arial"/>
              </a:rPr>
              <a:t>, </a:t>
            </a:r>
            <a:r>
              <a:rPr lang="fr-FR" sz="2600">
                <a:cs typeface="Arial"/>
              </a:rPr>
              <a:t>which</a:t>
            </a:r>
            <a:r>
              <a:rPr lang="fr-FR" sz="2600">
                <a:cs typeface="Arial"/>
              </a:rPr>
              <a:t> </a:t>
            </a:r>
            <a:r>
              <a:rPr lang="fr-FR" sz="2600">
                <a:cs typeface="Arial"/>
              </a:rPr>
              <a:t>may</a:t>
            </a:r>
            <a:r>
              <a:rPr lang="fr-FR" sz="2600">
                <a:cs typeface="Arial"/>
              </a:rPr>
              <a:t> have </a:t>
            </a:r>
            <a:r>
              <a:rPr lang="fr-FR" sz="2600">
                <a:cs typeface="Arial"/>
              </a:rPr>
              <a:t>led</a:t>
            </a:r>
            <a:r>
              <a:rPr lang="fr-FR" sz="2600">
                <a:cs typeface="Arial"/>
              </a:rPr>
              <a:t> to </a:t>
            </a:r>
            <a:r>
              <a:rPr lang="fr-FR" sz="2600">
                <a:cs typeface="Arial"/>
              </a:rPr>
              <a:t>unwarranted</a:t>
            </a:r>
            <a:r>
              <a:rPr lang="fr-FR" sz="2600">
                <a:cs typeface="Arial"/>
              </a:rPr>
              <a:t> </a:t>
            </a:r>
            <a:r>
              <a:rPr lang="fr-FR" sz="2600">
                <a:cs typeface="Arial"/>
              </a:rPr>
              <a:t>skepticism</a:t>
            </a:r>
            <a:r>
              <a:rPr lang="fr-FR" sz="2600">
                <a:cs typeface="Arial"/>
              </a:rPr>
              <a:t> in </a:t>
            </a:r>
            <a:r>
              <a:rPr lang="fr-FR" sz="2600">
                <a:cs typeface="Arial"/>
              </a:rPr>
              <a:t>some</a:t>
            </a:r>
            <a:r>
              <a:rPr lang="fr-FR" sz="2600">
                <a:cs typeface="Arial"/>
              </a:rPr>
              <a:t> instances.</a:t>
            </a:r>
            <a:r>
              <a:rPr lang="en-US" sz="2600">
                <a:cs typeface="Arial"/>
              </a:rPr>
              <a:t>​​​</a:t>
            </a:r>
            <a:endParaRPr lang="fr-FR"/>
          </a:p>
        </p:txBody>
      </p:sp>
      <p:pic>
        <p:nvPicPr>
          <p:cNvPr id="193703101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719674" y="2686692"/>
            <a:ext cx="5729097" cy="2792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87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298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7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3640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923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9818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273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978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703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2298906" grpId="0"/>
      <p:bldP spid="87775641" grpId="0"/>
      <p:bldP spid="1923640860" grpId="0"/>
      <p:bldP spid="641923364" grpId="0"/>
      <p:bldP spid="1969818909" grpId="0"/>
      <p:bldP spid="1966273889" grpId="0"/>
      <p:bldP spid="147497829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9977647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807791560" name="Espace réservé du contenu 2"/>
          <p:cNvSpPr>
            <a:spLocks noGrp="1"/>
          </p:cNvSpPr>
          <p:nvPr>
            <p:ph idx="1"/>
          </p:nvPr>
        </p:nvSpPr>
        <p:spPr bwMode="auto"/>
        <p:txBody>
          <a:bodyPr vert="horz" lIns="91440" tIns="45720" rIns="91440" bIns="45720" rtlCol="0" anchor="t">
            <a:normAutofit/>
          </a:bodyPr>
          <a:lstStyle/>
          <a:p>
            <a:pPr>
              <a:defRPr/>
            </a:pPr>
            <a:r>
              <a:rPr lang="fr-FR"/>
              <a:t>From</a:t>
            </a:r>
            <a:r>
              <a:rPr lang="fr-FR"/>
              <a:t> "</a:t>
            </a:r>
            <a:r>
              <a:rPr lang="fr-FR"/>
              <a:t>let's</a:t>
            </a:r>
            <a:r>
              <a:rPr lang="fr-FR"/>
              <a:t> </a:t>
            </a:r>
            <a:r>
              <a:rPr lang="fr-FR"/>
              <a:t>see</a:t>
            </a:r>
            <a:r>
              <a:rPr lang="fr-FR"/>
              <a:t> how the </a:t>
            </a:r>
            <a:r>
              <a:rPr lang="fr-FR"/>
              <a:t>literature</a:t>
            </a:r>
            <a:r>
              <a:rPr lang="fr-FR"/>
              <a:t> leads to a specific effect"</a:t>
            </a:r>
            <a:endParaRPr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To</a:t>
            </a:r>
            <a:endParaRPr lang="fr-FR"/>
          </a:p>
          <a:p>
            <a:pPr>
              <a:defRPr/>
            </a:pPr>
            <a:endParaRPr lang="fr-FR"/>
          </a:p>
          <a:p>
            <a:pPr>
              <a:defRPr/>
            </a:pPr>
            <a:r>
              <a:rPr lang="fr-FR"/>
              <a:t>"</a:t>
            </a:r>
            <a:r>
              <a:rPr lang="fr-FR"/>
              <a:t>let's</a:t>
            </a:r>
            <a:r>
              <a:rPr lang="fr-FR"/>
              <a:t> </a:t>
            </a:r>
            <a:r>
              <a:rPr lang="fr-FR"/>
              <a:t>see</a:t>
            </a:r>
            <a:r>
              <a:rPr lang="fr-FR"/>
              <a:t> if </a:t>
            </a:r>
            <a:r>
              <a:rPr lang="fr-FR"/>
              <a:t>we</a:t>
            </a:r>
            <a:r>
              <a:rPr lang="fr-FR"/>
              <a:t> can trust at least a little bit the literature"</a:t>
            </a:r>
            <a:endParaRPr lang="fr-F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slow" p14:dur="2000" advClick="1">
        <p:fade thruBlk="0"/>
      </p:transition>
    </mc:Choice>
    <mc:Fallback>
      <p:transition spd="slow" advClick="1">
        <p:fade thruBlk="0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onlyoffice/9.0.4.50</Application>
  <DocSecurity>0</DocSecurity>
  <PresentationFormat>On-screen Show (4:3)</PresentationFormat>
  <Paragraphs>0</Paragraphs>
  <Slides>42</Slides>
  <Notes>42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identifier/>
  <dc:language/>
  <cp:lastModifiedBy>Adrien.FILLON</cp:lastModifiedBy>
  <cp:revision>922</cp:revision>
  <dcterms:created xsi:type="dcterms:W3CDTF">2025-06-26T05:53:16Z</dcterms:created>
  <dcterms:modified xsi:type="dcterms:W3CDTF">2025-09-08T14:18:41Z</dcterms:modified>
  <cp:category/>
  <cp:contentStatus/>
  <cp:version/>
</cp:coreProperties>
</file>
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1" r:id="rId26"/>
    <p:sldId id="283" r:id="rId27"/>
    <p:sldId id="284" r:id="rId28"/>
    <p:sldId id="285" r:id="rId29"/>
    <p:sldId id="286" r:id="rId30"/>
    <p:sldId id="289" r:id="rId31"/>
    <p:sldId id="287" r:id="rId32"/>
    <p:sldId id="288" r:id="rId33"/>
    <p:sldId id="290" r:id="rId34"/>
    <p:sldId id="292" r:id="rId35"/>
    <p:sldId id="291" r:id="rId36"/>
    <p:sldId id="293" r:id="rId37"/>
    <p:sldId id="294" r:id="rId38"/>
    <p:sldId id="295" r:id="rId39"/>
    <p:sldId id="316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7" r:id="rId56"/>
    <p:sldId id="261" r:id="rId57"/>
    <p:sldId id="311" r:id="rId58"/>
    <p:sldId id="258" r:id="rId59"/>
    <p:sldId id="312" r:id="rId60"/>
    <p:sldId id="313" r:id="rId61"/>
    <p:sldId id="314" r:id="rId62"/>
    <p:sldId id="315" r:id="rId63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684980-D7A4-4457-A7D3-F80C3D7DB260}" v="6" dt="2026-02-26T09:19:34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631346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77688265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16/03/2026</a:t>
            </a:fld>
            <a:endParaRPr lang="fr-FR"/>
          </a:p>
        </p:txBody>
      </p:sp>
      <p:sp>
        <p:nvSpPr>
          <p:cNvPr id="1476709477" name="Espace réservé pour l'image de la diapositive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203260763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226251364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38668319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351626" name="Espace réservé pour l'image de la diapositiv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832055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90225824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On </a:t>
            </a:r>
            <a:r>
              <a:rPr lang="en-US" err="1">
                <a:latin typeface="Calibri"/>
                <a:ea typeface="Calibri"/>
                <a:cs typeface="Calibri"/>
              </a:rPr>
              <a:t>peut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répondre</a:t>
            </a:r>
            <a:r>
              <a:rPr lang="en-US">
                <a:latin typeface="Calibri"/>
                <a:ea typeface="Calibri"/>
                <a:cs typeface="Calibri"/>
              </a:rPr>
              <a:t> à </a:t>
            </a:r>
            <a:r>
              <a:rPr lang="en-US" err="1">
                <a:latin typeface="Calibri"/>
                <a:ea typeface="Calibri"/>
                <a:cs typeface="Calibri"/>
              </a:rPr>
              <a:t>cette</a:t>
            </a:r>
            <a:r>
              <a:rPr lang="en-US">
                <a:latin typeface="Calibri"/>
                <a:ea typeface="Calibri"/>
                <a:cs typeface="Calibri"/>
              </a:rPr>
              <a:t> question sans </a:t>
            </a:r>
            <a:r>
              <a:rPr lang="en-US" err="1">
                <a:latin typeface="Calibri"/>
                <a:ea typeface="Calibri"/>
                <a:cs typeface="Calibri"/>
              </a:rPr>
              <a:t>vue</a:t>
            </a:r>
            <a:r>
              <a:rPr lang="en-US">
                <a:latin typeface="Calibri"/>
                <a:ea typeface="Calibri"/>
                <a:cs typeface="Calibri"/>
              </a:rPr>
              <a:t> du dessus </a:t>
            </a:r>
            <a:r>
              <a:rPr lang="en-US" err="1">
                <a:latin typeface="Calibri"/>
                <a:ea typeface="Calibri"/>
                <a:cs typeface="Calibri"/>
              </a:rPr>
              <a:t>ou</a:t>
            </a:r>
            <a:r>
              <a:rPr lang="en-US">
                <a:latin typeface="Calibri"/>
                <a:ea typeface="Calibri"/>
                <a:cs typeface="Calibri"/>
              </a:rPr>
              <a:t> sans voyager tout </a:t>
            </a:r>
            <a:r>
              <a:rPr lang="en-US" err="1">
                <a:latin typeface="Calibri"/>
                <a:ea typeface="Calibri"/>
                <a:cs typeface="Calibri"/>
              </a:rPr>
              <a:t>autour</a:t>
            </a:r>
            <a:r>
              <a:rPr lang="en-US">
                <a:latin typeface="Calibri"/>
                <a:ea typeface="Calibri"/>
                <a:cs typeface="Calibri"/>
              </a:rPr>
              <a:t> du monde </a:t>
            </a:r>
            <a:r>
              <a:rPr lang="en-US" err="1">
                <a:latin typeface="Calibri"/>
                <a:ea typeface="Calibri"/>
                <a:cs typeface="Calibri"/>
              </a:rPr>
              <a:t>mais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faisant</a:t>
            </a:r>
            <a:r>
              <a:rPr lang="en-US">
                <a:latin typeface="Calibri"/>
                <a:ea typeface="Calibri"/>
                <a:cs typeface="Calibri"/>
              </a:rPr>
              <a:t> un </a:t>
            </a:r>
            <a:r>
              <a:rPr lang="en-US" err="1">
                <a:latin typeface="Calibri"/>
                <a:ea typeface="Calibri"/>
                <a:cs typeface="Calibri"/>
              </a:rPr>
              <a:t>échantillonage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aléatoire</a:t>
            </a:r>
            <a:r>
              <a:rPr lang="en-US">
                <a:latin typeface="Calibri"/>
                <a:ea typeface="Calibri"/>
                <a:cs typeface="Calibri"/>
              </a:rPr>
              <a:t> et appliquer </a:t>
            </a:r>
            <a:r>
              <a:rPr lang="en-US" err="1">
                <a:latin typeface="Calibri"/>
                <a:ea typeface="Calibri"/>
                <a:cs typeface="Calibri"/>
              </a:rPr>
              <a:t>l'inférence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bayésienne</a:t>
            </a:r>
            <a:r>
              <a:rPr lang="en-US"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71%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228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COmment</a:t>
            </a:r>
            <a:r>
              <a:rPr lang="en-US">
                <a:latin typeface="Calibri"/>
                <a:ea typeface="Calibri"/>
                <a:cs typeface="Calibri"/>
              </a:rPr>
              <a:t> on </a:t>
            </a:r>
            <a:r>
              <a:rPr lang="en-US" err="1">
                <a:latin typeface="Calibri"/>
                <a:ea typeface="Calibri"/>
                <a:cs typeface="Calibri"/>
              </a:rPr>
              <a:t>transforome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ce</a:t>
            </a:r>
            <a:r>
              <a:rPr lang="en-US">
                <a:latin typeface="Calibri"/>
                <a:ea typeface="Calibri"/>
                <a:cs typeface="Calibri"/>
              </a:rPr>
              <a:t> sample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estimate ?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Comment </a:t>
            </a:r>
            <a:r>
              <a:rPr lang="en-US" err="1">
                <a:latin typeface="Calibri"/>
                <a:ea typeface="Calibri"/>
                <a:cs typeface="Calibri"/>
              </a:rPr>
              <a:t>cet</a:t>
            </a:r>
            <a:r>
              <a:rPr lang="en-US">
                <a:latin typeface="Calibri"/>
                <a:ea typeface="Calibri"/>
                <a:cs typeface="Calibri"/>
              </a:rPr>
              <a:t> estimate nous </a:t>
            </a:r>
            <a:r>
              <a:rPr lang="en-US" err="1">
                <a:latin typeface="Calibri"/>
                <a:ea typeface="Calibri"/>
                <a:cs typeface="Calibri"/>
              </a:rPr>
              <a:t>permet</a:t>
            </a:r>
            <a:r>
              <a:rPr lang="en-US">
                <a:latin typeface="Calibri"/>
                <a:ea typeface="Calibri"/>
                <a:cs typeface="Calibri"/>
              </a:rPr>
              <a:t> de faire un résumé </a:t>
            </a:r>
            <a:r>
              <a:rPr lang="en-US" err="1">
                <a:latin typeface="Calibri"/>
                <a:ea typeface="Calibri"/>
                <a:cs typeface="Calibri"/>
              </a:rPr>
              <a:t>utilisable</a:t>
            </a:r>
            <a:r>
              <a:rPr lang="en-US">
                <a:latin typeface="Calibri"/>
                <a:ea typeface="Calibri"/>
                <a:cs typeface="Calibri"/>
              </a:rPr>
              <a:t> pour tout le globe ?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Comment </a:t>
            </a:r>
            <a:r>
              <a:rPr lang="en-US" err="1">
                <a:latin typeface="Calibri"/>
                <a:ea typeface="Calibri"/>
                <a:cs typeface="Calibri"/>
              </a:rPr>
              <a:t>représentater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l'intertutitude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lié</a:t>
            </a:r>
            <a:r>
              <a:rPr lang="en-US">
                <a:latin typeface="Calibri"/>
                <a:ea typeface="Calibri"/>
                <a:cs typeface="Calibri"/>
              </a:rPr>
              <a:t> au fait de </a:t>
            </a:r>
            <a:r>
              <a:rPr lang="en-US" err="1">
                <a:latin typeface="Calibri"/>
                <a:ea typeface="Calibri"/>
                <a:cs typeface="Calibri"/>
              </a:rPr>
              <a:t>n'utiliser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qu'un</a:t>
            </a:r>
            <a:r>
              <a:rPr lang="en-US">
                <a:latin typeface="Calibri"/>
                <a:ea typeface="Calibri"/>
                <a:cs typeface="Calibri"/>
              </a:rPr>
              <a:t> seul </a:t>
            </a:r>
            <a:r>
              <a:rPr lang="en-US" err="1">
                <a:latin typeface="Calibri"/>
                <a:ea typeface="Calibri"/>
                <a:cs typeface="Calibri"/>
              </a:rPr>
              <a:t>échantillon</a:t>
            </a:r>
            <a:r>
              <a:rPr lang="en-US">
                <a:latin typeface="Calibri"/>
                <a:ea typeface="Calibri"/>
                <a:cs typeface="Calibri"/>
              </a:rPr>
              <a:t> de 10 zones ?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Each toss is independent : la chance </a:t>
            </a:r>
            <a:r>
              <a:rPr lang="en-US" err="1">
                <a:latin typeface="Calibri"/>
                <a:ea typeface="Calibri"/>
                <a:cs typeface="Calibri"/>
              </a:rPr>
              <a:t>d'observer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l'eau</a:t>
            </a:r>
            <a:r>
              <a:rPr lang="en-US">
                <a:latin typeface="Calibri"/>
                <a:ea typeface="Calibri"/>
                <a:cs typeface="Calibri"/>
              </a:rPr>
              <a:t> est proportion de </a:t>
            </a:r>
            <a:r>
              <a:rPr lang="en-US" err="1">
                <a:latin typeface="Calibri"/>
                <a:ea typeface="Calibri"/>
                <a:cs typeface="Calibri"/>
              </a:rPr>
              <a:t>l'eau</a:t>
            </a:r>
            <a:r>
              <a:rPr lang="en-US">
                <a:latin typeface="Calibri"/>
                <a:ea typeface="Calibri"/>
                <a:cs typeface="Calibri"/>
              </a:rPr>
              <a:t> sur la </a:t>
            </a:r>
            <a:r>
              <a:rPr lang="en-US" err="1">
                <a:latin typeface="Calibri"/>
                <a:ea typeface="Calibri"/>
                <a:cs typeface="Calibri"/>
              </a:rPr>
              <a:t>planête</a:t>
            </a:r>
            <a:r>
              <a:rPr lang="en-US">
                <a:latin typeface="Calibri"/>
                <a:ea typeface="Calibri"/>
                <a:cs typeface="Calibri"/>
              </a:rPr>
              <a:t> - </a:t>
            </a:r>
            <a:r>
              <a:rPr lang="en-US" err="1">
                <a:latin typeface="Calibri"/>
                <a:ea typeface="Calibri"/>
                <a:cs typeface="Calibri"/>
              </a:rPr>
              <a:t>c'est</a:t>
            </a:r>
            <a:r>
              <a:rPr lang="en-US">
                <a:latin typeface="Calibri"/>
                <a:ea typeface="Calibri"/>
                <a:cs typeface="Calibri"/>
              </a:rPr>
              <a:t> le lien entre le petit monde de </a:t>
            </a:r>
            <a:r>
              <a:rPr lang="en-US" err="1">
                <a:latin typeface="Calibri"/>
                <a:ea typeface="Calibri"/>
                <a:cs typeface="Calibri"/>
              </a:rPr>
              <a:t>l'observation</a:t>
            </a:r>
            <a:r>
              <a:rPr lang="en-US">
                <a:latin typeface="Calibri"/>
                <a:ea typeface="Calibri"/>
                <a:cs typeface="Calibri"/>
              </a:rPr>
              <a:t> et le grand monde de la </a:t>
            </a:r>
            <a:r>
              <a:rPr lang="en-US" err="1">
                <a:latin typeface="Calibri"/>
                <a:ea typeface="Calibri"/>
                <a:cs typeface="Calibri"/>
              </a:rPr>
              <a:t>vraie</a:t>
            </a:r>
            <a:r>
              <a:rPr lang="en-US">
                <a:latin typeface="Calibri"/>
                <a:ea typeface="Calibri"/>
                <a:cs typeface="Calibri"/>
              </a:rPr>
              <a:t> terre.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8696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Extrêmement</a:t>
            </a:r>
            <a:r>
              <a:rPr lang="en-US">
                <a:latin typeface="Calibri"/>
                <a:ea typeface="Calibri"/>
                <a:cs typeface="Calibri"/>
              </a:rPr>
              <a:t> simple : les </a:t>
            </a:r>
            <a:r>
              <a:rPr lang="en-US" err="1">
                <a:latin typeface="Calibri"/>
                <a:ea typeface="Calibri"/>
                <a:cs typeface="Calibri"/>
              </a:rPr>
              <a:t>inférences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bayésiennes</a:t>
            </a:r>
            <a:r>
              <a:rPr lang="en-US">
                <a:latin typeface="Calibri"/>
                <a:ea typeface="Calibri"/>
                <a:cs typeface="Calibri"/>
              </a:rPr>
              <a:t> ne consistent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compter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selon</a:t>
            </a:r>
            <a:r>
              <a:rPr lang="en-US">
                <a:latin typeface="Calibri"/>
                <a:ea typeface="Calibri"/>
                <a:cs typeface="Calibri"/>
              </a:rPr>
              <a:t> des </a:t>
            </a:r>
            <a:r>
              <a:rPr lang="en-US" err="1">
                <a:latin typeface="Calibri"/>
                <a:ea typeface="Calibri"/>
                <a:cs typeface="Calibri"/>
              </a:rPr>
              <a:t>mondes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parrallèles</a:t>
            </a:r>
            <a:r>
              <a:rPr lang="en-US">
                <a:latin typeface="Calibri"/>
                <a:ea typeface="Calibri"/>
                <a:cs typeface="Calibri"/>
              </a:rPr>
              <a:t> possibles.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451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Ici</a:t>
            </a:r>
            <a:r>
              <a:rPr lang="en-US">
                <a:latin typeface="Calibri"/>
                <a:ea typeface="Calibri"/>
                <a:cs typeface="Calibri"/>
              </a:rPr>
              <a:t> je </a:t>
            </a:r>
            <a:r>
              <a:rPr lang="en-US" err="1">
                <a:latin typeface="Calibri"/>
                <a:ea typeface="Calibri"/>
                <a:cs typeface="Calibri"/>
              </a:rPr>
              <a:t>n'ai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la face 1 qui est couverte </a:t>
            </a:r>
            <a:r>
              <a:rPr lang="en-US" err="1">
                <a:latin typeface="Calibri"/>
                <a:ea typeface="Calibri"/>
                <a:cs typeface="Calibri"/>
              </a:rPr>
              <a:t>d'eau</a:t>
            </a:r>
            <a:r>
              <a:rPr lang="en-US">
                <a:latin typeface="Calibri"/>
                <a:ea typeface="Calibri"/>
                <a:cs typeface="Calibri"/>
              </a:rPr>
              <a:t> (25%)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045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Ça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sont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toutes</a:t>
            </a:r>
            <a:r>
              <a:rPr lang="en-US">
                <a:latin typeface="Calibri"/>
                <a:ea typeface="Calibri"/>
                <a:cs typeface="Calibri"/>
              </a:rPr>
              <a:t> les </a:t>
            </a:r>
            <a:r>
              <a:rPr lang="en-US" err="1">
                <a:latin typeface="Calibri"/>
                <a:ea typeface="Calibri"/>
                <a:cs typeface="Calibri"/>
              </a:rPr>
              <a:t>possibilités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ce</a:t>
            </a:r>
            <a:r>
              <a:rPr lang="en-US">
                <a:latin typeface="Calibri"/>
                <a:ea typeface="Calibri"/>
                <a:cs typeface="Calibri"/>
              </a:rPr>
              <a:t> globe </a:t>
            </a:r>
            <a:r>
              <a:rPr lang="en-US" err="1">
                <a:latin typeface="Calibri"/>
                <a:ea typeface="Calibri"/>
                <a:cs typeface="Calibri"/>
              </a:rPr>
              <a:t>puisse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avoir</a:t>
            </a:r>
            <a:r>
              <a:rPr lang="en-US">
                <a:latin typeface="Calibri"/>
                <a:ea typeface="Calibri"/>
                <a:cs typeface="Calibri"/>
              </a:rPr>
              <a:t>. Je le </a:t>
            </a:r>
            <a:r>
              <a:rPr lang="en-US" err="1">
                <a:latin typeface="Calibri"/>
                <a:ea typeface="Calibri"/>
                <a:cs typeface="Calibri"/>
              </a:rPr>
              <a:t>jette</a:t>
            </a:r>
            <a:r>
              <a:rPr lang="en-US">
                <a:latin typeface="Calibri"/>
                <a:ea typeface="Calibri"/>
                <a:cs typeface="Calibri"/>
              </a:rPr>
              <a:t> trois </a:t>
            </a:r>
            <a:r>
              <a:rPr lang="en-US" err="1">
                <a:latin typeface="Calibri"/>
                <a:ea typeface="Calibri"/>
                <a:cs typeface="Calibri"/>
              </a:rPr>
              <a:t>fois</a:t>
            </a:r>
            <a:r>
              <a:rPr lang="en-US">
                <a:latin typeface="Calibri"/>
                <a:ea typeface="Calibri"/>
                <a:cs typeface="Calibri"/>
              </a:rPr>
              <a:t>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8484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DFEE-F264-F680-4D13-1342CFFB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740C60-B808-37EE-17C7-3241D55EE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467A5A6-2A26-FCE9-40B8-38778A451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J'observe</a:t>
            </a:r>
            <a:r>
              <a:rPr lang="en-US">
                <a:latin typeface="Calibri"/>
                <a:ea typeface="Calibri"/>
                <a:cs typeface="Calibri"/>
              </a:rPr>
              <a:t> 1 bleu, 1 </a:t>
            </a:r>
            <a:r>
              <a:rPr lang="en-US" err="1">
                <a:latin typeface="Calibri"/>
                <a:ea typeface="Calibri"/>
                <a:cs typeface="Calibri"/>
              </a:rPr>
              <a:t>blanc</a:t>
            </a:r>
            <a:r>
              <a:rPr lang="en-US">
                <a:latin typeface="Calibri"/>
                <a:ea typeface="Calibri"/>
                <a:cs typeface="Calibri"/>
              </a:rPr>
              <a:t> et 1 bleu.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4E193A-E116-E4CF-1AE5-6905E9348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6822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BCEE-4DB1-31C4-536D-83FC4768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50E23BA-90F0-A11F-290D-0900AE6AE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467250B-DDA1-08E8-3766-B8737C91A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On </a:t>
            </a:r>
            <a:r>
              <a:rPr lang="en-US" err="1">
                <a:latin typeface="Calibri"/>
                <a:ea typeface="Calibri"/>
                <a:cs typeface="Calibri"/>
              </a:rPr>
              <a:t>va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ici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s'intéresser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uniquement</a:t>
            </a:r>
            <a:r>
              <a:rPr lang="en-US">
                <a:latin typeface="Calibri"/>
                <a:ea typeface="Calibri"/>
                <a:cs typeface="Calibri"/>
              </a:rPr>
              <a:t> au </a:t>
            </a:r>
            <a:r>
              <a:rPr lang="en-US" err="1">
                <a:latin typeface="Calibri"/>
                <a:ea typeface="Calibri"/>
                <a:cs typeface="Calibri"/>
              </a:rPr>
              <a:t>cas</a:t>
            </a:r>
            <a:r>
              <a:rPr lang="en-US">
                <a:latin typeface="Calibri"/>
                <a:ea typeface="Calibri"/>
                <a:cs typeface="Calibri"/>
              </a:rPr>
              <a:t> 2 et on </a:t>
            </a:r>
            <a:r>
              <a:rPr lang="en-US" err="1">
                <a:latin typeface="Calibri"/>
                <a:ea typeface="Calibri"/>
                <a:cs typeface="Calibri"/>
              </a:rPr>
              <a:t>fera</a:t>
            </a:r>
            <a:r>
              <a:rPr lang="en-US">
                <a:latin typeface="Calibri"/>
                <a:ea typeface="Calibri"/>
                <a:cs typeface="Calibri"/>
              </a:rPr>
              <a:t> les </a:t>
            </a:r>
            <a:r>
              <a:rPr lang="en-US" err="1">
                <a:latin typeface="Calibri"/>
                <a:ea typeface="Calibri"/>
                <a:cs typeface="Calibri"/>
              </a:rPr>
              <a:t>autres</a:t>
            </a:r>
            <a:r>
              <a:rPr lang="en-US">
                <a:latin typeface="Calibri"/>
                <a:ea typeface="Calibri"/>
                <a:cs typeface="Calibri"/>
              </a:rPr>
              <a:t> ensuite.</a:t>
            </a:r>
          </a:p>
          <a:p>
            <a:r>
              <a:rPr lang="en-US" err="1">
                <a:latin typeface="Calibri"/>
                <a:ea typeface="Calibri"/>
                <a:cs typeface="Calibri"/>
              </a:rPr>
              <a:t>Supposons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2 </a:t>
            </a:r>
            <a:r>
              <a:rPr lang="en-US" err="1">
                <a:latin typeface="Calibri"/>
                <a:ea typeface="Calibri"/>
                <a:cs typeface="Calibri"/>
              </a:rPr>
              <a:t>soit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vrai</a:t>
            </a:r>
            <a:r>
              <a:rPr lang="en-US">
                <a:latin typeface="Calibri"/>
                <a:ea typeface="Calibri"/>
                <a:cs typeface="Calibri"/>
              </a:rPr>
              <a:t> : </a:t>
            </a:r>
            <a:r>
              <a:rPr lang="en-US" err="1">
                <a:latin typeface="Calibri"/>
                <a:ea typeface="Calibri"/>
                <a:cs typeface="Calibri"/>
              </a:rPr>
              <a:t>combien</a:t>
            </a:r>
            <a:r>
              <a:rPr lang="en-US">
                <a:latin typeface="Calibri"/>
                <a:ea typeface="Calibri"/>
                <a:cs typeface="Calibri"/>
              </a:rPr>
              <a:t> de chances </a:t>
            </a:r>
            <a:r>
              <a:rPr lang="en-US" err="1">
                <a:latin typeface="Calibri"/>
                <a:ea typeface="Calibri"/>
                <a:cs typeface="Calibri"/>
              </a:rPr>
              <a:t>avons</a:t>
            </a:r>
            <a:r>
              <a:rPr lang="en-US">
                <a:latin typeface="Calibri"/>
                <a:ea typeface="Calibri"/>
                <a:cs typeface="Calibri"/>
              </a:rPr>
              <a:t>- nous </a:t>
            </a:r>
            <a:r>
              <a:rPr lang="en-US" err="1">
                <a:latin typeface="Calibri"/>
                <a:ea typeface="Calibri"/>
                <a:cs typeface="Calibri"/>
              </a:rPr>
              <a:t>d'observer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qu'on</a:t>
            </a:r>
            <a:r>
              <a:rPr lang="en-US">
                <a:latin typeface="Calibri"/>
                <a:ea typeface="Calibri"/>
                <a:cs typeface="Calibri"/>
              </a:rPr>
              <a:t> observe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F5DE03-4327-4575-532F-93E0352D2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876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OK so what ? Et bien on arrive à </a:t>
            </a:r>
            <a:r>
              <a:rPr lang="en-US" err="1">
                <a:latin typeface="Calibri"/>
                <a:ea typeface="Calibri"/>
                <a:cs typeface="Calibri"/>
              </a:rPr>
              <a:t>ces</a:t>
            </a:r>
            <a:r>
              <a:rPr lang="en-US">
                <a:latin typeface="Calibri"/>
                <a:ea typeface="Calibri"/>
                <a:cs typeface="Calibri"/>
              </a:rPr>
              <a:t> trois chemins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l'on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pouvoir</a:t>
            </a:r>
            <a:r>
              <a:rPr lang="en-US">
                <a:latin typeface="Calibri"/>
                <a:ea typeface="Calibri"/>
                <a:cs typeface="Calibri"/>
              </a:rPr>
              <a:t> comparer aux chemins dans les </a:t>
            </a:r>
            <a:r>
              <a:rPr lang="en-US" err="1">
                <a:latin typeface="Calibri"/>
                <a:ea typeface="Calibri"/>
                <a:cs typeface="Calibri"/>
              </a:rPr>
              <a:t>autres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mondes</a:t>
            </a:r>
            <a:r>
              <a:rPr lang="en-US">
                <a:latin typeface="Calibri"/>
                <a:ea typeface="Calibri"/>
                <a:cs typeface="Calibri"/>
              </a:rPr>
              <a:t> possibles.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Le </a:t>
            </a:r>
            <a:r>
              <a:rPr lang="en-US" err="1">
                <a:latin typeface="Calibri"/>
                <a:ea typeface="Calibri"/>
                <a:cs typeface="Calibri"/>
              </a:rPr>
              <a:t>bayesian</a:t>
            </a:r>
            <a:r>
              <a:rPr lang="en-US">
                <a:latin typeface="Calibri"/>
                <a:ea typeface="Calibri"/>
                <a:cs typeface="Calibri"/>
              </a:rPr>
              <a:t> updating </a:t>
            </a:r>
            <a:r>
              <a:rPr lang="en-US" err="1">
                <a:latin typeface="Calibri"/>
                <a:ea typeface="Calibri"/>
                <a:cs typeface="Calibri"/>
              </a:rPr>
              <a:t>c'est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juste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regarder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combien</a:t>
            </a:r>
            <a:r>
              <a:rPr lang="en-US">
                <a:latin typeface="Calibri"/>
                <a:ea typeface="Calibri"/>
                <a:cs typeface="Calibri"/>
              </a:rPr>
              <a:t> de chemin </a:t>
            </a:r>
            <a:r>
              <a:rPr lang="en-US" err="1">
                <a:latin typeface="Calibri"/>
                <a:ea typeface="Calibri"/>
                <a:cs typeface="Calibri"/>
              </a:rPr>
              <a:t>s'ouvrent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ou</a:t>
            </a:r>
            <a:r>
              <a:rPr lang="en-US">
                <a:latin typeface="Calibri"/>
                <a:ea typeface="Calibri"/>
                <a:cs typeface="Calibri"/>
              </a:rPr>
              <a:t> se ferment a </a:t>
            </a:r>
            <a:r>
              <a:rPr lang="en-US" err="1">
                <a:latin typeface="Calibri"/>
                <a:ea typeface="Calibri"/>
                <a:cs typeface="Calibri"/>
              </a:rPr>
              <a:t>chaque</a:t>
            </a:r>
            <a:r>
              <a:rPr lang="en-US">
                <a:latin typeface="Calibri"/>
                <a:ea typeface="Calibri"/>
                <a:cs typeface="Calibri"/>
              </a:rPr>
              <a:t> lancer.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675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AA8F-2836-0BFD-CCCF-67A99FA54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6EA350-D9BD-1B58-4415-6935079D8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1AA467E-0DCB-7A52-DF51-B7A2194E8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OK so what ? Et bien on arrive à </a:t>
            </a:r>
            <a:r>
              <a:rPr lang="en-US" err="1">
                <a:latin typeface="Calibri"/>
                <a:ea typeface="Calibri"/>
                <a:cs typeface="Calibri"/>
              </a:rPr>
              <a:t>ces</a:t>
            </a:r>
            <a:r>
              <a:rPr lang="en-US">
                <a:latin typeface="Calibri"/>
                <a:ea typeface="Calibri"/>
                <a:cs typeface="Calibri"/>
              </a:rPr>
              <a:t> trois chemins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l'on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pouvoir</a:t>
            </a:r>
            <a:r>
              <a:rPr lang="en-US">
                <a:latin typeface="Calibri"/>
                <a:ea typeface="Calibri"/>
                <a:cs typeface="Calibri"/>
              </a:rPr>
              <a:t> comparer aux chemins dans les </a:t>
            </a:r>
            <a:r>
              <a:rPr lang="en-US" err="1">
                <a:latin typeface="Calibri"/>
                <a:ea typeface="Calibri"/>
                <a:cs typeface="Calibri"/>
              </a:rPr>
              <a:t>autres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mondes</a:t>
            </a:r>
            <a:r>
              <a:rPr lang="en-US">
                <a:latin typeface="Calibri"/>
                <a:ea typeface="Calibri"/>
                <a:cs typeface="Calibri"/>
              </a:rPr>
              <a:t> possibles.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Le </a:t>
            </a:r>
            <a:r>
              <a:rPr lang="en-US" err="1">
                <a:latin typeface="Calibri"/>
                <a:ea typeface="Calibri"/>
                <a:cs typeface="Calibri"/>
              </a:rPr>
              <a:t>bayesian</a:t>
            </a:r>
            <a:r>
              <a:rPr lang="en-US">
                <a:latin typeface="Calibri"/>
                <a:ea typeface="Calibri"/>
                <a:cs typeface="Calibri"/>
              </a:rPr>
              <a:t> updating </a:t>
            </a:r>
            <a:r>
              <a:rPr lang="en-US" err="1">
                <a:latin typeface="Calibri"/>
                <a:ea typeface="Calibri"/>
                <a:cs typeface="Calibri"/>
              </a:rPr>
              <a:t>c'est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juste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regarder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combien</a:t>
            </a:r>
            <a:r>
              <a:rPr lang="en-US">
                <a:latin typeface="Calibri"/>
                <a:ea typeface="Calibri"/>
                <a:cs typeface="Calibri"/>
              </a:rPr>
              <a:t> de chemin </a:t>
            </a:r>
            <a:r>
              <a:rPr lang="en-US" err="1">
                <a:latin typeface="Calibri"/>
                <a:ea typeface="Calibri"/>
                <a:cs typeface="Calibri"/>
              </a:rPr>
              <a:t>s'ouvrent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ou</a:t>
            </a:r>
            <a:r>
              <a:rPr lang="en-US">
                <a:latin typeface="Calibri"/>
                <a:ea typeface="Calibri"/>
                <a:cs typeface="Calibri"/>
              </a:rPr>
              <a:t> se ferment a </a:t>
            </a:r>
            <a:r>
              <a:rPr lang="en-US" err="1">
                <a:latin typeface="Calibri"/>
                <a:ea typeface="Calibri"/>
                <a:cs typeface="Calibri"/>
              </a:rPr>
              <a:t>chaque</a:t>
            </a:r>
            <a:r>
              <a:rPr lang="en-US">
                <a:latin typeface="Calibri"/>
                <a:ea typeface="Calibri"/>
                <a:cs typeface="Calibri"/>
              </a:rPr>
              <a:t> lancer.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F188C3-2A89-BF84-4EBB-FABA38279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120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Combien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possibilités</a:t>
            </a:r>
            <a:r>
              <a:rPr lang="en-US">
                <a:latin typeface="Calibri"/>
                <a:ea typeface="Calibri"/>
                <a:cs typeface="Calibri"/>
              </a:rPr>
              <a:t> ? 8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792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5D994-CA4E-5F1D-AE74-221ECD0F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A8D18FB-94B3-0AAB-E7FC-115612909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3568A66-F8D5-8E82-5FAD-F4AA8B6D2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F10855-93F2-2E6B-3DE8-65E43B62D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1554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61AC1-7011-0993-221C-14FF0B84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C0B417-259A-51E8-4397-6E5E25408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FB91F8E-1A62-469A-4A27-16A1E04CA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5D619A-1114-7DC4-BC67-B20950682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02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B5131-3C21-FA29-C4C2-83D556D7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0DA9D9-8242-2AE6-FBB9-7E157F9A5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C684AA5-5660-59EC-4373-8906396AF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AAA20E-759E-6EF1-E61D-236E4086A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9857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ABEE-D129-652E-FFE5-A8EED6C61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BECA70F-02BF-3F01-D79D-3DDC1EF60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EA7F027-DB9B-2EF7-FD93-E4D4380A1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Combien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possibilités</a:t>
            </a:r>
            <a:r>
              <a:rPr lang="en-US">
                <a:latin typeface="Calibri"/>
                <a:ea typeface="Calibri"/>
                <a:cs typeface="Calibri"/>
              </a:rPr>
              <a:t> ? 9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54929D-2A35-C918-EC1F-CA0A1CC49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9337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Ce </a:t>
            </a:r>
            <a:r>
              <a:rPr lang="en-US" err="1">
                <a:latin typeface="Calibri"/>
                <a:ea typeface="Calibri"/>
                <a:cs typeface="Calibri"/>
              </a:rPr>
              <a:t>sont</a:t>
            </a:r>
            <a:r>
              <a:rPr lang="en-US">
                <a:latin typeface="Calibri"/>
                <a:ea typeface="Calibri"/>
                <a:cs typeface="Calibri"/>
              </a:rPr>
              <a:t> les </a:t>
            </a:r>
            <a:r>
              <a:rPr lang="en-US" err="1">
                <a:latin typeface="Calibri"/>
                <a:ea typeface="Calibri"/>
                <a:cs typeface="Calibri"/>
              </a:rPr>
              <a:t>plausibilités</a:t>
            </a:r>
            <a:r>
              <a:rPr lang="en-US">
                <a:latin typeface="Calibri"/>
                <a:ea typeface="Calibri"/>
                <a:cs typeface="Calibri"/>
              </a:rPr>
              <a:t> relatives de </a:t>
            </a:r>
            <a:r>
              <a:rPr lang="en-US" err="1">
                <a:latin typeface="Calibri"/>
                <a:ea typeface="Calibri"/>
                <a:cs typeface="Calibri"/>
              </a:rPr>
              <a:t>chaque</a:t>
            </a:r>
            <a:r>
              <a:rPr lang="en-US">
                <a:latin typeface="Calibri"/>
                <a:ea typeface="Calibri"/>
                <a:cs typeface="Calibri"/>
              </a:rPr>
              <a:t> globes. Ce </a:t>
            </a:r>
            <a:r>
              <a:rPr lang="en-US" err="1">
                <a:latin typeface="Calibri"/>
                <a:ea typeface="Calibri"/>
                <a:cs typeface="Calibri"/>
              </a:rPr>
              <a:t>sont</a:t>
            </a:r>
            <a:r>
              <a:rPr lang="en-US">
                <a:latin typeface="Calibri"/>
                <a:ea typeface="Calibri"/>
                <a:cs typeface="Calibri"/>
              </a:rPr>
              <a:t> des estimates.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67078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02E8-F9DA-0ADE-E785-39D5C926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09FE24-5F97-EDE0-28AB-7219B18EC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1756B55-1269-4B26-B408-1465B63BA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Ce </a:t>
            </a:r>
            <a:r>
              <a:rPr lang="en-US" err="1">
                <a:latin typeface="Calibri"/>
                <a:ea typeface="Calibri"/>
                <a:cs typeface="Calibri"/>
              </a:rPr>
              <a:t>sont</a:t>
            </a:r>
            <a:r>
              <a:rPr lang="en-US">
                <a:latin typeface="Calibri"/>
                <a:ea typeface="Calibri"/>
                <a:cs typeface="Calibri"/>
              </a:rPr>
              <a:t> les </a:t>
            </a:r>
            <a:r>
              <a:rPr lang="en-US" err="1">
                <a:latin typeface="Calibri"/>
                <a:ea typeface="Calibri"/>
                <a:cs typeface="Calibri"/>
              </a:rPr>
              <a:t>plausibilités</a:t>
            </a:r>
            <a:r>
              <a:rPr lang="en-US">
                <a:latin typeface="Calibri"/>
                <a:ea typeface="Calibri"/>
                <a:cs typeface="Calibri"/>
              </a:rPr>
              <a:t> relatives de </a:t>
            </a:r>
            <a:r>
              <a:rPr lang="en-US" err="1">
                <a:latin typeface="Calibri"/>
                <a:ea typeface="Calibri"/>
                <a:cs typeface="Calibri"/>
              </a:rPr>
              <a:t>chaque</a:t>
            </a:r>
            <a:r>
              <a:rPr lang="en-US">
                <a:latin typeface="Calibri"/>
                <a:ea typeface="Calibri"/>
                <a:cs typeface="Calibri"/>
              </a:rPr>
              <a:t> globes. Ce </a:t>
            </a:r>
            <a:r>
              <a:rPr lang="en-US" err="1">
                <a:latin typeface="Calibri"/>
                <a:ea typeface="Calibri"/>
                <a:cs typeface="Calibri"/>
              </a:rPr>
              <a:t>sont</a:t>
            </a:r>
            <a:r>
              <a:rPr lang="en-US">
                <a:latin typeface="Calibri"/>
                <a:ea typeface="Calibri"/>
                <a:cs typeface="Calibri"/>
              </a:rPr>
              <a:t> des estimates.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907607-079B-2BF3-DBC7-8B9BB87EA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475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 What is the average difference between treatment groups?•  How strong is the association between a treatment and an outcome?•  Does the effect of the treatment depend upon a covariate?•  How much variation is there among groups?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3633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nombre relatif de façon de produire les données selon chaque séquence possible qui peuvent apparaitre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672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Au lieu de </a:t>
            </a:r>
            <a:r>
              <a:rPr lang="en-US" err="1">
                <a:latin typeface="Calibri"/>
                <a:ea typeface="Calibri"/>
                <a:cs typeface="Calibri"/>
              </a:rPr>
              <a:t>compter</a:t>
            </a:r>
            <a:r>
              <a:rPr lang="en-US">
                <a:latin typeface="Calibri"/>
                <a:ea typeface="Calibri"/>
                <a:cs typeface="Calibri"/>
              </a:rPr>
              <a:t>, on </a:t>
            </a:r>
            <a:r>
              <a:rPr lang="en-US" err="1">
                <a:latin typeface="Calibri"/>
                <a:ea typeface="Calibri"/>
                <a:cs typeface="Calibri"/>
              </a:rPr>
              <a:t>peut</a:t>
            </a:r>
            <a:r>
              <a:rPr lang="en-US">
                <a:latin typeface="Calibri"/>
                <a:ea typeface="Calibri"/>
                <a:cs typeface="Calibri"/>
              </a:rPr>
              <a:t> multiplier </a:t>
            </a:r>
            <a:r>
              <a:rPr lang="en-US" err="1">
                <a:latin typeface="Calibri"/>
                <a:ea typeface="Calibri"/>
                <a:cs typeface="Calibri"/>
              </a:rPr>
              <a:t>ce</a:t>
            </a:r>
            <a:r>
              <a:rPr lang="en-US">
                <a:latin typeface="Calibri"/>
                <a:ea typeface="Calibri"/>
                <a:cs typeface="Calibri"/>
              </a:rPr>
              <a:t> qui a des </a:t>
            </a:r>
            <a:r>
              <a:rPr lang="en-US" err="1">
                <a:latin typeface="Calibri"/>
                <a:ea typeface="Calibri"/>
                <a:cs typeface="Calibri"/>
              </a:rPr>
              <a:t>tonnes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d'avantages</a:t>
            </a:r>
            <a:r>
              <a:rPr lang="en-US">
                <a:latin typeface="Calibri"/>
                <a:ea typeface="Calibri"/>
                <a:cs typeface="Calibri"/>
              </a:rPr>
              <a:t> au </a:t>
            </a:r>
            <a:r>
              <a:rPr lang="en-US" err="1">
                <a:latin typeface="Calibri"/>
                <a:ea typeface="Calibri"/>
                <a:cs typeface="Calibri"/>
              </a:rPr>
              <a:t>niveau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l'ordinateur</a:t>
            </a:r>
            <a:r>
              <a:rPr lang="en-US">
                <a:latin typeface="Calibri"/>
                <a:ea typeface="Calibri"/>
                <a:cs typeface="Calibri"/>
              </a:rPr>
              <a:t>. Est-</a:t>
            </a:r>
            <a:r>
              <a:rPr lang="en-US" err="1">
                <a:latin typeface="Calibri"/>
                <a:ea typeface="Calibri"/>
                <a:cs typeface="Calibri"/>
              </a:rPr>
              <a:t>ce</a:t>
            </a:r>
            <a:r>
              <a:rPr lang="en-US">
                <a:latin typeface="Calibri"/>
                <a:ea typeface="Calibri"/>
                <a:cs typeface="Calibri"/>
              </a:rPr>
              <a:t>-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vous </a:t>
            </a:r>
            <a:r>
              <a:rPr lang="en-US" err="1">
                <a:latin typeface="Calibri"/>
                <a:ea typeface="Calibri"/>
                <a:cs typeface="Calibri"/>
              </a:rPr>
              <a:t>voyez</a:t>
            </a:r>
            <a:r>
              <a:rPr lang="en-US">
                <a:latin typeface="Calibri"/>
                <a:ea typeface="Calibri"/>
                <a:cs typeface="Calibri"/>
              </a:rPr>
              <a:t> un </a:t>
            </a:r>
            <a:r>
              <a:rPr lang="en-US" err="1">
                <a:latin typeface="Calibri"/>
                <a:ea typeface="Calibri"/>
                <a:cs typeface="Calibri"/>
              </a:rPr>
              <a:t>avantage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considérable</a:t>
            </a:r>
            <a:r>
              <a:rPr lang="en-US">
                <a:latin typeface="Calibri"/>
                <a:ea typeface="Calibri"/>
                <a:cs typeface="Calibri"/>
              </a:rPr>
              <a:t> pour du </a:t>
            </a:r>
            <a:r>
              <a:rPr lang="en-US" err="1">
                <a:latin typeface="Calibri"/>
                <a:ea typeface="Calibri"/>
                <a:cs typeface="Calibri"/>
              </a:rPr>
              <a:t>bayésien</a:t>
            </a:r>
            <a:r>
              <a:rPr lang="en-US">
                <a:latin typeface="Calibri"/>
                <a:ea typeface="Calibri"/>
                <a:cs typeface="Calibri"/>
              </a:rPr>
              <a:t> ?</a:t>
            </a:r>
          </a:p>
          <a:p>
            <a:r>
              <a:rPr lang="en-US" err="1">
                <a:latin typeface="Calibri"/>
                <a:ea typeface="Calibri"/>
                <a:cs typeface="Calibri"/>
              </a:rPr>
              <a:t>C'est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plus on </a:t>
            </a:r>
            <a:r>
              <a:rPr lang="en-US" err="1">
                <a:latin typeface="Calibri"/>
                <a:ea typeface="Calibri"/>
                <a:cs typeface="Calibri"/>
              </a:rPr>
              <a:t>va</a:t>
            </a:r>
            <a:r>
              <a:rPr lang="en-US">
                <a:latin typeface="Calibri"/>
                <a:ea typeface="Calibri"/>
                <a:cs typeface="Calibri"/>
              </a:rPr>
              <a:t> faire </a:t>
            </a:r>
            <a:r>
              <a:rPr lang="en-US" err="1">
                <a:latin typeface="Calibri"/>
                <a:ea typeface="Calibri"/>
                <a:cs typeface="Calibri"/>
              </a:rPr>
              <a:t>fleurir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jardin</a:t>
            </a:r>
            <a:r>
              <a:rPr lang="en-US">
                <a:latin typeface="Calibri"/>
                <a:ea typeface="Calibri"/>
                <a:cs typeface="Calibri"/>
              </a:rPr>
              <a:t>, plus </a:t>
            </a:r>
            <a:r>
              <a:rPr lang="en-US" err="1">
                <a:latin typeface="Calibri"/>
                <a:ea typeface="Calibri"/>
                <a:cs typeface="Calibri"/>
              </a:rPr>
              <a:t>compter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être</a:t>
            </a:r>
            <a:r>
              <a:rPr lang="en-US">
                <a:latin typeface="Calibri"/>
                <a:ea typeface="Calibri"/>
                <a:cs typeface="Calibri"/>
              </a:rPr>
              <a:t> long et difficile. Alors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multiplier </a:t>
            </a:r>
            <a:r>
              <a:rPr lang="en-US" err="1">
                <a:latin typeface="Calibri"/>
                <a:ea typeface="Calibri"/>
                <a:cs typeface="Calibri"/>
              </a:rPr>
              <a:t>ça</a:t>
            </a:r>
            <a:r>
              <a:rPr lang="en-US">
                <a:latin typeface="Calibri"/>
                <a:ea typeface="Calibri"/>
                <a:cs typeface="Calibri"/>
              </a:rPr>
              <a:t> ne change rien.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33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86802-11CE-7199-F36D-D7C40715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DAF345F-8260-E30C-A1D1-795444FDA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E0CDC6E-2944-47A7-8119-2ADA2E295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4B67E6-BD5C-2FF0-0E33-6A44A2BDC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9166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Exponentiate : </a:t>
            </a:r>
            <a:r>
              <a:rPr lang="en-US" err="1">
                <a:latin typeface="Calibri"/>
                <a:ea typeface="Calibri"/>
                <a:cs typeface="Calibri"/>
              </a:rPr>
              <a:t>c'est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juste</a:t>
            </a:r>
            <a:r>
              <a:rPr lang="en-US">
                <a:latin typeface="Calibri"/>
                <a:ea typeface="Calibri"/>
                <a:cs typeface="Calibri"/>
              </a:rPr>
              <a:t> multiplier par le </a:t>
            </a:r>
            <a:r>
              <a:rPr lang="en-US" err="1">
                <a:latin typeface="Calibri"/>
                <a:ea typeface="Calibri"/>
                <a:cs typeface="Calibri"/>
              </a:rPr>
              <a:t>nombre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fois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qu'on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voit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l'eau</a:t>
            </a:r>
            <a:r>
              <a:rPr lang="en-US">
                <a:latin typeface="Calibri"/>
                <a:ea typeface="Calibri"/>
                <a:cs typeface="Calibri"/>
              </a:rPr>
              <a:t> (6) </a:t>
            </a:r>
            <a:r>
              <a:rPr lang="en-US" err="1">
                <a:latin typeface="Calibri"/>
                <a:ea typeface="Calibri"/>
                <a:cs typeface="Calibri"/>
              </a:rPr>
              <a:t>ou</a:t>
            </a:r>
            <a:r>
              <a:rPr lang="en-US">
                <a:latin typeface="Calibri"/>
                <a:ea typeface="Calibri"/>
                <a:cs typeface="Calibri"/>
              </a:rPr>
              <a:t> de la terre (4)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0 </a:t>
            </a:r>
            <a:r>
              <a:rPr lang="en-US" err="1">
                <a:latin typeface="Calibri"/>
                <a:ea typeface="Calibri"/>
                <a:cs typeface="Calibri"/>
              </a:rPr>
              <a:t>c'est</a:t>
            </a:r>
            <a:r>
              <a:rPr lang="en-US">
                <a:latin typeface="Calibri"/>
                <a:ea typeface="Calibri"/>
                <a:cs typeface="Calibri"/>
              </a:rPr>
              <a:t> le </a:t>
            </a:r>
            <a:r>
              <a:rPr lang="en-US" err="1">
                <a:latin typeface="Calibri"/>
                <a:ea typeface="Calibri"/>
                <a:cs typeface="Calibri"/>
              </a:rPr>
              <a:t>nombre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d'eau</a:t>
            </a:r>
            <a:r>
              <a:rPr lang="en-US">
                <a:latin typeface="Calibri"/>
                <a:ea typeface="Calibri"/>
                <a:cs typeface="Calibri"/>
              </a:rPr>
              <a:t> dans les possibilities et 4 le </a:t>
            </a:r>
            <a:r>
              <a:rPr lang="en-US" err="1">
                <a:latin typeface="Calibri"/>
                <a:ea typeface="Calibri"/>
                <a:cs typeface="Calibri"/>
              </a:rPr>
              <a:t>nombre</a:t>
            </a:r>
            <a:r>
              <a:rPr lang="en-US">
                <a:latin typeface="Calibri"/>
                <a:ea typeface="Calibri"/>
                <a:cs typeface="Calibri"/>
              </a:rPr>
              <a:t> de terre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7144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889EE-E917-514C-7256-E0F91A424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65EC781-49A8-92DB-783C-54B95BBE6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935CE5-05BA-0038-3881-1EB0B6410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Et </a:t>
            </a:r>
            <a:r>
              <a:rPr lang="en-US" err="1">
                <a:latin typeface="Calibri"/>
                <a:ea typeface="Calibri"/>
                <a:cs typeface="Calibri"/>
              </a:rPr>
              <a:t>donc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fait il </a:t>
            </a:r>
            <a:r>
              <a:rPr lang="en-US" err="1">
                <a:latin typeface="Calibri"/>
                <a:ea typeface="Calibri"/>
                <a:cs typeface="Calibri"/>
              </a:rPr>
              <a:t>suffit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mettre</a:t>
            </a:r>
            <a:r>
              <a:rPr lang="en-US">
                <a:latin typeface="Calibri"/>
                <a:ea typeface="Calibri"/>
                <a:cs typeface="Calibri"/>
              </a:rPr>
              <a:t> les </a:t>
            </a:r>
            <a:r>
              <a:rPr lang="en-US" err="1">
                <a:latin typeface="Calibri"/>
                <a:ea typeface="Calibri"/>
                <a:cs typeface="Calibri"/>
              </a:rPr>
              <a:t>possibilités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multiplication avec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exponentielle</a:t>
            </a:r>
            <a:r>
              <a:rPr lang="en-US">
                <a:latin typeface="Calibri"/>
                <a:ea typeface="Calibri"/>
                <a:cs typeface="Calibri"/>
              </a:rPr>
              <a:t> le </a:t>
            </a:r>
            <a:r>
              <a:rPr lang="en-US" err="1">
                <a:latin typeface="Calibri"/>
                <a:ea typeface="Calibri"/>
                <a:cs typeface="Calibri"/>
              </a:rPr>
              <a:t>nombre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d'observation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associé</a:t>
            </a:r>
            <a:r>
              <a:rPr lang="en-US">
                <a:latin typeface="Calibri"/>
                <a:ea typeface="Calibri"/>
                <a:cs typeface="Calibri"/>
              </a:rPr>
              <a:t> et </a:t>
            </a:r>
            <a:r>
              <a:rPr lang="en-US" err="1">
                <a:latin typeface="Calibri"/>
                <a:ea typeface="Calibri"/>
                <a:cs typeface="Calibri"/>
              </a:rPr>
              <a:t>ça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donne</a:t>
            </a:r>
            <a:r>
              <a:rPr lang="en-US">
                <a:latin typeface="Calibri"/>
                <a:ea typeface="Calibri"/>
                <a:cs typeface="Calibri"/>
              </a:rPr>
              <a:t> le </a:t>
            </a:r>
            <a:r>
              <a:rPr lang="en-US" err="1">
                <a:latin typeface="Calibri"/>
                <a:ea typeface="Calibri"/>
                <a:cs typeface="Calibri"/>
              </a:rPr>
              <a:t>compte</a:t>
            </a:r>
            <a:r>
              <a:rPr lang="en-US">
                <a:latin typeface="Calibri"/>
                <a:ea typeface="Calibri"/>
                <a:cs typeface="Calibri"/>
              </a:rPr>
              <a:t> total, </a:t>
            </a:r>
            <a:r>
              <a:rPr lang="en-US" err="1">
                <a:latin typeface="Calibri"/>
                <a:ea typeface="Calibri"/>
                <a:cs typeface="Calibri"/>
              </a:rPr>
              <a:t>donc</a:t>
            </a:r>
            <a:r>
              <a:rPr lang="en-US">
                <a:latin typeface="Calibri"/>
                <a:ea typeface="Calibri"/>
                <a:cs typeface="Calibri"/>
              </a:rPr>
              <a:t> 0 27 512 729 0.</a:t>
            </a:r>
            <a:endParaRPr lang="fr-FR">
              <a:latin typeface="Arial"/>
              <a:ea typeface="Calibri"/>
              <a:cs typeface="Arial"/>
            </a:endParaRPr>
          </a:p>
          <a:p>
            <a:r>
              <a:rPr lang="en-US" err="1">
                <a:latin typeface="Calibri"/>
                <a:ea typeface="Calibri"/>
                <a:cs typeface="Calibri"/>
              </a:rPr>
              <a:t>C'est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juste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ça</a:t>
            </a:r>
            <a:r>
              <a:rPr lang="en-US">
                <a:latin typeface="Calibri"/>
                <a:ea typeface="Calibri"/>
                <a:cs typeface="Calibri"/>
              </a:rPr>
              <a:t> le "</a:t>
            </a:r>
            <a:r>
              <a:rPr lang="en-US" err="1">
                <a:latin typeface="Calibri"/>
                <a:ea typeface="Calibri"/>
                <a:cs typeface="Calibri"/>
              </a:rPr>
              <a:t>bayesian</a:t>
            </a:r>
            <a:r>
              <a:rPr lang="en-US">
                <a:latin typeface="Calibri"/>
                <a:ea typeface="Calibri"/>
                <a:cs typeface="Calibri"/>
              </a:rPr>
              <a:t> updating".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02E563-5A9F-422F-1071-22B59A9A8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3231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Donc</a:t>
            </a:r>
            <a:r>
              <a:rPr lang="en-US">
                <a:latin typeface="Calibri"/>
                <a:ea typeface="Calibri"/>
                <a:cs typeface="Calibri"/>
              </a:rPr>
              <a:t> 0 et 1 </a:t>
            </a:r>
            <a:r>
              <a:rPr lang="en-US" err="1">
                <a:latin typeface="Calibri"/>
                <a:ea typeface="Calibri"/>
                <a:cs typeface="Calibri"/>
              </a:rPr>
              <a:t>c'est</a:t>
            </a:r>
            <a:r>
              <a:rPr lang="en-US">
                <a:latin typeface="Calibri"/>
                <a:ea typeface="Calibri"/>
                <a:cs typeface="Calibri"/>
              </a:rPr>
              <a:t> impossible, par </a:t>
            </a:r>
            <a:r>
              <a:rPr lang="en-US" err="1">
                <a:latin typeface="Calibri"/>
                <a:ea typeface="Calibri"/>
                <a:cs typeface="Calibri"/>
              </a:rPr>
              <a:t>contre</a:t>
            </a:r>
            <a:r>
              <a:rPr lang="en-US">
                <a:latin typeface="Calibri"/>
                <a:ea typeface="Calibri"/>
                <a:cs typeface="Calibri"/>
              </a:rPr>
              <a:t> 0.25, 0.5 et 0.75 </a:t>
            </a:r>
            <a:r>
              <a:rPr lang="en-US" err="1">
                <a:latin typeface="Calibri"/>
                <a:ea typeface="Calibri"/>
                <a:cs typeface="Calibri"/>
              </a:rPr>
              <a:t>si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mais</a:t>
            </a:r>
            <a:r>
              <a:rPr lang="en-US">
                <a:latin typeface="Calibri"/>
                <a:ea typeface="Calibri"/>
                <a:cs typeface="Calibri"/>
              </a:rPr>
              <a:t> 0.25 on y </a:t>
            </a:r>
            <a:r>
              <a:rPr lang="en-US" err="1">
                <a:latin typeface="Calibri"/>
                <a:ea typeface="Calibri"/>
                <a:cs typeface="Calibri"/>
              </a:rPr>
              <a:t>croit</a:t>
            </a:r>
            <a:r>
              <a:rPr lang="en-US">
                <a:latin typeface="Calibri"/>
                <a:ea typeface="Calibri"/>
                <a:cs typeface="Calibri"/>
              </a:rPr>
              <a:t> pas trop (la proportion </a:t>
            </a:r>
            <a:r>
              <a:rPr lang="en-US" err="1">
                <a:latin typeface="Calibri"/>
                <a:ea typeface="Calibri"/>
                <a:cs typeface="Calibri"/>
              </a:rPr>
              <a:t>exacte</a:t>
            </a:r>
            <a:r>
              <a:rPr lang="en-US">
                <a:latin typeface="Calibri"/>
                <a:ea typeface="Calibri"/>
                <a:cs typeface="Calibri"/>
              </a:rPr>
              <a:t> est 0.71).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07633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D9B72-96D4-9420-93F6-4954BD24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759FE4C-CB99-FBAB-4D47-1188D46D4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17F0720-555F-DA17-8FD1-E86F4A7DA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Comment on passe de 4 faces à la terre </a:t>
            </a:r>
            <a:r>
              <a:rPr lang="en-US" err="1">
                <a:latin typeface="Calibri"/>
                <a:ea typeface="Calibri"/>
                <a:cs typeface="Calibri"/>
              </a:rPr>
              <a:t>entière</a:t>
            </a:r>
            <a:r>
              <a:rPr lang="en-US">
                <a:latin typeface="Calibri"/>
                <a:ea typeface="Calibri"/>
                <a:cs typeface="Calibri"/>
              </a:rPr>
              <a:t> ? On a </a:t>
            </a:r>
            <a:r>
              <a:rPr lang="en-US" err="1">
                <a:latin typeface="Calibri"/>
                <a:ea typeface="Calibri"/>
                <a:cs typeface="Calibri"/>
              </a:rPr>
              <a:t>largement</a:t>
            </a:r>
            <a:r>
              <a:rPr lang="en-US">
                <a:latin typeface="Calibri"/>
                <a:ea typeface="Calibri"/>
                <a:cs typeface="Calibri"/>
              </a:rPr>
              <a:t> plus de </a:t>
            </a:r>
            <a:r>
              <a:rPr lang="en-US" err="1">
                <a:latin typeface="Calibri"/>
                <a:ea typeface="Calibri"/>
                <a:cs typeface="Calibri"/>
              </a:rPr>
              <a:t>valeurs</a:t>
            </a:r>
            <a:r>
              <a:rPr lang="en-US">
                <a:latin typeface="Calibri"/>
                <a:ea typeface="Calibri"/>
                <a:cs typeface="Calibri"/>
              </a:rPr>
              <a:t> possibles 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9528F0-9D56-1041-B265-E7C0923D7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2411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B5977-B0D5-7ABE-AA52-66C5C1DF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5E93A0E-3570-900F-06F6-92EF50D23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97295E2-ADFC-7B45-B5FD-73C9EF70C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Comment on passe de 4 faces à la terre </a:t>
            </a:r>
            <a:r>
              <a:rPr lang="en-US" err="1">
                <a:latin typeface="Calibri"/>
                <a:ea typeface="Calibri"/>
                <a:cs typeface="Calibri"/>
              </a:rPr>
              <a:t>entière</a:t>
            </a:r>
            <a:r>
              <a:rPr lang="en-US">
                <a:latin typeface="Calibri"/>
                <a:ea typeface="Calibri"/>
                <a:cs typeface="Calibri"/>
              </a:rPr>
              <a:t> ? On a </a:t>
            </a:r>
            <a:r>
              <a:rPr lang="en-US" err="1">
                <a:latin typeface="Calibri"/>
                <a:ea typeface="Calibri"/>
                <a:cs typeface="Calibri"/>
              </a:rPr>
              <a:t>largement</a:t>
            </a:r>
            <a:r>
              <a:rPr lang="en-US">
                <a:latin typeface="Calibri"/>
                <a:ea typeface="Calibri"/>
                <a:cs typeface="Calibri"/>
              </a:rPr>
              <a:t> plus de </a:t>
            </a:r>
            <a:r>
              <a:rPr lang="en-US" err="1">
                <a:latin typeface="Calibri"/>
                <a:ea typeface="Calibri"/>
                <a:cs typeface="Calibri"/>
              </a:rPr>
              <a:t>valeurs</a:t>
            </a:r>
            <a:r>
              <a:rPr lang="en-US">
                <a:latin typeface="Calibri"/>
                <a:ea typeface="Calibri"/>
                <a:cs typeface="Calibri"/>
              </a:rPr>
              <a:t> possibles 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8BEB32-DD77-B021-C600-D917BB0DC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92296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F02B5-8875-9FFB-DE0D-D99BE4931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922044-16BF-8F7A-E476-78D08A18A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17865F4-AD32-49CF-9617-0C992CA3B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Comment on passe de 4 faces à la terre </a:t>
            </a:r>
            <a:r>
              <a:rPr lang="en-US" err="1">
                <a:latin typeface="Calibri"/>
                <a:ea typeface="Calibri"/>
                <a:cs typeface="Calibri"/>
              </a:rPr>
              <a:t>entière</a:t>
            </a:r>
            <a:r>
              <a:rPr lang="en-US">
                <a:latin typeface="Calibri"/>
                <a:ea typeface="Calibri"/>
                <a:cs typeface="Calibri"/>
              </a:rPr>
              <a:t> ? On a </a:t>
            </a:r>
            <a:r>
              <a:rPr lang="en-US" err="1">
                <a:latin typeface="Calibri"/>
                <a:ea typeface="Calibri"/>
                <a:cs typeface="Calibri"/>
              </a:rPr>
              <a:t>largement</a:t>
            </a:r>
            <a:r>
              <a:rPr lang="en-US">
                <a:latin typeface="Calibri"/>
                <a:ea typeface="Calibri"/>
                <a:cs typeface="Calibri"/>
              </a:rPr>
              <a:t> plus de </a:t>
            </a:r>
            <a:r>
              <a:rPr lang="en-US" err="1">
                <a:latin typeface="Calibri"/>
                <a:ea typeface="Calibri"/>
                <a:cs typeface="Calibri"/>
              </a:rPr>
              <a:t>valeurs</a:t>
            </a:r>
            <a:r>
              <a:rPr lang="en-US">
                <a:latin typeface="Calibri"/>
                <a:ea typeface="Calibri"/>
                <a:cs typeface="Calibri"/>
              </a:rPr>
              <a:t> possibles 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31F98C-5D60-F480-70DF-B108A2277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19645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1C97-75C0-88CD-D9D6-A76BD912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D073747-2DCF-B86F-94CC-68A2419C7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F0FDC9C-CD7B-9332-F4F4-6CFA71C12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Comment on passe de 4 faces à la terre </a:t>
            </a:r>
            <a:r>
              <a:rPr lang="en-US" err="1">
                <a:latin typeface="Calibri"/>
                <a:ea typeface="Calibri"/>
                <a:cs typeface="Calibri"/>
              </a:rPr>
              <a:t>entière</a:t>
            </a:r>
            <a:r>
              <a:rPr lang="en-US">
                <a:latin typeface="Calibri"/>
                <a:ea typeface="Calibri"/>
                <a:cs typeface="Calibri"/>
              </a:rPr>
              <a:t> ? On a </a:t>
            </a:r>
            <a:r>
              <a:rPr lang="en-US" err="1">
                <a:latin typeface="Calibri"/>
                <a:ea typeface="Calibri"/>
                <a:cs typeface="Calibri"/>
              </a:rPr>
              <a:t>largement</a:t>
            </a:r>
            <a:r>
              <a:rPr lang="en-US">
                <a:latin typeface="Calibri"/>
                <a:ea typeface="Calibri"/>
                <a:cs typeface="Calibri"/>
              </a:rPr>
              <a:t> plus de </a:t>
            </a:r>
            <a:r>
              <a:rPr lang="en-US" err="1">
                <a:latin typeface="Calibri"/>
                <a:ea typeface="Calibri"/>
                <a:cs typeface="Calibri"/>
              </a:rPr>
              <a:t>valeurs</a:t>
            </a:r>
            <a:r>
              <a:rPr lang="en-US">
                <a:latin typeface="Calibri"/>
                <a:ea typeface="Calibri"/>
                <a:cs typeface="Calibri"/>
              </a:rPr>
              <a:t> possibles 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054226-6557-D6E6-36A8-399744906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9372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8C61C-A42C-7401-8662-099C8AB0B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9F8C799-3EF1-0E84-10BC-4A65DA8BA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CF5F05-BE3F-637B-17E6-464F00A7C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La </a:t>
            </a:r>
            <a:r>
              <a:rPr lang="en-US" err="1">
                <a:latin typeface="Calibri"/>
                <a:ea typeface="Calibri"/>
                <a:cs typeface="Calibri"/>
              </a:rPr>
              <a:t>probabilité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postérieur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n'importe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quel</a:t>
            </a:r>
            <a:r>
              <a:rPr lang="en-US">
                <a:latin typeface="Calibri"/>
                <a:ea typeface="Calibri"/>
                <a:cs typeface="Calibri"/>
              </a:rPr>
              <a:t> "</a:t>
            </a:r>
            <a:r>
              <a:rPr lang="en-US" err="1">
                <a:latin typeface="Calibri"/>
                <a:ea typeface="Calibri"/>
                <a:cs typeface="Calibri"/>
              </a:rPr>
              <a:t>coté</a:t>
            </a:r>
            <a:r>
              <a:rPr lang="en-US">
                <a:latin typeface="Calibri"/>
                <a:ea typeface="Calibri"/>
                <a:cs typeface="Calibri"/>
              </a:rPr>
              <a:t>" p est </a:t>
            </a:r>
            <a:r>
              <a:rPr lang="en-US" err="1">
                <a:latin typeface="Calibri"/>
                <a:ea typeface="Calibri"/>
                <a:cs typeface="Calibri"/>
              </a:rPr>
              <a:t>proportionnel</a:t>
            </a:r>
            <a:r>
              <a:rPr lang="en-US">
                <a:latin typeface="Calibri"/>
                <a:ea typeface="Calibri"/>
                <a:cs typeface="Calibri"/>
              </a:rPr>
              <a:t> à :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err="1">
                <a:latin typeface="Calibri"/>
                <a:ea typeface="Calibri"/>
                <a:cs typeface="Calibri"/>
              </a:rPr>
              <a:t>Ici</a:t>
            </a:r>
            <a:r>
              <a:rPr lang="en-US">
                <a:latin typeface="Calibri"/>
                <a:ea typeface="Calibri"/>
                <a:cs typeface="Calibri"/>
              </a:rPr>
              <a:t> p = 4, w est observation de w et L observation de L. ATTENTION : </a:t>
            </a:r>
            <a:r>
              <a:rPr lang="en-US" err="1">
                <a:latin typeface="Calibri"/>
                <a:ea typeface="Calibri"/>
                <a:cs typeface="Calibri"/>
              </a:rPr>
              <a:t>c'est</a:t>
            </a:r>
            <a:r>
              <a:rPr lang="en-US">
                <a:latin typeface="Calibri"/>
                <a:ea typeface="Calibri"/>
                <a:cs typeface="Calibri"/>
              </a:rPr>
              <a:t> p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probabilité</a:t>
            </a:r>
            <a:r>
              <a:rPr lang="en-US">
                <a:latin typeface="Calibri"/>
                <a:ea typeface="Calibri"/>
                <a:cs typeface="Calibri"/>
              </a:rPr>
              <a:t>, pas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compte</a:t>
            </a:r>
            <a:r>
              <a:rPr lang="en-US">
                <a:latin typeface="Calibri"/>
                <a:ea typeface="Calibri"/>
                <a:cs typeface="Calibri"/>
              </a:rPr>
              <a:t>. </a:t>
            </a:r>
            <a:r>
              <a:rPr lang="en-US" err="1">
                <a:latin typeface="Calibri"/>
                <a:ea typeface="Calibri"/>
                <a:cs typeface="Calibri"/>
              </a:rPr>
              <a:t>Donc</a:t>
            </a:r>
            <a:r>
              <a:rPr lang="en-US">
                <a:latin typeface="Calibri"/>
                <a:ea typeface="Calibri"/>
                <a:cs typeface="Calibri"/>
              </a:rPr>
              <a:t> = 0 = 0 </a:t>
            </a:r>
            <a:r>
              <a:rPr lang="en-US" err="1">
                <a:latin typeface="Calibri"/>
                <a:ea typeface="Calibri"/>
                <a:cs typeface="Calibri"/>
              </a:rPr>
              <a:t>mais</a:t>
            </a:r>
            <a:r>
              <a:rPr lang="en-US">
                <a:latin typeface="Calibri"/>
                <a:ea typeface="Calibri"/>
                <a:cs typeface="Calibri"/>
              </a:rPr>
              <a:t> 1 = 4 pour la première </a:t>
            </a:r>
            <a:r>
              <a:rPr lang="en-US" err="1">
                <a:latin typeface="Calibri"/>
                <a:ea typeface="Calibri"/>
                <a:cs typeface="Calibri"/>
              </a:rPr>
              <a:t>ligne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EA1BE2-48D0-BB9B-B5CD-E16BF7F90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0754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2 </a:t>
            </a:r>
            <a:r>
              <a:rPr lang="en-US" err="1">
                <a:latin typeface="Calibri"/>
                <a:ea typeface="Calibri"/>
                <a:cs typeface="Calibri"/>
              </a:rPr>
              <a:t>n'a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aucun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sens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seulement</a:t>
            </a:r>
            <a:r>
              <a:rPr lang="en-US">
                <a:latin typeface="Calibri"/>
                <a:ea typeface="Calibri"/>
                <a:cs typeface="Calibri"/>
              </a:rPr>
              <a:t> 0 a un </a:t>
            </a:r>
            <a:r>
              <a:rPr lang="en-US" err="1">
                <a:latin typeface="Calibri"/>
                <a:ea typeface="Calibri"/>
                <a:cs typeface="Calibri"/>
              </a:rPr>
              <a:t>sens</a:t>
            </a:r>
            <a:r>
              <a:rPr lang="en-US">
                <a:latin typeface="Calibri"/>
                <a:ea typeface="Calibri"/>
                <a:cs typeface="Calibri"/>
              </a:rPr>
              <a:t> : il </a:t>
            </a:r>
            <a:r>
              <a:rPr lang="en-US" err="1">
                <a:latin typeface="Calibri"/>
                <a:ea typeface="Calibri"/>
                <a:cs typeface="Calibri"/>
              </a:rPr>
              <a:t>n'y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aucune</a:t>
            </a:r>
            <a:r>
              <a:rPr lang="en-US">
                <a:latin typeface="Calibri"/>
                <a:ea typeface="Calibri"/>
                <a:cs typeface="Calibri"/>
              </a:rPr>
              <a:t> chance </a:t>
            </a:r>
            <a:r>
              <a:rPr lang="en-US" err="1">
                <a:latin typeface="Calibri"/>
                <a:ea typeface="Calibri"/>
                <a:cs typeface="Calibri"/>
              </a:rPr>
              <a:t>qu'il</a:t>
            </a:r>
            <a:r>
              <a:rPr lang="en-US">
                <a:latin typeface="Calibri"/>
                <a:ea typeface="Calibri"/>
                <a:cs typeface="Calibri"/>
              </a:rPr>
              <a:t> y </a:t>
            </a:r>
            <a:r>
              <a:rPr lang="en-US" err="1">
                <a:latin typeface="Calibri"/>
                <a:ea typeface="Calibri"/>
                <a:cs typeface="Calibri"/>
              </a:rPr>
              <a:t>ait</a:t>
            </a:r>
            <a:r>
              <a:rPr lang="en-US">
                <a:latin typeface="Calibri"/>
                <a:ea typeface="Calibri"/>
                <a:cs typeface="Calibri"/>
              </a:rPr>
              <a:t> 100% </a:t>
            </a:r>
            <a:r>
              <a:rPr lang="en-US" err="1">
                <a:latin typeface="Calibri"/>
                <a:ea typeface="Calibri"/>
                <a:cs typeface="Calibri"/>
              </a:rPr>
              <a:t>d'eau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/>
              <a:t>Density = </a:t>
            </a:r>
            <a:r>
              <a:rPr lang="en-US" err="1"/>
              <a:t>taux</a:t>
            </a:r>
            <a:r>
              <a:rPr lang="en-US"/>
              <a:t> de </a:t>
            </a:r>
            <a:r>
              <a:rPr lang="en-US" err="1"/>
              <a:t>changement</a:t>
            </a:r>
            <a:r>
              <a:rPr lang="en-US"/>
              <a:t> dans les </a:t>
            </a:r>
            <a:r>
              <a:rPr lang="en-US" err="1"/>
              <a:t>probabilités</a:t>
            </a:r>
            <a:r>
              <a:rPr lang="en-US"/>
              <a:t> </a:t>
            </a:r>
            <a:r>
              <a:rPr lang="en-US" err="1"/>
              <a:t>cumulés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15213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SUR LES COTES = 0x1 = 0 </a:t>
            </a:r>
            <a:r>
              <a:rPr lang="en-US" err="1">
                <a:latin typeface="Calibri"/>
                <a:ea typeface="Calibri"/>
                <a:cs typeface="Calibri"/>
              </a:rPr>
              <a:t>donc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c'est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forcément</a:t>
            </a:r>
            <a:r>
              <a:rPr lang="en-US">
                <a:latin typeface="Calibri"/>
                <a:ea typeface="Calibri"/>
                <a:cs typeface="Calibri"/>
              </a:rPr>
              <a:t> 0. au milieu 0.5x0.,5 </a:t>
            </a:r>
            <a:r>
              <a:rPr lang="en-US" err="1">
                <a:latin typeface="Calibri"/>
                <a:ea typeface="Calibri"/>
                <a:cs typeface="Calibri"/>
              </a:rPr>
              <a:t>ça</a:t>
            </a:r>
            <a:r>
              <a:rPr lang="en-US">
                <a:latin typeface="Calibri"/>
                <a:ea typeface="Calibri"/>
                <a:cs typeface="Calibri"/>
              </a:rPr>
              <a:t> fait 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9740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On a </a:t>
            </a:r>
            <a:r>
              <a:rPr lang="en-US" err="1">
                <a:latin typeface="Calibri"/>
                <a:ea typeface="Calibri"/>
                <a:cs typeface="Calibri"/>
              </a:rPr>
              <a:t>remultiplié</a:t>
            </a:r>
            <a:r>
              <a:rPr lang="en-US">
                <a:latin typeface="Calibri"/>
                <a:ea typeface="Calibri"/>
                <a:cs typeface="Calibri"/>
              </a:rPr>
              <a:t> la </a:t>
            </a:r>
            <a:r>
              <a:rPr lang="en-US" err="1">
                <a:latin typeface="Calibri"/>
                <a:ea typeface="Calibri"/>
                <a:cs typeface="Calibri"/>
              </a:rPr>
              <a:t>ligne</a:t>
            </a:r>
            <a:r>
              <a:rPr lang="en-US">
                <a:latin typeface="Calibri"/>
                <a:ea typeface="Calibri"/>
                <a:cs typeface="Calibri"/>
              </a:rPr>
              <a:t> rouge du </a:t>
            </a:r>
            <a:r>
              <a:rPr lang="en-US" err="1">
                <a:latin typeface="Calibri"/>
                <a:ea typeface="Calibri"/>
                <a:cs typeface="Calibri"/>
              </a:rPr>
              <a:t>dàbut</a:t>
            </a:r>
            <a:r>
              <a:rPr lang="en-US">
                <a:latin typeface="Calibri"/>
                <a:ea typeface="Calibri"/>
                <a:cs typeface="Calibri"/>
              </a:rPr>
              <a:t> avec la </a:t>
            </a:r>
            <a:r>
              <a:rPr lang="en-US" err="1">
                <a:latin typeface="Calibri"/>
                <a:ea typeface="Calibri"/>
                <a:cs typeface="Calibri"/>
              </a:rPr>
              <a:t>courbe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juste</a:t>
            </a:r>
            <a:r>
              <a:rPr lang="en-US">
                <a:latin typeface="Calibri"/>
                <a:ea typeface="Calibri"/>
                <a:cs typeface="Calibri"/>
              </a:rPr>
              <a:t> avant.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8708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Voilà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animation = les </a:t>
            </a:r>
            <a:r>
              <a:rPr lang="en-US" err="1">
                <a:latin typeface="Calibri"/>
                <a:ea typeface="Calibri"/>
                <a:cs typeface="Calibri"/>
              </a:rPr>
              <a:t>preuve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s'accumulent</a:t>
            </a:r>
            <a:r>
              <a:rPr lang="en-US">
                <a:latin typeface="Calibri"/>
                <a:ea typeface="Calibri"/>
                <a:cs typeface="Calibri"/>
              </a:rPr>
              <a:t> dans </a:t>
            </a:r>
            <a:r>
              <a:rPr lang="en-US" err="1">
                <a:latin typeface="Calibri"/>
                <a:ea typeface="Calibri"/>
                <a:cs typeface="Calibri"/>
              </a:rPr>
              <a:t>une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région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spécifique</a:t>
            </a:r>
            <a:r>
              <a:rPr lang="en-US">
                <a:latin typeface="Calibri"/>
                <a:ea typeface="Calibri"/>
                <a:cs typeface="Calibri"/>
              </a:rPr>
              <a:t> avec le temps et </a:t>
            </a:r>
            <a:r>
              <a:rPr lang="en-US" err="1">
                <a:latin typeface="Calibri"/>
                <a:ea typeface="Calibri"/>
                <a:cs typeface="Calibri"/>
              </a:rPr>
              <a:t>va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devenir</a:t>
            </a:r>
            <a:r>
              <a:rPr lang="en-US">
                <a:latin typeface="Calibri"/>
                <a:ea typeface="Calibri"/>
                <a:cs typeface="Calibri"/>
              </a:rPr>
              <a:t> plus petit et </a:t>
            </a:r>
            <a:r>
              <a:rPr lang="en-US" err="1">
                <a:latin typeface="Calibri"/>
                <a:ea typeface="Calibri"/>
                <a:cs typeface="Calibri"/>
              </a:rPr>
              <a:t>concentré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un </a:t>
            </a:r>
            <a:r>
              <a:rPr lang="en-US" err="1">
                <a:latin typeface="Calibri"/>
                <a:ea typeface="Calibri"/>
                <a:cs typeface="Calibri"/>
              </a:rPr>
              <a:t>endroit</a:t>
            </a:r>
            <a:r>
              <a:rPr lang="en-US">
                <a:latin typeface="Calibri"/>
                <a:ea typeface="Calibri"/>
                <a:cs typeface="Calibri"/>
              </a:rPr>
              <a:t>, et </a:t>
            </a:r>
            <a:r>
              <a:rPr lang="en-US" err="1">
                <a:latin typeface="Calibri"/>
                <a:ea typeface="Calibri"/>
                <a:cs typeface="Calibri"/>
              </a:rPr>
              <a:t>chaque</a:t>
            </a:r>
            <a:r>
              <a:rPr lang="en-US">
                <a:latin typeface="Calibri"/>
                <a:ea typeface="Calibri"/>
                <a:cs typeface="Calibri"/>
              </a:rPr>
              <a:t> nouvelle observation </a:t>
            </a:r>
            <a:r>
              <a:rPr lang="en-US" err="1">
                <a:latin typeface="Calibri"/>
                <a:ea typeface="Calibri"/>
                <a:cs typeface="Calibri"/>
              </a:rPr>
              <a:t>va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moins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moins</a:t>
            </a:r>
            <a:r>
              <a:rPr lang="en-US">
                <a:latin typeface="Calibri"/>
                <a:ea typeface="Calibri"/>
                <a:cs typeface="Calibri"/>
              </a:rPr>
              <a:t> influencer la distribution.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0976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On a vu </a:t>
            </a:r>
            <a:r>
              <a:rPr lang="en-US" err="1">
                <a:latin typeface="Calibri"/>
                <a:ea typeface="Calibri"/>
                <a:cs typeface="Calibri"/>
              </a:rPr>
              <a:t>juste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ce</a:t>
            </a:r>
            <a:r>
              <a:rPr lang="en-US">
                <a:latin typeface="Calibri"/>
                <a:ea typeface="Calibri"/>
                <a:cs typeface="Calibri"/>
              </a:rPr>
              <a:t> qui se </a:t>
            </a:r>
            <a:r>
              <a:rPr lang="en-US" err="1">
                <a:latin typeface="Calibri"/>
                <a:ea typeface="Calibri"/>
                <a:cs typeface="Calibri"/>
              </a:rPr>
              <a:t>trouve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ici</a:t>
            </a:r>
            <a:r>
              <a:rPr lang="en-US">
                <a:latin typeface="Calibri"/>
                <a:ea typeface="Calibri"/>
                <a:cs typeface="Calibri"/>
              </a:rPr>
              <a:t> et </a:t>
            </a:r>
            <a:r>
              <a:rPr lang="en-US" err="1">
                <a:latin typeface="Calibri"/>
                <a:ea typeface="Calibri"/>
                <a:cs typeface="Calibri"/>
              </a:rPr>
              <a:t>uniquement</a:t>
            </a:r>
            <a:r>
              <a:rPr lang="en-US">
                <a:latin typeface="Calibri"/>
                <a:ea typeface="Calibri"/>
                <a:cs typeface="Calibri"/>
              </a:rPr>
              <a:t> la version la plus simple possible (1 variable).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37202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/>
              <a:t>Shape </a:t>
            </a:r>
            <a:r>
              <a:rPr lang="fr-FR" err="1"/>
              <a:t>embodies</a:t>
            </a:r>
            <a:r>
              <a:rPr lang="fr-FR"/>
              <a:t> </a:t>
            </a:r>
            <a:r>
              <a:rPr lang="fr-FR" err="1"/>
              <a:t>sample</a:t>
            </a:r>
            <a:r>
              <a:rPr lang="fr-FR"/>
              <a:t> size : plus c'est </a:t>
            </a:r>
            <a:r>
              <a:rPr lang="fr-FR" err="1"/>
              <a:t>narrow</a:t>
            </a:r>
            <a:r>
              <a:rPr lang="fr-FR"/>
              <a:t>, plus on a de participants par rapport à si on a moins de participants.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No point estimate :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bayésien</a:t>
            </a:r>
            <a:r>
              <a:rPr lang="en-US">
                <a:latin typeface="Calibri"/>
                <a:ea typeface="Calibri"/>
                <a:cs typeface="Calibri"/>
              </a:rPr>
              <a:t>, on ne </a:t>
            </a:r>
            <a:r>
              <a:rPr lang="en-US" err="1">
                <a:latin typeface="Calibri"/>
                <a:ea typeface="Calibri"/>
                <a:cs typeface="Calibri"/>
              </a:rPr>
              <a:t>s'intéresse</a:t>
            </a:r>
            <a:r>
              <a:rPr lang="en-US">
                <a:latin typeface="Calibri"/>
                <a:ea typeface="Calibri"/>
                <a:cs typeface="Calibri"/>
              </a:rPr>
              <a:t> pas aux </a:t>
            </a:r>
            <a:r>
              <a:rPr lang="en-US" err="1">
                <a:latin typeface="Calibri"/>
                <a:ea typeface="Calibri"/>
                <a:cs typeface="Calibri"/>
              </a:rPr>
              <a:t>moyennes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ou</a:t>
            </a:r>
            <a:r>
              <a:rPr lang="en-US">
                <a:latin typeface="Calibri"/>
                <a:ea typeface="Calibri"/>
                <a:cs typeface="Calibri"/>
              </a:rPr>
              <a:t> aux modes </a:t>
            </a:r>
            <a:r>
              <a:rPr lang="en-US" err="1">
                <a:latin typeface="Calibri"/>
                <a:ea typeface="Calibri"/>
                <a:cs typeface="Calibri"/>
              </a:rPr>
              <a:t>ou</a:t>
            </a:r>
            <a:r>
              <a:rPr lang="en-US">
                <a:latin typeface="Calibri"/>
                <a:ea typeface="Calibri"/>
                <a:cs typeface="Calibri"/>
              </a:rPr>
              <a:t> aux </a:t>
            </a:r>
            <a:r>
              <a:rPr lang="en-US" err="1">
                <a:latin typeface="Calibri"/>
                <a:ea typeface="Calibri"/>
                <a:cs typeface="Calibri"/>
              </a:rPr>
              <a:t>écarts</a:t>
            </a:r>
            <a:r>
              <a:rPr lang="en-US">
                <a:latin typeface="Calibri"/>
                <a:ea typeface="Calibri"/>
                <a:cs typeface="Calibri"/>
              </a:rPr>
              <a:t>-types. On </a:t>
            </a:r>
            <a:r>
              <a:rPr lang="en-US" err="1">
                <a:latin typeface="Calibri"/>
                <a:ea typeface="Calibri"/>
                <a:cs typeface="Calibri"/>
              </a:rPr>
              <a:t>s'intéresse</a:t>
            </a:r>
            <a:r>
              <a:rPr lang="en-US">
                <a:latin typeface="Calibri"/>
                <a:ea typeface="Calibri"/>
                <a:cs typeface="Calibri"/>
              </a:rPr>
              <a:t> à la </a:t>
            </a:r>
            <a:r>
              <a:rPr lang="en-US" err="1">
                <a:latin typeface="Calibri"/>
                <a:ea typeface="Calibri"/>
                <a:cs typeface="Calibri"/>
              </a:rPr>
              <a:t>courbe</a:t>
            </a:r>
            <a:r>
              <a:rPr lang="en-US">
                <a:latin typeface="Calibri"/>
                <a:ea typeface="Calibri"/>
                <a:cs typeface="Calibri"/>
              </a:rPr>
              <a:t> EN ENTIER.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8989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2C0FD-E314-2E42-44FF-EBE44FD84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4EB186-F4BE-F744-BC51-6B25E30D0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D47593-1BD4-DA6E-606C-F94D27CA3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/>
              <a:t>Shape </a:t>
            </a:r>
            <a:r>
              <a:rPr lang="fr-FR" err="1"/>
              <a:t>embodies</a:t>
            </a:r>
            <a:r>
              <a:rPr lang="fr-FR"/>
              <a:t> </a:t>
            </a:r>
            <a:r>
              <a:rPr lang="fr-FR" err="1"/>
              <a:t>sample</a:t>
            </a:r>
            <a:r>
              <a:rPr lang="fr-FR"/>
              <a:t> size : plus c'est </a:t>
            </a:r>
            <a:r>
              <a:rPr lang="fr-FR" err="1"/>
              <a:t>narrow</a:t>
            </a:r>
            <a:r>
              <a:rPr lang="fr-FR"/>
              <a:t>, plus on a de participants par rapport à si on a moins de participants.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No point estimate : </a:t>
            </a:r>
            <a:r>
              <a:rPr lang="en-US" err="1">
                <a:latin typeface="Calibri"/>
                <a:ea typeface="Calibri"/>
                <a:cs typeface="Calibri"/>
              </a:rPr>
              <a:t>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bayésien</a:t>
            </a:r>
            <a:r>
              <a:rPr lang="en-US">
                <a:latin typeface="Calibri"/>
                <a:ea typeface="Calibri"/>
                <a:cs typeface="Calibri"/>
              </a:rPr>
              <a:t>, on ne </a:t>
            </a:r>
            <a:r>
              <a:rPr lang="en-US" err="1">
                <a:latin typeface="Calibri"/>
                <a:ea typeface="Calibri"/>
                <a:cs typeface="Calibri"/>
              </a:rPr>
              <a:t>s'intéresse</a:t>
            </a:r>
            <a:r>
              <a:rPr lang="en-US">
                <a:latin typeface="Calibri"/>
                <a:ea typeface="Calibri"/>
                <a:cs typeface="Calibri"/>
              </a:rPr>
              <a:t> pas aux </a:t>
            </a:r>
            <a:r>
              <a:rPr lang="en-US" err="1">
                <a:latin typeface="Calibri"/>
                <a:ea typeface="Calibri"/>
                <a:cs typeface="Calibri"/>
              </a:rPr>
              <a:t>moyennes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ou</a:t>
            </a:r>
            <a:r>
              <a:rPr lang="en-US">
                <a:latin typeface="Calibri"/>
                <a:ea typeface="Calibri"/>
                <a:cs typeface="Calibri"/>
              </a:rPr>
              <a:t> aux modes </a:t>
            </a:r>
            <a:r>
              <a:rPr lang="en-US" err="1">
                <a:latin typeface="Calibri"/>
                <a:ea typeface="Calibri"/>
                <a:cs typeface="Calibri"/>
              </a:rPr>
              <a:t>ou</a:t>
            </a:r>
            <a:r>
              <a:rPr lang="en-US">
                <a:latin typeface="Calibri"/>
                <a:ea typeface="Calibri"/>
                <a:cs typeface="Calibri"/>
              </a:rPr>
              <a:t> aux </a:t>
            </a:r>
            <a:r>
              <a:rPr lang="en-US" err="1">
                <a:latin typeface="Calibri"/>
                <a:ea typeface="Calibri"/>
                <a:cs typeface="Calibri"/>
              </a:rPr>
              <a:t>écarts</a:t>
            </a:r>
            <a:r>
              <a:rPr lang="en-US">
                <a:latin typeface="Calibri"/>
                <a:ea typeface="Calibri"/>
                <a:cs typeface="Calibri"/>
              </a:rPr>
              <a:t>-types. On </a:t>
            </a:r>
            <a:r>
              <a:rPr lang="en-US" err="1">
                <a:latin typeface="Calibri"/>
                <a:ea typeface="Calibri"/>
                <a:cs typeface="Calibri"/>
              </a:rPr>
              <a:t>s'intéresse</a:t>
            </a:r>
            <a:r>
              <a:rPr lang="en-US">
                <a:latin typeface="Calibri"/>
                <a:ea typeface="Calibri"/>
                <a:cs typeface="Calibri"/>
              </a:rPr>
              <a:t> à la </a:t>
            </a:r>
            <a:r>
              <a:rPr lang="en-US" err="1">
                <a:latin typeface="Calibri"/>
                <a:ea typeface="Calibri"/>
                <a:cs typeface="Calibri"/>
              </a:rPr>
              <a:t>courbe</a:t>
            </a:r>
            <a:r>
              <a:rPr lang="en-US">
                <a:latin typeface="Calibri"/>
                <a:ea typeface="Calibri"/>
                <a:cs typeface="Calibri"/>
              </a:rPr>
              <a:t> EN ENTIER.</a:t>
            </a: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46F34C-FA3B-3A41-DCDB-332D7F22F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9894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12693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789591312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106205831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94306410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9130148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95901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454259120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19421038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45246111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6257244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78497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2338174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01162719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1228733933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836771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89281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44938675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329148516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008455211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289150164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7214762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317594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02068694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635474080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17474600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632147874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92869680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2005445882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82339926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0822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5683197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160625595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44000309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759298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1823610266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00265840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658968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86041356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819299280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907975918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2021147298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01569913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394485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72576295" name="Espace réservé pour une image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Click icon to add picture</a:t>
            </a:r>
            <a:endParaRPr/>
          </a:p>
        </p:txBody>
      </p:sp>
      <p:sp>
        <p:nvSpPr>
          <p:cNvPr id="1872178490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381494851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1422903555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0285441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83132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054780795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19492857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120849824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8214052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409030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857302205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56608603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190490147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835168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20921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8558293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95210548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16/03/2026</a:t>
            </a:fld>
            <a:endParaRPr lang="fr-FR"/>
          </a:p>
        </p:txBody>
      </p:sp>
      <p:sp>
        <p:nvSpPr>
          <p:cNvPr id="1018294232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0227677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64059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468872"/>
            <a:ext cx="9144000" cy="344145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b="1" dirty="0" err="1">
                <a:solidFill>
                  <a:srgbClr val="000000"/>
                </a:solidFill>
                <a:latin typeface="Calibri Light"/>
              </a:rPr>
              <a:t>Doing</a:t>
            </a:r>
            <a:r>
              <a:rPr lang="fr-FR" b="1" dirty="0">
                <a:solidFill>
                  <a:srgbClr val="000000"/>
                </a:solidFill>
                <a:latin typeface="Calibri Light"/>
              </a:rPr>
              <a:t> </a:t>
            </a:r>
            <a:r>
              <a:rPr lang="fr-FR" b="1" dirty="0" err="1">
                <a:solidFill>
                  <a:srgbClr val="000000"/>
                </a:solidFill>
                <a:latin typeface="Calibri Light"/>
              </a:rPr>
              <a:t>bayesian</a:t>
            </a:r>
            <a:r>
              <a:rPr lang="fr-FR" b="1" dirty="0">
                <a:solidFill>
                  <a:srgbClr val="000000"/>
                </a:solidFill>
                <a:latin typeface="Calibri Light"/>
              </a:rPr>
              <a:t> </a:t>
            </a:r>
            <a:r>
              <a:rPr lang="fr-FR" b="1" dirty="0" err="1">
                <a:solidFill>
                  <a:srgbClr val="000000"/>
                </a:solidFill>
                <a:latin typeface="Calibri Light"/>
              </a:rPr>
              <a:t>analysis</a:t>
            </a:r>
            <a:r>
              <a:rPr lang="fr-FR" b="1">
                <a:solidFill>
                  <a:srgbClr val="000000"/>
                </a:solidFill>
                <a:latin typeface="Calibri Light"/>
              </a:rPr>
              <a:t> by hand</a:t>
            </a:r>
            <a:endParaRPr lang="fr-FR"/>
          </a:p>
        </p:txBody>
      </p:sp>
      <p:sp>
        <p:nvSpPr>
          <p:cNvPr id="45200960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5474494"/>
            <a:ext cx="9144000" cy="10302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 dirty="0"/>
              <a:t>Adrien Fillon</a:t>
            </a:r>
          </a:p>
          <a:p>
            <a:pPr>
              <a:defRPr/>
            </a:pPr>
            <a:r>
              <a:rPr lang="fr-FR" dirty="0"/>
              <a:t>26/02/2026</a:t>
            </a:r>
          </a:p>
        </p:txBody>
      </p:sp>
      <p:pic>
        <p:nvPicPr>
          <p:cNvPr id="3" name="Image 2" descr="Une image contenant texte, Police, logo, Marque&#10;&#10;Le contenu généré par l’IA peut être incorrect.">
            <a:extLst>
              <a:ext uri="{FF2B5EF4-FFF2-40B4-BE49-F238E27FC236}">
                <a16:creationId xmlns:a16="http://schemas.microsoft.com/office/drawing/2014/main" id="{3F8B4F67-C43F-EDD5-792B-1B9E439EE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53585" cy="1190791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9BE9E3E0-2B5B-31BF-4D10-0C5278DC01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AA0CD2-DB60-0A94-2D2B-9EB3E5DF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Appareils électroniques, capture d’écran, Site web&#10;&#10;Le contenu généré par l’IA peut être incorrect.">
            <a:extLst>
              <a:ext uri="{FF2B5EF4-FFF2-40B4-BE49-F238E27FC236}">
                <a16:creationId xmlns:a16="http://schemas.microsoft.com/office/drawing/2014/main" id="{42617B8C-FEF7-2BD4-7375-52A89C01B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12" y="1234432"/>
            <a:ext cx="7012898" cy="4378377"/>
          </a:xfrm>
          <a:prstGeom prst="rect">
            <a:avLst/>
          </a:prstGeom>
        </p:spPr>
      </p:pic>
      <p:pic>
        <p:nvPicPr>
          <p:cNvPr id="11" name="Espace réservé du contenu 10" descr="Statistical rethinking second edition book">
            <a:extLst>
              <a:ext uri="{FF2B5EF4-FFF2-40B4-BE49-F238E27FC236}">
                <a16:creationId xmlns:a16="http://schemas.microsoft.com/office/drawing/2014/main" id="{F3CA73C5-037B-74AE-695C-EB8E80DC7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021567" y="1264385"/>
            <a:ext cx="32635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5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33D7C35-9311-B5BD-C7EB-3942C204C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3971" y="1650740"/>
            <a:ext cx="52378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fr-FR" sz="4500" b="1" err="1">
                <a:solidFill>
                  <a:srgbClr val="000000"/>
                </a:solidFill>
              </a:rPr>
              <a:t>What</a:t>
            </a:r>
            <a:r>
              <a:rPr lang="fr-FR" sz="4500" b="1">
                <a:solidFill>
                  <a:srgbClr val="000000"/>
                </a:solidFill>
              </a:rPr>
              <a:t> proportion of the surface </a:t>
            </a:r>
            <a:r>
              <a:rPr lang="fr-FR" sz="4500" b="1" err="1">
                <a:solidFill>
                  <a:srgbClr val="000000"/>
                </a:solidFill>
              </a:rPr>
              <a:t>is</a:t>
            </a:r>
            <a:r>
              <a:rPr lang="fr-FR" sz="4500" b="1">
                <a:solidFill>
                  <a:srgbClr val="000000"/>
                </a:solidFill>
              </a:rPr>
              <a:t> </a:t>
            </a:r>
            <a:r>
              <a:rPr lang="fr-FR" sz="4500" b="1" err="1">
                <a:solidFill>
                  <a:srgbClr val="000000"/>
                </a:solidFill>
              </a:rPr>
              <a:t>covered</a:t>
            </a:r>
            <a:r>
              <a:rPr lang="fr-FR" sz="4500" b="1">
                <a:solidFill>
                  <a:srgbClr val="000000"/>
                </a:solidFill>
              </a:rPr>
              <a:t> </a:t>
            </a:r>
            <a:r>
              <a:rPr lang="fr-FR" sz="4500" b="1" err="1">
                <a:solidFill>
                  <a:srgbClr val="000000"/>
                </a:solidFill>
              </a:rPr>
              <a:t>with</a:t>
            </a:r>
            <a:r>
              <a:rPr lang="fr-FR" sz="4500" b="1">
                <a:solidFill>
                  <a:srgbClr val="000000"/>
                </a:solidFill>
              </a:rPr>
              <a:t> water?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A5938E-963D-1E71-BB73-1FADC3DD2039}"/>
              </a:ext>
            </a:extLst>
          </p:cNvPr>
          <p:cNvSpPr/>
          <p:nvPr/>
        </p:nvSpPr>
        <p:spPr>
          <a:xfrm>
            <a:off x="9232201" y="6476704"/>
            <a:ext cx="1783347" cy="334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8">
            <a:extLst>
              <a:ext uri="{FF2B5EF4-FFF2-40B4-BE49-F238E27FC236}">
                <a16:creationId xmlns:a16="http://schemas.microsoft.com/office/drawing/2014/main" id="{D4643551-3B40-CF2C-CD0A-A4A9493D488E}"/>
              </a:ext>
            </a:extLst>
          </p:cNvPr>
          <p:cNvSpPr txBox="1">
            <a:spLocks/>
          </p:cNvSpPr>
          <p:nvPr/>
        </p:nvSpPr>
        <p:spPr bwMode="auto">
          <a:xfrm>
            <a:off x="3468033" y="4821451"/>
            <a:ext cx="5237814" cy="7788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500" b="1" err="1">
                <a:solidFill>
                  <a:srgbClr val="000000"/>
                </a:solidFill>
              </a:rPr>
              <a:t>Any</a:t>
            </a:r>
            <a:r>
              <a:rPr lang="fr-FR" sz="4500" b="1">
                <a:solidFill>
                  <a:srgbClr val="000000"/>
                </a:solidFill>
              </a:rPr>
              <a:t> </a:t>
            </a:r>
            <a:r>
              <a:rPr lang="fr-FR" sz="4500" b="1" err="1">
                <a:solidFill>
                  <a:srgbClr val="000000"/>
                </a:solidFill>
              </a:rPr>
              <a:t>ideas</a:t>
            </a:r>
            <a:r>
              <a:rPr lang="fr-FR" sz="4500" b="1">
                <a:solidFill>
                  <a:srgbClr val="000000"/>
                </a:solidFill>
              </a:rPr>
              <a:t> ?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1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D2CBD3BE-803C-D0A5-F4E1-454F8A7CB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896368" y="2022969"/>
            <a:ext cx="4303264" cy="41148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88A38B6-0B8E-6327-76EA-F772A4B6151B}"/>
              </a:ext>
            </a:extLst>
          </p:cNvPr>
          <p:cNvSpPr txBox="1"/>
          <p:nvPr/>
        </p:nvSpPr>
        <p:spPr>
          <a:xfrm>
            <a:off x="488573" y="677096"/>
            <a:ext cx="4360652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500"/>
              <a:t>L = Land W = Water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94B2603-708C-D2C4-FD81-6117F0C33FE6}"/>
              </a:ext>
            </a:extLst>
          </p:cNvPr>
          <p:cNvSpPr txBox="1"/>
          <p:nvPr/>
        </p:nvSpPr>
        <p:spPr>
          <a:xfrm>
            <a:off x="6721157" y="468623"/>
            <a:ext cx="4360652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500"/>
              <a:t>10 times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D5E79F0-ED9C-A0D6-3408-7776027134D2}"/>
              </a:ext>
            </a:extLst>
          </p:cNvPr>
          <p:cNvSpPr txBox="1"/>
          <p:nvPr/>
        </p:nvSpPr>
        <p:spPr>
          <a:xfrm>
            <a:off x="6721156" y="1223434"/>
            <a:ext cx="4863859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500"/>
              <a:t>L W L </a:t>
            </a:r>
            <a:r>
              <a:rPr lang="fr-FR" sz="3500" err="1"/>
              <a:t>L</a:t>
            </a:r>
            <a:r>
              <a:rPr lang="fr-FR" sz="3500"/>
              <a:t> W </a:t>
            </a:r>
            <a:r>
              <a:rPr lang="fr-FR" sz="3500" err="1"/>
              <a:t>W</a:t>
            </a:r>
            <a:r>
              <a:rPr lang="fr-FR" sz="3500"/>
              <a:t> </a:t>
            </a:r>
            <a:r>
              <a:rPr lang="fr-FR" sz="3500" err="1"/>
              <a:t>W</a:t>
            </a:r>
            <a:r>
              <a:rPr lang="fr-FR" sz="3500"/>
              <a:t> L W </a:t>
            </a:r>
            <a:r>
              <a:rPr lang="fr-FR" sz="3500" err="1"/>
              <a:t>W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A710B19-7EE8-C344-B86B-E1EAFDB4F373}"/>
              </a:ext>
            </a:extLst>
          </p:cNvPr>
          <p:cNvSpPr txBox="1"/>
          <p:nvPr/>
        </p:nvSpPr>
        <p:spPr>
          <a:xfrm>
            <a:off x="5499080" y="2546151"/>
            <a:ext cx="6244085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500"/>
              <a:t>How can </a:t>
            </a:r>
            <a:r>
              <a:rPr lang="fr-FR" sz="3500" err="1"/>
              <a:t>we</a:t>
            </a:r>
            <a:r>
              <a:rPr lang="fr-FR" sz="3500"/>
              <a:t> use </a:t>
            </a:r>
            <a:r>
              <a:rPr lang="fr-FR" sz="3500" err="1"/>
              <a:t>this</a:t>
            </a:r>
            <a:r>
              <a:rPr lang="fr-FR" sz="3500"/>
              <a:t> </a:t>
            </a:r>
            <a:r>
              <a:rPr lang="fr-FR" sz="3500" err="1"/>
              <a:t>sample</a:t>
            </a:r>
            <a:r>
              <a:rPr lang="fr-FR" sz="3500"/>
              <a:t> ?</a:t>
            </a:r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1236205-494E-439C-8F03-0D7003FFF217}"/>
              </a:ext>
            </a:extLst>
          </p:cNvPr>
          <p:cNvSpPr txBox="1"/>
          <p:nvPr/>
        </p:nvSpPr>
        <p:spPr>
          <a:xfrm>
            <a:off x="5499079" y="3308150"/>
            <a:ext cx="6244085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500"/>
              <a:t>How to </a:t>
            </a:r>
            <a:r>
              <a:rPr lang="fr-FR" sz="3500" err="1"/>
              <a:t>produce</a:t>
            </a:r>
            <a:r>
              <a:rPr lang="fr-FR" sz="3500"/>
              <a:t> a </a:t>
            </a:r>
            <a:r>
              <a:rPr lang="fr-FR" sz="3500" err="1"/>
              <a:t>summary</a:t>
            </a:r>
            <a:r>
              <a:rPr lang="fr-FR" sz="3500"/>
              <a:t> ?</a:t>
            </a:r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2E6A44B-F85C-BC38-6B6C-F6B793D7D0AB}"/>
              </a:ext>
            </a:extLst>
          </p:cNvPr>
          <p:cNvSpPr txBox="1"/>
          <p:nvPr/>
        </p:nvSpPr>
        <p:spPr>
          <a:xfrm>
            <a:off x="5499080" y="4084528"/>
            <a:ext cx="6244085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500"/>
              <a:t>How to </a:t>
            </a:r>
            <a:r>
              <a:rPr lang="fr-FR" sz="3500" err="1"/>
              <a:t>represent</a:t>
            </a:r>
            <a:r>
              <a:rPr lang="fr-FR" sz="3500"/>
              <a:t> </a:t>
            </a:r>
            <a:r>
              <a:rPr lang="fr-FR" sz="3500" err="1"/>
              <a:t>uncertainty</a:t>
            </a:r>
            <a:r>
              <a:rPr lang="fr-FR" sz="3500"/>
              <a:t> ?</a:t>
            </a:r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140FC9F-2C8F-24EF-6E23-D805B57DF102}"/>
              </a:ext>
            </a:extLst>
          </p:cNvPr>
          <p:cNvSpPr txBox="1"/>
          <p:nvPr/>
        </p:nvSpPr>
        <p:spPr>
          <a:xfrm>
            <a:off x="5499079" y="5385678"/>
            <a:ext cx="6244085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500" err="1"/>
              <a:t>Each</a:t>
            </a:r>
            <a:r>
              <a:rPr lang="fr-FR" sz="3500"/>
              <a:t> </a:t>
            </a:r>
            <a:r>
              <a:rPr lang="fr-FR" sz="3500" err="1"/>
              <a:t>Toss</a:t>
            </a:r>
            <a:r>
              <a:rPr lang="fr-FR" sz="3500"/>
              <a:t> </a:t>
            </a:r>
            <a:r>
              <a:rPr lang="fr-FR" sz="3500" err="1"/>
              <a:t>is</a:t>
            </a:r>
            <a:r>
              <a:rPr lang="fr-FR" sz="3500"/>
              <a:t> </a:t>
            </a:r>
            <a:r>
              <a:rPr lang="fr-FR" sz="3500" err="1"/>
              <a:t>independant</a:t>
            </a:r>
            <a:endParaRPr lang="fr-FR" err="1"/>
          </a:p>
        </p:txBody>
      </p:sp>
    </p:spTree>
    <p:extLst>
      <p:ext uri="{BB962C8B-B14F-4D97-AF65-F5344CB8AC3E}">
        <p14:creationId xmlns:p14="http://schemas.microsoft.com/office/powerpoint/2010/main" val="275804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01E84F-5747-42FA-08B7-35D084F1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Bayesian</a:t>
            </a:r>
            <a:r>
              <a:rPr lang="fr-FR"/>
              <a:t> </a:t>
            </a:r>
            <a:r>
              <a:rPr lang="fr-FR" err="1"/>
              <a:t>Inference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CD248B-4A7C-3DBB-56F6-0A6752CF7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6120"/>
            <a:ext cx="10515600" cy="47134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For </a:t>
            </a:r>
            <a:r>
              <a:rPr lang="fr-FR" err="1"/>
              <a:t>each</a:t>
            </a:r>
            <a:r>
              <a:rPr lang="fr-FR"/>
              <a:t> possible </a:t>
            </a:r>
            <a:r>
              <a:rPr lang="fr-FR" err="1"/>
              <a:t>explanation</a:t>
            </a:r>
            <a:r>
              <a:rPr lang="fr-FR"/>
              <a:t> of the </a:t>
            </a:r>
            <a:r>
              <a:rPr lang="fr-FR" err="1"/>
              <a:t>sample</a:t>
            </a:r>
            <a:endParaRPr lang="fr-FR"/>
          </a:p>
          <a:p>
            <a:r>
              <a:rPr lang="fr-FR"/>
              <a:t>Count all the </a:t>
            </a:r>
            <a:r>
              <a:rPr lang="fr-FR" err="1"/>
              <a:t>ways</a:t>
            </a:r>
            <a:r>
              <a:rPr lang="fr-FR"/>
              <a:t> the </a:t>
            </a:r>
            <a:r>
              <a:rPr lang="fr-FR" err="1"/>
              <a:t>sample</a:t>
            </a:r>
            <a:r>
              <a:rPr lang="fr-FR"/>
              <a:t> </a:t>
            </a:r>
            <a:r>
              <a:rPr lang="fr-FR" err="1"/>
              <a:t>could</a:t>
            </a:r>
            <a:r>
              <a:rPr lang="fr-FR"/>
              <a:t> </a:t>
            </a:r>
            <a:r>
              <a:rPr lang="fr-FR" err="1"/>
              <a:t>happen</a:t>
            </a:r>
          </a:p>
          <a:p>
            <a:r>
              <a:rPr lang="fr-FR" err="1"/>
              <a:t>Explanations</a:t>
            </a:r>
            <a:r>
              <a:rPr lang="fr-FR"/>
              <a:t> </a:t>
            </a:r>
            <a:r>
              <a:rPr lang="fr-FR" err="1"/>
              <a:t>with</a:t>
            </a:r>
            <a:r>
              <a:rPr lang="fr-FR"/>
              <a:t> more </a:t>
            </a:r>
            <a:r>
              <a:rPr lang="fr-FR" err="1"/>
              <a:t>ways</a:t>
            </a:r>
            <a:r>
              <a:rPr lang="fr-FR"/>
              <a:t> to </a:t>
            </a:r>
            <a:r>
              <a:rPr lang="fr-FR" err="1"/>
              <a:t>produce</a:t>
            </a:r>
            <a:r>
              <a:rPr lang="fr-FR"/>
              <a:t> the </a:t>
            </a:r>
            <a:r>
              <a:rPr lang="fr-FR" err="1"/>
              <a:t>sample</a:t>
            </a:r>
            <a:r>
              <a:rPr lang="fr-FR"/>
              <a:t> are more plausible.</a:t>
            </a:r>
          </a:p>
        </p:txBody>
      </p:sp>
    </p:spTree>
    <p:extLst>
      <p:ext uri="{BB962C8B-B14F-4D97-AF65-F5344CB8AC3E}">
        <p14:creationId xmlns:p14="http://schemas.microsoft.com/office/powerpoint/2010/main" val="126238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068BE5-1E2C-ACCD-7211-73817988C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6145"/>
            <a:ext cx="6682967" cy="2718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For </a:t>
            </a:r>
            <a:r>
              <a:rPr lang="fr-FR" err="1"/>
              <a:t>each</a:t>
            </a:r>
            <a:r>
              <a:rPr lang="fr-FR"/>
              <a:t> possible proportion of water on the globe</a:t>
            </a:r>
          </a:p>
          <a:p>
            <a:r>
              <a:rPr lang="fr-FR"/>
              <a:t>Count all the </a:t>
            </a:r>
            <a:r>
              <a:rPr lang="fr-FR" err="1"/>
              <a:t>ways</a:t>
            </a:r>
            <a:r>
              <a:rPr lang="fr-FR"/>
              <a:t> the </a:t>
            </a:r>
            <a:r>
              <a:rPr lang="fr-FR" err="1"/>
              <a:t>sample</a:t>
            </a:r>
            <a:r>
              <a:rPr lang="fr-FR"/>
              <a:t> of tosses </a:t>
            </a:r>
            <a:r>
              <a:rPr lang="fr-FR" err="1"/>
              <a:t>could</a:t>
            </a:r>
            <a:r>
              <a:rPr lang="fr-FR"/>
              <a:t> </a:t>
            </a:r>
            <a:r>
              <a:rPr lang="fr-FR" err="1"/>
              <a:t>happen</a:t>
            </a:r>
            <a:r>
              <a:rPr lang="fr-FR"/>
              <a:t>.</a:t>
            </a:r>
          </a:p>
          <a:p>
            <a:r>
              <a:rPr lang="fr-FR"/>
              <a:t>Proportions </a:t>
            </a:r>
            <a:r>
              <a:rPr lang="fr-FR" err="1"/>
              <a:t>with</a:t>
            </a:r>
            <a:r>
              <a:rPr lang="fr-FR"/>
              <a:t> more </a:t>
            </a:r>
            <a:r>
              <a:rPr lang="fr-FR" err="1"/>
              <a:t>ways</a:t>
            </a:r>
            <a:r>
              <a:rPr lang="fr-FR"/>
              <a:t> to </a:t>
            </a:r>
            <a:r>
              <a:rPr lang="fr-FR" err="1"/>
              <a:t>produce</a:t>
            </a:r>
            <a:r>
              <a:rPr lang="fr-FR"/>
              <a:t> the </a:t>
            </a:r>
            <a:r>
              <a:rPr lang="fr-FR" err="1"/>
              <a:t>sample</a:t>
            </a:r>
            <a:r>
              <a:rPr lang="fr-FR"/>
              <a:t> are more plausible.</a:t>
            </a:r>
          </a:p>
          <a:p>
            <a:endParaRPr lang="fr-FR"/>
          </a:p>
        </p:txBody>
      </p:sp>
      <p:pic>
        <p:nvPicPr>
          <p:cNvPr id="5" name="Espace réservé du contenu 3">
            <a:extLst>
              <a:ext uri="{FF2B5EF4-FFF2-40B4-BE49-F238E27FC236}">
                <a16:creationId xmlns:a16="http://schemas.microsoft.com/office/drawing/2014/main" id="{A09CEC2E-5646-48BC-1EAF-2682FF465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779352" y="1779379"/>
            <a:ext cx="4303264" cy="41148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E49EAF7-9FC3-521D-3F0F-BCD6117775CC}"/>
              </a:ext>
            </a:extLst>
          </p:cNvPr>
          <p:cNvSpPr txBox="1"/>
          <p:nvPr/>
        </p:nvSpPr>
        <p:spPr>
          <a:xfrm>
            <a:off x="841169" y="4774870"/>
            <a:ext cx="6096000" cy="11131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lnSpc>
                <a:spcPts val="2925"/>
              </a:lnSpc>
              <a:buFont typeface=""/>
              <a:buChar char="•"/>
            </a:pPr>
            <a:r>
              <a:rPr lang="fr-FR" sz="2800" baseline="0">
                <a:latin typeface="Arial"/>
                <a:ea typeface="Arial"/>
                <a:cs typeface="Arial"/>
              </a:rPr>
              <a:t>… So this would be impossible by hand</a:t>
            </a:r>
            <a:r>
              <a:rPr lang="en-US" sz="2800">
                <a:latin typeface="Arial"/>
                <a:ea typeface="Arial"/>
                <a:cs typeface="Arial"/>
              </a:rPr>
              <a:t>​</a:t>
            </a:r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237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1B52B8-BDDF-23D6-085F-8694E25F8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The </a:t>
            </a:r>
            <a:r>
              <a:rPr lang="fr-FR" err="1"/>
              <a:t>garden</a:t>
            </a:r>
            <a:r>
              <a:rPr lang="fr-FR"/>
              <a:t> of </a:t>
            </a:r>
            <a:r>
              <a:rPr lang="fr-FR" err="1"/>
              <a:t>forking</a:t>
            </a:r>
            <a:r>
              <a:rPr lang="fr-FR"/>
              <a:t> data</a:t>
            </a:r>
          </a:p>
        </p:txBody>
      </p:sp>
      <p:pic>
        <p:nvPicPr>
          <p:cNvPr id="8" name="Image 7" descr="Une image contenant texte, livre, Police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FD975F25-85DE-A3C4-4FCF-7D9A88788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791" y="1358729"/>
            <a:ext cx="3429943" cy="5000625"/>
          </a:xfrm>
          <a:prstGeom prst="rect">
            <a:avLst/>
          </a:prstGeom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5305BEEA-2E92-192E-084A-8002522BD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2967" cy="5488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Imagine a Four-</a:t>
            </a:r>
            <a:r>
              <a:rPr lang="fr-FR" err="1"/>
              <a:t>sided</a:t>
            </a:r>
            <a:r>
              <a:rPr lang="fr-FR"/>
              <a:t> globe</a:t>
            </a:r>
          </a:p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endParaRPr lang="fr-FR"/>
          </a:p>
        </p:txBody>
      </p:sp>
      <p:pic>
        <p:nvPicPr>
          <p:cNvPr id="11" name="Image 10" descr="Une image contenant triangle&#10;&#10;Le contenu généré par l’IA peut être incorrect.">
            <a:extLst>
              <a:ext uri="{FF2B5EF4-FFF2-40B4-BE49-F238E27FC236}">
                <a16:creationId xmlns:a16="http://schemas.microsoft.com/office/drawing/2014/main" id="{D67D4CF1-EF0D-8EA0-C900-7B51AA3A1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62" y="2427310"/>
            <a:ext cx="7212595" cy="286345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B88E9CA-15F9-8A5C-B332-D661F8CF23A2}"/>
              </a:ext>
            </a:extLst>
          </p:cNvPr>
          <p:cNvSpPr txBox="1"/>
          <p:nvPr/>
        </p:nvSpPr>
        <p:spPr>
          <a:xfrm>
            <a:off x="6865545" y="5458485"/>
            <a:ext cx="920436" cy="754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3045"/>
              </a:lnSpc>
            </a:pPr>
            <a:r>
              <a:rPr lang="fr-FR" sz="1800" b="0" i="0" u="none" strike="noStrike" baseline="0">
                <a:solidFill>
                  <a:srgbClr val="FFFFFF"/>
                </a:solidFill>
                <a:latin typeface="Arial"/>
              </a:rPr>
              <a:t>​</a:t>
            </a:r>
          </a:p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BB02D25-3522-94F4-A1D3-7DF970E29D1D}"/>
              </a:ext>
            </a:extLst>
          </p:cNvPr>
          <p:cNvSpPr txBox="1"/>
          <p:nvPr/>
        </p:nvSpPr>
        <p:spPr>
          <a:xfrm>
            <a:off x="1425921" y="5616921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 we can only observe 3 times</a:t>
            </a:r>
            <a:endParaRPr lang="fr-FR"/>
          </a:p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401BEC-CF13-D391-9451-77DD79D1EB16}"/>
              </a:ext>
            </a:extLst>
          </p:cNvPr>
          <p:cNvSpPr/>
          <p:nvPr/>
        </p:nvSpPr>
        <p:spPr>
          <a:xfrm>
            <a:off x="6274736" y="4899892"/>
            <a:ext cx="1783347" cy="334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156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EFDF3-99F4-EC1E-8927-6A48F7605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FA460C-E847-0BA3-90EB-31BB3B9D3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1" y="497784"/>
            <a:ext cx="668296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For </a:t>
            </a:r>
            <a:r>
              <a:rPr lang="fr-FR" err="1"/>
              <a:t>each</a:t>
            </a:r>
            <a:r>
              <a:rPr lang="fr-FR"/>
              <a:t> possible proportion of water on the globe</a:t>
            </a:r>
          </a:p>
          <a:p>
            <a:r>
              <a:rPr lang="fr-FR"/>
              <a:t>Count all the </a:t>
            </a:r>
            <a:r>
              <a:rPr lang="fr-FR" err="1"/>
              <a:t>ways</a:t>
            </a:r>
            <a:r>
              <a:rPr lang="fr-FR"/>
              <a:t> the </a:t>
            </a:r>
            <a:r>
              <a:rPr lang="fr-FR" err="1"/>
              <a:t>sample</a:t>
            </a:r>
            <a:r>
              <a:rPr lang="fr-FR"/>
              <a:t> of tosses </a:t>
            </a:r>
            <a:r>
              <a:rPr lang="fr-FR" err="1"/>
              <a:t>could</a:t>
            </a:r>
            <a:r>
              <a:rPr lang="fr-FR"/>
              <a:t> </a:t>
            </a:r>
            <a:r>
              <a:rPr lang="fr-FR" err="1"/>
              <a:t>happen</a:t>
            </a:r>
            <a:r>
              <a:rPr lang="fr-FR"/>
              <a:t>.</a:t>
            </a:r>
          </a:p>
        </p:txBody>
      </p:sp>
      <p:pic>
        <p:nvPicPr>
          <p:cNvPr id="6" name="Image 5" descr="Une image contenant texte, Polic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63223668-9C44-CC6F-ED4A-63C6A22F3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287" y="2442491"/>
            <a:ext cx="9604218" cy="40251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9A5F16-805C-03A9-915E-F53DC527435F}"/>
              </a:ext>
            </a:extLst>
          </p:cNvPr>
          <p:cNvSpPr/>
          <p:nvPr/>
        </p:nvSpPr>
        <p:spPr>
          <a:xfrm>
            <a:off x="4780914" y="2380011"/>
            <a:ext cx="6543960" cy="41447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633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05CD-0109-4EEA-97AF-919E1860D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3AA6D6-D60A-9B3D-CF0F-3B2B4EC1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1" y="497784"/>
            <a:ext cx="668296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For </a:t>
            </a:r>
            <a:r>
              <a:rPr lang="fr-FR" err="1"/>
              <a:t>each</a:t>
            </a:r>
            <a:r>
              <a:rPr lang="fr-FR"/>
              <a:t> possible proportion of water on the globe</a:t>
            </a:r>
          </a:p>
          <a:p>
            <a:r>
              <a:rPr lang="fr-FR"/>
              <a:t>Count all the </a:t>
            </a:r>
            <a:r>
              <a:rPr lang="fr-FR" err="1"/>
              <a:t>ways</a:t>
            </a:r>
            <a:r>
              <a:rPr lang="fr-FR"/>
              <a:t> the </a:t>
            </a:r>
            <a:r>
              <a:rPr lang="fr-FR" err="1"/>
              <a:t>sample</a:t>
            </a:r>
            <a:r>
              <a:rPr lang="fr-FR"/>
              <a:t> of tosses </a:t>
            </a:r>
            <a:r>
              <a:rPr lang="fr-FR" err="1"/>
              <a:t>could</a:t>
            </a:r>
            <a:r>
              <a:rPr lang="fr-FR"/>
              <a:t> </a:t>
            </a:r>
            <a:r>
              <a:rPr lang="fr-FR" err="1"/>
              <a:t>happen</a:t>
            </a:r>
            <a:r>
              <a:rPr lang="fr-FR"/>
              <a:t>.</a:t>
            </a:r>
          </a:p>
        </p:txBody>
      </p:sp>
      <p:pic>
        <p:nvPicPr>
          <p:cNvPr id="6" name="Image 5" descr="Une image contenant texte, Polic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A4E9B727-1410-AE5E-FE70-5CBB9200C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287" y="2442491"/>
            <a:ext cx="9604218" cy="40251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6DEB99-252C-CB4B-02E4-8BF433CFC075}"/>
              </a:ext>
            </a:extLst>
          </p:cNvPr>
          <p:cNvSpPr/>
          <p:nvPr/>
        </p:nvSpPr>
        <p:spPr>
          <a:xfrm>
            <a:off x="4780914" y="3858743"/>
            <a:ext cx="6543960" cy="26660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377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B9E31-5B96-71BF-4444-BBF345AD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159B8D-2832-7369-25C9-0C8B0F02E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1" y="497784"/>
            <a:ext cx="668296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For </a:t>
            </a:r>
            <a:r>
              <a:rPr lang="fr-FR" err="1"/>
              <a:t>each</a:t>
            </a:r>
            <a:r>
              <a:rPr lang="fr-FR"/>
              <a:t> possible proportion of water on the globe</a:t>
            </a:r>
          </a:p>
          <a:p>
            <a:r>
              <a:rPr lang="fr-FR"/>
              <a:t>Count all the </a:t>
            </a:r>
            <a:r>
              <a:rPr lang="fr-FR" err="1"/>
              <a:t>ways</a:t>
            </a:r>
            <a:r>
              <a:rPr lang="fr-FR"/>
              <a:t> the </a:t>
            </a:r>
            <a:r>
              <a:rPr lang="fr-FR" err="1"/>
              <a:t>sample</a:t>
            </a:r>
            <a:r>
              <a:rPr lang="fr-FR"/>
              <a:t> of tosses </a:t>
            </a:r>
            <a:r>
              <a:rPr lang="fr-FR" err="1"/>
              <a:t>could</a:t>
            </a:r>
            <a:r>
              <a:rPr lang="fr-FR"/>
              <a:t> </a:t>
            </a:r>
            <a:r>
              <a:rPr lang="fr-FR" err="1"/>
              <a:t>happen</a:t>
            </a:r>
            <a:r>
              <a:rPr lang="fr-FR"/>
              <a:t>.</a:t>
            </a:r>
          </a:p>
        </p:txBody>
      </p:sp>
      <p:pic>
        <p:nvPicPr>
          <p:cNvPr id="6" name="Image 5" descr="Une image contenant texte, Polic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ACCBF6A6-6770-59C2-7A99-02F077908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287" y="2442491"/>
            <a:ext cx="9604218" cy="40251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E52C187-C98D-DF17-F096-CA189540E190}"/>
              </a:ext>
            </a:extLst>
          </p:cNvPr>
          <p:cNvSpPr/>
          <p:nvPr/>
        </p:nvSpPr>
        <p:spPr>
          <a:xfrm>
            <a:off x="4780914" y="4500030"/>
            <a:ext cx="3216812" cy="20247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B21AF6-616F-AE47-5429-A98446CD6E3C}"/>
              </a:ext>
            </a:extLst>
          </p:cNvPr>
          <p:cNvSpPr/>
          <p:nvPr/>
        </p:nvSpPr>
        <p:spPr>
          <a:xfrm>
            <a:off x="9005864" y="3790843"/>
            <a:ext cx="1783347" cy="12250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915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740E7-178A-8322-3468-6BF16AC7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9C7705-2CAB-9856-233E-B2956A26C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1" y="497784"/>
            <a:ext cx="668296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For </a:t>
            </a:r>
            <a:r>
              <a:rPr lang="fr-FR" err="1"/>
              <a:t>each</a:t>
            </a:r>
            <a:r>
              <a:rPr lang="fr-FR"/>
              <a:t> possible proportion of water on the globe</a:t>
            </a:r>
          </a:p>
          <a:p>
            <a:r>
              <a:rPr lang="fr-FR"/>
              <a:t>Count all the </a:t>
            </a:r>
            <a:r>
              <a:rPr lang="fr-FR" err="1"/>
              <a:t>ways</a:t>
            </a:r>
            <a:r>
              <a:rPr lang="fr-FR"/>
              <a:t> the </a:t>
            </a:r>
            <a:r>
              <a:rPr lang="fr-FR" err="1"/>
              <a:t>sample</a:t>
            </a:r>
            <a:r>
              <a:rPr lang="fr-FR"/>
              <a:t> of tosses </a:t>
            </a:r>
            <a:r>
              <a:rPr lang="fr-FR" err="1"/>
              <a:t>could</a:t>
            </a:r>
            <a:r>
              <a:rPr lang="fr-FR"/>
              <a:t> </a:t>
            </a:r>
            <a:r>
              <a:rPr lang="fr-FR" err="1"/>
              <a:t>happen</a:t>
            </a:r>
            <a:r>
              <a:rPr lang="fr-FR"/>
              <a:t>.</a:t>
            </a:r>
          </a:p>
        </p:txBody>
      </p:sp>
      <p:pic>
        <p:nvPicPr>
          <p:cNvPr id="6" name="Image 5" descr="Une image contenant texte, Polic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0DF13FA5-E87C-0B5C-1419-0F22EDF6C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287" y="2442491"/>
            <a:ext cx="9604218" cy="40251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DDE6BFE-4696-8764-33FB-41655643E7EE}"/>
              </a:ext>
            </a:extLst>
          </p:cNvPr>
          <p:cNvSpPr/>
          <p:nvPr/>
        </p:nvSpPr>
        <p:spPr>
          <a:xfrm>
            <a:off x="4780914" y="5133772"/>
            <a:ext cx="3216812" cy="13910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2492F2-7AF2-88AE-90E7-31C796FA7A3D}"/>
              </a:ext>
            </a:extLst>
          </p:cNvPr>
          <p:cNvSpPr/>
          <p:nvPr/>
        </p:nvSpPr>
        <p:spPr>
          <a:xfrm>
            <a:off x="9005864" y="3790843"/>
            <a:ext cx="1783347" cy="12250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941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75D58-FB25-C4BD-386B-61D1B090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7D633A-F218-1B34-BD77-514517D5A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1" y="497784"/>
            <a:ext cx="668296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For </a:t>
            </a:r>
            <a:r>
              <a:rPr lang="fr-FR" err="1"/>
              <a:t>each</a:t>
            </a:r>
            <a:r>
              <a:rPr lang="fr-FR"/>
              <a:t> possible proportion of water on the globe</a:t>
            </a:r>
          </a:p>
          <a:p>
            <a:r>
              <a:rPr lang="fr-FR"/>
              <a:t>Count all the </a:t>
            </a:r>
            <a:r>
              <a:rPr lang="fr-FR" err="1"/>
              <a:t>ways</a:t>
            </a:r>
            <a:r>
              <a:rPr lang="fr-FR"/>
              <a:t> the </a:t>
            </a:r>
            <a:r>
              <a:rPr lang="fr-FR" err="1"/>
              <a:t>sample</a:t>
            </a:r>
            <a:r>
              <a:rPr lang="fr-FR"/>
              <a:t> of tosses </a:t>
            </a:r>
            <a:r>
              <a:rPr lang="fr-FR" err="1"/>
              <a:t>could</a:t>
            </a:r>
            <a:r>
              <a:rPr lang="fr-FR"/>
              <a:t> </a:t>
            </a:r>
            <a:r>
              <a:rPr lang="fr-FR" err="1"/>
              <a:t>happen</a:t>
            </a:r>
            <a:r>
              <a:rPr lang="fr-FR"/>
              <a:t>.</a:t>
            </a:r>
          </a:p>
        </p:txBody>
      </p:sp>
      <p:pic>
        <p:nvPicPr>
          <p:cNvPr id="6" name="Image 5" descr="Une image contenant texte, Polic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EF7F2958-A6D1-3935-3500-453EB428E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287" y="2442491"/>
            <a:ext cx="9604218" cy="40251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C461C25-70FC-B9C9-070B-D43BFE61CF64}"/>
              </a:ext>
            </a:extLst>
          </p:cNvPr>
          <p:cNvSpPr/>
          <p:nvPr/>
        </p:nvSpPr>
        <p:spPr>
          <a:xfrm>
            <a:off x="4780914" y="5758362"/>
            <a:ext cx="3216812" cy="766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3A64BB-3AC7-FC21-98D7-E8D9DF95C075}"/>
              </a:ext>
            </a:extLst>
          </p:cNvPr>
          <p:cNvSpPr/>
          <p:nvPr/>
        </p:nvSpPr>
        <p:spPr>
          <a:xfrm>
            <a:off x="9005864" y="3790843"/>
            <a:ext cx="1783347" cy="12250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87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DEEEB-6E67-CF12-4518-6CE0F798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5C5277-3ACB-9F9C-D122-5B929249E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1" y="497784"/>
            <a:ext cx="668296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For </a:t>
            </a:r>
            <a:r>
              <a:rPr lang="fr-FR" err="1"/>
              <a:t>each</a:t>
            </a:r>
            <a:r>
              <a:rPr lang="fr-FR"/>
              <a:t> possible proportion of water on the globe</a:t>
            </a:r>
          </a:p>
          <a:p>
            <a:r>
              <a:rPr lang="fr-FR"/>
              <a:t>Count all the </a:t>
            </a:r>
            <a:r>
              <a:rPr lang="fr-FR" err="1"/>
              <a:t>ways</a:t>
            </a:r>
            <a:r>
              <a:rPr lang="fr-FR"/>
              <a:t> the </a:t>
            </a:r>
            <a:r>
              <a:rPr lang="fr-FR" err="1"/>
              <a:t>sample</a:t>
            </a:r>
            <a:r>
              <a:rPr lang="fr-FR"/>
              <a:t> of tosses </a:t>
            </a:r>
            <a:r>
              <a:rPr lang="fr-FR" err="1"/>
              <a:t>could</a:t>
            </a:r>
            <a:r>
              <a:rPr lang="fr-FR"/>
              <a:t> </a:t>
            </a:r>
            <a:r>
              <a:rPr lang="fr-FR" err="1"/>
              <a:t>happen</a:t>
            </a:r>
            <a:r>
              <a:rPr lang="fr-FR"/>
              <a:t>.</a:t>
            </a:r>
          </a:p>
        </p:txBody>
      </p:sp>
      <p:pic>
        <p:nvPicPr>
          <p:cNvPr id="6" name="Image 5" descr="Une image contenant texte, Polic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BDEF9D90-B250-8082-FD9B-9A5E7A7F1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287" y="2442491"/>
            <a:ext cx="9604218" cy="40251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1D13C9-4046-A2AD-9BDD-51FFC4351736}"/>
              </a:ext>
            </a:extLst>
          </p:cNvPr>
          <p:cNvSpPr/>
          <p:nvPr/>
        </p:nvSpPr>
        <p:spPr>
          <a:xfrm>
            <a:off x="9005864" y="3790843"/>
            <a:ext cx="1783347" cy="12250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F805FCC-C5D9-EACE-A670-D72F005C6D96}"/>
              </a:ext>
            </a:extLst>
          </p:cNvPr>
          <p:cNvCxnSpPr/>
          <p:nvPr/>
        </p:nvCxnSpPr>
        <p:spPr>
          <a:xfrm flipH="1">
            <a:off x="8419381" y="2053087"/>
            <a:ext cx="1138687" cy="6728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8F34FED0-14E8-C969-2487-3C70F31C5148}"/>
              </a:ext>
            </a:extLst>
          </p:cNvPr>
          <p:cNvSpPr txBox="1"/>
          <p:nvPr/>
        </p:nvSpPr>
        <p:spPr>
          <a:xfrm>
            <a:off x="9747849" y="1682151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Conjectures</a:t>
            </a:r>
          </a:p>
        </p:txBody>
      </p:sp>
    </p:spTree>
    <p:extLst>
      <p:ext uri="{BB962C8B-B14F-4D97-AF65-F5344CB8AC3E}">
        <p14:creationId xmlns:p14="http://schemas.microsoft.com/office/powerpoint/2010/main" val="220556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5EB27-A545-E9FB-CC27-0692EE2B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7BEF7B-41DF-9505-98EC-4FAEC5817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1" y="497784"/>
            <a:ext cx="668296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For </a:t>
            </a:r>
            <a:r>
              <a:rPr lang="fr-FR" err="1"/>
              <a:t>each</a:t>
            </a:r>
            <a:r>
              <a:rPr lang="fr-FR"/>
              <a:t> possible proportion of water on the globe</a:t>
            </a:r>
          </a:p>
          <a:p>
            <a:r>
              <a:rPr lang="fr-FR"/>
              <a:t>Count all the </a:t>
            </a:r>
            <a:r>
              <a:rPr lang="fr-FR" err="1"/>
              <a:t>ways</a:t>
            </a:r>
            <a:r>
              <a:rPr lang="fr-FR"/>
              <a:t> the </a:t>
            </a:r>
            <a:r>
              <a:rPr lang="fr-FR" err="1"/>
              <a:t>sample</a:t>
            </a:r>
            <a:r>
              <a:rPr lang="fr-FR"/>
              <a:t> of tosses </a:t>
            </a:r>
            <a:r>
              <a:rPr lang="fr-FR" err="1"/>
              <a:t>could</a:t>
            </a:r>
            <a:r>
              <a:rPr lang="fr-FR"/>
              <a:t> </a:t>
            </a:r>
            <a:r>
              <a:rPr lang="fr-FR" err="1"/>
              <a:t>happen</a:t>
            </a:r>
            <a:r>
              <a:rPr lang="fr-FR"/>
              <a:t>.</a:t>
            </a:r>
          </a:p>
        </p:txBody>
      </p:sp>
      <p:pic>
        <p:nvPicPr>
          <p:cNvPr id="6" name="Image 5" descr="Une image contenant texte, Polic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98612FB6-85AF-D855-5B4D-58EE2B281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287" y="2442491"/>
            <a:ext cx="9604218" cy="40251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F6E493-63A4-96D0-8B2E-0A27959DD4B6}"/>
              </a:ext>
            </a:extLst>
          </p:cNvPr>
          <p:cNvSpPr/>
          <p:nvPr/>
        </p:nvSpPr>
        <p:spPr>
          <a:xfrm flipV="1">
            <a:off x="9488716" y="843740"/>
            <a:ext cx="1783347" cy="11439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915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715EF-068E-1D7E-1EBE-705C7BD49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5B6C2A-ECDC-0ACD-393B-92588CEEB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1" y="497784"/>
            <a:ext cx="1053068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err="1"/>
              <a:t>Now</a:t>
            </a:r>
            <a:r>
              <a:rPr lang="fr-FR"/>
              <a:t> </a:t>
            </a:r>
            <a:r>
              <a:rPr lang="fr-FR" err="1"/>
              <a:t>we</a:t>
            </a:r>
            <a:r>
              <a:rPr lang="fr-FR"/>
              <a:t> can count (by hand) for </a:t>
            </a:r>
            <a:r>
              <a:rPr lang="fr-FR" err="1"/>
              <a:t>each</a:t>
            </a:r>
            <a:r>
              <a:rPr lang="fr-FR"/>
              <a:t> </a:t>
            </a:r>
            <a:r>
              <a:rPr lang="fr-FR" err="1"/>
              <a:t>possibility</a:t>
            </a:r>
            <a:r>
              <a:rPr lang="fr-FR"/>
              <a:t>, the </a:t>
            </a:r>
            <a:r>
              <a:rPr lang="fr-FR" err="1"/>
              <a:t>paths</a:t>
            </a:r>
            <a:r>
              <a:rPr lang="fr-FR"/>
              <a:t> </a:t>
            </a:r>
            <a:r>
              <a:rPr lang="fr-FR" err="1"/>
              <a:t>that</a:t>
            </a:r>
            <a:r>
              <a:rPr lang="fr-FR"/>
              <a:t> are plausibles.</a:t>
            </a:r>
          </a:p>
        </p:txBody>
      </p:sp>
      <p:pic>
        <p:nvPicPr>
          <p:cNvPr id="6" name="Image 5" descr="Une image contenant texte, Polic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8477F1D4-8449-4504-C484-7DD103EA9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287" y="2442491"/>
            <a:ext cx="9604218" cy="40251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56ABCB-7CB4-5E45-AE88-0374D7549432}"/>
              </a:ext>
            </a:extLst>
          </p:cNvPr>
          <p:cNvSpPr/>
          <p:nvPr/>
        </p:nvSpPr>
        <p:spPr>
          <a:xfrm>
            <a:off x="4750735" y="4500031"/>
            <a:ext cx="3329980" cy="18587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83CA9C-362A-D393-35A7-54C9C9E9778C}"/>
              </a:ext>
            </a:extLst>
          </p:cNvPr>
          <p:cNvSpPr/>
          <p:nvPr/>
        </p:nvSpPr>
        <p:spPr>
          <a:xfrm>
            <a:off x="4916715" y="3194823"/>
            <a:ext cx="3329980" cy="6667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7787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00621-99BF-06F8-C542-D4B65271C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Espace réservé du contenu 6" descr="Une image contenant Police, capture d’écran, diagramme, cercle&#10;&#10;Le contenu généré par l’IA peut être incorrect.">
            <a:extLst>
              <a:ext uri="{FF2B5EF4-FFF2-40B4-BE49-F238E27FC236}">
                <a16:creationId xmlns:a16="http://schemas.microsoft.com/office/drawing/2014/main" id="{39FCD5BA-C0BF-6EB4-FFF6-E55046FD6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195762" y="4074287"/>
            <a:ext cx="380047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54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1C209-0849-D17C-5DF6-49FF33FCC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A11075-1181-3E65-C100-4ED9F6B3B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ligne, cercl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9E21CF51-30E0-ACFB-9E56-EA06F28C6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52738" y="2621348"/>
            <a:ext cx="648652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8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795B-EBE7-E75D-77F0-7758EDDCA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AA3A30-900D-F7B3-25AB-995EA88B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585EE0F4-BE69-7A9A-7296-5476CB058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69152"/>
            <a:ext cx="1203960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769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E05D-6118-53BC-2256-8DA0D949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8D0D0B54-E8D5-57E6-D6BD-7912026D8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34716"/>
            <a:ext cx="9542353" cy="5225736"/>
          </a:xfrm>
          <a:prstGeom prst="rect">
            <a:avLst/>
          </a:prstGeom>
        </p:spPr>
      </p:pic>
      <p:pic>
        <p:nvPicPr>
          <p:cNvPr id="3" name="Image 2" descr="Une image contenant cercl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2ED9A11A-20DD-4B25-5B06-31D2C6AA1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868" y="1981483"/>
            <a:ext cx="1038225" cy="933450"/>
          </a:xfrm>
          <a:prstGeom prst="rect">
            <a:avLst/>
          </a:prstGeom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1FAC20E-770B-909F-816E-601CF8F42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210" y="2338655"/>
            <a:ext cx="2835245" cy="5715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First observation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49C11A07-57AA-D25B-11E9-5A07713EE04C}"/>
              </a:ext>
            </a:extLst>
          </p:cNvPr>
          <p:cNvCxnSpPr/>
          <p:nvPr/>
        </p:nvCxnSpPr>
        <p:spPr>
          <a:xfrm>
            <a:off x="4352193" y="6494500"/>
            <a:ext cx="459548" cy="195983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299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75EE-A545-5BB3-6CA5-C27EC67F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C80A39CB-E16B-A19A-C560-38D1B2BA9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34716"/>
            <a:ext cx="9542353" cy="5225736"/>
          </a:xfrm>
          <a:prstGeom prst="rect">
            <a:avLst/>
          </a:prstGeom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07AE289-4CB2-4566-8C69-182C4764D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5646" y="1561566"/>
            <a:ext cx="2835245" cy="57151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fr-FR"/>
              <a:t>Second observation</a:t>
            </a:r>
          </a:p>
        </p:txBody>
      </p:sp>
      <p:pic>
        <p:nvPicPr>
          <p:cNvPr id="8" name="Image 7" descr="Une image contenant cercl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6C6DE03C-2C7A-DD70-4DC0-47ADB0F4E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670" y="1297286"/>
            <a:ext cx="1809750" cy="838200"/>
          </a:xfrm>
          <a:prstGeom prst="rect">
            <a:avLst/>
          </a:prstGeom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8BCB4306-584E-AC0D-3D50-B22987F4AAD3}"/>
              </a:ext>
            </a:extLst>
          </p:cNvPr>
          <p:cNvCxnSpPr/>
          <p:nvPr/>
        </p:nvCxnSpPr>
        <p:spPr>
          <a:xfrm>
            <a:off x="4352193" y="6494500"/>
            <a:ext cx="459548" cy="195983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CE5BA97-31DF-CB1D-3CE0-BB81ABFCDDA5}"/>
              </a:ext>
            </a:extLst>
          </p:cNvPr>
          <p:cNvCxnSpPr>
            <a:cxnSpLocks/>
          </p:cNvCxnSpPr>
          <p:nvPr/>
        </p:nvCxnSpPr>
        <p:spPr>
          <a:xfrm>
            <a:off x="3054530" y="6109727"/>
            <a:ext cx="1002755" cy="25633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36F39FA-25FF-3EB2-0ED8-AB2459AC0AE9}"/>
              </a:ext>
            </a:extLst>
          </p:cNvPr>
          <p:cNvCxnSpPr>
            <a:cxnSpLocks/>
          </p:cNvCxnSpPr>
          <p:nvPr/>
        </p:nvCxnSpPr>
        <p:spPr>
          <a:xfrm>
            <a:off x="3197874" y="5815488"/>
            <a:ext cx="851865" cy="48267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4A0A494-D9E6-7F15-106F-F1A57E0E7472}"/>
              </a:ext>
            </a:extLst>
          </p:cNvPr>
          <p:cNvCxnSpPr>
            <a:cxnSpLocks/>
          </p:cNvCxnSpPr>
          <p:nvPr/>
        </p:nvCxnSpPr>
        <p:spPr>
          <a:xfrm>
            <a:off x="3394030" y="5506161"/>
            <a:ext cx="640620" cy="75428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829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85D8-374A-7552-A40F-0ACD5A49B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AB4D178B-5D3D-6C02-C805-91221030F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634716"/>
            <a:ext cx="9542353" cy="5225736"/>
          </a:xfrm>
          <a:prstGeom prst="rect">
            <a:avLst/>
          </a:prstGeom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CBBB402-FE7E-D04A-0C59-8B1A18CF8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5646" y="1463487"/>
            <a:ext cx="2835245" cy="57151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fr-FR" err="1"/>
              <a:t>Third</a:t>
            </a:r>
            <a:r>
              <a:rPr lang="fr-FR"/>
              <a:t> observation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C18252B4-DFBB-9E76-48F1-4F5164352CB1}"/>
              </a:ext>
            </a:extLst>
          </p:cNvPr>
          <p:cNvCxnSpPr/>
          <p:nvPr/>
        </p:nvCxnSpPr>
        <p:spPr>
          <a:xfrm>
            <a:off x="4352193" y="6494500"/>
            <a:ext cx="459548" cy="195983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FB73C125-E0CB-5F69-D177-93B15191782C}"/>
              </a:ext>
            </a:extLst>
          </p:cNvPr>
          <p:cNvCxnSpPr>
            <a:cxnSpLocks/>
          </p:cNvCxnSpPr>
          <p:nvPr/>
        </p:nvCxnSpPr>
        <p:spPr>
          <a:xfrm>
            <a:off x="3054530" y="6109727"/>
            <a:ext cx="1002755" cy="25633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CEB7FEA-25DA-C7A2-892F-39108010FDD9}"/>
              </a:ext>
            </a:extLst>
          </p:cNvPr>
          <p:cNvCxnSpPr>
            <a:cxnSpLocks/>
          </p:cNvCxnSpPr>
          <p:nvPr/>
        </p:nvCxnSpPr>
        <p:spPr>
          <a:xfrm>
            <a:off x="3197874" y="5815488"/>
            <a:ext cx="851865" cy="48267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2559FB46-2FE1-5856-0B15-18F24EFB0A59}"/>
              </a:ext>
            </a:extLst>
          </p:cNvPr>
          <p:cNvCxnSpPr>
            <a:cxnSpLocks/>
          </p:cNvCxnSpPr>
          <p:nvPr/>
        </p:nvCxnSpPr>
        <p:spPr>
          <a:xfrm>
            <a:off x="3394030" y="5506161"/>
            <a:ext cx="640620" cy="75428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 descr="Une image contenant cercle, Caractère coloré, Bleu électrique&#10;&#10;Le contenu généré par l’IA peut être incorrect.">
            <a:extLst>
              <a:ext uri="{FF2B5EF4-FFF2-40B4-BE49-F238E27FC236}">
                <a16:creationId xmlns:a16="http://schemas.microsoft.com/office/drawing/2014/main" id="{7F9B8796-9369-EA5C-8C57-7C49A52DF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066" y="1228584"/>
            <a:ext cx="2600325" cy="809625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BE41D98B-055F-2F6F-1C3A-13D8134EBBA1}"/>
              </a:ext>
            </a:extLst>
          </p:cNvPr>
          <p:cNvCxnSpPr>
            <a:cxnSpLocks/>
          </p:cNvCxnSpPr>
          <p:nvPr/>
        </p:nvCxnSpPr>
        <p:spPr>
          <a:xfrm>
            <a:off x="896786" y="5747588"/>
            <a:ext cx="1825112" cy="28651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59B05B7-0812-EB8C-4FE4-B0D54444DBD9}"/>
              </a:ext>
            </a:extLst>
          </p:cNvPr>
          <p:cNvCxnSpPr>
            <a:cxnSpLocks/>
          </p:cNvCxnSpPr>
          <p:nvPr/>
        </p:nvCxnSpPr>
        <p:spPr>
          <a:xfrm>
            <a:off x="1168389" y="4962954"/>
            <a:ext cx="1689311" cy="71655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0F849A88-71F6-D2A2-A4D7-389A1ADACB29}"/>
              </a:ext>
            </a:extLst>
          </p:cNvPr>
          <p:cNvCxnSpPr>
            <a:cxnSpLocks/>
          </p:cNvCxnSpPr>
          <p:nvPr/>
        </p:nvCxnSpPr>
        <p:spPr>
          <a:xfrm>
            <a:off x="1568250" y="4208498"/>
            <a:ext cx="1591232" cy="1078694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73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26F37-3184-DEFA-CB86-EEDE8B04F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CA98DFE9-58AE-1B97-D1EA-C4E9B9F24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634716"/>
            <a:ext cx="9542353" cy="5225736"/>
          </a:xfrm>
          <a:prstGeom prst="rect">
            <a:avLst/>
          </a:prstGeom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D6E4B4D-74F4-FBEB-9015-B9084D59C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815" y="429883"/>
            <a:ext cx="4925085" cy="5715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fr-FR" sz="3500"/>
              <a:t>3 </a:t>
            </a:r>
            <a:r>
              <a:rPr lang="fr-FR" sz="3500" err="1"/>
              <a:t>different</a:t>
            </a:r>
            <a:r>
              <a:rPr lang="fr-FR" sz="3500"/>
              <a:t> </a:t>
            </a:r>
            <a:r>
              <a:rPr lang="fr-FR" sz="3500" err="1"/>
              <a:t>ways</a:t>
            </a:r>
            <a:r>
              <a:rPr lang="fr-FR" sz="3500"/>
              <a:t> to </a:t>
            </a:r>
            <a:r>
              <a:rPr lang="fr-FR" sz="3500" err="1"/>
              <a:t>see</a:t>
            </a:r>
            <a:r>
              <a:rPr lang="fr-FR" sz="3500"/>
              <a:t> 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3D951078-F82A-59F8-4BBB-0443FCD8754D}"/>
              </a:ext>
            </a:extLst>
          </p:cNvPr>
          <p:cNvCxnSpPr/>
          <p:nvPr/>
        </p:nvCxnSpPr>
        <p:spPr>
          <a:xfrm>
            <a:off x="4352193" y="6494500"/>
            <a:ext cx="459548" cy="195983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AB9AFB02-7A5D-CBE1-1F3D-763965F6F24E}"/>
              </a:ext>
            </a:extLst>
          </p:cNvPr>
          <p:cNvCxnSpPr>
            <a:cxnSpLocks/>
          </p:cNvCxnSpPr>
          <p:nvPr/>
        </p:nvCxnSpPr>
        <p:spPr>
          <a:xfrm>
            <a:off x="3054530" y="6109727"/>
            <a:ext cx="1002755" cy="25633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8AA0C08-CBD1-6449-73FC-52B63CDD95B0}"/>
              </a:ext>
            </a:extLst>
          </p:cNvPr>
          <p:cNvCxnSpPr>
            <a:cxnSpLocks/>
          </p:cNvCxnSpPr>
          <p:nvPr/>
        </p:nvCxnSpPr>
        <p:spPr>
          <a:xfrm>
            <a:off x="3197874" y="5815488"/>
            <a:ext cx="851865" cy="48267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54154A3-04A7-D35E-280E-C4A3FD1D1606}"/>
              </a:ext>
            </a:extLst>
          </p:cNvPr>
          <p:cNvCxnSpPr>
            <a:cxnSpLocks/>
          </p:cNvCxnSpPr>
          <p:nvPr/>
        </p:nvCxnSpPr>
        <p:spPr>
          <a:xfrm>
            <a:off x="3394030" y="5506161"/>
            <a:ext cx="640620" cy="75428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 descr="Une image contenant cercle, Caractère coloré, Bleu électrique&#10;&#10;Le contenu généré par l’IA peut être incorrect.">
            <a:extLst>
              <a:ext uri="{FF2B5EF4-FFF2-40B4-BE49-F238E27FC236}">
                <a16:creationId xmlns:a16="http://schemas.microsoft.com/office/drawing/2014/main" id="{A5BA9BB8-521F-9165-DC65-6909ED958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888" y="315693"/>
            <a:ext cx="2600325" cy="809625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6FD0544A-DB3E-5F56-F13D-45B75ADADB40}"/>
              </a:ext>
            </a:extLst>
          </p:cNvPr>
          <p:cNvCxnSpPr>
            <a:cxnSpLocks/>
          </p:cNvCxnSpPr>
          <p:nvPr/>
        </p:nvCxnSpPr>
        <p:spPr>
          <a:xfrm>
            <a:off x="896786" y="5747588"/>
            <a:ext cx="1825112" cy="28651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044E668C-0BF3-08A3-3EB3-AF09E670C90E}"/>
              </a:ext>
            </a:extLst>
          </p:cNvPr>
          <p:cNvCxnSpPr>
            <a:cxnSpLocks/>
          </p:cNvCxnSpPr>
          <p:nvPr/>
        </p:nvCxnSpPr>
        <p:spPr>
          <a:xfrm>
            <a:off x="1168389" y="4962954"/>
            <a:ext cx="1689311" cy="71655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DC0E5865-CFD8-FD77-0B02-EAB9782CA989}"/>
              </a:ext>
            </a:extLst>
          </p:cNvPr>
          <p:cNvCxnSpPr>
            <a:cxnSpLocks/>
          </p:cNvCxnSpPr>
          <p:nvPr/>
        </p:nvCxnSpPr>
        <p:spPr>
          <a:xfrm>
            <a:off x="1568250" y="4208498"/>
            <a:ext cx="1591232" cy="1078694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19F983A5-08A5-E2DB-973E-B4509C683C92}"/>
              </a:ext>
            </a:extLst>
          </p:cNvPr>
          <p:cNvSpPr txBox="1">
            <a:spLocks/>
          </p:cNvSpPr>
          <p:nvPr/>
        </p:nvSpPr>
        <p:spPr bwMode="auto">
          <a:xfrm>
            <a:off x="7901413" y="431392"/>
            <a:ext cx="4351699" cy="5715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500" err="1"/>
              <a:t>When</a:t>
            </a:r>
            <a:r>
              <a:rPr lang="fr-FR" sz="3500"/>
              <a:t> the (</a:t>
            </a:r>
            <a:r>
              <a:rPr lang="fr-FR" sz="3500" err="1"/>
              <a:t>true</a:t>
            </a:r>
            <a:r>
              <a:rPr lang="fr-FR" sz="3500"/>
              <a:t>) </a:t>
            </a:r>
            <a:r>
              <a:rPr lang="fr-FR" sz="3500" err="1"/>
              <a:t>probability</a:t>
            </a:r>
            <a:r>
              <a:rPr lang="fr-FR" sz="3500"/>
              <a:t> </a:t>
            </a:r>
            <a:r>
              <a:rPr lang="fr-FR" sz="3500" err="1"/>
              <a:t>is</a:t>
            </a:r>
            <a:r>
              <a:rPr lang="fr-FR" sz="3500"/>
              <a:t> 25% water</a:t>
            </a:r>
          </a:p>
        </p:txBody>
      </p:sp>
    </p:spTree>
    <p:extLst>
      <p:ext uri="{BB962C8B-B14F-4D97-AF65-F5344CB8AC3E}">
        <p14:creationId xmlns:p14="http://schemas.microsoft.com/office/powerpoint/2010/main" val="180337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apture d’écran, texte, Police, ligne&#10;&#10;Le contenu généré par l’IA peut être incorrect.">
            <a:extLst>
              <a:ext uri="{FF2B5EF4-FFF2-40B4-BE49-F238E27FC236}">
                <a16:creationId xmlns:a16="http://schemas.microsoft.com/office/drawing/2014/main" id="{42ADD097-4887-0D44-1DC3-92188FF2D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047750"/>
            <a:ext cx="111061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80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2D4A8-89FD-9774-48C9-B7F3BFE56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apture d’écran, texte, Police, ligne&#10;&#10;Le contenu généré par l’IA peut être incorrect.">
            <a:extLst>
              <a:ext uri="{FF2B5EF4-FFF2-40B4-BE49-F238E27FC236}">
                <a16:creationId xmlns:a16="http://schemas.microsoft.com/office/drawing/2014/main" id="{71602F78-65F9-C972-7B12-8E78F6AA7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047750"/>
            <a:ext cx="11106150" cy="4762500"/>
          </a:xfrm>
          <a:prstGeom prst="rect">
            <a:avLst/>
          </a:prstGeom>
        </p:spPr>
      </p:pic>
      <p:pic>
        <p:nvPicPr>
          <p:cNvPr id="3" name="Graphique 2" descr="Point d’interrogation avec un remplissage uni">
            <a:extLst>
              <a:ext uri="{FF2B5EF4-FFF2-40B4-BE49-F238E27FC236}">
                <a16:creationId xmlns:a16="http://schemas.microsoft.com/office/drawing/2014/main" id="{6063EBED-42F5-2D35-241F-2397527E42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6892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10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DE764-70FD-E5C2-AF2F-E42997E47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8D6207-7343-6D89-6132-EA6855507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Espace réservé du contenu 6" descr="Une image contenant Police, capture d’écran, diagramme, cercle&#10;&#10;Le contenu généré par l’IA peut être incorrect.">
            <a:extLst>
              <a:ext uri="{FF2B5EF4-FFF2-40B4-BE49-F238E27FC236}">
                <a16:creationId xmlns:a16="http://schemas.microsoft.com/office/drawing/2014/main" id="{52AFD47E-2E68-87D9-05F2-3784D42A9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195762" y="4074287"/>
            <a:ext cx="3800475" cy="2781300"/>
          </a:xfrm>
          <a:prstGeom prst="rect">
            <a:avLst/>
          </a:prstGeom>
        </p:spPr>
      </p:pic>
      <p:pic>
        <p:nvPicPr>
          <p:cNvPr id="3" name="Image 2" descr="Une image contenant cercle, objectif de caméra&#10;&#10;Le contenu généré par l’IA peut être incorrect.">
            <a:extLst>
              <a:ext uri="{FF2B5EF4-FFF2-40B4-BE49-F238E27FC236}">
                <a16:creationId xmlns:a16="http://schemas.microsoft.com/office/drawing/2014/main" id="{1D3024CE-19C3-7052-D35E-25DC65728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852" y="6043188"/>
            <a:ext cx="301405" cy="316872"/>
          </a:xfrm>
          <a:prstGeom prst="rect">
            <a:avLst/>
          </a:prstGeom>
        </p:spPr>
      </p:pic>
      <p:pic>
        <p:nvPicPr>
          <p:cNvPr id="5" name="Image 4" descr="Une image contenant cercl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506277BC-169A-1B49-8496-DD282A0B2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868" y="1981483"/>
            <a:ext cx="1038225" cy="933450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8DFBCD81-BA3B-84AE-C4D9-3EA2987FCAD0}"/>
              </a:ext>
            </a:extLst>
          </p:cNvPr>
          <p:cNvSpPr txBox="1">
            <a:spLocks/>
          </p:cNvSpPr>
          <p:nvPr/>
        </p:nvSpPr>
        <p:spPr bwMode="auto">
          <a:xfrm>
            <a:off x="9137210" y="2338655"/>
            <a:ext cx="2835245" cy="5715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fr-FR"/>
              <a:t>First observation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A7B30911-DE74-EFD8-B5CA-10B19EC43076}"/>
              </a:ext>
            </a:extLst>
          </p:cNvPr>
          <p:cNvSpPr txBox="1">
            <a:spLocks/>
          </p:cNvSpPr>
          <p:nvPr/>
        </p:nvSpPr>
        <p:spPr bwMode="auto">
          <a:xfrm>
            <a:off x="838201" y="2519725"/>
            <a:ext cx="5581461" cy="5715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500"/>
              <a:t>0 </a:t>
            </a:r>
            <a:r>
              <a:rPr lang="fr-FR" sz="3500" err="1"/>
              <a:t>ways</a:t>
            </a:r>
            <a:r>
              <a:rPr lang="fr-FR" sz="3500"/>
              <a:t> of </a:t>
            </a:r>
            <a:r>
              <a:rPr lang="fr-FR" sz="3500" err="1"/>
              <a:t>observing</a:t>
            </a:r>
            <a:r>
              <a:rPr lang="fr-FR" sz="3500"/>
              <a:t> water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49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1542F-6C9E-51EA-CEA6-E1A42E6BC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3A9B2A-790C-3100-9707-F8E3CE460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capture d’écran, texte, Police, ligne&#10;&#10;Le contenu généré par l’IA peut être incorrect.">
            <a:extLst>
              <a:ext uri="{FF2B5EF4-FFF2-40B4-BE49-F238E27FC236}">
                <a16:creationId xmlns:a16="http://schemas.microsoft.com/office/drawing/2014/main" id="{B4E2DDF2-588B-7FCE-623E-0A3A005A8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047750"/>
            <a:ext cx="11106150" cy="4762500"/>
          </a:xfrm>
          <a:prstGeom prst="rect">
            <a:avLst/>
          </a:prstGeom>
        </p:spPr>
      </p:pic>
      <p:pic>
        <p:nvPicPr>
          <p:cNvPr id="6" name="Image 5" descr="Une image contenant Police, capture d’écran, cercle, texte&#10;&#10;Le contenu généré par l’IA peut être incorrect.">
            <a:extLst>
              <a:ext uri="{FF2B5EF4-FFF2-40B4-BE49-F238E27FC236}">
                <a16:creationId xmlns:a16="http://schemas.microsoft.com/office/drawing/2014/main" id="{D4F04DF8-62D6-E467-6A65-398300F43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32" y="1897881"/>
            <a:ext cx="856297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8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48991-F598-65F5-B738-ABB81F82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2A9C4-5BA5-981C-0E65-2D138EC1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capture d’écran, texte, Police, ligne&#10;&#10;Le contenu généré par l’IA peut être incorrect.">
            <a:extLst>
              <a:ext uri="{FF2B5EF4-FFF2-40B4-BE49-F238E27FC236}">
                <a16:creationId xmlns:a16="http://schemas.microsoft.com/office/drawing/2014/main" id="{E8E57CFD-2806-9FDA-61BD-4AB89E2A3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047750"/>
            <a:ext cx="11106150" cy="4762500"/>
          </a:xfrm>
          <a:prstGeom prst="rect">
            <a:avLst/>
          </a:prstGeom>
        </p:spPr>
      </p:pic>
      <p:pic>
        <p:nvPicPr>
          <p:cNvPr id="6" name="Image 5" descr="Une image contenant Police, capture d’écran, cercle, texte&#10;&#10;Le contenu généré par l’IA peut être incorrect.">
            <a:extLst>
              <a:ext uri="{FF2B5EF4-FFF2-40B4-BE49-F238E27FC236}">
                <a16:creationId xmlns:a16="http://schemas.microsoft.com/office/drawing/2014/main" id="{D19C0B6B-AAA1-5DBD-79FA-2D8E413B6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32" y="1897881"/>
            <a:ext cx="8562975" cy="1628775"/>
          </a:xfrm>
          <a:prstGeom prst="rect">
            <a:avLst/>
          </a:prstGeom>
        </p:spPr>
      </p:pic>
      <p:pic>
        <p:nvPicPr>
          <p:cNvPr id="5" name="Image 4" descr="Une image contenant Police, logo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C158EFF7-844C-F46D-849A-75B52F71A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78" y="5047307"/>
            <a:ext cx="79629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85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2C0AEF-C80C-A141-5C4F-91508848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9BF11E28-FAEF-94D4-6959-F09BEEF14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161925"/>
            <a:ext cx="11134725" cy="65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17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B9CC-53C5-E181-BEC6-E77E36943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40801-8930-6725-EE1E-E840AC89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27E7D8C1-D0D1-2D62-122C-3E8D6F6B9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161925"/>
            <a:ext cx="11134725" cy="653415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52BEFC2-610A-B890-7975-B7CA19986FCC}"/>
              </a:ext>
            </a:extLst>
          </p:cNvPr>
          <p:cNvCxnSpPr/>
          <p:nvPr/>
        </p:nvCxnSpPr>
        <p:spPr>
          <a:xfrm>
            <a:off x="5566866" y="6260619"/>
            <a:ext cx="519904" cy="18843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13257A4-7EC7-9D55-C7A8-3A6A5EEDB98A}"/>
              </a:ext>
            </a:extLst>
          </p:cNvPr>
          <p:cNvCxnSpPr>
            <a:cxnSpLocks/>
          </p:cNvCxnSpPr>
          <p:nvPr/>
        </p:nvCxnSpPr>
        <p:spPr>
          <a:xfrm>
            <a:off x="6019538" y="5823036"/>
            <a:ext cx="187944" cy="52039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7146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60D4B-973B-AB4F-DA2C-79229D27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81D85A-E1D1-E132-3327-5E15924B3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97D6B70C-E7DC-FD7A-DE05-2F03799ED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161925"/>
            <a:ext cx="11134725" cy="653415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DAF06125-AE3F-EA50-CB85-DF787B63547B}"/>
              </a:ext>
            </a:extLst>
          </p:cNvPr>
          <p:cNvCxnSpPr/>
          <p:nvPr/>
        </p:nvCxnSpPr>
        <p:spPr>
          <a:xfrm>
            <a:off x="5566866" y="6260619"/>
            <a:ext cx="519904" cy="18843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7C0CB2A1-B230-3CF8-78F7-72EBAA85DF9B}"/>
              </a:ext>
            </a:extLst>
          </p:cNvPr>
          <p:cNvCxnSpPr>
            <a:cxnSpLocks/>
          </p:cNvCxnSpPr>
          <p:nvPr/>
        </p:nvCxnSpPr>
        <p:spPr>
          <a:xfrm>
            <a:off x="6019538" y="5823036"/>
            <a:ext cx="187944" cy="52039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A2CCD686-3F8A-23E6-EE1F-BAA8B49DC821}"/>
              </a:ext>
            </a:extLst>
          </p:cNvPr>
          <p:cNvCxnSpPr>
            <a:cxnSpLocks/>
          </p:cNvCxnSpPr>
          <p:nvPr/>
        </p:nvCxnSpPr>
        <p:spPr>
          <a:xfrm>
            <a:off x="5589498" y="4246224"/>
            <a:ext cx="286023" cy="116168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466F7F1-20E9-A0CF-5BEA-897511A43B9E}"/>
              </a:ext>
            </a:extLst>
          </p:cNvPr>
          <p:cNvCxnSpPr>
            <a:cxnSpLocks/>
          </p:cNvCxnSpPr>
          <p:nvPr/>
        </p:nvCxnSpPr>
        <p:spPr>
          <a:xfrm flipH="1">
            <a:off x="5905699" y="4140600"/>
            <a:ext cx="83659" cy="1222042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9417C695-996E-C43B-F8DF-8578A94403D1}"/>
              </a:ext>
            </a:extLst>
          </p:cNvPr>
          <p:cNvCxnSpPr>
            <a:cxnSpLocks/>
          </p:cNvCxnSpPr>
          <p:nvPr/>
        </p:nvCxnSpPr>
        <p:spPr>
          <a:xfrm>
            <a:off x="4216388" y="5445807"/>
            <a:ext cx="1002756" cy="60338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7E4AF4B-AD5F-8730-5BF7-972D15223617}"/>
              </a:ext>
            </a:extLst>
          </p:cNvPr>
          <p:cNvCxnSpPr>
            <a:cxnSpLocks/>
          </p:cNvCxnSpPr>
          <p:nvPr/>
        </p:nvCxnSpPr>
        <p:spPr>
          <a:xfrm>
            <a:off x="4420089" y="5083667"/>
            <a:ext cx="844322" cy="890082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896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73ABB-C23F-DFF2-929D-E06D29C86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82AD67-6B3C-CB10-7593-079EF8C6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3BE23AC1-3CCF-33D4-2A5B-9F61C8C16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61925"/>
            <a:ext cx="11134725" cy="653415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0A58076E-5B3F-D70B-8D5D-7223DE7E4721}"/>
              </a:ext>
            </a:extLst>
          </p:cNvPr>
          <p:cNvCxnSpPr/>
          <p:nvPr/>
        </p:nvCxnSpPr>
        <p:spPr>
          <a:xfrm>
            <a:off x="5566866" y="6260619"/>
            <a:ext cx="519904" cy="18843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2D4BA91-09ED-09B7-5BD9-98DB6CCC32B6}"/>
              </a:ext>
            </a:extLst>
          </p:cNvPr>
          <p:cNvCxnSpPr>
            <a:cxnSpLocks/>
          </p:cNvCxnSpPr>
          <p:nvPr/>
        </p:nvCxnSpPr>
        <p:spPr>
          <a:xfrm>
            <a:off x="6019538" y="5823036"/>
            <a:ext cx="187944" cy="52039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148DBDCA-30F6-37EA-C89F-E415906BDD70}"/>
              </a:ext>
            </a:extLst>
          </p:cNvPr>
          <p:cNvCxnSpPr>
            <a:cxnSpLocks/>
          </p:cNvCxnSpPr>
          <p:nvPr/>
        </p:nvCxnSpPr>
        <p:spPr>
          <a:xfrm>
            <a:off x="5589498" y="4246224"/>
            <a:ext cx="286023" cy="116168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5C6A9DE-76B7-7C0D-7B4B-092946363A0C}"/>
              </a:ext>
            </a:extLst>
          </p:cNvPr>
          <p:cNvCxnSpPr>
            <a:cxnSpLocks/>
          </p:cNvCxnSpPr>
          <p:nvPr/>
        </p:nvCxnSpPr>
        <p:spPr>
          <a:xfrm flipH="1">
            <a:off x="5905699" y="4140600"/>
            <a:ext cx="83659" cy="1222042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0C70C5F2-3ABA-7E28-C62D-A70F745F61E3}"/>
              </a:ext>
            </a:extLst>
          </p:cNvPr>
          <p:cNvCxnSpPr>
            <a:cxnSpLocks/>
          </p:cNvCxnSpPr>
          <p:nvPr/>
        </p:nvCxnSpPr>
        <p:spPr>
          <a:xfrm>
            <a:off x="4586071" y="1824422"/>
            <a:ext cx="844321" cy="205948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46A2056-3A32-AD24-25ED-506E18C2A22D}"/>
              </a:ext>
            </a:extLst>
          </p:cNvPr>
          <p:cNvCxnSpPr>
            <a:cxnSpLocks/>
          </p:cNvCxnSpPr>
          <p:nvPr/>
        </p:nvCxnSpPr>
        <p:spPr>
          <a:xfrm>
            <a:off x="4774684" y="1718799"/>
            <a:ext cx="655708" cy="2104754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F2F481A-FDC6-01D2-922E-7029AE80D940}"/>
              </a:ext>
            </a:extLst>
          </p:cNvPr>
          <p:cNvCxnSpPr>
            <a:cxnSpLocks/>
          </p:cNvCxnSpPr>
          <p:nvPr/>
        </p:nvCxnSpPr>
        <p:spPr>
          <a:xfrm>
            <a:off x="5506505" y="1552818"/>
            <a:ext cx="444462" cy="2172654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4DC88D18-A70A-90F3-DE1D-A84CA0D2645D}"/>
              </a:ext>
            </a:extLst>
          </p:cNvPr>
          <p:cNvCxnSpPr>
            <a:cxnSpLocks/>
          </p:cNvCxnSpPr>
          <p:nvPr/>
        </p:nvCxnSpPr>
        <p:spPr>
          <a:xfrm>
            <a:off x="5717751" y="1552818"/>
            <a:ext cx="233217" cy="2172653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0CAE1C44-A1A6-36FB-D6D9-188591B35961}"/>
              </a:ext>
            </a:extLst>
          </p:cNvPr>
          <p:cNvCxnSpPr>
            <a:cxnSpLocks/>
          </p:cNvCxnSpPr>
          <p:nvPr/>
        </p:nvCxnSpPr>
        <p:spPr>
          <a:xfrm>
            <a:off x="4216388" y="5445807"/>
            <a:ext cx="1002756" cy="60338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948EEF4-D79A-0D49-BFA0-9C31E9C1A913}"/>
              </a:ext>
            </a:extLst>
          </p:cNvPr>
          <p:cNvCxnSpPr>
            <a:cxnSpLocks/>
          </p:cNvCxnSpPr>
          <p:nvPr/>
        </p:nvCxnSpPr>
        <p:spPr>
          <a:xfrm>
            <a:off x="4420089" y="5083667"/>
            <a:ext cx="844322" cy="890082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202351FE-7DCF-CA41-735B-D552FE8E4663}"/>
              </a:ext>
            </a:extLst>
          </p:cNvPr>
          <p:cNvCxnSpPr>
            <a:cxnSpLocks/>
          </p:cNvCxnSpPr>
          <p:nvPr/>
        </p:nvCxnSpPr>
        <p:spPr>
          <a:xfrm>
            <a:off x="1870030" y="4472557"/>
            <a:ext cx="1968460" cy="79954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86112FF0-CF4B-7439-796F-D429DA404EEE}"/>
              </a:ext>
            </a:extLst>
          </p:cNvPr>
          <p:cNvCxnSpPr>
            <a:cxnSpLocks/>
          </p:cNvCxnSpPr>
          <p:nvPr/>
        </p:nvCxnSpPr>
        <p:spPr>
          <a:xfrm>
            <a:off x="1922841" y="4268853"/>
            <a:ext cx="1915648" cy="1003252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868C914-E578-5632-0809-64D74698981A}"/>
              </a:ext>
            </a:extLst>
          </p:cNvPr>
          <p:cNvCxnSpPr>
            <a:cxnSpLocks/>
          </p:cNvCxnSpPr>
          <p:nvPr/>
        </p:nvCxnSpPr>
        <p:spPr>
          <a:xfrm>
            <a:off x="2330246" y="3627566"/>
            <a:ext cx="1787391" cy="1206955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70F1A9A7-23BF-F4CC-0A71-A8A4588F3992}"/>
              </a:ext>
            </a:extLst>
          </p:cNvPr>
          <p:cNvCxnSpPr>
            <a:cxnSpLocks/>
          </p:cNvCxnSpPr>
          <p:nvPr/>
        </p:nvCxnSpPr>
        <p:spPr>
          <a:xfrm>
            <a:off x="2428324" y="3461586"/>
            <a:ext cx="1689312" cy="138047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358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322F7-4B91-866E-9C81-9424CD32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176BB215-B857-5DE7-3708-DFE2CC337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80963"/>
            <a:ext cx="10763250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403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7759-9855-D481-F4F5-EEA11D6E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8C9C555F-A29C-1B48-21FE-5680EE6A7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80963"/>
            <a:ext cx="10763250" cy="6696075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39999D35-160F-0F43-BB78-77E23D3E7DE5}"/>
              </a:ext>
            </a:extLst>
          </p:cNvPr>
          <p:cNvCxnSpPr/>
          <p:nvPr/>
        </p:nvCxnSpPr>
        <p:spPr>
          <a:xfrm>
            <a:off x="5566866" y="6260619"/>
            <a:ext cx="512360" cy="226161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C4287C84-E17F-8C3A-6437-7CD546E3EF00}"/>
              </a:ext>
            </a:extLst>
          </p:cNvPr>
          <p:cNvCxnSpPr>
            <a:cxnSpLocks/>
          </p:cNvCxnSpPr>
          <p:nvPr/>
        </p:nvCxnSpPr>
        <p:spPr>
          <a:xfrm>
            <a:off x="5996905" y="5838124"/>
            <a:ext cx="233211" cy="52039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62B6A3A-3D88-1B67-00D5-19F613A200A2}"/>
              </a:ext>
            </a:extLst>
          </p:cNvPr>
          <p:cNvCxnSpPr>
            <a:cxnSpLocks/>
          </p:cNvCxnSpPr>
          <p:nvPr/>
        </p:nvCxnSpPr>
        <p:spPr>
          <a:xfrm flipH="1">
            <a:off x="6373462" y="5883391"/>
            <a:ext cx="189284" cy="527943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523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7429-BDE6-0904-E986-2EC690966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6449750E-21C4-3090-844F-7B1523F2B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80963"/>
            <a:ext cx="10763250" cy="6696075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B1567148-A217-4A2B-68F7-1C58DFBAB126}"/>
              </a:ext>
            </a:extLst>
          </p:cNvPr>
          <p:cNvCxnSpPr/>
          <p:nvPr/>
        </p:nvCxnSpPr>
        <p:spPr>
          <a:xfrm>
            <a:off x="5566866" y="6260619"/>
            <a:ext cx="512360" cy="226161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D21B1E0-59D9-770B-495D-6A65058F7B3B}"/>
              </a:ext>
            </a:extLst>
          </p:cNvPr>
          <p:cNvCxnSpPr>
            <a:cxnSpLocks/>
          </p:cNvCxnSpPr>
          <p:nvPr/>
        </p:nvCxnSpPr>
        <p:spPr>
          <a:xfrm>
            <a:off x="5996905" y="5838124"/>
            <a:ext cx="233211" cy="52039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6BC28981-ADD5-595A-A79C-0BB85FFF3313}"/>
              </a:ext>
            </a:extLst>
          </p:cNvPr>
          <p:cNvCxnSpPr>
            <a:cxnSpLocks/>
          </p:cNvCxnSpPr>
          <p:nvPr/>
        </p:nvCxnSpPr>
        <p:spPr>
          <a:xfrm flipH="1">
            <a:off x="6373462" y="5883391"/>
            <a:ext cx="189284" cy="527943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necteur droit avec flèche 1">
            <a:extLst>
              <a:ext uri="{FF2B5EF4-FFF2-40B4-BE49-F238E27FC236}">
                <a16:creationId xmlns:a16="http://schemas.microsoft.com/office/drawing/2014/main" id="{A658E6B7-06FC-7067-7F96-6B4B4501AA2C}"/>
              </a:ext>
            </a:extLst>
          </p:cNvPr>
          <p:cNvCxnSpPr>
            <a:cxnSpLocks/>
          </p:cNvCxnSpPr>
          <p:nvPr/>
        </p:nvCxnSpPr>
        <p:spPr>
          <a:xfrm>
            <a:off x="4458125" y="5174512"/>
            <a:ext cx="806597" cy="90517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2C452776-572B-626B-1A5C-89D27C8863E6}"/>
              </a:ext>
            </a:extLst>
          </p:cNvPr>
          <p:cNvCxnSpPr>
            <a:cxnSpLocks/>
          </p:cNvCxnSpPr>
          <p:nvPr/>
        </p:nvCxnSpPr>
        <p:spPr>
          <a:xfrm flipH="1">
            <a:off x="5928642" y="4238986"/>
            <a:ext cx="61026" cy="125221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678C50C9-E645-89AD-390B-039894003B55}"/>
              </a:ext>
            </a:extLst>
          </p:cNvPr>
          <p:cNvCxnSpPr>
            <a:cxnSpLocks/>
          </p:cNvCxnSpPr>
          <p:nvPr/>
        </p:nvCxnSpPr>
        <p:spPr>
          <a:xfrm flipH="1">
            <a:off x="6803810" y="4669025"/>
            <a:ext cx="853204" cy="88253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153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00E53-0FE1-8F74-C95F-D0680ECC2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ercle, ligne, diagramme&#10;&#10;Le contenu généré par l’IA peut être incorrect.">
            <a:extLst>
              <a:ext uri="{FF2B5EF4-FFF2-40B4-BE49-F238E27FC236}">
                <a16:creationId xmlns:a16="http://schemas.microsoft.com/office/drawing/2014/main" id="{59211793-0FC3-299B-3742-795798AED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80963"/>
            <a:ext cx="10763250" cy="6696075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D6117211-1210-3406-001E-AACA52591790}"/>
              </a:ext>
            </a:extLst>
          </p:cNvPr>
          <p:cNvCxnSpPr/>
          <p:nvPr/>
        </p:nvCxnSpPr>
        <p:spPr>
          <a:xfrm>
            <a:off x="5566866" y="6260619"/>
            <a:ext cx="512360" cy="226161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DF236948-79F5-F430-4D00-E135DD1DB03D}"/>
              </a:ext>
            </a:extLst>
          </p:cNvPr>
          <p:cNvCxnSpPr>
            <a:cxnSpLocks/>
          </p:cNvCxnSpPr>
          <p:nvPr/>
        </p:nvCxnSpPr>
        <p:spPr>
          <a:xfrm>
            <a:off x="5996905" y="5838124"/>
            <a:ext cx="233211" cy="52039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AA50CCF5-0125-5BF4-7EEA-3B92362C91ED}"/>
              </a:ext>
            </a:extLst>
          </p:cNvPr>
          <p:cNvCxnSpPr>
            <a:cxnSpLocks/>
          </p:cNvCxnSpPr>
          <p:nvPr/>
        </p:nvCxnSpPr>
        <p:spPr>
          <a:xfrm flipH="1">
            <a:off x="6373462" y="5883391"/>
            <a:ext cx="189284" cy="527943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necteur droit avec flèche 1">
            <a:extLst>
              <a:ext uri="{FF2B5EF4-FFF2-40B4-BE49-F238E27FC236}">
                <a16:creationId xmlns:a16="http://schemas.microsoft.com/office/drawing/2014/main" id="{C4246602-AB0B-C3E1-9E82-386121F75BC6}"/>
              </a:ext>
            </a:extLst>
          </p:cNvPr>
          <p:cNvCxnSpPr>
            <a:cxnSpLocks/>
          </p:cNvCxnSpPr>
          <p:nvPr/>
        </p:nvCxnSpPr>
        <p:spPr>
          <a:xfrm>
            <a:off x="4458125" y="5174512"/>
            <a:ext cx="806597" cy="90517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A4299194-AACA-6FAE-EFA6-99CE9AFA3820}"/>
              </a:ext>
            </a:extLst>
          </p:cNvPr>
          <p:cNvCxnSpPr>
            <a:cxnSpLocks/>
          </p:cNvCxnSpPr>
          <p:nvPr/>
        </p:nvCxnSpPr>
        <p:spPr>
          <a:xfrm flipH="1">
            <a:off x="5928642" y="4238986"/>
            <a:ext cx="61026" cy="125221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7FDFB0B5-4DE2-EE88-90B8-115FA58BFC9B}"/>
              </a:ext>
            </a:extLst>
          </p:cNvPr>
          <p:cNvCxnSpPr>
            <a:cxnSpLocks/>
          </p:cNvCxnSpPr>
          <p:nvPr/>
        </p:nvCxnSpPr>
        <p:spPr>
          <a:xfrm flipH="1">
            <a:off x="6803810" y="4669025"/>
            <a:ext cx="853204" cy="88253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CE8A98BC-7D44-548F-3CEA-5CC554082C0F}"/>
              </a:ext>
            </a:extLst>
          </p:cNvPr>
          <p:cNvCxnSpPr>
            <a:cxnSpLocks/>
          </p:cNvCxnSpPr>
          <p:nvPr/>
        </p:nvCxnSpPr>
        <p:spPr>
          <a:xfrm>
            <a:off x="2436184" y="3710868"/>
            <a:ext cx="1711943" cy="111641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DAC19DFF-5D92-0E84-EDA8-33937F848625}"/>
              </a:ext>
            </a:extLst>
          </p:cNvPr>
          <p:cNvCxnSpPr>
            <a:cxnSpLocks/>
          </p:cNvCxnSpPr>
          <p:nvPr/>
        </p:nvCxnSpPr>
        <p:spPr>
          <a:xfrm>
            <a:off x="2549352" y="3552432"/>
            <a:ext cx="1591231" cy="128239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1CDEF3F9-05EF-796A-B099-B12F9D8B8957}"/>
              </a:ext>
            </a:extLst>
          </p:cNvPr>
          <p:cNvCxnSpPr>
            <a:cxnSpLocks/>
          </p:cNvCxnSpPr>
          <p:nvPr/>
        </p:nvCxnSpPr>
        <p:spPr>
          <a:xfrm>
            <a:off x="2654975" y="3386451"/>
            <a:ext cx="1485608" cy="144837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CB7972B4-96C6-EB9D-5F74-7D3D3819A806}"/>
              </a:ext>
            </a:extLst>
          </p:cNvPr>
          <p:cNvCxnSpPr>
            <a:cxnSpLocks/>
          </p:cNvCxnSpPr>
          <p:nvPr/>
        </p:nvCxnSpPr>
        <p:spPr>
          <a:xfrm>
            <a:off x="5506816" y="1719106"/>
            <a:ext cx="482181" cy="215002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328C878-EE8D-D71F-B545-7D7A74EF6205}"/>
              </a:ext>
            </a:extLst>
          </p:cNvPr>
          <p:cNvCxnSpPr>
            <a:cxnSpLocks/>
          </p:cNvCxnSpPr>
          <p:nvPr/>
        </p:nvCxnSpPr>
        <p:spPr>
          <a:xfrm>
            <a:off x="5725608" y="1711561"/>
            <a:ext cx="233212" cy="2157564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E1B95A81-1B12-F33D-8F20-89171C00F218}"/>
              </a:ext>
            </a:extLst>
          </p:cNvPr>
          <p:cNvCxnSpPr>
            <a:cxnSpLocks/>
          </p:cNvCxnSpPr>
          <p:nvPr/>
        </p:nvCxnSpPr>
        <p:spPr>
          <a:xfrm>
            <a:off x="5929310" y="1711560"/>
            <a:ext cx="59688" cy="216510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8F36F6B-92CE-5285-82A4-0E1A0EE816D5}"/>
              </a:ext>
            </a:extLst>
          </p:cNvPr>
          <p:cNvCxnSpPr>
            <a:cxnSpLocks/>
          </p:cNvCxnSpPr>
          <p:nvPr/>
        </p:nvCxnSpPr>
        <p:spPr>
          <a:xfrm flipH="1">
            <a:off x="7958126" y="2571640"/>
            <a:ext cx="1132353" cy="181806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F0ACBBF-F5A3-7D0A-F3DF-C0E2565A5222}"/>
              </a:ext>
            </a:extLst>
          </p:cNvPr>
          <p:cNvCxnSpPr>
            <a:cxnSpLocks/>
          </p:cNvCxnSpPr>
          <p:nvPr/>
        </p:nvCxnSpPr>
        <p:spPr>
          <a:xfrm flipH="1">
            <a:off x="7927949" y="2699897"/>
            <a:ext cx="1305877" cy="1689802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8A14892A-1B74-28E9-A511-72D440C2B3A6}"/>
              </a:ext>
            </a:extLst>
          </p:cNvPr>
          <p:cNvCxnSpPr>
            <a:cxnSpLocks/>
          </p:cNvCxnSpPr>
          <p:nvPr/>
        </p:nvCxnSpPr>
        <p:spPr>
          <a:xfrm flipH="1">
            <a:off x="7958127" y="2813064"/>
            <a:ext cx="1456767" cy="156909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310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017B36-5B7C-3F7B-11DC-7C80BE2DB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 descr="Une image contenant capture d’écran, texte, Police, cercle&#10;&#10;Le contenu généré par l’IA peut être incorrect.">
            <a:extLst>
              <a:ext uri="{FF2B5EF4-FFF2-40B4-BE49-F238E27FC236}">
                <a16:creationId xmlns:a16="http://schemas.microsoft.com/office/drawing/2014/main" id="{7B8387A8-4847-4021-6144-A7490A312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375209" y="1825625"/>
            <a:ext cx="9441582" cy="4351338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21917AB-622B-4F6C-CB7D-A109F5556215}"/>
              </a:ext>
            </a:extLst>
          </p:cNvPr>
          <p:cNvSpPr/>
          <p:nvPr/>
        </p:nvSpPr>
        <p:spPr>
          <a:xfrm>
            <a:off x="7540107" y="2775991"/>
            <a:ext cx="1231860" cy="6510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EC0C76DD-B9CE-4B96-6141-3264D1623DD6}"/>
              </a:ext>
            </a:extLst>
          </p:cNvPr>
          <p:cNvSpPr/>
          <p:nvPr/>
        </p:nvSpPr>
        <p:spPr>
          <a:xfrm rot="10800000">
            <a:off x="8853531" y="2860264"/>
            <a:ext cx="702838" cy="3784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B744F4B-7BB1-6341-7BB9-5E7BEAAD22AE}"/>
              </a:ext>
            </a:extLst>
          </p:cNvPr>
          <p:cNvSpPr txBox="1"/>
          <p:nvPr/>
        </p:nvSpPr>
        <p:spPr>
          <a:xfrm>
            <a:off x="9683871" y="2882112"/>
            <a:ext cx="2282983" cy="3808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err="1"/>
              <a:t>Estimate</a:t>
            </a:r>
          </a:p>
        </p:txBody>
      </p:sp>
    </p:spTree>
    <p:extLst>
      <p:ext uri="{BB962C8B-B14F-4D97-AF65-F5344CB8AC3E}">
        <p14:creationId xmlns:p14="http://schemas.microsoft.com/office/powerpoint/2010/main" val="144248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7E65B-6E64-79DB-2412-FE30F931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81E34-DF52-7E8D-3F11-7170900E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 descr="Une image contenant capture d’écran, texte, Police, cercle&#10;&#10;Le contenu généré par l’IA peut être incorrect.">
            <a:extLst>
              <a:ext uri="{FF2B5EF4-FFF2-40B4-BE49-F238E27FC236}">
                <a16:creationId xmlns:a16="http://schemas.microsoft.com/office/drawing/2014/main" id="{795C1D55-9DB4-4886-1524-459B6D42C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375209" y="1825625"/>
            <a:ext cx="9441582" cy="4351338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E96AEBA-691C-FABF-8F3C-683940F41DA5}"/>
              </a:ext>
            </a:extLst>
          </p:cNvPr>
          <p:cNvSpPr/>
          <p:nvPr/>
        </p:nvSpPr>
        <p:spPr>
          <a:xfrm>
            <a:off x="7540107" y="2775991"/>
            <a:ext cx="1231860" cy="34123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E12F8EE7-A507-2F64-007A-4A505761FB65}"/>
              </a:ext>
            </a:extLst>
          </p:cNvPr>
          <p:cNvSpPr/>
          <p:nvPr/>
        </p:nvSpPr>
        <p:spPr>
          <a:xfrm rot="10800000">
            <a:off x="8913887" y="4271096"/>
            <a:ext cx="702838" cy="3784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41AFFEC-7548-CB80-F82E-6094D5FD9F9B}"/>
              </a:ext>
            </a:extLst>
          </p:cNvPr>
          <p:cNvSpPr txBox="1"/>
          <p:nvPr/>
        </p:nvSpPr>
        <p:spPr>
          <a:xfrm>
            <a:off x="9744227" y="4292944"/>
            <a:ext cx="22829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err="1"/>
              <a:t>Posterior</a:t>
            </a:r>
            <a:r>
              <a:rPr lang="fr-FR"/>
              <a:t> distribution (of </a:t>
            </a:r>
            <a:r>
              <a:rPr lang="fr-FR" err="1"/>
              <a:t>actual</a:t>
            </a:r>
            <a:r>
              <a:rPr lang="fr-FR"/>
              <a:t> values, not of </a:t>
            </a:r>
            <a:r>
              <a:rPr lang="fr-FR" err="1"/>
              <a:t>probabilities</a:t>
            </a:r>
            <a:r>
              <a:rPr lang="fr-F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0571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9D94E-8DD9-BE19-94DD-68C62F4D7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E5D795-15AE-AFFA-4470-88A20F0D3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capture d’écran, texte, Police, ligne&#10;&#10;Le contenu généré par l’IA peut être incorrect.">
            <a:extLst>
              <a:ext uri="{FF2B5EF4-FFF2-40B4-BE49-F238E27FC236}">
                <a16:creationId xmlns:a16="http://schemas.microsoft.com/office/drawing/2014/main" id="{2F802D6B-EC8E-2C25-AD09-97EA95D3A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47750"/>
            <a:ext cx="11106150" cy="4762500"/>
          </a:xfrm>
          <a:prstGeom prst="rect">
            <a:avLst/>
          </a:prstGeom>
        </p:spPr>
      </p:pic>
      <p:pic>
        <p:nvPicPr>
          <p:cNvPr id="6" name="Image 5" descr="Une image contenant Police, capture d’écran, cercle, texte&#10;&#10;Le contenu généré par l’IA peut être incorrect.">
            <a:extLst>
              <a:ext uri="{FF2B5EF4-FFF2-40B4-BE49-F238E27FC236}">
                <a16:creationId xmlns:a16="http://schemas.microsoft.com/office/drawing/2014/main" id="{CAB711D4-6F68-A7A2-9537-C70222A8D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32" y="1897881"/>
            <a:ext cx="8562975" cy="1628775"/>
          </a:xfrm>
          <a:prstGeom prst="rect">
            <a:avLst/>
          </a:prstGeom>
        </p:spPr>
      </p:pic>
      <p:pic>
        <p:nvPicPr>
          <p:cNvPr id="3" name="Image 2" descr="Une image contenant crochet&#10;&#10;Le contenu généré par l’IA peut être incorrect.">
            <a:extLst>
              <a:ext uri="{FF2B5EF4-FFF2-40B4-BE49-F238E27FC236}">
                <a16:creationId xmlns:a16="http://schemas.microsoft.com/office/drawing/2014/main" id="{FA933AC1-5EFA-8278-8CCC-CF82A732A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453" y="2788279"/>
            <a:ext cx="952500" cy="647700"/>
          </a:xfrm>
          <a:prstGeom prst="rect">
            <a:avLst/>
          </a:prstGeom>
        </p:spPr>
      </p:pic>
      <p:pic>
        <p:nvPicPr>
          <p:cNvPr id="5" name="Image 4" descr="Une image contenant crochet&#10;&#10;Le contenu généré par l’IA peut être incorrect.">
            <a:extLst>
              <a:ext uri="{FF2B5EF4-FFF2-40B4-BE49-F238E27FC236}">
                <a16:creationId xmlns:a16="http://schemas.microsoft.com/office/drawing/2014/main" id="{B8208BFA-D306-D636-AF20-5E29330A0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452" y="2003645"/>
            <a:ext cx="952500" cy="647700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B0A226E-CEF7-3430-7D26-7FBDDA7C5804}"/>
              </a:ext>
            </a:extLst>
          </p:cNvPr>
          <p:cNvSpPr/>
          <p:nvPr/>
        </p:nvSpPr>
        <p:spPr>
          <a:xfrm>
            <a:off x="8038048" y="1848012"/>
            <a:ext cx="1186591" cy="9603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00337281-08BF-ED44-83B6-36E8423D33D6}"/>
              </a:ext>
            </a:extLst>
          </p:cNvPr>
          <p:cNvSpPr/>
          <p:nvPr/>
        </p:nvSpPr>
        <p:spPr>
          <a:xfrm rot="10800000">
            <a:off x="9268482" y="2158620"/>
            <a:ext cx="702838" cy="3784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923BB91-EEBF-2EF3-46B2-01C1021816E6}"/>
              </a:ext>
            </a:extLst>
          </p:cNvPr>
          <p:cNvSpPr txBox="1"/>
          <p:nvPr/>
        </p:nvSpPr>
        <p:spPr>
          <a:xfrm>
            <a:off x="10098821" y="2180468"/>
            <a:ext cx="2282983" cy="3808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 err="1"/>
              <a:t>Parameter</a:t>
            </a:r>
            <a:r>
              <a:rPr lang="fr-FR" dirty="0"/>
              <a:t> value</a:t>
            </a:r>
          </a:p>
        </p:txBody>
      </p:sp>
    </p:spTree>
    <p:extLst>
      <p:ext uri="{BB962C8B-B14F-4D97-AF65-F5344CB8AC3E}">
        <p14:creationId xmlns:p14="http://schemas.microsoft.com/office/powerpoint/2010/main" val="394860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8CB4-5371-03F1-8C88-EE682D386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7B685B-E5D2-E78C-1C47-644E02879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Une image contenant capture d’écran, texte, Police, ligne&#10;&#10;Le contenu généré par l’IA peut être incorrect.">
            <a:extLst>
              <a:ext uri="{FF2B5EF4-FFF2-40B4-BE49-F238E27FC236}">
                <a16:creationId xmlns:a16="http://schemas.microsoft.com/office/drawing/2014/main" id="{090F84C1-B4F1-9B8F-BC83-D7C375B3C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047750"/>
            <a:ext cx="11106150" cy="4762500"/>
          </a:xfrm>
          <a:prstGeom prst="rect">
            <a:avLst/>
          </a:prstGeom>
        </p:spPr>
      </p:pic>
      <p:pic>
        <p:nvPicPr>
          <p:cNvPr id="6" name="Image 5" descr="Une image contenant Police, capture d’écran, cercle, texte&#10;&#10;Le contenu généré par l’IA peut être incorrect.">
            <a:extLst>
              <a:ext uri="{FF2B5EF4-FFF2-40B4-BE49-F238E27FC236}">
                <a16:creationId xmlns:a16="http://schemas.microsoft.com/office/drawing/2014/main" id="{05A29FAA-E955-ACE0-A13A-B17F3DEB5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32" y="1897881"/>
            <a:ext cx="8562975" cy="1628775"/>
          </a:xfrm>
          <a:prstGeom prst="rect">
            <a:avLst/>
          </a:prstGeom>
        </p:spPr>
      </p:pic>
      <p:pic>
        <p:nvPicPr>
          <p:cNvPr id="3" name="Image 2" descr="Une image contenant crochet&#10;&#10;Le contenu généré par l’IA peut être incorrect.">
            <a:extLst>
              <a:ext uri="{FF2B5EF4-FFF2-40B4-BE49-F238E27FC236}">
                <a16:creationId xmlns:a16="http://schemas.microsoft.com/office/drawing/2014/main" id="{D24E7684-3C73-EABB-87DF-FAF7385F08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453" y="2788279"/>
            <a:ext cx="952500" cy="647700"/>
          </a:xfrm>
          <a:prstGeom prst="rect">
            <a:avLst/>
          </a:prstGeom>
        </p:spPr>
      </p:pic>
      <p:pic>
        <p:nvPicPr>
          <p:cNvPr id="5" name="Image 4" descr="Une image contenant crochet&#10;&#10;Le contenu généré par l’IA peut être incorrect.">
            <a:extLst>
              <a:ext uri="{FF2B5EF4-FFF2-40B4-BE49-F238E27FC236}">
                <a16:creationId xmlns:a16="http://schemas.microsoft.com/office/drawing/2014/main" id="{3A2759A6-13BC-3B9D-2333-D9AAE95FC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453" y="2039364"/>
            <a:ext cx="952500" cy="647700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CF8F2685-DFFF-391A-A045-0D36A1A92D37}"/>
              </a:ext>
            </a:extLst>
          </p:cNvPr>
          <p:cNvSpPr/>
          <p:nvPr/>
        </p:nvSpPr>
        <p:spPr>
          <a:xfrm rot="13985876">
            <a:off x="10012801" y="1977313"/>
            <a:ext cx="702838" cy="3784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AF69309-6320-D53D-BC3E-B45CBB9D05B9}"/>
              </a:ext>
            </a:extLst>
          </p:cNvPr>
          <p:cNvSpPr txBox="1"/>
          <p:nvPr/>
        </p:nvSpPr>
        <p:spPr>
          <a:xfrm>
            <a:off x="10788935" y="2306215"/>
            <a:ext cx="2282983" cy="3808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 err="1"/>
              <a:t>Likelihood</a:t>
            </a:r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70FF43F-9C6F-D2A8-0E7F-287732BA00DF}"/>
              </a:ext>
            </a:extLst>
          </p:cNvPr>
          <p:cNvSpPr/>
          <p:nvPr/>
        </p:nvSpPr>
        <p:spPr>
          <a:xfrm>
            <a:off x="6096000" y="1047750"/>
            <a:ext cx="5739442" cy="64293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0087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C6631B-A34D-A1DE-8EEF-0373F1FDD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1F37B2C6-9C13-60C6-2EE9-90074BA30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1" name="Espace réservé du contenu 6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8740DF21-9197-01E9-8982-22D2514A1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997875" y="2673122"/>
            <a:ext cx="6188705" cy="232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611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2778-018E-5E05-5CA1-DF0763BB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346FEC-473F-BC2F-1576-F2B55C66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Bayesian</a:t>
            </a:r>
            <a:r>
              <a:rPr lang="fr-FR"/>
              <a:t> </a:t>
            </a:r>
            <a:r>
              <a:rPr lang="fr-FR" err="1"/>
              <a:t>Updating</a:t>
            </a:r>
          </a:p>
        </p:txBody>
      </p:sp>
      <p:pic>
        <p:nvPicPr>
          <p:cNvPr id="7" name="Espace réservé du contenu 6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BA66F5AB-FD03-5627-0FC3-300CE699C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2687" y="2839102"/>
            <a:ext cx="6188705" cy="2324384"/>
          </a:xfrm>
          <a:prstGeom prst="rect">
            <a:avLst/>
          </a:prstGeom>
        </p:spPr>
      </p:pic>
      <p:pic>
        <p:nvPicPr>
          <p:cNvPr id="4" name="Image 3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E2E02515-A9A4-A838-6E8B-97ADB39A6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395" y="2720566"/>
            <a:ext cx="5885507" cy="245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0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F84DFF-8949-4B96-608F-10FDE5591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7470E00-B831-9B73-5FCB-523B7FDD2E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669427" y="588936"/>
            <a:ext cx="11046769" cy="526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743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8100D-620C-9C84-5C75-4B6FEC610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A3072E-97E4-1ACF-D44B-ECEE8866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Espace réservé du contenu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519A7C4-4CAA-E561-9C81-A3FFEA7D6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47182" y="754298"/>
            <a:ext cx="11290090" cy="5022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2FF1AE9-9018-A8EA-C324-101CE6B6C123}"/>
              </a:ext>
            </a:extLst>
          </p:cNvPr>
          <p:cNvSpPr/>
          <p:nvPr/>
        </p:nvSpPr>
        <p:spPr>
          <a:xfrm>
            <a:off x="11299409" y="4801813"/>
            <a:ext cx="447961" cy="4932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6240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4FB66-1676-6CFF-2BD8-6FA4B5CD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 descr="Une image contenant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423A00EA-6987-9ACF-3521-2DC69B586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980212" y="1825625"/>
            <a:ext cx="42315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423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5381A-3CDD-114D-DD11-74F62D3A5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Probability</a:t>
            </a:r>
          </a:p>
        </p:txBody>
      </p:sp>
      <p:pic>
        <p:nvPicPr>
          <p:cNvPr id="4" name="Espace réservé du contenu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C96EE63-758F-7B8F-C16C-4C843AA56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664467" y="2226578"/>
            <a:ext cx="7419975" cy="3971925"/>
          </a:xfrm>
          <a:prstGeom prst="rect">
            <a:avLst/>
          </a:prstGeo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AD5E5707-41E5-EF0D-E60A-FDB5353CC3F5}"/>
              </a:ext>
            </a:extLst>
          </p:cNvPr>
          <p:cNvSpPr txBox="1">
            <a:spLocks/>
          </p:cNvSpPr>
          <p:nvPr/>
        </p:nvSpPr>
        <p:spPr bwMode="auto">
          <a:xfrm>
            <a:off x="838200" y="1486120"/>
            <a:ext cx="10515600" cy="47134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err="1"/>
              <a:t>Between</a:t>
            </a:r>
            <a:r>
              <a:rPr lang="fr-FR"/>
              <a:t> 0 and 1</a:t>
            </a:r>
          </a:p>
          <a:p>
            <a:r>
              <a:rPr lang="fr-FR"/>
              <a:t>More </a:t>
            </a:r>
            <a:r>
              <a:rPr lang="fr-FR" err="1"/>
              <a:t>interpretable</a:t>
            </a:r>
          </a:p>
          <a:p>
            <a:r>
              <a:rPr lang="fr-FR"/>
              <a:t>More comparable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005BE6E-EA56-1477-65C9-8270005EE468}"/>
              </a:ext>
            </a:extLst>
          </p:cNvPr>
          <p:cNvSpPr/>
          <p:nvPr/>
        </p:nvSpPr>
        <p:spPr>
          <a:xfrm>
            <a:off x="9479058" y="2640189"/>
            <a:ext cx="2423898" cy="34123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B9FF58F6-F699-E417-C4FD-CE49CD94D6E9}"/>
              </a:ext>
            </a:extLst>
          </p:cNvPr>
          <p:cNvSpPr/>
          <p:nvPr/>
        </p:nvSpPr>
        <p:spPr>
          <a:xfrm rot="5400000">
            <a:off x="10400164" y="1924740"/>
            <a:ext cx="702838" cy="3784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AB32A4A-79C3-4DD9-1168-2594DBDDAE2A}"/>
              </a:ext>
            </a:extLst>
          </p:cNvPr>
          <p:cNvSpPr txBox="1"/>
          <p:nvPr/>
        </p:nvSpPr>
        <p:spPr>
          <a:xfrm>
            <a:off x="9615969" y="1214766"/>
            <a:ext cx="2282983" cy="3808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err="1"/>
              <a:t>Posterior</a:t>
            </a:r>
            <a:r>
              <a:rPr lang="fr-FR"/>
              <a:t> distribution</a:t>
            </a:r>
          </a:p>
        </p:txBody>
      </p:sp>
    </p:spTree>
    <p:extLst>
      <p:ext uri="{BB962C8B-B14F-4D97-AF65-F5344CB8AC3E}">
        <p14:creationId xmlns:p14="http://schemas.microsoft.com/office/powerpoint/2010/main" val="422931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7000" b="-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DC1ED-D4C7-BB51-4D77-A6E30D84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81269-0547-1BD8-4EE4-80C8168C5F93}"/>
              </a:ext>
            </a:extLst>
          </p:cNvPr>
          <p:cNvSpPr/>
          <p:nvPr/>
        </p:nvSpPr>
        <p:spPr>
          <a:xfrm>
            <a:off x="9232201" y="6476704"/>
            <a:ext cx="1783347" cy="334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texte, Polic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A9C11753-58FE-8684-5991-807A1E81A9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3815" b="-172"/>
          <a:stretch>
            <a:fillRect/>
          </a:stretch>
        </p:blipFill>
        <p:spPr>
          <a:xfrm>
            <a:off x="113168" y="2570748"/>
            <a:ext cx="3475316" cy="403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7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7000" b="-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6F1E5-F101-7BD2-CF04-E1392533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87158A6-E6C0-A0F1-6F90-4D4537D79666}"/>
              </a:ext>
            </a:extLst>
          </p:cNvPr>
          <p:cNvSpPr/>
          <p:nvPr/>
        </p:nvSpPr>
        <p:spPr>
          <a:xfrm>
            <a:off x="9232201" y="6476704"/>
            <a:ext cx="1783347" cy="334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46550BBB-0D1A-F1CE-5055-38F5A81AE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90" y="1046856"/>
            <a:ext cx="10494476" cy="47642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05FEEB-8361-B2EC-6045-843D22AD6500}"/>
              </a:ext>
            </a:extLst>
          </p:cNvPr>
          <p:cNvSpPr/>
          <p:nvPr/>
        </p:nvSpPr>
        <p:spPr>
          <a:xfrm>
            <a:off x="4365963" y="2100862"/>
            <a:ext cx="6974001" cy="3707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8695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7000" b="-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0219A-82CB-D126-7C5D-86F9FE7C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C5E665-9AB3-BF37-50C8-8754F234D884}"/>
              </a:ext>
            </a:extLst>
          </p:cNvPr>
          <p:cNvSpPr/>
          <p:nvPr/>
        </p:nvSpPr>
        <p:spPr>
          <a:xfrm>
            <a:off x="9232201" y="6476704"/>
            <a:ext cx="1783347" cy="334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05CE2C55-C8DD-EFB2-5F6A-096CAB0CA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90" y="1046856"/>
            <a:ext cx="10494476" cy="47642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ACB910-BD0C-89E5-350F-67944C69FAD5}"/>
              </a:ext>
            </a:extLst>
          </p:cNvPr>
          <p:cNvSpPr/>
          <p:nvPr/>
        </p:nvSpPr>
        <p:spPr>
          <a:xfrm>
            <a:off x="7894897" y="2344452"/>
            <a:ext cx="3445067" cy="3457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735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7000" b="-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4F9F5-2BA7-63AC-36F7-2F8FC62A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629DFF-A2F6-43A1-27A6-2397E1753619}"/>
              </a:ext>
            </a:extLst>
          </p:cNvPr>
          <p:cNvSpPr/>
          <p:nvPr/>
        </p:nvSpPr>
        <p:spPr>
          <a:xfrm>
            <a:off x="9232201" y="6476704"/>
            <a:ext cx="1783347" cy="334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D2543D63-9DFC-2D13-833A-B855BBA4C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90" y="1046856"/>
            <a:ext cx="10494476" cy="47642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7BA4E4-F16A-8B68-7D2D-2DE9AB33ACB5}"/>
              </a:ext>
            </a:extLst>
          </p:cNvPr>
          <p:cNvSpPr/>
          <p:nvPr/>
        </p:nvSpPr>
        <p:spPr>
          <a:xfrm>
            <a:off x="11010304" y="4660630"/>
            <a:ext cx="336711" cy="4018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72513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7000" b="-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A5873-DDB1-4684-36FE-3DBCD20CE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F91B36A-565C-6412-5133-ED7ADEAEB03D}"/>
              </a:ext>
            </a:extLst>
          </p:cNvPr>
          <p:cNvSpPr/>
          <p:nvPr/>
        </p:nvSpPr>
        <p:spPr>
          <a:xfrm>
            <a:off x="9232201" y="6476704"/>
            <a:ext cx="1783347" cy="334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Espace réservé du contenu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E0532F1-6F70-BE1D-6636-0D9EEF7C2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80761" t="39339" r="2725" b="12462"/>
          <a:stretch>
            <a:fillRect/>
          </a:stretch>
        </p:blipFill>
        <p:spPr bwMode="auto">
          <a:xfrm>
            <a:off x="3050054" y="2636400"/>
            <a:ext cx="1864402" cy="2420916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4FC41ADF-78B1-3162-9D95-3FA2B665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39" y="251956"/>
            <a:ext cx="11624649" cy="2202485"/>
          </a:xfrm>
        </p:spPr>
        <p:txBody>
          <a:bodyPr>
            <a:normAutofit/>
          </a:bodyPr>
          <a:lstStyle/>
          <a:p>
            <a:r>
              <a:rPr lang="fr-FR" sz="4200" dirty="0"/>
              <a:t>How to do the </a:t>
            </a:r>
            <a:r>
              <a:rPr lang="fr-FR" sz="4200" dirty="0" err="1"/>
              <a:t>analysis</a:t>
            </a:r>
            <a:r>
              <a:rPr lang="fr-FR" sz="4200" dirty="0"/>
              <a:t> for </a:t>
            </a:r>
            <a:r>
              <a:rPr lang="fr-FR" sz="4200" dirty="0" err="1"/>
              <a:t>infinite</a:t>
            </a:r>
            <a:r>
              <a:rPr lang="fr-FR" sz="4200" dirty="0"/>
              <a:t> </a:t>
            </a:r>
            <a:r>
              <a:rPr lang="fr-FR" sz="4200" dirty="0" err="1"/>
              <a:t>possibilities</a:t>
            </a:r>
            <a:r>
              <a:rPr lang="fr-FR" sz="4200" dirty="0"/>
              <a:t> ?</a:t>
            </a:r>
            <a:br>
              <a:rPr lang="fr-FR" sz="4200" dirty="0"/>
            </a:br>
            <a:r>
              <a:rPr lang="fr-FR" sz="4200" dirty="0"/>
              <a:t>The globe </a:t>
            </a:r>
            <a:r>
              <a:rPr lang="fr-FR" sz="4200" dirty="0" err="1"/>
              <a:t>is</a:t>
            </a:r>
            <a:r>
              <a:rPr lang="fr-FR" sz="4200" dirty="0"/>
              <a:t> a </a:t>
            </a:r>
            <a:r>
              <a:rPr lang="fr-FR" sz="4200" dirty="0" err="1"/>
              <a:t>polyhedron</a:t>
            </a:r>
            <a:r>
              <a:rPr lang="fr-FR" sz="4200" dirty="0"/>
              <a:t> </a:t>
            </a:r>
            <a:r>
              <a:rPr lang="fr-FR" sz="4200" dirty="0" err="1"/>
              <a:t>with</a:t>
            </a:r>
            <a:r>
              <a:rPr lang="fr-FR" sz="4200" dirty="0"/>
              <a:t> </a:t>
            </a:r>
            <a:r>
              <a:rPr lang="fr-FR" sz="4200" dirty="0" err="1"/>
              <a:t>infinite</a:t>
            </a:r>
            <a:r>
              <a:rPr lang="fr-FR" sz="4200" dirty="0"/>
              <a:t> </a:t>
            </a:r>
            <a:r>
              <a:rPr lang="fr-FR" sz="4200" dirty="0" err="1"/>
              <a:t>number</a:t>
            </a:r>
            <a:r>
              <a:rPr lang="fr-FR" sz="4200" dirty="0"/>
              <a:t> of </a:t>
            </a:r>
            <a:r>
              <a:rPr lang="fr-FR" sz="4200" dirty="0" err="1"/>
              <a:t>sides</a:t>
            </a:r>
            <a:endParaRPr lang="fr-FR" sz="4200" dirty="0"/>
          </a:p>
        </p:txBody>
      </p:sp>
      <p:pic>
        <p:nvPicPr>
          <p:cNvPr id="8" name="Image 7" descr="Une image contenant Police, typographie, blanc, calligraphie&#10;&#10;Le contenu généré par l’IA peut être incorrect.">
            <a:extLst>
              <a:ext uri="{FF2B5EF4-FFF2-40B4-BE49-F238E27FC236}">
                <a16:creationId xmlns:a16="http://schemas.microsoft.com/office/drawing/2014/main" id="{32FFE113-401A-013D-D630-F9E19C5A0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546" y="2265858"/>
            <a:ext cx="2371725" cy="1000125"/>
          </a:xfrm>
          <a:prstGeom prst="rect">
            <a:avLst/>
          </a:prstGeom>
        </p:spPr>
      </p:pic>
      <p:pic>
        <p:nvPicPr>
          <p:cNvPr id="3" name="Image 2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41305467-C211-DE31-A244-14AABE7A54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421" y="3638352"/>
            <a:ext cx="5357284" cy="256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1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5A589B-4E41-84FB-9A33-B1D05FDE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 descr="Une image contenant texte, diagramme, cercle, Police&#10;&#10;Le contenu généré par l’IA peut être incorrect.">
            <a:extLst>
              <a:ext uri="{FF2B5EF4-FFF2-40B4-BE49-F238E27FC236}">
                <a16:creationId xmlns:a16="http://schemas.microsoft.com/office/drawing/2014/main" id="{74C5AEC9-9C52-A7A3-C015-064DB9796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804921" y="1825625"/>
            <a:ext cx="85821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657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14F5-4203-9A16-92B1-916E6CD1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F8A60-FF4C-E7C4-0678-43C7B43F7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Espace réservé du contenu 5" descr="Une image contenant texte, diagramme, cercle, Tracé&#10;&#10;Le contenu généré par l’IA peut être incorrect.">
            <a:extLst>
              <a:ext uri="{FF2B5EF4-FFF2-40B4-BE49-F238E27FC236}">
                <a16:creationId xmlns:a16="http://schemas.microsoft.com/office/drawing/2014/main" id="{91BD9EC8-6769-C474-1117-374D2C945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967653" y="1825625"/>
            <a:ext cx="82566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103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A435B-8169-8BE5-8C87-0A4EF091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20FF73-F181-2DBF-16DB-FE2B2E53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Power of multiplication</a:t>
            </a:r>
          </a:p>
        </p:txBody>
      </p:sp>
      <p:pic>
        <p:nvPicPr>
          <p:cNvPr id="5" name="Espace réservé du contenu 4" descr="Une image contenant texte, diagramme, ligne, Police&#10;&#10;Le contenu généré par l’IA peut être incorrect.">
            <a:extLst>
              <a:ext uri="{FF2B5EF4-FFF2-40B4-BE49-F238E27FC236}">
                <a16:creationId xmlns:a16="http://schemas.microsoft.com/office/drawing/2014/main" id="{24CAEE05-B5B7-AB87-9DD3-E888BD298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382050" y="1825625"/>
            <a:ext cx="94278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4A43F2-BEEC-B3DF-4D8F-58041D00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 descr="Une image contenant texte, diagramme, cercle, Tracé&#10;&#10;Le contenu généré par l’IA peut être incorrect.">
            <a:extLst>
              <a:ext uri="{FF2B5EF4-FFF2-40B4-BE49-F238E27FC236}">
                <a16:creationId xmlns:a16="http://schemas.microsoft.com/office/drawing/2014/main" id="{0999CCAC-C3D1-1BD7-2FD9-7052A3896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919464" y="1825625"/>
            <a:ext cx="83530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543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7C9B8E-ABD7-026F-B8FE-A2146A2BF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237799-4070-7EFB-D5BA-188109A97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croquis, dessin, diagramme, Dessin technique&#10;&#10;Le contenu généré par l’IA peut être incorrect.">
            <a:extLst>
              <a:ext uri="{FF2B5EF4-FFF2-40B4-BE49-F238E27FC236}">
                <a16:creationId xmlns:a16="http://schemas.microsoft.com/office/drawing/2014/main" id="{1F92F240-D7CE-2570-13EC-AF9049A5C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847364"/>
            <a:ext cx="7344800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0054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BD84B4-B2B3-8B70-2583-4AE77AC5A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D6EC2313-9407-2936-2477-D633A2163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704491" y="1147130"/>
            <a:ext cx="10775829" cy="482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291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D80B9E-4432-ED9C-4005-0D04113A4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Bayesian</a:t>
            </a:r>
            <a:r>
              <a:rPr lang="fr-FR"/>
              <a:t> </a:t>
            </a:r>
            <a:r>
              <a:rPr lang="fr-FR" err="1"/>
              <a:t>Inference</a:t>
            </a:r>
            <a:r>
              <a:rPr lang="fr-FR"/>
              <a:t> by hand</a:t>
            </a:r>
          </a:p>
        </p:txBody>
      </p:sp>
      <p:pic>
        <p:nvPicPr>
          <p:cNvPr id="4" name="Espace réservé du contenu 3" descr="Statistique bayésienne — Wikipédia">
            <a:extLst>
              <a:ext uri="{FF2B5EF4-FFF2-40B4-BE49-F238E27FC236}">
                <a16:creationId xmlns:a16="http://schemas.microsoft.com/office/drawing/2014/main" id="{4748F19A-3C73-9BAE-4B51-129BA6349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757737" y="3144044"/>
            <a:ext cx="2676525" cy="1714500"/>
          </a:xfrm>
          <a:prstGeom prst="rect">
            <a:avLst/>
          </a:prstGeom>
        </p:spPr>
      </p:pic>
      <p:pic>
        <p:nvPicPr>
          <p:cNvPr id="5" name="Graphique 4" descr="Langue des signes avec un remplissage uni">
            <a:extLst>
              <a:ext uri="{FF2B5EF4-FFF2-40B4-BE49-F238E27FC236}">
                <a16:creationId xmlns:a16="http://schemas.microsoft.com/office/drawing/2014/main" id="{B26FA788-39E8-1BBE-1950-154515E7F0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3512" y="2481404"/>
            <a:ext cx="2491211" cy="2476122"/>
          </a:xfrm>
          <a:prstGeom prst="rect">
            <a:avLst/>
          </a:prstGeom>
        </p:spPr>
      </p:pic>
      <p:pic>
        <p:nvPicPr>
          <p:cNvPr id="6" name="Graphique 5" descr="Langue des signes avec un remplissage uni">
            <a:extLst>
              <a:ext uri="{FF2B5EF4-FFF2-40B4-BE49-F238E27FC236}">
                <a16:creationId xmlns:a16="http://schemas.microsoft.com/office/drawing/2014/main" id="{3DA8A110-2A80-E4EA-4609-EDA44D692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500265" y="2481403"/>
            <a:ext cx="2491211" cy="247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12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89581A-B0C2-475A-7045-99E5298E5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Espace réservé du contenu 8" descr="Une image contenant texte, diagramm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2D0FAE4-A255-154B-C6D3-A05FFD0EA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69900" y="136286"/>
            <a:ext cx="12168502" cy="636416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7D63CA1-445F-837C-FFFB-E927C8659A05}"/>
              </a:ext>
            </a:extLst>
          </p:cNvPr>
          <p:cNvSpPr txBox="1"/>
          <p:nvPr/>
        </p:nvSpPr>
        <p:spPr>
          <a:xfrm>
            <a:off x="589099" y="30036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rgbClr val="FF0000"/>
                </a:solidFill>
              </a:rPr>
              <a:t>Globe </a:t>
            </a:r>
            <a:r>
              <a:rPr lang="fr-FR" err="1">
                <a:solidFill>
                  <a:srgbClr val="FF0000"/>
                </a:solidFill>
              </a:rPr>
              <a:t>Tossing</a:t>
            </a:r>
            <a:r>
              <a:rPr lang="fr-FR">
                <a:solidFill>
                  <a:srgbClr val="FF0000"/>
                </a:solidFill>
              </a:rPr>
              <a:t> model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625EB19-CC97-457A-5C13-06B8C8BD53A6}"/>
              </a:ext>
            </a:extLst>
          </p:cNvPr>
          <p:cNvSpPr txBox="1"/>
          <p:nvPr/>
        </p:nvSpPr>
        <p:spPr>
          <a:xfrm>
            <a:off x="978725" y="5312699"/>
            <a:ext cx="30738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rgbClr val="FF0000"/>
                </a:solidFill>
              </a:rPr>
              <a:t>Proportion </a:t>
            </a:r>
            <a:r>
              <a:rPr lang="fr-FR" err="1">
                <a:solidFill>
                  <a:srgbClr val="FF0000"/>
                </a:solidFill>
              </a:rPr>
              <a:t>covered</a:t>
            </a:r>
            <a:r>
              <a:rPr lang="fr-FR">
                <a:solidFill>
                  <a:srgbClr val="FF0000"/>
                </a:solidFill>
              </a:rPr>
              <a:t> in water</a:t>
            </a:r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A221C41-1FC5-5AD3-2391-14310B56AEDE}"/>
              </a:ext>
            </a:extLst>
          </p:cNvPr>
          <p:cNvSpPr txBox="1"/>
          <p:nvPr/>
        </p:nvSpPr>
        <p:spPr>
          <a:xfrm>
            <a:off x="9928076" y="3631772"/>
            <a:ext cx="14291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rgbClr val="FF0000"/>
                </a:solidFill>
              </a:rPr>
              <a:t>The </a:t>
            </a:r>
            <a:r>
              <a:rPr lang="fr-FR" err="1">
                <a:solidFill>
                  <a:srgbClr val="FF0000"/>
                </a:solidFill>
              </a:rPr>
              <a:t>curve</a:t>
            </a:r>
            <a:r>
              <a:rPr lang="fr-FR">
                <a:solidFill>
                  <a:srgbClr val="FF0000"/>
                </a:solidFill>
              </a:rPr>
              <a:t> (</a:t>
            </a:r>
            <a:r>
              <a:rPr lang="fr-FR" err="1">
                <a:solidFill>
                  <a:srgbClr val="FF0000"/>
                </a:solidFill>
              </a:rPr>
              <a:t>posterior</a:t>
            </a:r>
            <a:r>
              <a:rPr lang="fr-FR">
                <a:solidFill>
                  <a:srgbClr val="FF0000"/>
                </a:solidFill>
              </a:rPr>
              <a:t> distribution)</a:t>
            </a:r>
            <a:endParaRPr lang="fr-FR" err="1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85DFB86-AF92-F3D3-345A-EFB3DE342E07}"/>
              </a:ext>
            </a:extLst>
          </p:cNvPr>
          <p:cNvSpPr txBox="1"/>
          <p:nvPr/>
        </p:nvSpPr>
        <p:spPr>
          <a:xfrm>
            <a:off x="5191605" y="2433697"/>
            <a:ext cx="196483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rgbClr val="FF0000"/>
                </a:solidFill>
              </a:rPr>
              <a:t>The multiplications (</a:t>
            </a:r>
            <a:r>
              <a:rPr lang="fr-FR" err="1">
                <a:solidFill>
                  <a:srgbClr val="FF0000"/>
                </a:solidFill>
              </a:rPr>
              <a:t>Bayesian</a:t>
            </a:r>
            <a:r>
              <a:rPr lang="fr-FR">
                <a:solidFill>
                  <a:srgbClr val="FF0000"/>
                </a:solidFill>
              </a:rPr>
              <a:t> </a:t>
            </a:r>
            <a:r>
              <a:rPr lang="fr-FR" err="1">
                <a:solidFill>
                  <a:srgbClr val="FF0000"/>
                </a:solidFill>
              </a:rPr>
              <a:t>estimator</a:t>
            </a:r>
            <a:r>
              <a:rPr lang="fr-FR">
                <a:solidFill>
                  <a:srgbClr val="FF0000"/>
                </a:solidFill>
              </a:rPr>
              <a:t>)</a:t>
            </a:r>
            <a:endParaRPr lang="fr-FR" err="1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AEB20E7-4C7E-264F-8082-AE848D0BB7A0}"/>
              </a:ext>
            </a:extLst>
          </p:cNvPr>
          <p:cNvSpPr txBox="1"/>
          <p:nvPr/>
        </p:nvSpPr>
        <p:spPr>
          <a:xfrm>
            <a:off x="6626580" y="1982533"/>
            <a:ext cx="19648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rgbClr val="FF0000"/>
                </a:solidFill>
              </a:rPr>
              <a:t>The  tosses</a:t>
            </a:r>
            <a:endParaRPr lang="fr-FR" err="1"/>
          </a:p>
        </p:txBody>
      </p:sp>
    </p:spTree>
    <p:extLst>
      <p:ext uri="{BB962C8B-B14F-4D97-AF65-F5344CB8AC3E}">
        <p14:creationId xmlns:p14="http://schemas.microsoft.com/office/powerpoint/2010/main" val="29017183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7B8517-A111-5178-AF62-D69F69F89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3764"/>
            <a:ext cx="10515600" cy="9110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err="1"/>
              <a:t>Sample</a:t>
            </a:r>
            <a:r>
              <a:rPr lang="fr-FR"/>
              <a:t> size = no minimum : the </a:t>
            </a:r>
            <a:r>
              <a:rPr lang="fr-FR" err="1"/>
              <a:t>bayesian</a:t>
            </a:r>
            <a:r>
              <a:rPr lang="fr-FR"/>
              <a:t> </a:t>
            </a:r>
            <a:r>
              <a:rPr lang="fr-FR" err="1"/>
              <a:t>inference</a:t>
            </a:r>
            <a:r>
              <a:rPr lang="fr-FR"/>
              <a:t> </a:t>
            </a:r>
            <a:r>
              <a:rPr lang="fr-FR" err="1"/>
              <a:t>is</a:t>
            </a:r>
            <a:r>
              <a:rPr lang="fr-FR"/>
              <a:t> the exact distribution for the exact </a:t>
            </a:r>
            <a:r>
              <a:rPr lang="fr-FR" err="1"/>
              <a:t>sample</a:t>
            </a:r>
            <a:r>
              <a:rPr lang="fr-FR"/>
              <a:t> size </a:t>
            </a:r>
            <a:r>
              <a:rPr lang="fr-FR" err="1"/>
              <a:t>you</a:t>
            </a:r>
            <a:r>
              <a:rPr lang="fr-FR"/>
              <a:t> have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21888D61-F314-E6E2-7FB1-9226A7BA809B}"/>
              </a:ext>
            </a:extLst>
          </p:cNvPr>
          <p:cNvSpPr txBox="1">
            <a:spLocks/>
          </p:cNvSpPr>
          <p:nvPr/>
        </p:nvSpPr>
        <p:spPr bwMode="auto">
          <a:xfrm>
            <a:off x="839709" y="1661154"/>
            <a:ext cx="10515600" cy="9110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Shape </a:t>
            </a:r>
            <a:r>
              <a:rPr lang="fr-FR" err="1"/>
              <a:t>embodies</a:t>
            </a:r>
            <a:r>
              <a:rPr lang="fr-FR"/>
              <a:t> </a:t>
            </a:r>
            <a:r>
              <a:rPr lang="fr-FR" err="1"/>
              <a:t>sample</a:t>
            </a:r>
            <a:r>
              <a:rPr lang="fr-FR"/>
              <a:t> size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48DAA04C-71C0-755B-F2DE-D44C17639AC5}"/>
              </a:ext>
            </a:extLst>
          </p:cNvPr>
          <p:cNvSpPr txBox="1">
            <a:spLocks/>
          </p:cNvSpPr>
          <p:nvPr/>
        </p:nvSpPr>
        <p:spPr bwMode="auto">
          <a:xfrm>
            <a:off x="839708" y="2310727"/>
            <a:ext cx="10515600" cy="9110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No point </a:t>
            </a:r>
            <a:r>
              <a:rPr lang="fr-FR" err="1"/>
              <a:t>estimate</a:t>
            </a:r>
            <a:r>
              <a:rPr lang="fr-FR"/>
              <a:t>. The </a:t>
            </a:r>
            <a:r>
              <a:rPr lang="fr-FR" err="1"/>
              <a:t>estimate</a:t>
            </a:r>
            <a:r>
              <a:rPr lang="fr-FR"/>
              <a:t> </a:t>
            </a:r>
            <a:r>
              <a:rPr lang="fr-FR" err="1"/>
              <a:t>is</a:t>
            </a:r>
            <a:r>
              <a:rPr lang="fr-FR"/>
              <a:t> the distribution</a:t>
            </a:r>
          </a:p>
        </p:txBody>
      </p:sp>
      <p:pic>
        <p:nvPicPr>
          <p:cNvPr id="4" name="Image 3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FCE6BE04-B905-1AF9-1D4B-21A416718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246" y="3071537"/>
            <a:ext cx="6089755" cy="318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5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215F-D7F7-D795-C7CF-C3971308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46BF8A-D589-9577-39DB-D307CAF6A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3764"/>
            <a:ext cx="10515600" cy="9110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err="1"/>
              <a:t>We</a:t>
            </a:r>
            <a:r>
              <a:rPr lang="fr-FR"/>
              <a:t> </a:t>
            </a:r>
            <a:r>
              <a:rPr lang="fr-FR" err="1"/>
              <a:t>applied</a:t>
            </a:r>
            <a:r>
              <a:rPr lang="fr-FR"/>
              <a:t> default </a:t>
            </a:r>
            <a:r>
              <a:rPr lang="fr-FR" err="1"/>
              <a:t>prior</a:t>
            </a:r>
            <a:r>
              <a:rPr lang="fr-FR"/>
              <a:t> (50% chances Land, 50% chances water) but </a:t>
            </a:r>
            <a:r>
              <a:rPr lang="fr-FR" err="1"/>
              <a:t>nobody</a:t>
            </a:r>
            <a:r>
              <a:rPr lang="fr-FR"/>
              <a:t> </a:t>
            </a:r>
            <a:r>
              <a:rPr lang="fr-FR" err="1"/>
              <a:t>believed</a:t>
            </a:r>
            <a:r>
              <a:rPr lang="fr-FR"/>
              <a:t> </a:t>
            </a:r>
            <a:r>
              <a:rPr lang="fr-FR" err="1"/>
              <a:t>that</a:t>
            </a:r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877AA798-0F23-FB24-F29E-363B62724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46" y="1575397"/>
            <a:ext cx="5715000" cy="1428750"/>
          </a:xfrm>
          <a:prstGeom prst="rect">
            <a:avLst/>
          </a:prstGeom>
        </p:spPr>
      </p:pic>
      <p:pic>
        <p:nvPicPr>
          <p:cNvPr id="6" name="Image 5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9F86E59-1AB9-C2DA-FB44-926B86978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410" y="1656596"/>
            <a:ext cx="5327022" cy="244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2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B0473-463F-83F0-6E76-D15C320C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 descr="Une image contenant texte, Tracé, ligne, diagramme&#10;&#10;Le contenu généré par l’IA peut être incorrect.">
            <a:extLst>
              <a:ext uri="{FF2B5EF4-FFF2-40B4-BE49-F238E27FC236}">
                <a16:creationId xmlns:a16="http://schemas.microsoft.com/office/drawing/2014/main" id="{9B32991E-C052-62E1-9A65-86C26D5F3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24" t="2151" b="1768"/>
          <a:stretch>
            <a:fillRect/>
          </a:stretch>
        </p:blipFill>
        <p:spPr bwMode="auto">
          <a:xfrm>
            <a:off x="6296981" y="364083"/>
            <a:ext cx="4469852" cy="3299491"/>
          </a:xfrm>
          <a:prstGeom prst="rect">
            <a:avLst/>
          </a:prstGeom>
        </p:spPr>
      </p:pic>
      <p:pic>
        <p:nvPicPr>
          <p:cNvPr id="5" name="Image 4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8083C74B-0225-9EA8-2337-10E4ADBE2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63" y="235158"/>
            <a:ext cx="3629962" cy="3370914"/>
          </a:xfrm>
          <a:prstGeom prst="rect">
            <a:avLst/>
          </a:prstGeom>
        </p:spPr>
      </p:pic>
      <p:pic>
        <p:nvPicPr>
          <p:cNvPr id="6" name="Image 5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6A6B4C8-5AC9-AA6C-9596-4E31018D2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257" y="3655486"/>
            <a:ext cx="5991694" cy="279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508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E22F20-515A-00C0-8EF3-388DC0A5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E7C1D8-FA0E-5D7D-4966-887FDDE64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 descr="Une image contenant cercle, croquis, conception, art&#10;&#10;Le contenu généré par l’IA peut être incorrect.">
            <a:extLst>
              <a:ext uri="{FF2B5EF4-FFF2-40B4-BE49-F238E27FC236}">
                <a16:creationId xmlns:a16="http://schemas.microsoft.com/office/drawing/2014/main" id="{791F0B0B-70A9-197B-2C32-3EA5CC3D8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064" y="600071"/>
            <a:ext cx="5969872" cy="565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11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80</TotalTime>
  <Words>1389</Words>
  <Application>Microsoft Office PowerPoint</Application>
  <PresentationFormat>Grand écran</PresentationFormat>
  <Paragraphs>158</Paragraphs>
  <Slides>62</Slides>
  <Notes>36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62</vt:i4>
      </vt:variant>
    </vt:vector>
  </HeadingPairs>
  <TitlesOfParts>
    <vt:vector size="63" baseType="lpstr">
      <vt:lpstr>Office Theme</vt:lpstr>
      <vt:lpstr>Doing bayesian analysis by hand</vt:lpstr>
      <vt:lpstr>Présentation PowerPoint</vt:lpstr>
      <vt:lpstr>Présentation PowerPoint</vt:lpstr>
      <vt:lpstr>Présentation PowerPoint</vt:lpstr>
      <vt:lpstr>Bayesian Inference</vt:lpstr>
      <vt:lpstr>Présentation PowerPoint</vt:lpstr>
      <vt:lpstr>The garden of forking data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Bayesian Updating</vt:lpstr>
      <vt:lpstr>Présentation PowerPoint</vt:lpstr>
      <vt:lpstr>Présentation PowerPoint</vt:lpstr>
      <vt:lpstr>Présentation PowerPoint</vt:lpstr>
      <vt:lpstr>Probability</vt:lpstr>
      <vt:lpstr>Présentation PowerPoint</vt:lpstr>
      <vt:lpstr>Présentation PowerPoint</vt:lpstr>
      <vt:lpstr>Présentation PowerPoint</vt:lpstr>
      <vt:lpstr>Présentation PowerPoint</vt:lpstr>
      <vt:lpstr>How to do the analysis for infinite possibilities ? The globe is a polyhedron with infinite number of sides</vt:lpstr>
      <vt:lpstr>Présentation PowerPoint</vt:lpstr>
      <vt:lpstr>Présentation PowerPoint</vt:lpstr>
      <vt:lpstr>Power of multiplication</vt:lpstr>
      <vt:lpstr>Présentation PowerPoint</vt:lpstr>
      <vt:lpstr>Présentation PowerPoint</vt:lpstr>
      <vt:lpstr>Présentation PowerPoint</vt:lpstr>
      <vt:lpstr>Bayesian Inference by hand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adrien fillon</cp:lastModifiedBy>
  <cp:revision>2</cp:revision>
  <dcterms:created xsi:type="dcterms:W3CDTF">2012-12-03T06:56:55Z</dcterms:created>
  <dcterms:modified xsi:type="dcterms:W3CDTF">2026-03-16T08:37:29Z</dcterms:modified>
</cp:coreProperties>
</file>
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82" r:id="rId3"/>
    <p:sldId id="283" r:id="rId4"/>
    <p:sldId id="285" r:id="rId5"/>
    <p:sldId id="286" r:id="rId6"/>
    <p:sldId id="287" r:id="rId7"/>
    <p:sldId id="288" r:id="rId8"/>
    <p:sldId id="289" r:id="rId9"/>
    <p:sldId id="290" r:id="rId10"/>
    <p:sldId id="291" r:id="rId11"/>
    <p:sldId id="292" r:id="rId12"/>
    <p:sldId id="293" r:id="rId13"/>
    <p:sldId id="284" r:id="rId14"/>
    <p:sldId id="271" r:id="rId15"/>
    <p:sldId id="263" r:id="rId16"/>
    <p:sldId id="274" r:id="rId17"/>
    <p:sldId id="264" r:id="rId18"/>
    <p:sldId id="294" r:id="rId19"/>
    <p:sldId id="258" r:id="rId20"/>
    <p:sldId id="295" r:id="rId21"/>
    <p:sldId id="296" r:id="rId22"/>
    <p:sldId id="297" r:id="rId23"/>
    <p:sldId id="298" r:id="rId24"/>
    <p:sldId id="299" r:id="rId25"/>
    <p:sldId id="300" r:id="rId26"/>
    <p:sldId id="280" r:id="rId27"/>
    <p:sldId id="281" r:id="rId28"/>
    <p:sldId id="301" r:id="rId29"/>
    <p:sldId id="302" r:id="rId30"/>
    <p:sldId id="304" r:id="rId31"/>
    <p:sldId id="303" r:id="rId3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BC5AD3-C2E0-455A-9069-6F9DC883CDE3}" v="316" dt="2026-03-13T08:44:14.4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2898" autoAdjust="0"/>
  </p:normalViewPr>
  <p:slideViewPr>
    <p:cSldViewPr snapToGrid="0">
      <p:cViewPr varScale="1">
        <p:scale>
          <a:sx n="99" d="100"/>
          <a:sy n="99" d="100"/>
        </p:scale>
        <p:origin x="90" y="29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6F0F27-621E-41B7-81DE-41C36B5507F6}" type="datetimeFigureOut">
              <a:rPr lang="fr-FR" smtClean="0"/>
              <a:t>16/03/2026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407125-9AE1-4882-AD08-AC9091C1B3B5}" type="slidenum">
              <a:rPr lang="fr-FR" smtClean="0"/>
              <a:t>‹N°›</a:t>
            </a:fld>
            <a:endParaRPr lang="fr-FR"/>
          </a:p>
        </p:txBody>
      </p:sp>
    </p:spTree>
    <p:extLst>
      <p:ext uri="{BB962C8B-B14F-4D97-AF65-F5344CB8AC3E}">
        <p14:creationId xmlns:p14="http://schemas.microsoft.com/office/powerpoint/2010/main" val="181867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2407125-9AE1-4882-AD08-AC9091C1B3B5}" type="slidenum">
              <a:rPr lang="fr-FR" smtClean="0"/>
              <a:t>1</a:t>
            </a:fld>
            <a:endParaRPr lang="fr-FR"/>
          </a:p>
        </p:txBody>
      </p:sp>
    </p:spTree>
    <p:extLst>
      <p:ext uri="{BB962C8B-B14F-4D97-AF65-F5344CB8AC3E}">
        <p14:creationId xmlns:p14="http://schemas.microsoft.com/office/powerpoint/2010/main" val="1602468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Pourquoi fait-on des expérimentations en psychologie ?</a:t>
            </a:r>
          </a:p>
          <a:p>
            <a:endParaRPr lang="fr-FR" dirty="0"/>
          </a:p>
          <a:p>
            <a:r>
              <a:rPr lang="fr-FR" dirty="0"/>
              <a:t>Parfois c’est pour tester rigoureusement l’existence de théories mais parfois aussi c’est pour être utile à la société. On pourrait argumenter que c’est pas de la science parce que faire des expérimentations sans avoir l’objectif de créer de la théorie, c’est pas vraiment de la science (</a:t>
            </a:r>
            <a:r>
              <a:rPr lang="fr-FR" dirty="0" err="1"/>
              <a:t>popper</a:t>
            </a:r>
            <a:r>
              <a:rPr lang="fr-FR" dirty="0"/>
              <a:t>, la science c’est de la conjecture et de la réfutation).</a:t>
            </a:r>
          </a:p>
          <a:p>
            <a:r>
              <a:rPr lang="fr-FR" dirty="0"/>
              <a:t>Moi je m’en fiche parce que ce qui m’intéresse ici, c’est pas ce qu’est la science, mais ce que font les scientifiques, et les scientifiques en psychologie sociale mais pas que, font beaucoup d’études avec comme objectif principal que leur intervention soit utile à la société.</a:t>
            </a:r>
          </a:p>
        </p:txBody>
      </p:sp>
      <p:sp>
        <p:nvSpPr>
          <p:cNvPr id="4" name="Espace réservé du numéro de diapositive 3"/>
          <p:cNvSpPr>
            <a:spLocks noGrp="1"/>
          </p:cNvSpPr>
          <p:nvPr>
            <p:ph type="sldNum" sz="quarter" idx="5"/>
          </p:nvPr>
        </p:nvSpPr>
        <p:spPr/>
        <p:txBody>
          <a:bodyPr/>
          <a:lstStyle/>
          <a:p>
            <a:fld id="{B2407125-9AE1-4882-AD08-AC9091C1B3B5}" type="slidenum">
              <a:rPr lang="fr-FR" smtClean="0"/>
              <a:t>2</a:t>
            </a:fld>
            <a:endParaRPr lang="fr-FR"/>
          </a:p>
        </p:txBody>
      </p:sp>
    </p:spTree>
    <p:extLst>
      <p:ext uri="{BB962C8B-B14F-4D97-AF65-F5344CB8AC3E}">
        <p14:creationId xmlns:p14="http://schemas.microsoft.com/office/powerpoint/2010/main" val="5191079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Quelques exemples:</a:t>
            </a:r>
          </a:p>
          <a:p>
            <a:r>
              <a:rPr lang="fr-FR" dirty="0"/>
              <a:t>Le </a:t>
            </a:r>
            <a:r>
              <a:rPr lang="fr-FR" dirty="0" err="1"/>
              <a:t>growth</a:t>
            </a:r>
            <a:r>
              <a:rPr lang="fr-FR" dirty="0"/>
              <a:t> </a:t>
            </a:r>
            <a:r>
              <a:rPr lang="fr-FR" dirty="0" err="1"/>
              <a:t>Mindset</a:t>
            </a:r>
            <a:endParaRPr lang="fr-FR" dirty="0"/>
          </a:p>
          <a:p>
            <a:r>
              <a:rPr lang="fr-FR" dirty="0"/>
              <a:t>L’</a:t>
            </a:r>
            <a:r>
              <a:rPr lang="fr-FR" dirty="0" err="1"/>
              <a:t>implementation</a:t>
            </a:r>
            <a:r>
              <a:rPr lang="fr-FR" dirty="0"/>
              <a:t> d’intention</a:t>
            </a:r>
          </a:p>
          <a:p>
            <a:r>
              <a:rPr lang="fr-FR" dirty="0"/>
              <a:t>Les interventions d’affirmation de soi</a:t>
            </a:r>
          </a:p>
          <a:p>
            <a:r>
              <a:rPr lang="fr-FR" dirty="0"/>
              <a:t>Les </a:t>
            </a:r>
            <a:r>
              <a:rPr lang="fr-FR" dirty="0" err="1"/>
              <a:t>nudges</a:t>
            </a:r>
            <a:endParaRPr lang="fr-FR" dirty="0"/>
          </a:p>
        </p:txBody>
      </p:sp>
      <p:sp>
        <p:nvSpPr>
          <p:cNvPr id="4" name="Espace réservé du numéro de diapositive 3"/>
          <p:cNvSpPr>
            <a:spLocks noGrp="1"/>
          </p:cNvSpPr>
          <p:nvPr>
            <p:ph type="sldNum" sz="quarter" idx="5"/>
          </p:nvPr>
        </p:nvSpPr>
        <p:spPr/>
        <p:txBody>
          <a:bodyPr/>
          <a:lstStyle/>
          <a:p>
            <a:fld id="{B2407125-9AE1-4882-AD08-AC9091C1B3B5}" type="slidenum">
              <a:rPr lang="fr-FR" smtClean="0"/>
              <a:t>3</a:t>
            </a:fld>
            <a:endParaRPr lang="fr-FR"/>
          </a:p>
        </p:txBody>
      </p:sp>
    </p:spTree>
    <p:extLst>
      <p:ext uri="{BB962C8B-B14F-4D97-AF65-F5344CB8AC3E}">
        <p14:creationId xmlns:p14="http://schemas.microsoft.com/office/powerpoint/2010/main" val="21364102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EDBFC-E3E6-060C-2111-BEEFF59672F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C3090FE-B5B7-87B6-CBC0-EA47FC7A2DB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D573558-E24F-7A31-AF0E-933ADEEFB879}"/>
              </a:ext>
            </a:extLst>
          </p:cNvPr>
          <p:cNvSpPr>
            <a:spLocks noGrp="1"/>
          </p:cNvSpPr>
          <p:nvPr>
            <p:ph type="body" idx="1"/>
          </p:nvPr>
        </p:nvSpPr>
        <p:spPr/>
        <p:txBody>
          <a:bodyPr/>
          <a:lstStyle/>
          <a:p>
            <a:r>
              <a:rPr lang="fr-FR" dirty="0"/>
              <a:t>Quelques exemples:</a:t>
            </a:r>
          </a:p>
          <a:p>
            <a:r>
              <a:rPr lang="fr-FR" dirty="0"/>
              <a:t>Le </a:t>
            </a:r>
            <a:r>
              <a:rPr lang="fr-FR" dirty="0" err="1"/>
              <a:t>growth</a:t>
            </a:r>
            <a:r>
              <a:rPr lang="fr-FR" dirty="0"/>
              <a:t> </a:t>
            </a:r>
            <a:r>
              <a:rPr lang="fr-FR" dirty="0" err="1"/>
              <a:t>Mindset</a:t>
            </a:r>
            <a:endParaRPr lang="fr-FR" dirty="0"/>
          </a:p>
          <a:p>
            <a:r>
              <a:rPr lang="fr-FR" dirty="0"/>
              <a:t>L’</a:t>
            </a:r>
            <a:r>
              <a:rPr lang="fr-FR" dirty="0" err="1"/>
              <a:t>implementation</a:t>
            </a:r>
            <a:r>
              <a:rPr lang="fr-FR" dirty="0"/>
              <a:t> d’intention</a:t>
            </a:r>
          </a:p>
          <a:p>
            <a:r>
              <a:rPr lang="fr-FR" dirty="0"/>
              <a:t>Les interventions d’affirmation de soi</a:t>
            </a:r>
          </a:p>
          <a:p>
            <a:r>
              <a:rPr lang="fr-FR" dirty="0"/>
              <a:t>Les </a:t>
            </a:r>
            <a:r>
              <a:rPr lang="fr-FR" dirty="0" err="1"/>
              <a:t>nudges</a:t>
            </a:r>
            <a:endParaRPr lang="fr-FR" dirty="0"/>
          </a:p>
        </p:txBody>
      </p:sp>
      <p:sp>
        <p:nvSpPr>
          <p:cNvPr id="4" name="Espace réservé du numéro de diapositive 3">
            <a:extLst>
              <a:ext uri="{FF2B5EF4-FFF2-40B4-BE49-F238E27FC236}">
                <a16:creationId xmlns:a16="http://schemas.microsoft.com/office/drawing/2014/main" id="{3E63E4DD-0BF6-BB94-6B7D-7E29ADB32B8E}"/>
              </a:ext>
            </a:extLst>
          </p:cNvPr>
          <p:cNvSpPr>
            <a:spLocks noGrp="1"/>
          </p:cNvSpPr>
          <p:nvPr>
            <p:ph type="sldNum" sz="quarter" idx="5"/>
          </p:nvPr>
        </p:nvSpPr>
        <p:spPr/>
        <p:txBody>
          <a:bodyPr/>
          <a:lstStyle/>
          <a:p>
            <a:fld id="{B2407125-9AE1-4882-AD08-AC9091C1B3B5}" type="slidenum">
              <a:rPr lang="fr-FR" smtClean="0"/>
              <a:t>4</a:t>
            </a:fld>
            <a:endParaRPr lang="fr-FR"/>
          </a:p>
        </p:txBody>
      </p:sp>
    </p:spTree>
    <p:extLst>
      <p:ext uri="{BB962C8B-B14F-4D97-AF65-F5344CB8AC3E}">
        <p14:creationId xmlns:p14="http://schemas.microsoft.com/office/powerpoint/2010/main" val="25607290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2F0CD-5196-9366-CD74-E4C616A0FB0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D94FCF0-09D0-3AA3-6E1A-7D9E44F7E0B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E9E9F6D-0474-3AD7-77F8-CF47DFBBA80A}"/>
              </a:ext>
            </a:extLst>
          </p:cNvPr>
          <p:cNvSpPr>
            <a:spLocks noGrp="1"/>
          </p:cNvSpPr>
          <p:nvPr>
            <p:ph type="body" idx="1"/>
          </p:nvPr>
        </p:nvSpPr>
        <p:spPr/>
        <p:txBody>
          <a:bodyPr/>
          <a:lstStyle/>
          <a:p>
            <a:r>
              <a:rPr lang="fr-FR" dirty="0"/>
              <a:t>Quelques exemples:</a:t>
            </a:r>
          </a:p>
          <a:p>
            <a:r>
              <a:rPr lang="fr-FR" dirty="0"/>
              <a:t>Le </a:t>
            </a:r>
            <a:r>
              <a:rPr lang="fr-FR" dirty="0" err="1"/>
              <a:t>growth</a:t>
            </a:r>
            <a:r>
              <a:rPr lang="fr-FR" dirty="0"/>
              <a:t> </a:t>
            </a:r>
            <a:r>
              <a:rPr lang="fr-FR" dirty="0" err="1"/>
              <a:t>Mindset</a:t>
            </a:r>
            <a:endParaRPr lang="fr-FR" dirty="0"/>
          </a:p>
          <a:p>
            <a:r>
              <a:rPr lang="fr-FR" dirty="0"/>
              <a:t>L’</a:t>
            </a:r>
            <a:r>
              <a:rPr lang="fr-FR" dirty="0" err="1"/>
              <a:t>implementation</a:t>
            </a:r>
            <a:r>
              <a:rPr lang="fr-FR" dirty="0"/>
              <a:t> d’intention</a:t>
            </a:r>
          </a:p>
          <a:p>
            <a:r>
              <a:rPr lang="fr-FR" dirty="0"/>
              <a:t>Les interventions d’affirmation de soi</a:t>
            </a:r>
          </a:p>
          <a:p>
            <a:r>
              <a:rPr lang="fr-FR" dirty="0"/>
              <a:t>Les </a:t>
            </a:r>
            <a:r>
              <a:rPr lang="fr-FR" dirty="0" err="1"/>
              <a:t>nudges</a:t>
            </a:r>
            <a:endParaRPr lang="fr-FR" dirty="0"/>
          </a:p>
        </p:txBody>
      </p:sp>
      <p:sp>
        <p:nvSpPr>
          <p:cNvPr id="4" name="Espace réservé du numéro de diapositive 3">
            <a:extLst>
              <a:ext uri="{FF2B5EF4-FFF2-40B4-BE49-F238E27FC236}">
                <a16:creationId xmlns:a16="http://schemas.microsoft.com/office/drawing/2014/main" id="{3206587D-4A5B-570E-468E-FF964C26F49D}"/>
              </a:ext>
            </a:extLst>
          </p:cNvPr>
          <p:cNvSpPr>
            <a:spLocks noGrp="1"/>
          </p:cNvSpPr>
          <p:nvPr>
            <p:ph type="sldNum" sz="quarter" idx="5"/>
          </p:nvPr>
        </p:nvSpPr>
        <p:spPr/>
        <p:txBody>
          <a:bodyPr/>
          <a:lstStyle/>
          <a:p>
            <a:fld id="{B2407125-9AE1-4882-AD08-AC9091C1B3B5}" type="slidenum">
              <a:rPr lang="fr-FR" smtClean="0"/>
              <a:t>5</a:t>
            </a:fld>
            <a:endParaRPr lang="fr-FR"/>
          </a:p>
        </p:txBody>
      </p:sp>
    </p:spTree>
    <p:extLst>
      <p:ext uri="{BB962C8B-B14F-4D97-AF65-F5344CB8AC3E}">
        <p14:creationId xmlns:p14="http://schemas.microsoft.com/office/powerpoint/2010/main" val="42239585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2C7CF-7184-B0AA-5AE7-93DCF73588C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8F77FB3-88F0-88DC-46E8-4A8777CAC36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0C2844F-AA8D-F24C-9A24-5989BD45F708}"/>
              </a:ext>
            </a:extLst>
          </p:cNvPr>
          <p:cNvSpPr>
            <a:spLocks noGrp="1"/>
          </p:cNvSpPr>
          <p:nvPr>
            <p:ph type="body" idx="1"/>
          </p:nvPr>
        </p:nvSpPr>
        <p:spPr/>
        <p:txBody>
          <a:bodyPr/>
          <a:lstStyle/>
          <a:p>
            <a:r>
              <a:rPr lang="fr-FR" dirty="0"/>
              <a:t>Quelques exemples:</a:t>
            </a:r>
          </a:p>
          <a:p>
            <a:r>
              <a:rPr lang="fr-FR" dirty="0"/>
              <a:t>Le </a:t>
            </a:r>
            <a:r>
              <a:rPr lang="fr-FR" dirty="0" err="1"/>
              <a:t>growth</a:t>
            </a:r>
            <a:r>
              <a:rPr lang="fr-FR" dirty="0"/>
              <a:t> </a:t>
            </a:r>
            <a:r>
              <a:rPr lang="fr-FR" dirty="0" err="1"/>
              <a:t>Mindset</a:t>
            </a:r>
            <a:endParaRPr lang="fr-FR" dirty="0"/>
          </a:p>
          <a:p>
            <a:r>
              <a:rPr lang="fr-FR" dirty="0"/>
              <a:t>L’</a:t>
            </a:r>
            <a:r>
              <a:rPr lang="fr-FR" dirty="0" err="1"/>
              <a:t>implementation</a:t>
            </a:r>
            <a:r>
              <a:rPr lang="fr-FR" dirty="0"/>
              <a:t> d’intention</a:t>
            </a:r>
          </a:p>
          <a:p>
            <a:r>
              <a:rPr lang="fr-FR" dirty="0"/>
              <a:t>Les interventions d’affirmation de soi</a:t>
            </a:r>
          </a:p>
          <a:p>
            <a:r>
              <a:rPr lang="fr-FR" dirty="0"/>
              <a:t>Les </a:t>
            </a:r>
            <a:r>
              <a:rPr lang="fr-FR" dirty="0" err="1"/>
              <a:t>nudges</a:t>
            </a:r>
            <a:endParaRPr lang="fr-FR" dirty="0"/>
          </a:p>
        </p:txBody>
      </p:sp>
      <p:sp>
        <p:nvSpPr>
          <p:cNvPr id="4" name="Espace réservé du numéro de diapositive 3">
            <a:extLst>
              <a:ext uri="{FF2B5EF4-FFF2-40B4-BE49-F238E27FC236}">
                <a16:creationId xmlns:a16="http://schemas.microsoft.com/office/drawing/2014/main" id="{88308BF2-ED4F-18F8-573D-43ED24382F1E}"/>
              </a:ext>
            </a:extLst>
          </p:cNvPr>
          <p:cNvSpPr>
            <a:spLocks noGrp="1"/>
          </p:cNvSpPr>
          <p:nvPr>
            <p:ph type="sldNum" sz="quarter" idx="5"/>
          </p:nvPr>
        </p:nvSpPr>
        <p:spPr/>
        <p:txBody>
          <a:bodyPr/>
          <a:lstStyle/>
          <a:p>
            <a:fld id="{B2407125-9AE1-4882-AD08-AC9091C1B3B5}" type="slidenum">
              <a:rPr lang="fr-FR" smtClean="0"/>
              <a:t>6</a:t>
            </a:fld>
            <a:endParaRPr lang="fr-FR"/>
          </a:p>
        </p:txBody>
      </p:sp>
    </p:spTree>
    <p:extLst>
      <p:ext uri="{BB962C8B-B14F-4D97-AF65-F5344CB8AC3E}">
        <p14:creationId xmlns:p14="http://schemas.microsoft.com/office/powerpoint/2010/main" val="13429381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9E191-8CDA-D26C-11B2-729242FA20E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2B07EED-35E0-8C86-3FB5-374D8D4A011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36484D2-6652-22C9-B4DB-A4F2BE1AFA06}"/>
              </a:ext>
            </a:extLst>
          </p:cNvPr>
          <p:cNvSpPr>
            <a:spLocks noGrp="1"/>
          </p:cNvSpPr>
          <p:nvPr>
            <p:ph type="body" idx="1"/>
          </p:nvPr>
        </p:nvSpPr>
        <p:spPr/>
        <p:txBody>
          <a:bodyPr/>
          <a:lstStyle/>
          <a:p>
            <a:r>
              <a:rPr lang="fr-FR" dirty="0"/>
              <a:t>Quelques exemples:</a:t>
            </a:r>
          </a:p>
          <a:p>
            <a:r>
              <a:rPr lang="fr-FR" dirty="0"/>
              <a:t>Le </a:t>
            </a:r>
            <a:r>
              <a:rPr lang="fr-FR" dirty="0" err="1"/>
              <a:t>growth</a:t>
            </a:r>
            <a:r>
              <a:rPr lang="fr-FR" dirty="0"/>
              <a:t> </a:t>
            </a:r>
            <a:r>
              <a:rPr lang="fr-FR" dirty="0" err="1"/>
              <a:t>Mindset</a:t>
            </a:r>
            <a:endParaRPr lang="fr-FR" dirty="0"/>
          </a:p>
          <a:p>
            <a:r>
              <a:rPr lang="fr-FR" dirty="0"/>
              <a:t>L’</a:t>
            </a:r>
            <a:r>
              <a:rPr lang="fr-FR" dirty="0" err="1"/>
              <a:t>implementation</a:t>
            </a:r>
            <a:r>
              <a:rPr lang="fr-FR" dirty="0"/>
              <a:t> d’intention</a:t>
            </a:r>
          </a:p>
          <a:p>
            <a:r>
              <a:rPr lang="fr-FR" dirty="0"/>
              <a:t>Les interventions d’affirmation de soi</a:t>
            </a:r>
          </a:p>
          <a:p>
            <a:r>
              <a:rPr lang="fr-FR" dirty="0"/>
              <a:t>Les </a:t>
            </a:r>
            <a:r>
              <a:rPr lang="fr-FR" dirty="0" err="1"/>
              <a:t>nudges</a:t>
            </a:r>
            <a:endParaRPr lang="fr-FR" dirty="0"/>
          </a:p>
        </p:txBody>
      </p:sp>
      <p:sp>
        <p:nvSpPr>
          <p:cNvPr id="4" name="Espace réservé du numéro de diapositive 3">
            <a:extLst>
              <a:ext uri="{FF2B5EF4-FFF2-40B4-BE49-F238E27FC236}">
                <a16:creationId xmlns:a16="http://schemas.microsoft.com/office/drawing/2014/main" id="{990E22A3-BCE8-1241-79B4-3FA2D7864D15}"/>
              </a:ext>
            </a:extLst>
          </p:cNvPr>
          <p:cNvSpPr>
            <a:spLocks noGrp="1"/>
          </p:cNvSpPr>
          <p:nvPr>
            <p:ph type="sldNum" sz="quarter" idx="5"/>
          </p:nvPr>
        </p:nvSpPr>
        <p:spPr/>
        <p:txBody>
          <a:bodyPr/>
          <a:lstStyle/>
          <a:p>
            <a:fld id="{B2407125-9AE1-4882-AD08-AC9091C1B3B5}" type="slidenum">
              <a:rPr lang="fr-FR" smtClean="0"/>
              <a:t>7</a:t>
            </a:fld>
            <a:endParaRPr lang="fr-FR"/>
          </a:p>
        </p:txBody>
      </p:sp>
    </p:spTree>
    <p:extLst>
      <p:ext uri="{BB962C8B-B14F-4D97-AF65-F5344CB8AC3E}">
        <p14:creationId xmlns:p14="http://schemas.microsoft.com/office/powerpoint/2010/main" val="19980274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FFB8A-3DCA-528F-90BA-6961B7DBE90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B95CF48-A762-8572-9EFB-7462E2863A2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BD2BFB4-9F97-E5A8-7B87-062C1BB145D0}"/>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Studies on self-affirmation in the political context can consist of a scale of values presented to participants (Alnajjar et al., 2025; Badea et al., 2018), the participants affirming the most important values to them. The scale is therefore the intervention, as the participant indicates to himself how important these values under threat are to them. Studies in education emphasize the need for students to affirm their identity as a student. In doing so, they ask students to choose values important to them (work, family, friends) and explain why these values are important to them.</a:t>
            </a:r>
            <a:endParaRPr lang="fr-FR" dirty="0"/>
          </a:p>
        </p:txBody>
      </p:sp>
      <p:sp>
        <p:nvSpPr>
          <p:cNvPr id="4" name="Espace réservé du numéro de diapositive 3">
            <a:extLst>
              <a:ext uri="{FF2B5EF4-FFF2-40B4-BE49-F238E27FC236}">
                <a16:creationId xmlns:a16="http://schemas.microsoft.com/office/drawing/2014/main" id="{72DF1B12-8AB4-2E31-1988-0C91926E8346}"/>
              </a:ext>
            </a:extLst>
          </p:cNvPr>
          <p:cNvSpPr>
            <a:spLocks noGrp="1"/>
          </p:cNvSpPr>
          <p:nvPr>
            <p:ph type="sldNum" sz="quarter" idx="5"/>
          </p:nvPr>
        </p:nvSpPr>
        <p:spPr/>
        <p:txBody>
          <a:bodyPr/>
          <a:lstStyle/>
          <a:p>
            <a:fld id="{B2407125-9AE1-4882-AD08-AC9091C1B3B5}" type="slidenum">
              <a:rPr lang="fr-FR" smtClean="0"/>
              <a:t>8</a:t>
            </a:fld>
            <a:endParaRPr lang="fr-FR"/>
          </a:p>
        </p:txBody>
      </p:sp>
    </p:spTree>
    <p:extLst>
      <p:ext uri="{BB962C8B-B14F-4D97-AF65-F5344CB8AC3E}">
        <p14:creationId xmlns:p14="http://schemas.microsoft.com/office/powerpoint/2010/main" val="41270741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CEB3D-7828-82E2-3E30-62B0D1C18AC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8843EB9-6351-7865-351A-3A067C82969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8DD72D5-8E61-E152-10D8-26D6BC3BFF87}"/>
              </a:ext>
            </a:extLst>
          </p:cNvPr>
          <p:cNvSpPr>
            <a:spLocks noGrp="1"/>
          </p:cNvSpPr>
          <p:nvPr>
            <p:ph type="body" idx="1"/>
          </p:nvPr>
        </p:nvSpPr>
        <p:spPr/>
        <p:txBody>
          <a:bodyPr/>
          <a:lstStyle/>
          <a:p>
            <a:r>
              <a:rPr lang="fr-FR" dirty="0"/>
              <a:t>Quelques exemples:</a:t>
            </a:r>
          </a:p>
          <a:p>
            <a:r>
              <a:rPr lang="fr-FR" dirty="0"/>
              <a:t>Le </a:t>
            </a:r>
            <a:r>
              <a:rPr lang="fr-FR" dirty="0" err="1"/>
              <a:t>growth</a:t>
            </a:r>
            <a:r>
              <a:rPr lang="fr-FR" dirty="0"/>
              <a:t> </a:t>
            </a:r>
            <a:r>
              <a:rPr lang="fr-FR" dirty="0" err="1"/>
              <a:t>Mindset</a:t>
            </a:r>
            <a:endParaRPr lang="fr-FR" dirty="0"/>
          </a:p>
          <a:p>
            <a:r>
              <a:rPr lang="fr-FR" dirty="0"/>
              <a:t>L’</a:t>
            </a:r>
            <a:r>
              <a:rPr lang="fr-FR" dirty="0" err="1"/>
              <a:t>implementation</a:t>
            </a:r>
            <a:r>
              <a:rPr lang="fr-FR" dirty="0"/>
              <a:t> d’intention</a:t>
            </a:r>
          </a:p>
          <a:p>
            <a:r>
              <a:rPr lang="fr-FR" dirty="0"/>
              <a:t>Les interventions d’affirmation de soi</a:t>
            </a:r>
          </a:p>
          <a:p>
            <a:r>
              <a:rPr lang="fr-FR" dirty="0"/>
              <a:t>Les </a:t>
            </a:r>
            <a:r>
              <a:rPr lang="fr-FR" dirty="0" err="1"/>
              <a:t>nudges</a:t>
            </a:r>
            <a:endParaRPr lang="fr-FR" dirty="0"/>
          </a:p>
        </p:txBody>
      </p:sp>
      <p:sp>
        <p:nvSpPr>
          <p:cNvPr id="4" name="Espace réservé du numéro de diapositive 3">
            <a:extLst>
              <a:ext uri="{FF2B5EF4-FFF2-40B4-BE49-F238E27FC236}">
                <a16:creationId xmlns:a16="http://schemas.microsoft.com/office/drawing/2014/main" id="{A7DBEF68-3EBF-7795-4468-6545E628DA94}"/>
              </a:ext>
            </a:extLst>
          </p:cNvPr>
          <p:cNvSpPr>
            <a:spLocks noGrp="1"/>
          </p:cNvSpPr>
          <p:nvPr>
            <p:ph type="sldNum" sz="quarter" idx="5"/>
          </p:nvPr>
        </p:nvSpPr>
        <p:spPr/>
        <p:txBody>
          <a:bodyPr/>
          <a:lstStyle/>
          <a:p>
            <a:fld id="{B2407125-9AE1-4882-AD08-AC9091C1B3B5}" type="slidenum">
              <a:rPr lang="fr-FR" smtClean="0"/>
              <a:t>9</a:t>
            </a:fld>
            <a:endParaRPr lang="fr-FR"/>
          </a:p>
        </p:txBody>
      </p:sp>
    </p:spTree>
    <p:extLst>
      <p:ext uri="{BB962C8B-B14F-4D97-AF65-F5344CB8AC3E}">
        <p14:creationId xmlns:p14="http://schemas.microsoft.com/office/powerpoint/2010/main" val="14178094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9D581-5562-7309-CB99-18A6A024EFC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D18EB88-97A1-AF30-7E5A-84F93D9B345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1D8DFC7-C5AC-7A21-15D4-31F7F8946121}"/>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 Indeed, if transparent studies do not lead to worse outcomes than covert nudges, for ethical reasons, policymakers should make transparency the default, as citizens should be aware of the reasons for the experiments conducted on them. As the authors stated, this is a basis of democratic rights.</a:t>
            </a:r>
          </a:p>
          <a:p>
            <a:endParaRPr lang="fr-FR" dirty="0"/>
          </a:p>
        </p:txBody>
      </p:sp>
      <p:sp>
        <p:nvSpPr>
          <p:cNvPr id="4" name="Espace réservé du numéro de diapositive 3">
            <a:extLst>
              <a:ext uri="{FF2B5EF4-FFF2-40B4-BE49-F238E27FC236}">
                <a16:creationId xmlns:a16="http://schemas.microsoft.com/office/drawing/2014/main" id="{33F29095-C3F2-5506-60EF-1C87FC724BDE}"/>
              </a:ext>
            </a:extLst>
          </p:cNvPr>
          <p:cNvSpPr>
            <a:spLocks noGrp="1"/>
          </p:cNvSpPr>
          <p:nvPr>
            <p:ph type="sldNum" sz="quarter" idx="5"/>
          </p:nvPr>
        </p:nvSpPr>
        <p:spPr/>
        <p:txBody>
          <a:bodyPr/>
          <a:lstStyle/>
          <a:p>
            <a:fld id="{B2407125-9AE1-4882-AD08-AC9091C1B3B5}" type="slidenum">
              <a:rPr lang="fr-FR" smtClean="0"/>
              <a:t>10</a:t>
            </a:fld>
            <a:endParaRPr lang="fr-FR"/>
          </a:p>
        </p:txBody>
      </p:sp>
    </p:spTree>
    <p:extLst>
      <p:ext uri="{BB962C8B-B14F-4D97-AF65-F5344CB8AC3E}">
        <p14:creationId xmlns:p14="http://schemas.microsoft.com/office/powerpoint/2010/main" val="36923047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EDC75-EAF4-4B3D-2E8E-49E31215BA9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BC8C4E1-B49C-443F-3DBC-86C750ED8C4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2D324AD-1406-F1D9-9737-ADAA5BC6BEF9}"/>
              </a:ext>
            </a:extLst>
          </p:cNvPr>
          <p:cNvSpPr>
            <a:spLocks noGrp="1"/>
          </p:cNvSpPr>
          <p:nvPr>
            <p:ph type="body" idx="1"/>
          </p:nvPr>
        </p:nvSpPr>
        <p:spPr/>
        <p:txBody>
          <a:bodyPr/>
          <a:lstStyle/>
          <a:p>
            <a:r>
              <a:rPr lang="fr-FR" dirty="0"/>
              <a:t>Quelques exemples:</a:t>
            </a:r>
          </a:p>
          <a:p>
            <a:r>
              <a:rPr lang="fr-FR" dirty="0"/>
              <a:t>Le </a:t>
            </a:r>
            <a:r>
              <a:rPr lang="fr-FR" dirty="0" err="1"/>
              <a:t>growth</a:t>
            </a:r>
            <a:r>
              <a:rPr lang="fr-FR" dirty="0"/>
              <a:t> </a:t>
            </a:r>
            <a:r>
              <a:rPr lang="fr-FR" dirty="0" err="1"/>
              <a:t>Mindset</a:t>
            </a:r>
            <a:endParaRPr lang="fr-FR" dirty="0"/>
          </a:p>
          <a:p>
            <a:r>
              <a:rPr lang="fr-FR" dirty="0"/>
              <a:t>L’</a:t>
            </a:r>
            <a:r>
              <a:rPr lang="fr-FR" dirty="0" err="1"/>
              <a:t>implementation</a:t>
            </a:r>
            <a:r>
              <a:rPr lang="fr-FR" dirty="0"/>
              <a:t> d’intention</a:t>
            </a:r>
          </a:p>
          <a:p>
            <a:r>
              <a:rPr lang="fr-FR" dirty="0"/>
              <a:t>Les interventions d’affirmation de soi</a:t>
            </a:r>
          </a:p>
          <a:p>
            <a:r>
              <a:rPr lang="fr-FR" dirty="0"/>
              <a:t>Les </a:t>
            </a:r>
            <a:r>
              <a:rPr lang="fr-FR" dirty="0" err="1"/>
              <a:t>nudges</a:t>
            </a:r>
            <a:endParaRPr lang="fr-FR" dirty="0"/>
          </a:p>
        </p:txBody>
      </p:sp>
      <p:sp>
        <p:nvSpPr>
          <p:cNvPr id="4" name="Espace réservé du numéro de diapositive 3">
            <a:extLst>
              <a:ext uri="{FF2B5EF4-FFF2-40B4-BE49-F238E27FC236}">
                <a16:creationId xmlns:a16="http://schemas.microsoft.com/office/drawing/2014/main" id="{1E264F98-A406-714D-708F-0015E16D9A78}"/>
              </a:ext>
            </a:extLst>
          </p:cNvPr>
          <p:cNvSpPr>
            <a:spLocks noGrp="1"/>
          </p:cNvSpPr>
          <p:nvPr>
            <p:ph type="sldNum" sz="quarter" idx="5"/>
          </p:nvPr>
        </p:nvSpPr>
        <p:spPr/>
        <p:txBody>
          <a:bodyPr/>
          <a:lstStyle/>
          <a:p>
            <a:fld id="{B2407125-9AE1-4882-AD08-AC9091C1B3B5}" type="slidenum">
              <a:rPr lang="fr-FR" smtClean="0"/>
              <a:t>11</a:t>
            </a:fld>
            <a:endParaRPr lang="fr-FR"/>
          </a:p>
        </p:txBody>
      </p:sp>
    </p:spTree>
    <p:extLst>
      <p:ext uri="{BB962C8B-B14F-4D97-AF65-F5344CB8AC3E}">
        <p14:creationId xmlns:p14="http://schemas.microsoft.com/office/powerpoint/2010/main" val="41931542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F3752-C340-1358-EBB2-8FA8566858A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659D05A-F5A2-F53D-D313-54B4717BE8A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CF567D6-1BFD-98B3-4F75-C51B115E20B8}"/>
              </a:ext>
            </a:extLst>
          </p:cNvPr>
          <p:cNvSpPr>
            <a:spLocks noGrp="1"/>
          </p:cNvSpPr>
          <p:nvPr>
            <p:ph type="body" idx="1"/>
          </p:nvPr>
        </p:nvSpPr>
        <p:spPr/>
        <p:txBody>
          <a:bodyPr/>
          <a:lstStyle/>
          <a:p>
            <a:r>
              <a:rPr lang="fr-FR" dirty="0"/>
              <a:t>Quelques exemples:</a:t>
            </a:r>
          </a:p>
          <a:p>
            <a:r>
              <a:rPr lang="fr-FR" dirty="0"/>
              <a:t>Le </a:t>
            </a:r>
            <a:r>
              <a:rPr lang="fr-FR" dirty="0" err="1"/>
              <a:t>growth</a:t>
            </a:r>
            <a:r>
              <a:rPr lang="fr-FR" dirty="0"/>
              <a:t> </a:t>
            </a:r>
            <a:r>
              <a:rPr lang="fr-FR" dirty="0" err="1"/>
              <a:t>Mindset</a:t>
            </a:r>
            <a:endParaRPr lang="fr-FR" dirty="0"/>
          </a:p>
          <a:p>
            <a:r>
              <a:rPr lang="fr-FR" dirty="0"/>
              <a:t>L’</a:t>
            </a:r>
            <a:r>
              <a:rPr lang="fr-FR" dirty="0" err="1"/>
              <a:t>implementation</a:t>
            </a:r>
            <a:r>
              <a:rPr lang="fr-FR" dirty="0"/>
              <a:t> d’intention</a:t>
            </a:r>
          </a:p>
          <a:p>
            <a:r>
              <a:rPr lang="fr-FR" dirty="0"/>
              <a:t>Les interventions d’affirmation de soi</a:t>
            </a:r>
          </a:p>
          <a:p>
            <a:r>
              <a:rPr lang="fr-FR" dirty="0"/>
              <a:t>Les </a:t>
            </a:r>
            <a:r>
              <a:rPr lang="fr-FR" dirty="0" err="1"/>
              <a:t>nudges</a:t>
            </a:r>
            <a:endParaRPr lang="fr-FR" dirty="0"/>
          </a:p>
        </p:txBody>
      </p:sp>
      <p:sp>
        <p:nvSpPr>
          <p:cNvPr id="4" name="Espace réservé du numéro de diapositive 3">
            <a:extLst>
              <a:ext uri="{FF2B5EF4-FFF2-40B4-BE49-F238E27FC236}">
                <a16:creationId xmlns:a16="http://schemas.microsoft.com/office/drawing/2014/main" id="{B1DCC4F7-C2C1-5D24-85A8-0253EB9FA27F}"/>
              </a:ext>
            </a:extLst>
          </p:cNvPr>
          <p:cNvSpPr>
            <a:spLocks noGrp="1"/>
          </p:cNvSpPr>
          <p:nvPr>
            <p:ph type="sldNum" sz="quarter" idx="5"/>
          </p:nvPr>
        </p:nvSpPr>
        <p:spPr/>
        <p:txBody>
          <a:bodyPr/>
          <a:lstStyle/>
          <a:p>
            <a:fld id="{B2407125-9AE1-4882-AD08-AC9091C1B3B5}" type="slidenum">
              <a:rPr lang="fr-FR" smtClean="0"/>
              <a:t>12</a:t>
            </a:fld>
            <a:endParaRPr lang="fr-FR"/>
          </a:p>
        </p:txBody>
      </p:sp>
    </p:spTree>
    <p:extLst>
      <p:ext uri="{BB962C8B-B14F-4D97-AF65-F5344CB8AC3E}">
        <p14:creationId xmlns:p14="http://schemas.microsoft.com/office/powerpoint/2010/main" val="38512338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Et on a pas besoin de réinventer la roue, ce cheminement de pensée a été déjà fait, il y a très longtemps, dans le domaine biomédical, entre le fait de faire un essai pour comprendre l’effet du médicament sur le cerveau ou pour aider le prochain patient</a:t>
            </a:r>
          </a:p>
          <a:p>
            <a:r>
              <a:rPr lang="fr-FR" dirty="0"/>
              <a:t>Identique à tester un effet psychologique sur un changement de comportement/d’attitude précis ou tester sur l’intervention contenant cet effet peut être bénéfique pour la population</a:t>
            </a:r>
          </a:p>
        </p:txBody>
      </p:sp>
      <p:sp>
        <p:nvSpPr>
          <p:cNvPr id="4" name="Espace réservé du numéro de diapositive 3"/>
          <p:cNvSpPr>
            <a:spLocks noGrp="1"/>
          </p:cNvSpPr>
          <p:nvPr>
            <p:ph type="sldNum" sz="quarter" idx="5"/>
          </p:nvPr>
        </p:nvSpPr>
        <p:spPr/>
        <p:txBody>
          <a:bodyPr/>
          <a:lstStyle/>
          <a:p>
            <a:fld id="{B2407125-9AE1-4882-AD08-AC9091C1B3B5}" type="slidenum">
              <a:rPr lang="fr-FR" smtClean="0"/>
              <a:t>13</a:t>
            </a:fld>
            <a:endParaRPr lang="fr-FR"/>
          </a:p>
        </p:txBody>
      </p:sp>
    </p:spTree>
    <p:extLst>
      <p:ext uri="{BB962C8B-B14F-4D97-AF65-F5344CB8AC3E}">
        <p14:creationId xmlns:p14="http://schemas.microsoft.com/office/powerpoint/2010/main" val="42454552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Premier article : date de 1967 par des français</a:t>
            </a:r>
          </a:p>
          <a:p>
            <a:r>
              <a:rPr lang="fr-FR" dirty="0"/>
              <a:t>Explicatif : on essaye d’expliquer l’effet -&gt; processus théorique</a:t>
            </a:r>
          </a:p>
          <a:p>
            <a:r>
              <a:rPr lang="fr-FR" dirty="0"/>
              <a:t>Pragmatique : signifie en pratique (relatif aux affaires)</a:t>
            </a:r>
          </a:p>
        </p:txBody>
      </p:sp>
      <p:sp>
        <p:nvSpPr>
          <p:cNvPr id="4" name="Espace réservé du numéro de diapositive 3"/>
          <p:cNvSpPr>
            <a:spLocks noGrp="1"/>
          </p:cNvSpPr>
          <p:nvPr>
            <p:ph type="sldNum" sz="quarter" idx="5"/>
          </p:nvPr>
        </p:nvSpPr>
        <p:spPr/>
        <p:txBody>
          <a:bodyPr/>
          <a:lstStyle/>
          <a:p>
            <a:fld id="{DD81B595-C0F4-493A-B273-2FADF5A35A27}" type="slidenum">
              <a:rPr lang="fr-FR" smtClean="0"/>
              <a:t>15</a:t>
            </a:fld>
            <a:endParaRPr lang="fr-FR"/>
          </a:p>
        </p:txBody>
      </p:sp>
    </p:spTree>
    <p:extLst>
      <p:ext uri="{BB962C8B-B14F-4D97-AF65-F5344CB8AC3E}">
        <p14:creationId xmlns:p14="http://schemas.microsoft.com/office/powerpoint/2010/main" val="30275565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National Institute for Health and Care Research</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Éligibilité
Dans quelle mesure les participants à l’essai sont-ils similaires à ceux qui recevraient cette intervention si elle faisait partie des soins ou du système habituel ?
Recrutement
Combien d’efforts supplémentaires sont faits pour recruter des participants, au-delà de ce qui serait utilisé dans le cadre habituel pour engager les participants ?
Cadre
En quoi les réglages de l’essai sont-ils différents de ceux habituels ?
Organisation
En quoi les ressources, l’expertise des prestataires et l’organisation des soins dans le volet d’intervention de l’essai sont-elles différentes de celles disponibles dans les milieux habituels ?
Flexibilité
(interprétation)
En quoi la flexibilité dans la manière dont l’intervention est dispensée diffère-t-elle de celle anticipée dans les situations habituelles ?
Flexibilité 
(adhésion)
En quoi la flexibilité dans la manière dont les participants sont suivis et encouragés à respecter l’intervention est-elle différente de la flexibilité anticipée dans une situation habituelle ?
Suite
En quoi l’intensité de la mesure et du suivi des participants est-elle différente du suivi typique dans les situations habituelles ?
Résultat des primaires
Dans quelle mesure le résultat principal de l’essai est-il directement pertinent pour les participants ?
Analyse primaire
Dans quelle mesure toutes les données sont-elles incluses dans l’analyse du résultat principal ?</a:t>
            </a:r>
            <a:endParaRPr lang="en-US" b="1" dirty="0"/>
          </a:p>
          <a:p>
            <a:endParaRPr lang="fr-FR" dirty="0"/>
          </a:p>
        </p:txBody>
      </p:sp>
      <p:sp>
        <p:nvSpPr>
          <p:cNvPr id="4" name="Espace réservé du numéro de diapositive 3"/>
          <p:cNvSpPr>
            <a:spLocks noGrp="1"/>
          </p:cNvSpPr>
          <p:nvPr>
            <p:ph type="sldNum" sz="quarter" idx="5"/>
          </p:nvPr>
        </p:nvSpPr>
        <p:spPr/>
        <p:txBody>
          <a:bodyPr/>
          <a:lstStyle/>
          <a:p>
            <a:fld id="{DD81B595-C0F4-493A-B273-2FADF5A35A27}" type="slidenum">
              <a:rPr lang="fr-FR" smtClean="0"/>
              <a:t>17</a:t>
            </a:fld>
            <a:endParaRPr lang="fr-FR"/>
          </a:p>
        </p:txBody>
      </p:sp>
    </p:spTree>
    <p:extLst>
      <p:ext uri="{BB962C8B-B14F-4D97-AF65-F5344CB8AC3E}">
        <p14:creationId xmlns:p14="http://schemas.microsoft.com/office/powerpoint/2010/main" val="22833759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Inutile dans le sens ou il ne doit pas sélectionner les participants, il ne doit pas produire la </a:t>
            </a:r>
            <a:r>
              <a:rPr lang="fr-FR" dirty="0" err="1"/>
              <a:t>procedure</a:t>
            </a:r>
            <a:r>
              <a:rPr lang="fr-FR" dirty="0"/>
              <a:t> (c’est l’enseignant, le prestataire, le médecin, le politicien </a:t>
            </a:r>
            <a:r>
              <a:rPr lang="fr-FR" dirty="0" err="1"/>
              <a:t>etc</a:t>
            </a:r>
            <a:r>
              <a:rPr lang="fr-FR" dirty="0"/>
              <a:t> qui le fait), il ne doit pas produire ses mesures, il doit pas filtrer ses participants ce qui est évidemment très éloigné de ce que l’on a l’habitude de faire</a:t>
            </a:r>
          </a:p>
          <a:p>
            <a:endParaRPr lang="fr-FR" dirty="0"/>
          </a:p>
        </p:txBody>
      </p:sp>
      <p:sp>
        <p:nvSpPr>
          <p:cNvPr id="4" name="Espace réservé du numéro de diapositive 3"/>
          <p:cNvSpPr>
            <a:spLocks noGrp="1"/>
          </p:cNvSpPr>
          <p:nvPr>
            <p:ph type="sldNum" sz="quarter" idx="5"/>
          </p:nvPr>
        </p:nvSpPr>
        <p:spPr/>
        <p:txBody>
          <a:bodyPr/>
          <a:lstStyle/>
          <a:p>
            <a:fld id="{B2407125-9AE1-4882-AD08-AC9091C1B3B5}" type="slidenum">
              <a:rPr lang="fr-FR" smtClean="0"/>
              <a:t>25</a:t>
            </a:fld>
            <a:endParaRPr lang="fr-FR"/>
          </a:p>
        </p:txBody>
      </p:sp>
    </p:spTree>
    <p:extLst>
      <p:ext uri="{BB962C8B-B14F-4D97-AF65-F5344CB8AC3E}">
        <p14:creationId xmlns:p14="http://schemas.microsoft.com/office/powerpoint/2010/main" val="30830067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3E26BD-5733-82A7-0902-88699D3D1EE0}"/>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566EB9A4-3358-70EF-BE8F-79B8DF0052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B06AD78D-A98F-5FD0-C3E4-186970F0D7DE}"/>
              </a:ext>
            </a:extLst>
          </p:cNvPr>
          <p:cNvSpPr>
            <a:spLocks noGrp="1"/>
          </p:cNvSpPr>
          <p:nvPr>
            <p:ph type="dt" sz="half" idx="10"/>
          </p:nvPr>
        </p:nvSpPr>
        <p:spPr/>
        <p:txBody>
          <a:bodyPr/>
          <a:lstStyle/>
          <a:p>
            <a:fld id="{8D0FDE1F-14B3-4DE9-B552-082FB94E8D2A}" type="datetimeFigureOut">
              <a:rPr lang="fr-FR" smtClean="0"/>
              <a:t>16/03/2026</a:t>
            </a:fld>
            <a:endParaRPr lang="fr-FR"/>
          </a:p>
        </p:txBody>
      </p:sp>
      <p:sp>
        <p:nvSpPr>
          <p:cNvPr id="5" name="Espace réservé du pied de page 4">
            <a:extLst>
              <a:ext uri="{FF2B5EF4-FFF2-40B4-BE49-F238E27FC236}">
                <a16:creationId xmlns:a16="http://schemas.microsoft.com/office/drawing/2014/main" id="{66A1462B-83E2-94B8-45DD-030A1FE4052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85213FA-7A81-0C5E-D8C2-14086DC3D8B9}"/>
              </a:ext>
            </a:extLst>
          </p:cNvPr>
          <p:cNvSpPr>
            <a:spLocks noGrp="1"/>
          </p:cNvSpPr>
          <p:nvPr>
            <p:ph type="sldNum" sz="quarter" idx="12"/>
          </p:nvPr>
        </p:nvSpPr>
        <p:spPr/>
        <p:txBody>
          <a:bodyPr/>
          <a:lstStyle/>
          <a:p>
            <a:fld id="{618DFF5F-27EE-4826-8709-E90BFDCE05BF}" type="slidenum">
              <a:rPr lang="fr-FR" smtClean="0"/>
              <a:t>‹N°›</a:t>
            </a:fld>
            <a:endParaRPr lang="fr-FR"/>
          </a:p>
        </p:txBody>
      </p:sp>
    </p:spTree>
    <p:extLst>
      <p:ext uri="{BB962C8B-B14F-4D97-AF65-F5344CB8AC3E}">
        <p14:creationId xmlns:p14="http://schemas.microsoft.com/office/powerpoint/2010/main" val="3348787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A5D621-C222-FADF-09B7-6C11EDF67E9B}"/>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8CABD87-64DE-2FD9-A3E8-C3483471D08B}"/>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7B44F6D-D045-36F4-12C7-5085DD9C1C5D}"/>
              </a:ext>
            </a:extLst>
          </p:cNvPr>
          <p:cNvSpPr>
            <a:spLocks noGrp="1"/>
          </p:cNvSpPr>
          <p:nvPr>
            <p:ph type="dt" sz="half" idx="10"/>
          </p:nvPr>
        </p:nvSpPr>
        <p:spPr/>
        <p:txBody>
          <a:bodyPr/>
          <a:lstStyle/>
          <a:p>
            <a:fld id="{8D0FDE1F-14B3-4DE9-B552-082FB94E8D2A}" type="datetimeFigureOut">
              <a:rPr lang="fr-FR" smtClean="0"/>
              <a:t>16/03/2026</a:t>
            </a:fld>
            <a:endParaRPr lang="fr-FR"/>
          </a:p>
        </p:txBody>
      </p:sp>
      <p:sp>
        <p:nvSpPr>
          <p:cNvPr id="5" name="Espace réservé du pied de page 4">
            <a:extLst>
              <a:ext uri="{FF2B5EF4-FFF2-40B4-BE49-F238E27FC236}">
                <a16:creationId xmlns:a16="http://schemas.microsoft.com/office/drawing/2014/main" id="{D56209B4-60FD-125B-2C66-45CB76F1B72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67366D7-C83C-2F3F-1096-5BA722425AB1}"/>
              </a:ext>
            </a:extLst>
          </p:cNvPr>
          <p:cNvSpPr>
            <a:spLocks noGrp="1"/>
          </p:cNvSpPr>
          <p:nvPr>
            <p:ph type="sldNum" sz="quarter" idx="12"/>
          </p:nvPr>
        </p:nvSpPr>
        <p:spPr/>
        <p:txBody>
          <a:bodyPr/>
          <a:lstStyle/>
          <a:p>
            <a:fld id="{618DFF5F-27EE-4826-8709-E90BFDCE05BF}" type="slidenum">
              <a:rPr lang="fr-FR" smtClean="0"/>
              <a:t>‹N°›</a:t>
            </a:fld>
            <a:endParaRPr lang="fr-FR"/>
          </a:p>
        </p:txBody>
      </p:sp>
    </p:spTree>
    <p:extLst>
      <p:ext uri="{BB962C8B-B14F-4D97-AF65-F5344CB8AC3E}">
        <p14:creationId xmlns:p14="http://schemas.microsoft.com/office/powerpoint/2010/main" val="2044022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0DEA04-F782-5267-DC82-87734B478CE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39DA03AD-156E-1D62-0C83-B75376F07C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6B7F7D0-1B3B-3C81-2558-409E1A845E54}"/>
              </a:ext>
            </a:extLst>
          </p:cNvPr>
          <p:cNvSpPr>
            <a:spLocks noGrp="1"/>
          </p:cNvSpPr>
          <p:nvPr>
            <p:ph type="dt" sz="half" idx="10"/>
          </p:nvPr>
        </p:nvSpPr>
        <p:spPr/>
        <p:txBody>
          <a:bodyPr/>
          <a:lstStyle/>
          <a:p>
            <a:fld id="{8D0FDE1F-14B3-4DE9-B552-082FB94E8D2A}" type="datetimeFigureOut">
              <a:rPr lang="fr-FR" smtClean="0"/>
              <a:t>16/03/2026</a:t>
            </a:fld>
            <a:endParaRPr lang="fr-FR"/>
          </a:p>
        </p:txBody>
      </p:sp>
      <p:sp>
        <p:nvSpPr>
          <p:cNvPr id="5" name="Espace réservé du pied de page 4">
            <a:extLst>
              <a:ext uri="{FF2B5EF4-FFF2-40B4-BE49-F238E27FC236}">
                <a16:creationId xmlns:a16="http://schemas.microsoft.com/office/drawing/2014/main" id="{D69A3215-2A5D-61DC-FC6F-34267485F4F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03FC4FE-5E04-7239-774F-28D5EFEBBF2F}"/>
              </a:ext>
            </a:extLst>
          </p:cNvPr>
          <p:cNvSpPr>
            <a:spLocks noGrp="1"/>
          </p:cNvSpPr>
          <p:nvPr>
            <p:ph type="sldNum" sz="quarter" idx="12"/>
          </p:nvPr>
        </p:nvSpPr>
        <p:spPr/>
        <p:txBody>
          <a:bodyPr/>
          <a:lstStyle/>
          <a:p>
            <a:fld id="{618DFF5F-27EE-4826-8709-E90BFDCE05BF}" type="slidenum">
              <a:rPr lang="fr-FR" smtClean="0"/>
              <a:t>‹N°›</a:t>
            </a:fld>
            <a:endParaRPr lang="fr-FR"/>
          </a:p>
        </p:txBody>
      </p:sp>
    </p:spTree>
    <p:extLst>
      <p:ext uri="{BB962C8B-B14F-4D97-AF65-F5344CB8AC3E}">
        <p14:creationId xmlns:p14="http://schemas.microsoft.com/office/powerpoint/2010/main" val="20953418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77D46B-D1A9-5A7A-36F3-8304A244FAD8}"/>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B98CC2AE-586C-98C9-3729-68785C8B2B7E}"/>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D6E828DC-891D-92F8-A6B9-3EBF19B27C82}"/>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CD9D1E8-D533-7D0F-4DCD-2065CA5A3F1C}"/>
              </a:ext>
            </a:extLst>
          </p:cNvPr>
          <p:cNvSpPr>
            <a:spLocks noGrp="1"/>
          </p:cNvSpPr>
          <p:nvPr>
            <p:ph type="dt" sz="half" idx="10"/>
          </p:nvPr>
        </p:nvSpPr>
        <p:spPr/>
        <p:txBody>
          <a:bodyPr/>
          <a:lstStyle/>
          <a:p>
            <a:fld id="{8D0FDE1F-14B3-4DE9-B552-082FB94E8D2A}" type="datetimeFigureOut">
              <a:rPr lang="fr-FR" smtClean="0"/>
              <a:t>16/03/2026</a:t>
            </a:fld>
            <a:endParaRPr lang="fr-FR"/>
          </a:p>
        </p:txBody>
      </p:sp>
      <p:sp>
        <p:nvSpPr>
          <p:cNvPr id="6" name="Espace réservé du pied de page 5">
            <a:extLst>
              <a:ext uri="{FF2B5EF4-FFF2-40B4-BE49-F238E27FC236}">
                <a16:creationId xmlns:a16="http://schemas.microsoft.com/office/drawing/2014/main" id="{9D8C7C07-EA1C-2D0B-7538-B4603B8009F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CA5D3FB-9D34-6586-6A6E-462758862332}"/>
              </a:ext>
            </a:extLst>
          </p:cNvPr>
          <p:cNvSpPr>
            <a:spLocks noGrp="1"/>
          </p:cNvSpPr>
          <p:nvPr>
            <p:ph type="sldNum" sz="quarter" idx="12"/>
          </p:nvPr>
        </p:nvSpPr>
        <p:spPr/>
        <p:txBody>
          <a:bodyPr/>
          <a:lstStyle/>
          <a:p>
            <a:fld id="{618DFF5F-27EE-4826-8709-E90BFDCE05BF}" type="slidenum">
              <a:rPr lang="fr-FR" smtClean="0"/>
              <a:t>‹N°›</a:t>
            </a:fld>
            <a:endParaRPr lang="fr-FR"/>
          </a:p>
        </p:txBody>
      </p:sp>
    </p:spTree>
    <p:extLst>
      <p:ext uri="{BB962C8B-B14F-4D97-AF65-F5344CB8AC3E}">
        <p14:creationId xmlns:p14="http://schemas.microsoft.com/office/powerpoint/2010/main" val="442932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8BD85A-4578-C5B1-2F7A-EC32ED436E5A}"/>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D3482D4D-6D99-271B-E3A2-12A45150E5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C779D467-3371-DE4F-865D-3981729D9BE2}"/>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46115977-94A3-11E9-37F0-2DB47B1568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63A7F40E-E076-6635-B276-36CA20CD22A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80311BFE-A2DC-8623-2E7D-35103A496A71}"/>
              </a:ext>
            </a:extLst>
          </p:cNvPr>
          <p:cNvSpPr>
            <a:spLocks noGrp="1"/>
          </p:cNvSpPr>
          <p:nvPr>
            <p:ph type="dt" sz="half" idx="10"/>
          </p:nvPr>
        </p:nvSpPr>
        <p:spPr/>
        <p:txBody>
          <a:bodyPr/>
          <a:lstStyle/>
          <a:p>
            <a:fld id="{8D0FDE1F-14B3-4DE9-B552-082FB94E8D2A}" type="datetimeFigureOut">
              <a:rPr lang="fr-FR" smtClean="0"/>
              <a:t>16/03/2026</a:t>
            </a:fld>
            <a:endParaRPr lang="fr-FR"/>
          </a:p>
        </p:txBody>
      </p:sp>
      <p:sp>
        <p:nvSpPr>
          <p:cNvPr id="8" name="Espace réservé du pied de page 7">
            <a:extLst>
              <a:ext uri="{FF2B5EF4-FFF2-40B4-BE49-F238E27FC236}">
                <a16:creationId xmlns:a16="http://schemas.microsoft.com/office/drawing/2014/main" id="{B8C26041-B5D5-437D-E45C-51726497561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D79DDE50-E604-5059-D579-8F0CC796589C}"/>
              </a:ext>
            </a:extLst>
          </p:cNvPr>
          <p:cNvSpPr>
            <a:spLocks noGrp="1"/>
          </p:cNvSpPr>
          <p:nvPr>
            <p:ph type="sldNum" sz="quarter" idx="12"/>
          </p:nvPr>
        </p:nvSpPr>
        <p:spPr/>
        <p:txBody>
          <a:bodyPr/>
          <a:lstStyle/>
          <a:p>
            <a:fld id="{618DFF5F-27EE-4826-8709-E90BFDCE05BF}" type="slidenum">
              <a:rPr lang="fr-FR" smtClean="0"/>
              <a:t>‹N°›</a:t>
            </a:fld>
            <a:endParaRPr lang="fr-FR"/>
          </a:p>
        </p:txBody>
      </p:sp>
    </p:spTree>
    <p:extLst>
      <p:ext uri="{BB962C8B-B14F-4D97-AF65-F5344CB8AC3E}">
        <p14:creationId xmlns:p14="http://schemas.microsoft.com/office/powerpoint/2010/main" val="3598482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2B5B0A-C7F7-F5C1-2054-DA292122796E}"/>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C9E45EA7-7A61-3531-D9C2-6F3B4E41AA4E}"/>
              </a:ext>
            </a:extLst>
          </p:cNvPr>
          <p:cNvSpPr>
            <a:spLocks noGrp="1"/>
          </p:cNvSpPr>
          <p:nvPr>
            <p:ph type="dt" sz="half" idx="10"/>
          </p:nvPr>
        </p:nvSpPr>
        <p:spPr/>
        <p:txBody>
          <a:bodyPr/>
          <a:lstStyle/>
          <a:p>
            <a:fld id="{8D0FDE1F-14B3-4DE9-B552-082FB94E8D2A}" type="datetimeFigureOut">
              <a:rPr lang="fr-FR" smtClean="0"/>
              <a:t>16/03/2026</a:t>
            </a:fld>
            <a:endParaRPr lang="fr-FR"/>
          </a:p>
        </p:txBody>
      </p:sp>
      <p:sp>
        <p:nvSpPr>
          <p:cNvPr id="4" name="Espace réservé du pied de page 3">
            <a:extLst>
              <a:ext uri="{FF2B5EF4-FFF2-40B4-BE49-F238E27FC236}">
                <a16:creationId xmlns:a16="http://schemas.microsoft.com/office/drawing/2014/main" id="{5BCD7F21-D5A4-4EFC-9D9E-82C4C23531D9}"/>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71BCC666-1BDF-7BEB-5CBD-005F42D6176B}"/>
              </a:ext>
            </a:extLst>
          </p:cNvPr>
          <p:cNvSpPr>
            <a:spLocks noGrp="1"/>
          </p:cNvSpPr>
          <p:nvPr>
            <p:ph type="sldNum" sz="quarter" idx="12"/>
          </p:nvPr>
        </p:nvSpPr>
        <p:spPr/>
        <p:txBody>
          <a:bodyPr/>
          <a:lstStyle/>
          <a:p>
            <a:fld id="{618DFF5F-27EE-4826-8709-E90BFDCE05BF}" type="slidenum">
              <a:rPr lang="fr-FR" smtClean="0"/>
              <a:t>‹N°›</a:t>
            </a:fld>
            <a:endParaRPr lang="fr-FR"/>
          </a:p>
        </p:txBody>
      </p:sp>
    </p:spTree>
    <p:extLst>
      <p:ext uri="{BB962C8B-B14F-4D97-AF65-F5344CB8AC3E}">
        <p14:creationId xmlns:p14="http://schemas.microsoft.com/office/powerpoint/2010/main" val="2764865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563EAEF-DEA8-AB32-A64F-0F52A78A6B0E}"/>
              </a:ext>
            </a:extLst>
          </p:cNvPr>
          <p:cNvSpPr>
            <a:spLocks noGrp="1"/>
          </p:cNvSpPr>
          <p:nvPr>
            <p:ph type="dt" sz="half" idx="10"/>
          </p:nvPr>
        </p:nvSpPr>
        <p:spPr/>
        <p:txBody>
          <a:bodyPr/>
          <a:lstStyle/>
          <a:p>
            <a:fld id="{8D0FDE1F-14B3-4DE9-B552-082FB94E8D2A}" type="datetimeFigureOut">
              <a:rPr lang="fr-FR" smtClean="0"/>
              <a:t>16/03/2026</a:t>
            </a:fld>
            <a:endParaRPr lang="fr-FR"/>
          </a:p>
        </p:txBody>
      </p:sp>
      <p:sp>
        <p:nvSpPr>
          <p:cNvPr id="3" name="Espace réservé du pied de page 2">
            <a:extLst>
              <a:ext uri="{FF2B5EF4-FFF2-40B4-BE49-F238E27FC236}">
                <a16:creationId xmlns:a16="http://schemas.microsoft.com/office/drawing/2014/main" id="{881EE6F0-FEDC-5AC8-6C94-E03689D0CBCC}"/>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71053E3-CCB4-C2B3-05DF-EF20112A24DF}"/>
              </a:ext>
            </a:extLst>
          </p:cNvPr>
          <p:cNvSpPr>
            <a:spLocks noGrp="1"/>
          </p:cNvSpPr>
          <p:nvPr>
            <p:ph type="sldNum" sz="quarter" idx="12"/>
          </p:nvPr>
        </p:nvSpPr>
        <p:spPr/>
        <p:txBody>
          <a:bodyPr/>
          <a:lstStyle/>
          <a:p>
            <a:fld id="{618DFF5F-27EE-4826-8709-E90BFDCE05BF}" type="slidenum">
              <a:rPr lang="fr-FR" smtClean="0"/>
              <a:t>‹N°›</a:t>
            </a:fld>
            <a:endParaRPr lang="fr-FR"/>
          </a:p>
        </p:txBody>
      </p:sp>
    </p:spTree>
    <p:extLst>
      <p:ext uri="{BB962C8B-B14F-4D97-AF65-F5344CB8AC3E}">
        <p14:creationId xmlns:p14="http://schemas.microsoft.com/office/powerpoint/2010/main" val="2102715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FA4077-76B8-7688-5A36-49D957F49F7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3239051B-6532-B845-FE86-1F42E22BA9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3D3C6DAB-AC54-7E99-0C5E-30011DAE45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0204720-58D1-4DD0-F1FD-2E0792C0D0BF}"/>
              </a:ext>
            </a:extLst>
          </p:cNvPr>
          <p:cNvSpPr>
            <a:spLocks noGrp="1"/>
          </p:cNvSpPr>
          <p:nvPr>
            <p:ph type="dt" sz="half" idx="10"/>
          </p:nvPr>
        </p:nvSpPr>
        <p:spPr/>
        <p:txBody>
          <a:bodyPr/>
          <a:lstStyle/>
          <a:p>
            <a:fld id="{8D0FDE1F-14B3-4DE9-B552-082FB94E8D2A}" type="datetimeFigureOut">
              <a:rPr lang="fr-FR" smtClean="0"/>
              <a:t>16/03/2026</a:t>
            </a:fld>
            <a:endParaRPr lang="fr-FR"/>
          </a:p>
        </p:txBody>
      </p:sp>
      <p:sp>
        <p:nvSpPr>
          <p:cNvPr id="6" name="Espace réservé du pied de page 5">
            <a:extLst>
              <a:ext uri="{FF2B5EF4-FFF2-40B4-BE49-F238E27FC236}">
                <a16:creationId xmlns:a16="http://schemas.microsoft.com/office/drawing/2014/main" id="{7D418943-FCD7-8E37-E94E-E882A2BE5C4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2921826-61D5-F2A7-ED09-1230820357F4}"/>
              </a:ext>
            </a:extLst>
          </p:cNvPr>
          <p:cNvSpPr>
            <a:spLocks noGrp="1"/>
          </p:cNvSpPr>
          <p:nvPr>
            <p:ph type="sldNum" sz="quarter" idx="12"/>
          </p:nvPr>
        </p:nvSpPr>
        <p:spPr/>
        <p:txBody>
          <a:bodyPr/>
          <a:lstStyle/>
          <a:p>
            <a:fld id="{618DFF5F-27EE-4826-8709-E90BFDCE05BF}" type="slidenum">
              <a:rPr lang="fr-FR" smtClean="0"/>
              <a:t>‹N°›</a:t>
            </a:fld>
            <a:endParaRPr lang="fr-FR"/>
          </a:p>
        </p:txBody>
      </p:sp>
    </p:spTree>
    <p:extLst>
      <p:ext uri="{BB962C8B-B14F-4D97-AF65-F5344CB8AC3E}">
        <p14:creationId xmlns:p14="http://schemas.microsoft.com/office/powerpoint/2010/main" val="2420873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B2ADD9-D08E-DA18-56C7-6D8728F1E5A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B076351B-BC00-E782-A9F1-6DCD0F1A3D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07AD2F91-AA99-8F7D-D3F8-3FA8CEC6E8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B724E2F-2ABE-5A20-AB6A-34414026BEA2}"/>
              </a:ext>
            </a:extLst>
          </p:cNvPr>
          <p:cNvSpPr>
            <a:spLocks noGrp="1"/>
          </p:cNvSpPr>
          <p:nvPr>
            <p:ph type="dt" sz="half" idx="10"/>
          </p:nvPr>
        </p:nvSpPr>
        <p:spPr/>
        <p:txBody>
          <a:bodyPr/>
          <a:lstStyle/>
          <a:p>
            <a:fld id="{8D0FDE1F-14B3-4DE9-B552-082FB94E8D2A}" type="datetimeFigureOut">
              <a:rPr lang="fr-FR" smtClean="0"/>
              <a:t>16/03/2026</a:t>
            </a:fld>
            <a:endParaRPr lang="fr-FR"/>
          </a:p>
        </p:txBody>
      </p:sp>
      <p:sp>
        <p:nvSpPr>
          <p:cNvPr id="6" name="Espace réservé du pied de page 5">
            <a:extLst>
              <a:ext uri="{FF2B5EF4-FFF2-40B4-BE49-F238E27FC236}">
                <a16:creationId xmlns:a16="http://schemas.microsoft.com/office/drawing/2014/main" id="{15CF88F4-D824-37C0-8E30-660FEB72CFA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A17C919-D90C-5D5E-D7D8-590EDAC64FF6}"/>
              </a:ext>
            </a:extLst>
          </p:cNvPr>
          <p:cNvSpPr>
            <a:spLocks noGrp="1"/>
          </p:cNvSpPr>
          <p:nvPr>
            <p:ph type="sldNum" sz="quarter" idx="12"/>
          </p:nvPr>
        </p:nvSpPr>
        <p:spPr/>
        <p:txBody>
          <a:bodyPr/>
          <a:lstStyle/>
          <a:p>
            <a:fld id="{618DFF5F-27EE-4826-8709-E90BFDCE05BF}" type="slidenum">
              <a:rPr lang="fr-FR" smtClean="0"/>
              <a:t>‹N°›</a:t>
            </a:fld>
            <a:endParaRPr lang="fr-FR"/>
          </a:p>
        </p:txBody>
      </p:sp>
    </p:spTree>
    <p:extLst>
      <p:ext uri="{BB962C8B-B14F-4D97-AF65-F5344CB8AC3E}">
        <p14:creationId xmlns:p14="http://schemas.microsoft.com/office/powerpoint/2010/main" val="31955026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02EA5E-D95A-CCBD-D215-56119A43DAA9}"/>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0DB27700-FC4E-02AD-3C91-563CA6880D75}"/>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622A3D3-8A71-983A-7033-E183FF754A69}"/>
              </a:ext>
            </a:extLst>
          </p:cNvPr>
          <p:cNvSpPr>
            <a:spLocks noGrp="1"/>
          </p:cNvSpPr>
          <p:nvPr>
            <p:ph type="dt" sz="half" idx="10"/>
          </p:nvPr>
        </p:nvSpPr>
        <p:spPr/>
        <p:txBody>
          <a:bodyPr/>
          <a:lstStyle/>
          <a:p>
            <a:fld id="{8D0FDE1F-14B3-4DE9-B552-082FB94E8D2A}" type="datetimeFigureOut">
              <a:rPr lang="fr-FR" smtClean="0"/>
              <a:t>16/03/2026</a:t>
            </a:fld>
            <a:endParaRPr lang="fr-FR"/>
          </a:p>
        </p:txBody>
      </p:sp>
      <p:sp>
        <p:nvSpPr>
          <p:cNvPr id="5" name="Espace réservé du pied de page 4">
            <a:extLst>
              <a:ext uri="{FF2B5EF4-FFF2-40B4-BE49-F238E27FC236}">
                <a16:creationId xmlns:a16="http://schemas.microsoft.com/office/drawing/2014/main" id="{A62A8FFA-D82E-7479-093F-A08839100EE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974077A-1CA2-6B53-9700-F1696C2B9356}"/>
              </a:ext>
            </a:extLst>
          </p:cNvPr>
          <p:cNvSpPr>
            <a:spLocks noGrp="1"/>
          </p:cNvSpPr>
          <p:nvPr>
            <p:ph type="sldNum" sz="quarter" idx="12"/>
          </p:nvPr>
        </p:nvSpPr>
        <p:spPr/>
        <p:txBody>
          <a:bodyPr/>
          <a:lstStyle/>
          <a:p>
            <a:fld id="{618DFF5F-27EE-4826-8709-E90BFDCE05BF}" type="slidenum">
              <a:rPr lang="fr-FR" smtClean="0"/>
              <a:t>‹N°›</a:t>
            </a:fld>
            <a:endParaRPr lang="fr-FR"/>
          </a:p>
        </p:txBody>
      </p:sp>
    </p:spTree>
    <p:extLst>
      <p:ext uri="{BB962C8B-B14F-4D97-AF65-F5344CB8AC3E}">
        <p14:creationId xmlns:p14="http://schemas.microsoft.com/office/powerpoint/2010/main" val="2030992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93C1BB6F-3C34-3D31-E6FB-D96B6167E4EC}"/>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2521ACF4-68EE-D1D4-BE49-D364521C9C12}"/>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58A6FAB-2EFA-E559-962E-AA2282A5C476}"/>
              </a:ext>
            </a:extLst>
          </p:cNvPr>
          <p:cNvSpPr>
            <a:spLocks noGrp="1"/>
          </p:cNvSpPr>
          <p:nvPr>
            <p:ph type="dt" sz="half" idx="10"/>
          </p:nvPr>
        </p:nvSpPr>
        <p:spPr/>
        <p:txBody>
          <a:bodyPr/>
          <a:lstStyle/>
          <a:p>
            <a:fld id="{8D0FDE1F-14B3-4DE9-B552-082FB94E8D2A}" type="datetimeFigureOut">
              <a:rPr lang="fr-FR" smtClean="0"/>
              <a:t>16/03/2026</a:t>
            </a:fld>
            <a:endParaRPr lang="fr-FR"/>
          </a:p>
        </p:txBody>
      </p:sp>
      <p:sp>
        <p:nvSpPr>
          <p:cNvPr id="5" name="Espace réservé du pied de page 4">
            <a:extLst>
              <a:ext uri="{FF2B5EF4-FFF2-40B4-BE49-F238E27FC236}">
                <a16:creationId xmlns:a16="http://schemas.microsoft.com/office/drawing/2014/main" id="{A14A9E86-3202-48A0-C829-567B1A838E6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D1E7C70-F718-13E0-EF02-64289C1A65FB}"/>
              </a:ext>
            </a:extLst>
          </p:cNvPr>
          <p:cNvSpPr>
            <a:spLocks noGrp="1"/>
          </p:cNvSpPr>
          <p:nvPr>
            <p:ph type="sldNum" sz="quarter" idx="12"/>
          </p:nvPr>
        </p:nvSpPr>
        <p:spPr/>
        <p:txBody>
          <a:bodyPr/>
          <a:lstStyle/>
          <a:p>
            <a:fld id="{618DFF5F-27EE-4826-8709-E90BFDCE05BF}" type="slidenum">
              <a:rPr lang="fr-FR" smtClean="0"/>
              <a:t>‹N°›</a:t>
            </a:fld>
            <a:endParaRPr lang="fr-FR"/>
          </a:p>
        </p:txBody>
      </p:sp>
    </p:spTree>
    <p:extLst>
      <p:ext uri="{BB962C8B-B14F-4D97-AF65-F5344CB8AC3E}">
        <p14:creationId xmlns:p14="http://schemas.microsoft.com/office/powerpoint/2010/main" val="33618278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A5359F4E-E0CF-E8E4-691E-42893DD65E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95EFE9DD-9E83-5F76-5F4A-CFD555955B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00AF32A-50D3-5E60-311B-2BD60FD8FC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D0FDE1F-14B3-4DE9-B552-082FB94E8D2A}" type="datetimeFigureOut">
              <a:rPr lang="fr-FR" smtClean="0"/>
              <a:t>16/03/2026</a:t>
            </a:fld>
            <a:endParaRPr lang="fr-FR"/>
          </a:p>
        </p:txBody>
      </p:sp>
      <p:sp>
        <p:nvSpPr>
          <p:cNvPr id="5" name="Espace réservé du pied de page 4">
            <a:extLst>
              <a:ext uri="{FF2B5EF4-FFF2-40B4-BE49-F238E27FC236}">
                <a16:creationId xmlns:a16="http://schemas.microsoft.com/office/drawing/2014/main" id="{7C8CF9AB-66A0-4D08-A2FD-12DEFACAAF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BC1A22A4-BB6A-1F3C-025D-435D5CCEC5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18DFF5F-27EE-4826-8709-E90BFDCE05BF}" type="slidenum">
              <a:rPr lang="fr-FR" smtClean="0"/>
              <a:t>‹N°›</a:t>
            </a:fld>
            <a:endParaRPr lang="fr-FR"/>
          </a:p>
        </p:txBody>
      </p:sp>
    </p:spTree>
    <p:extLst>
      <p:ext uri="{BB962C8B-B14F-4D97-AF65-F5344CB8AC3E}">
        <p14:creationId xmlns:p14="http://schemas.microsoft.com/office/powerpoint/2010/main" val="4263468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hyperlink" Target="https://doi.org/10.3386/w25036"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doi.org/10.1016/j.socec.2025.102350"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jpeg"/></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47B2406-051B-6EEB-17CF-4FAB04B292D3}"/>
              </a:ext>
            </a:extLst>
          </p:cNvPr>
          <p:cNvSpPr>
            <a:spLocks noGrp="1"/>
          </p:cNvSpPr>
          <p:nvPr>
            <p:ph type="ctrTitle"/>
          </p:nvPr>
        </p:nvSpPr>
        <p:spPr>
          <a:xfrm>
            <a:off x="1131277" y="1122362"/>
            <a:ext cx="9929446" cy="2949305"/>
          </a:xfrm>
        </p:spPr>
        <p:txBody>
          <a:bodyPr>
            <a:normAutofit fontScale="90000"/>
          </a:bodyPr>
          <a:lstStyle/>
          <a:p>
            <a:r>
              <a:rPr lang="fr-FR" dirty="0"/>
              <a:t>Quand la théorie ne suffit pas : pour des interventions psychologiques plus pragmatiques</a:t>
            </a:r>
          </a:p>
        </p:txBody>
      </p:sp>
      <p:sp>
        <p:nvSpPr>
          <p:cNvPr id="3" name="Sous-titre 2">
            <a:extLst>
              <a:ext uri="{FF2B5EF4-FFF2-40B4-BE49-F238E27FC236}">
                <a16:creationId xmlns:a16="http://schemas.microsoft.com/office/drawing/2014/main" id="{4811092F-BA96-F657-EF1A-4A9A2D788DCF}"/>
              </a:ext>
            </a:extLst>
          </p:cNvPr>
          <p:cNvSpPr>
            <a:spLocks noGrp="1"/>
          </p:cNvSpPr>
          <p:nvPr>
            <p:ph type="subTitle" idx="1"/>
          </p:nvPr>
        </p:nvSpPr>
        <p:spPr>
          <a:xfrm>
            <a:off x="1524000" y="4382218"/>
            <a:ext cx="9144000" cy="875581"/>
          </a:xfrm>
        </p:spPr>
        <p:txBody>
          <a:bodyPr>
            <a:normAutofit lnSpcReduction="10000"/>
          </a:bodyPr>
          <a:lstStyle/>
          <a:p>
            <a:r>
              <a:rPr lang="fr-FR" dirty="0"/>
              <a:t>Adrien Fillon</a:t>
            </a:r>
          </a:p>
          <a:p>
            <a:r>
              <a:rPr lang="fr-FR" dirty="0"/>
              <a:t>13/03/2026</a:t>
            </a:r>
          </a:p>
        </p:txBody>
      </p:sp>
    </p:spTree>
    <p:extLst>
      <p:ext uri="{BB962C8B-B14F-4D97-AF65-F5344CB8AC3E}">
        <p14:creationId xmlns:p14="http://schemas.microsoft.com/office/powerpoint/2010/main" val="22042647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Duties of a Medical Social Worker | Keuka College">
            <a:extLst>
              <a:ext uri="{FF2B5EF4-FFF2-40B4-BE49-F238E27FC236}">
                <a16:creationId xmlns:a16="http://schemas.microsoft.com/office/drawing/2014/main" id="{9DA372B1-CE65-420F-51AA-5743D15587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7099" y="-13575"/>
            <a:ext cx="10327725" cy="68851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wo Theories of Consciousness Faced Off. The Ref Took a Beating. - The New  York Times">
            <a:extLst>
              <a:ext uri="{FF2B5EF4-FFF2-40B4-BE49-F238E27FC236}">
                <a16:creationId xmlns:a16="http://schemas.microsoft.com/office/drawing/2014/main" id="{BCB194BB-5E30-E137-E418-AA393418AE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3553" y="-65697"/>
            <a:ext cx="10799546" cy="719969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sychology Logo Images – Browse 67,106 Stock Photos, Vectors, and Video |  Adobe Stock">
            <a:extLst>
              <a:ext uri="{FF2B5EF4-FFF2-40B4-BE49-F238E27FC236}">
                <a16:creationId xmlns:a16="http://schemas.microsoft.com/office/drawing/2014/main" id="{54F762DB-9CF9-FA45-3270-C327B535C8F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81493" y="3162300"/>
            <a:ext cx="3429000" cy="3429000"/>
          </a:xfrm>
          <a:prstGeom prst="rect">
            <a:avLst/>
          </a:prstGeom>
          <a:noFill/>
          <a:extLst>
            <a:ext uri="{909E8E84-426E-40DD-AFC4-6F175D3DCCD1}">
              <a14:hiddenFill xmlns:a14="http://schemas.microsoft.com/office/drawing/2010/main">
                <a:solidFill>
                  <a:srgbClr val="FFFFFF"/>
                </a:solidFill>
              </a14:hiddenFill>
            </a:ext>
          </a:extLst>
        </p:spPr>
      </p:pic>
      <p:sp>
        <p:nvSpPr>
          <p:cNvPr id="3" name="Ellipse 2">
            <a:extLst>
              <a:ext uri="{FF2B5EF4-FFF2-40B4-BE49-F238E27FC236}">
                <a16:creationId xmlns:a16="http://schemas.microsoft.com/office/drawing/2014/main" id="{C5C7E477-20F3-4FE1-B2FE-C0B2644EBBC0}"/>
              </a:ext>
            </a:extLst>
          </p:cNvPr>
          <p:cNvSpPr/>
          <p:nvPr/>
        </p:nvSpPr>
        <p:spPr>
          <a:xfrm>
            <a:off x="6032931" y="5027863"/>
            <a:ext cx="126110" cy="126111"/>
          </a:xfrm>
          <a:prstGeom prst="ellipse">
            <a:avLst/>
          </a:prstGeom>
          <a:solidFill>
            <a:srgbClr val="C00000"/>
          </a:solidFill>
          <a:ln w="9525" cap="flat">
            <a:solidFill>
              <a:srgbClr val="C00000"/>
            </a:solidFill>
            <a:prstDash val="solid"/>
            <a:miter/>
          </a:ln>
        </p:spPr>
        <p:txBody>
          <a:bodyPr/>
          <a:lstStyle/>
          <a:p>
            <a:endParaRPr lang="fr-FR"/>
          </a:p>
        </p:txBody>
      </p:sp>
      <p:sp>
        <p:nvSpPr>
          <p:cNvPr id="4" name="Forme libre : forme 3">
            <a:extLst>
              <a:ext uri="{FF2B5EF4-FFF2-40B4-BE49-F238E27FC236}">
                <a16:creationId xmlns:a16="http://schemas.microsoft.com/office/drawing/2014/main" id="{6ACDF3ED-CAC8-DAB0-1DBB-6D18D0900B3E}"/>
              </a:ext>
            </a:extLst>
          </p:cNvPr>
          <p:cNvSpPr/>
          <p:nvPr/>
        </p:nvSpPr>
        <p:spPr>
          <a:xfrm>
            <a:off x="5881674" y="4447968"/>
            <a:ext cx="428637" cy="533984"/>
          </a:xfrm>
          <a:custGeom>
            <a:avLst/>
            <a:gdLst>
              <a:gd name="csX0" fmla="*/ 252413 w 428637"/>
              <a:gd name="csY0" fmla="*/ 413493 h 533984"/>
              <a:gd name="csX1" fmla="*/ 252413 w 428637"/>
              <a:gd name="csY1" fmla="*/ 533984 h 533984"/>
              <a:gd name="csX2" fmla="*/ 176213 w 428637"/>
              <a:gd name="csY2" fmla="*/ 533984 h 533984"/>
              <a:gd name="csX3" fmla="*/ 176213 w 428637"/>
              <a:gd name="csY3" fmla="*/ 340436 h 533984"/>
              <a:gd name="csX4" fmla="*/ 214313 w 428637"/>
              <a:gd name="csY4" fmla="*/ 340436 h 533984"/>
              <a:gd name="csX5" fmla="*/ 352997 w 428637"/>
              <a:gd name="csY5" fmla="*/ 214325 h 533984"/>
              <a:gd name="csX6" fmla="*/ 220479 w 428637"/>
              <a:gd name="csY6" fmla="*/ 75641 h 533984"/>
              <a:gd name="csX7" fmla="*/ 214313 w 428637"/>
              <a:gd name="csY7" fmla="*/ 75641 h 533984"/>
              <a:gd name="csX8" fmla="*/ 75628 w 428637"/>
              <a:gd name="csY8" fmla="*/ 219659 h 533984"/>
              <a:gd name="csX9" fmla="*/ 0 w 428637"/>
              <a:gd name="csY9" fmla="*/ 219659 h 533984"/>
              <a:gd name="csX10" fmla="*/ 214313 w 428637"/>
              <a:gd name="csY10" fmla="*/ 13 h 533984"/>
              <a:gd name="csX11" fmla="*/ 428625 w 428637"/>
              <a:gd name="csY11" fmla="*/ 209728 h 533984"/>
              <a:gd name="csX12" fmla="*/ 428625 w 428637"/>
              <a:gd name="csY12" fmla="*/ 214325 h 533984"/>
              <a:gd name="csX13" fmla="*/ 252413 w 428637"/>
              <a:gd name="csY13" fmla="*/ 413493 h 5339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428637" h="533984">
                <a:moveTo>
                  <a:pt x="252413" y="413493"/>
                </a:moveTo>
                <a:lnTo>
                  <a:pt x="252413" y="533984"/>
                </a:lnTo>
                <a:lnTo>
                  <a:pt x="176213" y="533984"/>
                </a:lnTo>
                <a:lnTo>
                  <a:pt x="176213" y="340436"/>
                </a:lnTo>
                <a:lnTo>
                  <a:pt x="214313" y="340436"/>
                </a:lnTo>
                <a:cubicBezTo>
                  <a:pt x="298514" y="340436"/>
                  <a:pt x="352997" y="290906"/>
                  <a:pt x="352997" y="214325"/>
                </a:cubicBezTo>
                <a:cubicBezTo>
                  <a:pt x="354700" y="139435"/>
                  <a:pt x="295369" y="77344"/>
                  <a:pt x="220479" y="75641"/>
                </a:cubicBezTo>
                <a:cubicBezTo>
                  <a:pt x="218423" y="75595"/>
                  <a:pt x="216368" y="75595"/>
                  <a:pt x="214313" y="75641"/>
                </a:cubicBezTo>
                <a:cubicBezTo>
                  <a:pt x="127445" y="75641"/>
                  <a:pt x="75628" y="132791"/>
                  <a:pt x="75628" y="219659"/>
                </a:cubicBezTo>
                <a:lnTo>
                  <a:pt x="0" y="219659"/>
                </a:lnTo>
                <a:cubicBezTo>
                  <a:pt x="0" y="91453"/>
                  <a:pt x="85725" y="13"/>
                  <a:pt x="214313" y="13"/>
                </a:cubicBezTo>
                <a:cubicBezTo>
                  <a:pt x="331404" y="-1257"/>
                  <a:pt x="427355" y="92636"/>
                  <a:pt x="428625" y="209728"/>
                </a:cubicBezTo>
                <a:cubicBezTo>
                  <a:pt x="428641" y="211260"/>
                  <a:pt x="428641" y="212793"/>
                  <a:pt x="428625" y="214325"/>
                </a:cubicBezTo>
                <a:cubicBezTo>
                  <a:pt x="428625" y="320910"/>
                  <a:pt x="358140" y="398634"/>
                  <a:pt x="252413" y="413493"/>
                </a:cubicBezTo>
                <a:close/>
              </a:path>
            </a:pathLst>
          </a:custGeom>
          <a:solidFill>
            <a:srgbClr val="C00000"/>
          </a:solidFill>
          <a:ln w="9525" cap="flat">
            <a:solidFill>
              <a:srgbClr val="C00000"/>
            </a:solidFill>
            <a:prstDash val="solid"/>
            <a:miter/>
          </a:ln>
        </p:spPr>
        <p:txBody>
          <a:bodyPr/>
          <a:lstStyle/>
          <a:p>
            <a:endParaRPr lang="fr-FR"/>
          </a:p>
        </p:txBody>
      </p:sp>
    </p:spTree>
    <p:extLst>
      <p:ext uri="{BB962C8B-B14F-4D97-AF65-F5344CB8AC3E}">
        <p14:creationId xmlns:p14="http://schemas.microsoft.com/office/powerpoint/2010/main" val="2675954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30"/>
                                        </p:tgtEl>
                                        <p:attrNameLst>
                                          <p:attrName>style.visibility</p:attrName>
                                        </p:attrNameLst>
                                      </p:cBhvr>
                                      <p:to>
                                        <p:strVal val="visible"/>
                                      </p:to>
                                    </p:set>
                                    <p:anim calcmode="lin" valueType="num">
                                      <p:cBhvr additive="base">
                                        <p:cTn id="7" dur="500" fill="hold"/>
                                        <p:tgtEl>
                                          <p:spTgt spid="1030"/>
                                        </p:tgtEl>
                                        <p:attrNameLst>
                                          <p:attrName>ppt_x</p:attrName>
                                        </p:attrNameLst>
                                      </p:cBhvr>
                                      <p:tavLst>
                                        <p:tav tm="0">
                                          <p:val>
                                            <p:strVal val="0-#ppt_w/2"/>
                                          </p:val>
                                        </p:tav>
                                        <p:tav tm="100000">
                                          <p:val>
                                            <p:strVal val="#ppt_x"/>
                                          </p:val>
                                        </p:tav>
                                      </p:tavLst>
                                    </p:anim>
                                    <p:anim calcmode="lin" valueType="num">
                                      <p:cBhvr additive="base">
                                        <p:cTn id="8" dur="500" fill="hold"/>
                                        <p:tgtEl>
                                          <p:spTgt spid="103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028"/>
                                        </p:tgtEl>
                                        <p:attrNameLst>
                                          <p:attrName>style.visibility</p:attrName>
                                        </p:attrNameLst>
                                      </p:cBhvr>
                                      <p:to>
                                        <p:strVal val="visible"/>
                                      </p:to>
                                    </p:set>
                                    <p:anim calcmode="lin" valueType="num">
                                      <p:cBhvr additive="base">
                                        <p:cTn id="13" dur="500" fill="hold"/>
                                        <p:tgtEl>
                                          <p:spTgt spid="1028"/>
                                        </p:tgtEl>
                                        <p:attrNameLst>
                                          <p:attrName>ppt_x</p:attrName>
                                        </p:attrNameLst>
                                      </p:cBhvr>
                                      <p:tavLst>
                                        <p:tav tm="0">
                                          <p:val>
                                            <p:strVal val="1+#ppt_w/2"/>
                                          </p:val>
                                        </p:tav>
                                        <p:tav tm="100000">
                                          <p:val>
                                            <p:strVal val="#ppt_x"/>
                                          </p:val>
                                        </p:tav>
                                      </p:tavLst>
                                    </p:anim>
                                    <p:anim calcmode="lin" valueType="num">
                                      <p:cBhvr additive="base">
                                        <p:cTn id="14" dur="500" fill="hold"/>
                                        <p:tgtEl>
                                          <p:spTgt spid="10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weck's Mindset Theory: How to Develop a Growth Mindset - Growth Engineering">
            <a:extLst>
              <a:ext uri="{FF2B5EF4-FFF2-40B4-BE49-F238E27FC236}">
                <a16:creationId xmlns:a16="http://schemas.microsoft.com/office/drawing/2014/main" id="{0A9EA47F-849D-DA9B-7FAB-F3FBEF0378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339" y="190500"/>
            <a:ext cx="4655568" cy="31051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f then – lawactually with darin thompson">
            <a:extLst>
              <a:ext uri="{FF2B5EF4-FFF2-40B4-BE49-F238E27FC236}">
                <a16:creationId xmlns:a16="http://schemas.microsoft.com/office/drawing/2014/main" id="{BE7EE95C-F755-8825-15F6-6E8EAFC54C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46861" y="700087"/>
            <a:ext cx="4876800" cy="208597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 Am Positive Affirmations for Kids, Homeschooling Art, Motivational  Poster, Positive Decor, Playroom, Homeschool, Gift for Kids, Digital - Etsy">
            <a:extLst>
              <a:ext uri="{FF2B5EF4-FFF2-40B4-BE49-F238E27FC236}">
                <a16:creationId xmlns:a16="http://schemas.microsoft.com/office/drawing/2014/main" id="{54F1FF26-7D77-76D1-B433-BE5FF7CE79C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2593" y="3902794"/>
            <a:ext cx="4147059" cy="2764706"/>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Blog 105-Rethinking Policy from a Behavioural Angle: A Case of Nudge | AESA">
            <a:extLst>
              <a:ext uri="{FF2B5EF4-FFF2-40B4-BE49-F238E27FC236}">
                <a16:creationId xmlns:a16="http://schemas.microsoft.com/office/drawing/2014/main" id="{C7932883-16EE-B685-E52D-48A58B6CA274}"/>
              </a:ext>
            </a:extLst>
          </p:cNvPr>
          <p:cNvPicPr>
            <a:picLocks noChangeAspect="1" noChangeArrowheads="1"/>
          </p:cNvPicPr>
          <p:nvPr/>
        </p:nvPicPr>
        <p:blipFill>
          <a:blip r:embed="rId6"/>
          <a:srcRect/>
          <a:stretch/>
        </p:blipFill>
        <p:spPr bwMode="auto">
          <a:xfrm>
            <a:off x="6336107" y="3238528"/>
            <a:ext cx="5498307" cy="3428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49761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500"/>
                                        <p:tgtEl>
                                          <p:spTgt spid="20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2"/>
                                        </p:tgtEl>
                                        <p:attrNameLst>
                                          <p:attrName>style.visibility</p:attrName>
                                        </p:attrNameLst>
                                      </p:cBhvr>
                                      <p:to>
                                        <p:strVal val="visible"/>
                                      </p:to>
                                    </p:set>
                                    <p:animEffect transition="in" filter="fade">
                                      <p:cBhvr>
                                        <p:cTn id="12" dur="500"/>
                                        <p:tgtEl>
                                          <p:spTgt spid="205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54"/>
                                        </p:tgtEl>
                                        <p:attrNameLst>
                                          <p:attrName>style.visibility</p:attrName>
                                        </p:attrNameLst>
                                      </p:cBhvr>
                                      <p:to>
                                        <p:strVal val="visible"/>
                                      </p:to>
                                    </p:set>
                                    <p:animEffect transition="in" filter="fade">
                                      <p:cBhvr>
                                        <p:cTn id="17" dur="500"/>
                                        <p:tgtEl>
                                          <p:spTgt spid="205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56"/>
                                        </p:tgtEl>
                                        <p:attrNameLst>
                                          <p:attrName>style.visibility</p:attrName>
                                        </p:attrNameLst>
                                      </p:cBhvr>
                                      <p:to>
                                        <p:strVal val="visible"/>
                                      </p:to>
                                    </p:set>
                                    <p:animEffect transition="in" filter="fade">
                                      <p:cBhvr>
                                        <p:cTn id="22" dur="500"/>
                                        <p:tgtEl>
                                          <p:spTgt spid="20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A9F3A-E613-B90E-A62E-4659140BF0ED}"/>
            </a:ext>
          </a:extLst>
        </p:cNvPr>
        <p:cNvGrpSpPr/>
        <p:nvPr/>
      </p:nvGrpSpPr>
      <p:grpSpPr>
        <a:xfrm>
          <a:off x="0" y="0"/>
          <a:ext cx="0" cy="0"/>
          <a:chOff x="0" y="0"/>
          <a:chExt cx="0" cy="0"/>
        </a:xfrm>
      </p:grpSpPr>
      <p:pic>
        <p:nvPicPr>
          <p:cNvPr id="2050" name="Picture 2" descr="Dweck's Mindset Theory: How to Develop a Growth Mindset - Growth Engineering">
            <a:extLst>
              <a:ext uri="{FF2B5EF4-FFF2-40B4-BE49-F238E27FC236}">
                <a16:creationId xmlns:a16="http://schemas.microsoft.com/office/drawing/2014/main" id="{8E77152B-FC89-D3BC-9F58-D39412FE63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311" y="297033"/>
            <a:ext cx="2655967" cy="1771465"/>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F67D9BF6-8277-276C-1636-93E50E389A47}"/>
              </a:ext>
            </a:extLst>
          </p:cNvPr>
          <p:cNvSpPr txBox="1"/>
          <p:nvPr/>
        </p:nvSpPr>
        <p:spPr>
          <a:xfrm>
            <a:off x="7551491" y="5657671"/>
            <a:ext cx="4489588" cy="1200329"/>
          </a:xfrm>
          <a:prstGeom prst="rect">
            <a:avLst/>
          </a:prstGeom>
          <a:noFill/>
        </p:spPr>
        <p:txBody>
          <a:bodyPr wrap="square">
            <a:spAutoFit/>
          </a:bodyPr>
          <a:lstStyle/>
          <a:p>
            <a:pPr marL="171450" indent="-171450">
              <a:buFont typeface="Arial" panose="020B0604020202020204" pitchFamily="34" charset="0"/>
              <a:buChar char="•"/>
            </a:pPr>
            <a:r>
              <a:rPr lang="fr-FR" sz="900" dirty="0" err="1"/>
              <a:t>Macnamara</a:t>
            </a:r>
            <a:r>
              <a:rPr lang="fr-FR" sz="900" dirty="0"/>
              <a:t>, B. N., &amp; Burgoyne, A. P. (2023). Do </a:t>
            </a:r>
            <a:r>
              <a:rPr lang="fr-FR" sz="900" dirty="0" err="1"/>
              <a:t>growth</a:t>
            </a:r>
            <a:r>
              <a:rPr lang="fr-FR" sz="900" dirty="0"/>
              <a:t> </a:t>
            </a:r>
            <a:r>
              <a:rPr lang="fr-FR" sz="900" dirty="0" err="1"/>
              <a:t>mindset</a:t>
            </a:r>
            <a:r>
              <a:rPr lang="fr-FR" sz="900" dirty="0"/>
              <a:t> interventions impact </a:t>
            </a:r>
            <a:r>
              <a:rPr lang="fr-FR" sz="900" dirty="0" err="1"/>
              <a:t>students</a:t>
            </a:r>
            <a:r>
              <a:rPr lang="fr-FR" sz="900" dirty="0"/>
              <a:t>’ </a:t>
            </a:r>
            <a:r>
              <a:rPr lang="fr-FR" sz="900" dirty="0" err="1"/>
              <a:t>academic</a:t>
            </a:r>
            <a:r>
              <a:rPr lang="fr-FR" sz="900" dirty="0"/>
              <a:t> </a:t>
            </a:r>
            <a:r>
              <a:rPr lang="fr-FR" sz="900" dirty="0" err="1"/>
              <a:t>achievement</a:t>
            </a:r>
            <a:r>
              <a:rPr lang="fr-FR" sz="900" dirty="0"/>
              <a:t>? A </a:t>
            </a:r>
            <a:r>
              <a:rPr lang="fr-FR" sz="900" dirty="0" err="1"/>
              <a:t>systematic</a:t>
            </a:r>
            <a:r>
              <a:rPr lang="fr-FR" sz="900" dirty="0"/>
              <a:t> </a:t>
            </a:r>
            <a:r>
              <a:rPr lang="fr-FR" sz="900" dirty="0" err="1"/>
              <a:t>review</a:t>
            </a:r>
            <a:r>
              <a:rPr lang="fr-FR" sz="900" dirty="0"/>
              <a:t> and </a:t>
            </a:r>
            <a:r>
              <a:rPr lang="fr-FR" sz="900" dirty="0" err="1"/>
              <a:t>meta-analysis</a:t>
            </a:r>
            <a:r>
              <a:rPr lang="fr-FR" sz="900" dirty="0"/>
              <a:t> </a:t>
            </a:r>
            <a:r>
              <a:rPr lang="fr-FR" sz="900" dirty="0" err="1"/>
              <a:t>with</a:t>
            </a:r>
            <a:r>
              <a:rPr lang="fr-FR" sz="900" dirty="0"/>
              <a:t> </a:t>
            </a:r>
            <a:r>
              <a:rPr lang="fr-FR" sz="900" dirty="0" err="1"/>
              <a:t>recommendations</a:t>
            </a:r>
            <a:r>
              <a:rPr lang="fr-FR" sz="900" dirty="0"/>
              <a:t> for best practices. Psychological Bulletin, 149(3–4), 133–173. https://doi.org/10.1037/bul0000352</a:t>
            </a:r>
          </a:p>
          <a:p>
            <a:pPr marL="171450" indent="-171450" algn="just">
              <a:buFont typeface="Arial" panose="020B0604020202020204" pitchFamily="34" charset="0"/>
              <a:buChar char="•"/>
            </a:pPr>
            <a:r>
              <a:rPr lang="fr-FR" sz="900" dirty="0" err="1"/>
              <a:t>Oreopoulos</a:t>
            </a:r>
            <a:r>
              <a:rPr lang="fr-FR" sz="900" dirty="0"/>
              <a:t>, P., Patterson, R., </a:t>
            </a:r>
            <a:r>
              <a:rPr lang="fr-FR" sz="900" dirty="0" err="1"/>
              <a:t>Petronijevic</a:t>
            </a:r>
            <a:r>
              <a:rPr lang="fr-FR" sz="900" dirty="0"/>
              <a:t>, U., &amp; Pope, N. (2018). When </a:t>
            </a:r>
            <a:r>
              <a:rPr lang="fr-FR" sz="900" dirty="0" err="1"/>
              <a:t>Studying</a:t>
            </a:r>
            <a:r>
              <a:rPr lang="fr-FR" sz="900" dirty="0"/>
              <a:t> and </a:t>
            </a:r>
            <a:r>
              <a:rPr lang="fr-FR" sz="900" dirty="0" err="1"/>
              <a:t>Nudging</a:t>
            </a:r>
            <a:r>
              <a:rPr lang="fr-FR" sz="900" dirty="0"/>
              <a:t> Don’t Go as </a:t>
            </a:r>
            <a:r>
              <a:rPr lang="fr-FR" sz="900" dirty="0" err="1"/>
              <a:t>Planned</a:t>
            </a:r>
            <a:r>
              <a:rPr lang="fr-FR" sz="900" dirty="0"/>
              <a:t>: </a:t>
            </a:r>
            <a:r>
              <a:rPr lang="fr-FR" sz="900" dirty="0" err="1"/>
              <a:t>Unsuccessful</a:t>
            </a:r>
            <a:r>
              <a:rPr lang="fr-FR" sz="900" dirty="0"/>
              <a:t> </a:t>
            </a:r>
            <a:r>
              <a:rPr lang="fr-FR" sz="900" dirty="0" err="1"/>
              <a:t>Attempts</a:t>
            </a:r>
            <a:r>
              <a:rPr lang="fr-FR" sz="900" dirty="0"/>
              <a:t> to Help </a:t>
            </a:r>
            <a:r>
              <a:rPr lang="fr-FR" sz="900" dirty="0" err="1"/>
              <a:t>Traditional</a:t>
            </a:r>
            <a:r>
              <a:rPr lang="fr-FR" sz="900" dirty="0"/>
              <a:t> and Online </a:t>
            </a:r>
            <a:r>
              <a:rPr lang="fr-FR" sz="900" dirty="0" err="1"/>
              <a:t>College</a:t>
            </a:r>
            <a:r>
              <a:rPr lang="fr-FR" sz="900" dirty="0"/>
              <a:t> </a:t>
            </a:r>
            <a:r>
              <a:rPr lang="fr-FR" sz="900" dirty="0" err="1"/>
              <a:t>Students</a:t>
            </a:r>
            <a:r>
              <a:rPr lang="fr-FR" sz="900" dirty="0"/>
              <a:t>. National Bureau of </a:t>
            </a:r>
            <a:r>
              <a:rPr lang="fr-FR" sz="900" dirty="0" err="1"/>
              <a:t>Economic</a:t>
            </a:r>
            <a:r>
              <a:rPr lang="fr-FR" sz="900" dirty="0"/>
              <a:t> Research. </a:t>
            </a:r>
            <a:r>
              <a:rPr lang="fr-FR" sz="900" dirty="0">
                <a:hlinkClick r:id="rId4"/>
              </a:rPr>
              <a:t>https://doi.org/10.3386/w25036</a:t>
            </a:r>
            <a:endParaRPr lang="fr-FR" sz="900" dirty="0"/>
          </a:p>
        </p:txBody>
      </p:sp>
      <p:sp>
        <p:nvSpPr>
          <p:cNvPr id="6" name="ZoneTexte 5">
            <a:extLst>
              <a:ext uri="{FF2B5EF4-FFF2-40B4-BE49-F238E27FC236}">
                <a16:creationId xmlns:a16="http://schemas.microsoft.com/office/drawing/2014/main" id="{3BA09CDF-31F0-E922-DAAE-F47995C03838}"/>
              </a:ext>
            </a:extLst>
          </p:cNvPr>
          <p:cNvSpPr txBox="1"/>
          <p:nvPr/>
        </p:nvSpPr>
        <p:spPr>
          <a:xfrm>
            <a:off x="3128932" y="481678"/>
            <a:ext cx="7417739" cy="369332"/>
          </a:xfrm>
          <a:prstGeom prst="rect">
            <a:avLst/>
          </a:prstGeom>
          <a:noFill/>
        </p:spPr>
        <p:txBody>
          <a:bodyPr wrap="square">
            <a:spAutoFit/>
          </a:bodyPr>
          <a:lstStyle/>
          <a:p>
            <a:r>
              <a:rPr lang="fr-FR" dirty="0"/>
              <a:t>Après deux décennies de recherche (63 études, 97,672 élèves)</a:t>
            </a:r>
          </a:p>
        </p:txBody>
      </p:sp>
      <p:sp>
        <p:nvSpPr>
          <p:cNvPr id="7" name="ZoneTexte 6">
            <a:extLst>
              <a:ext uri="{FF2B5EF4-FFF2-40B4-BE49-F238E27FC236}">
                <a16:creationId xmlns:a16="http://schemas.microsoft.com/office/drawing/2014/main" id="{E190AFEC-42D3-B3BE-E69A-75AAF5BB1FD7}"/>
              </a:ext>
            </a:extLst>
          </p:cNvPr>
          <p:cNvSpPr txBox="1"/>
          <p:nvPr/>
        </p:nvSpPr>
        <p:spPr>
          <a:xfrm>
            <a:off x="4479818" y="851010"/>
            <a:ext cx="6143346" cy="369332"/>
          </a:xfrm>
          <a:prstGeom prst="rect">
            <a:avLst/>
          </a:prstGeom>
          <a:noFill/>
        </p:spPr>
        <p:txBody>
          <a:bodyPr wrap="square">
            <a:spAutoFit/>
          </a:bodyPr>
          <a:lstStyle/>
          <a:p>
            <a:pPr algn="ctr"/>
            <a:r>
              <a:rPr lang="fr-FR" dirty="0" err="1"/>
              <a:t>Macnamara</a:t>
            </a:r>
            <a:r>
              <a:rPr lang="fr-FR" dirty="0"/>
              <a:t> &amp; Burgoyne (2023)</a:t>
            </a:r>
          </a:p>
        </p:txBody>
      </p:sp>
      <p:sp>
        <p:nvSpPr>
          <p:cNvPr id="8" name="ZoneTexte 7">
            <a:extLst>
              <a:ext uri="{FF2B5EF4-FFF2-40B4-BE49-F238E27FC236}">
                <a16:creationId xmlns:a16="http://schemas.microsoft.com/office/drawing/2014/main" id="{119348D0-CBE1-C5E7-E82C-1C64009B8CEA}"/>
              </a:ext>
            </a:extLst>
          </p:cNvPr>
          <p:cNvSpPr txBox="1"/>
          <p:nvPr/>
        </p:nvSpPr>
        <p:spPr>
          <a:xfrm>
            <a:off x="4055171" y="1269181"/>
            <a:ext cx="6143346" cy="2031325"/>
          </a:xfrm>
          <a:prstGeom prst="rect">
            <a:avLst/>
          </a:prstGeom>
          <a:noFill/>
        </p:spPr>
        <p:txBody>
          <a:bodyPr wrap="square">
            <a:spAutoFit/>
          </a:bodyPr>
          <a:lstStyle/>
          <a:p>
            <a:pPr marL="285750" indent="-285750" algn="ctr">
              <a:buFont typeface="Arial" panose="020B0604020202020204" pitchFamily="34" charset="0"/>
              <a:buChar char="•"/>
            </a:pPr>
            <a:r>
              <a:rPr lang="fr-FR" dirty="0"/>
              <a:t>Les auteurs avec des conflits d’intérêt publient des études avec des tailles d’effet largement supérieures</a:t>
            </a:r>
          </a:p>
          <a:p>
            <a:pPr marL="285750" indent="-285750" algn="ctr">
              <a:buFont typeface="Arial" panose="020B0604020202020204" pitchFamily="34" charset="0"/>
              <a:buChar char="•"/>
            </a:pPr>
            <a:r>
              <a:rPr lang="fr-FR" dirty="0"/>
              <a:t>Les effets méta-analytiques ne sont pas différent de 0</a:t>
            </a:r>
          </a:p>
          <a:p>
            <a:pPr marL="285750" indent="-285750" algn="ctr">
              <a:buFont typeface="Arial" panose="020B0604020202020204" pitchFamily="34" charset="0"/>
              <a:buChar char="•"/>
            </a:pPr>
            <a:r>
              <a:rPr lang="fr-FR" dirty="0"/>
              <a:t>De très nombreux modérateurs sont testés, aucun ne semble pertinent</a:t>
            </a:r>
          </a:p>
          <a:p>
            <a:pPr marL="285750" indent="-285750" algn="ctr">
              <a:buFont typeface="Arial" panose="020B0604020202020204" pitchFamily="34" charset="0"/>
              <a:buChar char="•"/>
            </a:pPr>
            <a:r>
              <a:rPr lang="fr-FR" dirty="0"/>
              <a:t>L’effet est encore plus faible dans les études ayant testé que l’intervention a fonctionné</a:t>
            </a:r>
          </a:p>
        </p:txBody>
      </p:sp>
      <p:sp>
        <p:nvSpPr>
          <p:cNvPr id="10" name="ZoneTexte 9">
            <a:extLst>
              <a:ext uri="{FF2B5EF4-FFF2-40B4-BE49-F238E27FC236}">
                <a16:creationId xmlns:a16="http://schemas.microsoft.com/office/drawing/2014/main" id="{0D4B0C36-183E-212A-0194-6EB20F2E6CF6}"/>
              </a:ext>
            </a:extLst>
          </p:cNvPr>
          <p:cNvSpPr txBox="1"/>
          <p:nvPr/>
        </p:nvSpPr>
        <p:spPr>
          <a:xfrm>
            <a:off x="770214" y="2931174"/>
            <a:ext cx="2446538" cy="369332"/>
          </a:xfrm>
          <a:prstGeom prst="rect">
            <a:avLst/>
          </a:prstGeom>
          <a:noFill/>
        </p:spPr>
        <p:txBody>
          <a:bodyPr wrap="square">
            <a:spAutoFit/>
          </a:bodyPr>
          <a:lstStyle/>
          <a:p>
            <a:r>
              <a:rPr lang="fr-FR" sz="1800" dirty="0" err="1"/>
              <a:t>Oreopoulos</a:t>
            </a:r>
            <a:r>
              <a:rPr lang="fr-FR" sz="1800" dirty="0"/>
              <a:t> et al. 2018</a:t>
            </a:r>
            <a:endParaRPr lang="fr-FR" dirty="0"/>
          </a:p>
        </p:txBody>
      </p:sp>
      <p:sp>
        <p:nvSpPr>
          <p:cNvPr id="11" name="ZoneTexte 10">
            <a:extLst>
              <a:ext uri="{FF2B5EF4-FFF2-40B4-BE49-F238E27FC236}">
                <a16:creationId xmlns:a16="http://schemas.microsoft.com/office/drawing/2014/main" id="{81BB5D9B-7C5A-A794-AB48-C3178A5DD49D}"/>
              </a:ext>
            </a:extLst>
          </p:cNvPr>
          <p:cNvSpPr txBox="1"/>
          <p:nvPr/>
        </p:nvSpPr>
        <p:spPr>
          <a:xfrm>
            <a:off x="57259" y="3429000"/>
            <a:ext cx="3997912" cy="923330"/>
          </a:xfrm>
          <a:prstGeom prst="rect">
            <a:avLst/>
          </a:prstGeom>
          <a:noFill/>
        </p:spPr>
        <p:txBody>
          <a:bodyPr wrap="square">
            <a:spAutoFit/>
          </a:bodyPr>
          <a:lstStyle/>
          <a:p>
            <a:pPr marL="285750" indent="-285750" algn="ctr">
              <a:buFont typeface="Arial" panose="020B0604020202020204" pitchFamily="34" charset="0"/>
              <a:buChar char="•"/>
            </a:pPr>
            <a:r>
              <a:rPr lang="fr-FR" dirty="0"/>
              <a:t>L’intervention a eu un effet sur le temps d’étude</a:t>
            </a:r>
          </a:p>
          <a:p>
            <a:pPr marL="285750" indent="-285750" algn="ctr">
              <a:buFont typeface="Arial" panose="020B0604020202020204" pitchFamily="34" charset="0"/>
              <a:buChar char="•"/>
            </a:pPr>
            <a:r>
              <a:rPr lang="fr-FR" dirty="0"/>
              <a:t>Mais pas sur la note finale</a:t>
            </a:r>
          </a:p>
        </p:txBody>
      </p:sp>
      <p:sp>
        <p:nvSpPr>
          <p:cNvPr id="2" name="Flèche : droite 1">
            <a:extLst>
              <a:ext uri="{FF2B5EF4-FFF2-40B4-BE49-F238E27FC236}">
                <a16:creationId xmlns:a16="http://schemas.microsoft.com/office/drawing/2014/main" id="{FB4744E9-D3B1-5E24-6163-C29A9E879558}"/>
              </a:ext>
            </a:extLst>
          </p:cNvPr>
          <p:cNvSpPr/>
          <p:nvPr/>
        </p:nvSpPr>
        <p:spPr>
          <a:xfrm>
            <a:off x="568171" y="4811697"/>
            <a:ext cx="719091" cy="46163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ECF20866-F9C6-433E-C3A0-60739A083FED}"/>
              </a:ext>
            </a:extLst>
          </p:cNvPr>
          <p:cNvSpPr txBox="1"/>
          <p:nvPr/>
        </p:nvSpPr>
        <p:spPr>
          <a:xfrm>
            <a:off x="1287262" y="4857850"/>
            <a:ext cx="5931438" cy="646331"/>
          </a:xfrm>
          <a:prstGeom prst="rect">
            <a:avLst/>
          </a:prstGeom>
          <a:noFill/>
        </p:spPr>
        <p:txBody>
          <a:bodyPr wrap="square">
            <a:spAutoFit/>
          </a:bodyPr>
          <a:lstStyle/>
          <a:p>
            <a:pPr algn="ctr"/>
            <a:r>
              <a:rPr lang="fr-FR" dirty="0"/>
              <a:t>La théorie du </a:t>
            </a:r>
            <a:r>
              <a:rPr lang="fr-FR" dirty="0" err="1"/>
              <a:t>growth</a:t>
            </a:r>
            <a:r>
              <a:rPr lang="fr-FR" dirty="0"/>
              <a:t> </a:t>
            </a:r>
            <a:r>
              <a:rPr lang="fr-FR" dirty="0" err="1"/>
              <a:t>mindset</a:t>
            </a:r>
            <a:r>
              <a:rPr lang="fr-FR" dirty="0"/>
              <a:t> n’a pas d’effet principal sur les notes</a:t>
            </a:r>
          </a:p>
        </p:txBody>
      </p:sp>
      <p:sp>
        <p:nvSpPr>
          <p:cNvPr id="4" name="Flèche : droite 3">
            <a:extLst>
              <a:ext uri="{FF2B5EF4-FFF2-40B4-BE49-F238E27FC236}">
                <a16:creationId xmlns:a16="http://schemas.microsoft.com/office/drawing/2014/main" id="{90712E58-CB60-A769-9A61-723ADBB09D56}"/>
              </a:ext>
            </a:extLst>
          </p:cNvPr>
          <p:cNvSpPr/>
          <p:nvPr/>
        </p:nvSpPr>
        <p:spPr>
          <a:xfrm>
            <a:off x="568171" y="5542666"/>
            <a:ext cx="719091" cy="46163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3533DEED-04C0-1807-DC6C-FED56D9FD6B3}"/>
              </a:ext>
            </a:extLst>
          </p:cNvPr>
          <p:cNvSpPr txBox="1"/>
          <p:nvPr/>
        </p:nvSpPr>
        <p:spPr>
          <a:xfrm>
            <a:off x="1384917" y="5452992"/>
            <a:ext cx="5931438" cy="923330"/>
          </a:xfrm>
          <a:prstGeom prst="rect">
            <a:avLst/>
          </a:prstGeom>
          <a:noFill/>
        </p:spPr>
        <p:txBody>
          <a:bodyPr wrap="square">
            <a:spAutoFit/>
          </a:bodyPr>
          <a:lstStyle/>
          <a:p>
            <a:pPr algn="ctr"/>
            <a:r>
              <a:rPr lang="fr-FR" dirty="0"/>
              <a:t>Mais l’intervention dans laquelle se trouve le </a:t>
            </a:r>
            <a:r>
              <a:rPr lang="fr-FR" dirty="0" err="1"/>
              <a:t>growth</a:t>
            </a:r>
            <a:r>
              <a:rPr lang="fr-FR" dirty="0"/>
              <a:t> </a:t>
            </a:r>
            <a:r>
              <a:rPr lang="fr-FR" dirty="0" err="1"/>
              <a:t>mindset</a:t>
            </a:r>
            <a:r>
              <a:rPr lang="fr-FR" dirty="0"/>
              <a:t> peut avoir des effets, sur les notes ou sur d’autres modifications comportementales</a:t>
            </a:r>
          </a:p>
        </p:txBody>
      </p:sp>
      <p:sp>
        <p:nvSpPr>
          <p:cNvPr id="12" name="Flèche : droite 11">
            <a:extLst>
              <a:ext uri="{FF2B5EF4-FFF2-40B4-BE49-F238E27FC236}">
                <a16:creationId xmlns:a16="http://schemas.microsoft.com/office/drawing/2014/main" id="{B510C071-FF73-A99F-1D57-59EDDBFDEF13}"/>
              </a:ext>
            </a:extLst>
          </p:cNvPr>
          <p:cNvSpPr/>
          <p:nvPr/>
        </p:nvSpPr>
        <p:spPr>
          <a:xfrm rot="19590339">
            <a:off x="7151028" y="5017938"/>
            <a:ext cx="719091" cy="46163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46D0FF82-892C-D057-D114-505F9F2F6524}"/>
              </a:ext>
            </a:extLst>
          </p:cNvPr>
          <p:cNvSpPr txBox="1"/>
          <p:nvPr/>
        </p:nvSpPr>
        <p:spPr>
          <a:xfrm>
            <a:off x="6766264" y="3286528"/>
            <a:ext cx="5931438" cy="369332"/>
          </a:xfrm>
          <a:prstGeom prst="rect">
            <a:avLst/>
          </a:prstGeom>
          <a:noFill/>
        </p:spPr>
        <p:txBody>
          <a:bodyPr wrap="square">
            <a:spAutoFit/>
          </a:bodyPr>
          <a:lstStyle/>
          <a:p>
            <a:pPr algn="ctr"/>
            <a:r>
              <a:rPr lang="fr-FR" dirty="0"/>
              <a:t>Placebo actif</a:t>
            </a:r>
          </a:p>
        </p:txBody>
      </p:sp>
      <p:pic>
        <p:nvPicPr>
          <p:cNvPr id="15" name="Image 14">
            <a:extLst>
              <a:ext uri="{FF2B5EF4-FFF2-40B4-BE49-F238E27FC236}">
                <a16:creationId xmlns:a16="http://schemas.microsoft.com/office/drawing/2014/main" id="{89F14D1B-B96C-6756-B3E7-01D99A0DC82E}"/>
              </a:ext>
            </a:extLst>
          </p:cNvPr>
          <p:cNvPicPr>
            <a:picLocks noChangeAspect="1"/>
          </p:cNvPicPr>
          <p:nvPr/>
        </p:nvPicPr>
        <p:blipFill>
          <a:blip r:embed="rId5"/>
          <a:stretch>
            <a:fillRect/>
          </a:stretch>
        </p:blipFill>
        <p:spPr>
          <a:xfrm>
            <a:off x="7822104" y="3718677"/>
            <a:ext cx="4218975" cy="1441778"/>
          </a:xfrm>
          <a:prstGeom prst="rect">
            <a:avLst/>
          </a:prstGeom>
        </p:spPr>
      </p:pic>
    </p:spTree>
    <p:extLst>
      <p:ext uri="{BB962C8B-B14F-4D97-AF65-F5344CB8AC3E}">
        <p14:creationId xmlns:p14="http://schemas.microsoft.com/office/powerpoint/2010/main" val="14620255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 grpId="0"/>
      <p:bldP spid="2" grpId="0" animBg="1"/>
      <p:bldP spid="3" grpId="0"/>
      <p:bldP spid="4" grpId="0" animBg="1"/>
      <p:bldP spid="9" grpId="0"/>
      <p:bldP spid="12" grpId="0" animBg="1"/>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04AB1-AFF1-F82B-D227-87FC0D702499}"/>
            </a:ext>
          </a:extLst>
        </p:cNvPr>
        <p:cNvGrpSpPr/>
        <p:nvPr/>
      </p:nvGrpSpPr>
      <p:grpSpPr>
        <a:xfrm>
          <a:off x="0" y="0"/>
          <a:ext cx="0" cy="0"/>
          <a:chOff x="0" y="0"/>
          <a:chExt cx="0" cy="0"/>
        </a:xfrm>
      </p:grpSpPr>
      <p:pic>
        <p:nvPicPr>
          <p:cNvPr id="2050" name="Picture 2" descr="Dweck's Mindset Theory: How to Develop a Growth Mindset - Growth Engineering">
            <a:extLst>
              <a:ext uri="{FF2B5EF4-FFF2-40B4-BE49-F238E27FC236}">
                <a16:creationId xmlns:a16="http://schemas.microsoft.com/office/drawing/2014/main" id="{16F04988-0937-F938-C334-DD9BCDCA78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339" y="190500"/>
            <a:ext cx="4655568" cy="31051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f then – lawactually with darin thompson">
            <a:extLst>
              <a:ext uri="{FF2B5EF4-FFF2-40B4-BE49-F238E27FC236}">
                <a16:creationId xmlns:a16="http://schemas.microsoft.com/office/drawing/2014/main" id="{1AEBBED5-90A0-4F39-F472-6CC55FFA61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46861" y="700087"/>
            <a:ext cx="4876800" cy="208597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 Am Positive Affirmations for Kids, Homeschooling Art, Motivational  Poster, Positive Decor, Playroom, Homeschool, Gift for Kids, Digital - Etsy">
            <a:extLst>
              <a:ext uri="{FF2B5EF4-FFF2-40B4-BE49-F238E27FC236}">
                <a16:creationId xmlns:a16="http://schemas.microsoft.com/office/drawing/2014/main" id="{6DA01245-B5B9-4F11-CE41-2532AB403D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2593" y="3902794"/>
            <a:ext cx="4147059" cy="2764706"/>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Blog 105-Rethinking Policy from a Behavioural Angle: A Case of Nudge | AESA">
            <a:extLst>
              <a:ext uri="{FF2B5EF4-FFF2-40B4-BE49-F238E27FC236}">
                <a16:creationId xmlns:a16="http://schemas.microsoft.com/office/drawing/2014/main" id="{C7128633-5B88-ADA3-4986-0A5F68CC2FD4}"/>
              </a:ext>
            </a:extLst>
          </p:cNvPr>
          <p:cNvPicPr>
            <a:picLocks noChangeAspect="1" noChangeArrowheads="1"/>
          </p:cNvPicPr>
          <p:nvPr/>
        </p:nvPicPr>
        <p:blipFill>
          <a:blip r:embed="rId6"/>
          <a:srcRect/>
          <a:stretch/>
        </p:blipFill>
        <p:spPr bwMode="auto">
          <a:xfrm>
            <a:off x="6336107" y="3238528"/>
            <a:ext cx="5498307" cy="3428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02924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BD63B-B566-4A02-0F19-CF30CB705D40}"/>
            </a:ext>
          </a:extLst>
        </p:cNvPr>
        <p:cNvGrpSpPr/>
        <p:nvPr/>
      </p:nvGrpSpPr>
      <p:grpSpPr>
        <a:xfrm>
          <a:off x="0" y="0"/>
          <a:ext cx="0" cy="0"/>
          <a:chOff x="0" y="0"/>
          <a:chExt cx="0" cy="0"/>
        </a:xfrm>
      </p:grpSpPr>
      <p:pic>
        <p:nvPicPr>
          <p:cNvPr id="2052" name="Picture 4" descr="if then – lawactually with darin thompson">
            <a:extLst>
              <a:ext uri="{FF2B5EF4-FFF2-40B4-BE49-F238E27FC236}">
                <a16:creationId xmlns:a16="http://schemas.microsoft.com/office/drawing/2014/main" id="{E7F69BDD-AB8D-AC2C-E451-605F86F244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65615" y="273959"/>
            <a:ext cx="4093051" cy="1750739"/>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6FBEF992-E2D6-0317-14A3-9F49F743E3BF}"/>
              </a:ext>
            </a:extLst>
          </p:cNvPr>
          <p:cNvSpPr txBox="1"/>
          <p:nvPr/>
        </p:nvSpPr>
        <p:spPr>
          <a:xfrm>
            <a:off x="574129" y="410664"/>
            <a:ext cx="6094520" cy="1477328"/>
          </a:xfrm>
          <a:prstGeom prst="rect">
            <a:avLst/>
          </a:prstGeom>
          <a:noFill/>
        </p:spPr>
        <p:txBody>
          <a:bodyPr wrap="square">
            <a:spAutoFit/>
          </a:bodyPr>
          <a:lstStyle/>
          <a:p>
            <a:pPr algn="just"/>
            <a:r>
              <a:rPr lang="fr-FR" dirty="0"/>
              <a:t>Plusieurs études à grande échelle ont trouvé des effets positifs de l’implémentation d’intention sur le vote (Nickerson et Rogers, 2010), la vaccination contre la grippe (</a:t>
            </a:r>
            <a:r>
              <a:rPr lang="fr-FR" dirty="0" err="1"/>
              <a:t>Milkman</a:t>
            </a:r>
            <a:r>
              <a:rPr lang="fr-FR" dirty="0"/>
              <a:t> et al., 2011) et les dépistages préventifs de santé (</a:t>
            </a:r>
            <a:r>
              <a:rPr lang="fr-FR" dirty="0" err="1"/>
              <a:t>Milkman</a:t>
            </a:r>
            <a:r>
              <a:rPr lang="fr-FR" dirty="0"/>
              <a:t> et al., 2013).</a:t>
            </a:r>
          </a:p>
        </p:txBody>
      </p:sp>
      <p:sp>
        <p:nvSpPr>
          <p:cNvPr id="6" name="ZoneTexte 5">
            <a:extLst>
              <a:ext uri="{FF2B5EF4-FFF2-40B4-BE49-F238E27FC236}">
                <a16:creationId xmlns:a16="http://schemas.microsoft.com/office/drawing/2014/main" id="{04A07577-4A59-912E-6F91-98CB784666FB}"/>
              </a:ext>
            </a:extLst>
          </p:cNvPr>
          <p:cNvSpPr txBox="1"/>
          <p:nvPr/>
        </p:nvSpPr>
        <p:spPr>
          <a:xfrm>
            <a:off x="7608163" y="5796171"/>
            <a:ext cx="4463248" cy="1061829"/>
          </a:xfrm>
          <a:prstGeom prst="rect">
            <a:avLst/>
          </a:prstGeom>
          <a:noFill/>
        </p:spPr>
        <p:txBody>
          <a:bodyPr wrap="square">
            <a:spAutoFit/>
          </a:bodyPr>
          <a:lstStyle/>
          <a:p>
            <a:pPr marL="171450" indent="-171450" algn="just">
              <a:buFont typeface="Arial" panose="020B0604020202020204" pitchFamily="34" charset="0"/>
              <a:buChar char="•"/>
            </a:pPr>
            <a:r>
              <a:rPr lang="en-US" sz="900" dirty="0" err="1"/>
              <a:t>Dablander</a:t>
            </a:r>
            <a:r>
              <a:rPr lang="en-US" sz="900" dirty="0"/>
              <a:t>, F., Lange, F., Brick, C., &amp; Aron, A. R. (2025). Expressing intentions is not climate action. Proceedings of the National Academy of Sciences, 122(28). https://doi.org/10.1073/pnas.2512457122</a:t>
            </a:r>
            <a:endParaRPr lang="fr-FR" sz="900" dirty="0"/>
          </a:p>
          <a:p>
            <a:pPr marL="171450" indent="-171450" algn="just">
              <a:buFont typeface="Arial" panose="020B0604020202020204" pitchFamily="34" charset="0"/>
              <a:buChar char="•"/>
            </a:pPr>
            <a:r>
              <a:rPr lang="fr-FR" sz="900" dirty="0"/>
              <a:t>Carrera, M., Royer, H., </a:t>
            </a:r>
            <a:r>
              <a:rPr lang="fr-FR" sz="900" dirty="0" err="1"/>
              <a:t>Stehr</a:t>
            </a:r>
            <a:r>
              <a:rPr lang="fr-FR" sz="900" dirty="0"/>
              <a:t>, M., </a:t>
            </a:r>
            <a:r>
              <a:rPr lang="fr-FR" sz="900" dirty="0" err="1"/>
              <a:t>Sydnor</a:t>
            </a:r>
            <a:r>
              <a:rPr lang="fr-FR" sz="900" dirty="0"/>
              <a:t>, J., &amp; </a:t>
            </a:r>
            <a:r>
              <a:rPr lang="fr-FR" sz="900" dirty="0" err="1"/>
              <a:t>Taubinsky</a:t>
            </a:r>
            <a:r>
              <a:rPr lang="fr-FR" sz="900" dirty="0"/>
              <a:t>, D. (2018). The </a:t>
            </a:r>
            <a:r>
              <a:rPr lang="fr-FR" sz="900" dirty="0" err="1"/>
              <a:t>limits</a:t>
            </a:r>
            <a:r>
              <a:rPr lang="fr-FR" sz="900" dirty="0"/>
              <a:t> of simple </a:t>
            </a:r>
            <a:r>
              <a:rPr lang="fr-FR" sz="900" dirty="0" err="1"/>
              <a:t>implementation</a:t>
            </a:r>
            <a:r>
              <a:rPr lang="fr-FR" sz="900" dirty="0"/>
              <a:t> intentions: Evidence </a:t>
            </a:r>
            <a:r>
              <a:rPr lang="fr-FR" sz="900" dirty="0" err="1"/>
              <a:t>from</a:t>
            </a:r>
            <a:r>
              <a:rPr lang="fr-FR" sz="900" dirty="0"/>
              <a:t> a </a:t>
            </a:r>
            <a:r>
              <a:rPr lang="fr-FR" sz="900" dirty="0" err="1"/>
              <a:t>field</a:t>
            </a:r>
            <a:r>
              <a:rPr lang="fr-FR" sz="900" dirty="0"/>
              <a:t> </a:t>
            </a:r>
            <a:r>
              <a:rPr lang="fr-FR" sz="900" dirty="0" err="1"/>
              <a:t>experiment</a:t>
            </a:r>
            <a:r>
              <a:rPr lang="fr-FR" sz="900" dirty="0"/>
              <a:t> on </a:t>
            </a:r>
            <a:r>
              <a:rPr lang="fr-FR" sz="900" dirty="0" err="1"/>
              <a:t>making</a:t>
            </a:r>
            <a:r>
              <a:rPr lang="fr-FR" sz="900" dirty="0"/>
              <a:t> plans to </a:t>
            </a:r>
            <a:r>
              <a:rPr lang="fr-FR" sz="900" dirty="0" err="1"/>
              <a:t>exercise</a:t>
            </a:r>
            <a:r>
              <a:rPr lang="fr-FR" sz="900" dirty="0"/>
              <a:t>. Journal of </a:t>
            </a:r>
            <a:r>
              <a:rPr lang="fr-FR" sz="900" dirty="0" err="1"/>
              <a:t>Health</a:t>
            </a:r>
            <a:r>
              <a:rPr lang="fr-FR" sz="900" dirty="0"/>
              <a:t> Economics, 62, 95–104. https://doi.org/10.1016/j.jhealeco.2018.09.002</a:t>
            </a:r>
          </a:p>
        </p:txBody>
      </p:sp>
      <p:sp>
        <p:nvSpPr>
          <p:cNvPr id="8" name="ZoneTexte 7">
            <a:extLst>
              <a:ext uri="{FF2B5EF4-FFF2-40B4-BE49-F238E27FC236}">
                <a16:creationId xmlns:a16="http://schemas.microsoft.com/office/drawing/2014/main" id="{262F7168-EF01-20FE-69AB-8AAF7DEF3D69}"/>
              </a:ext>
            </a:extLst>
          </p:cNvPr>
          <p:cNvSpPr txBox="1"/>
          <p:nvPr/>
        </p:nvSpPr>
        <p:spPr>
          <a:xfrm>
            <a:off x="1771095" y="2101333"/>
            <a:ext cx="6094520" cy="369332"/>
          </a:xfrm>
          <a:prstGeom prst="rect">
            <a:avLst/>
          </a:prstGeom>
          <a:noFill/>
        </p:spPr>
        <p:txBody>
          <a:bodyPr wrap="square">
            <a:spAutoFit/>
          </a:bodyPr>
          <a:lstStyle/>
          <a:p>
            <a:r>
              <a:rPr lang="fr-FR" sz="1800" dirty="0"/>
              <a:t>Carrera et al. (2018) ne trouvent pas d’effet</a:t>
            </a:r>
            <a:endParaRPr lang="fr-FR" dirty="0"/>
          </a:p>
        </p:txBody>
      </p:sp>
      <p:sp>
        <p:nvSpPr>
          <p:cNvPr id="9" name="ZoneTexte 8">
            <a:extLst>
              <a:ext uri="{FF2B5EF4-FFF2-40B4-BE49-F238E27FC236}">
                <a16:creationId xmlns:a16="http://schemas.microsoft.com/office/drawing/2014/main" id="{B09B91FD-B601-CECE-3159-3ED80C0831D5}"/>
              </a:ext>
            </a:extLst>
          </p:cNvPr>
          <p:cNvSpPr txBox="1"/>
          <p:nvPr/>
        </p:nvSpPr>
        <p:spPr>
          <a:xfrm>
            <a:off x="574129" y="2759761"/>
            <a:ext cx="6094520" cy="1200329"/>
          </a:xfrm>
          <a:prstGeom prst="rect">
            <a:avLst/>
          </a:prstGeom>
          <a:noFill/>
        </p:spPr>
        <p:txBody>
          <a:bodyPr wrap="square">
            <a:spAutoFit/>
          </a:bodyPr>
          <a:lstStyle/>
          <a:p>
            <a:pPr marL="285750" indent="-285750">
              <a:buFont typeface="Arial" panose="020B0604020202020204" pitchFamily="34" charset="0"/>
              <a:buChar char="•"/>
            </a:pPr>
            <a:r>
              <a:rPr lang="fr-FR" dirty="0"/>
              <a:t>Routines (intentions fortes)</a:t>
            </a:r>
          </a:p>
          <a:p>
            <a:pPr marL="285750" indent="-285750">
              <a:buFont typeface="Arial" panose="020B0604020202020204" pitchFamily="34" charset="0"/>
              <a:buChar char="•"/>
            </a:pPr>
            <a:r>
              <a:rPr lang="fr-FR" dirty="0"/>
              <a:t>Le plan concerne le Quand et pas le Comment aller faire de la gym</a:t>
            </a:r>
          </a:p>
          <a:p>
            <a:pPr marL="285750" indent="-285750">
              <a:buFont typeface="Arial" panose="020B0604020202020204" pitchFamily="34" charset="0"/>
              <a:buChar char="•"/>
            </a:pPr>
            <a:r>
              <a:rPr lang="fr-FR" dirty="0"/>
              <a:t>Les auteurs testent une routine et pas une seule action</a:t>
            </a:r>
          </a:p>
        </p:txBody>
      </p:sp>
      <p:sp>
        <p:nvSpPr>
          <p:cNvPr id="11" name="ZoneTexte 10">
            <a:extLst>
              <a:ext uri="{FF2B5EF4-FFF2-40B4-BE49-F238E27FC236}">
                <a16:creationId xmlns:a16="http://schemas.microsoft.com/office/drawing/2014/main" id="{F9BE5C10-93BF-5C80-3153-417AA8727995}"/>
              </a:ext>
            </a:extLst>
          </p:cNvPr>
          <p:cNvSpPr txBox="1"/>
          <p:nvPr/>
        </p:nvSpPr>
        <p:spPr>
          <a:xfrm>
            <a:off x="6403019" y="2362634"/>
            <a:ext cx="6094520" cy="369332"/>
          </a:xfrm>
          <a:prstGeom prst="rect">
            <a:avLst/>
          </a:prstGeom>
          <a:noFill/>
        </p:spPr>
        <p:txBody>
          <a:bodyPr wrap="square">
            <a:spAutoFit/>
          </a:bodyPr>
          <a:lstStyle/>
          <a:p>
            <a:pPr algn="ctr"/>
            <a:r>
              <a:rPr lang="en-US" sz="1800" dirty="0" err="1"/>
              <a:t>Dablander</a:t>
            </a:r>
            <a:r>
              <a:rPr lang="en-US" sz="1800" dirty="0"/>
              <a:t> et al., 2025</a:t>
            </a:r>
            <a:endParaRPr lang="fr-FR" dirty="0"/>
          </a:p>
        </p:txBody>
      </p:sp>
      <p:sp>
        <p:nvSpPr>
          <p:cNvPr id="12" name="ZoneTexte 11">
            <a:extLst>
              <a:ext uri="{FF2B5EF4-FFF2-40B4-BE49-F238E27FC236}">
                <a16:creationId xmlns:a16="http://schemas.microsoft.com/office/drawing/2014/main" id="{8C43F07D-76F8-8923-EB49-83FE3A8708E9}"/>
              </a:ext>
            </a:extLst>
          </p:cNvPr>
          <p:cNvSpPr txBox="1"/>
          <p:nvPr/>
        </p:nvSpPr>
        <p:spPr>
          <a:xfrm>
            <a:off x="6403019" y="2866096"/>
            <a:ext cx="6094520" cy="923330"/>
          </a:xfrm>
          <a:prstGeom prst="rect">
            <a:avLst/>
          </a:prstGeom>
          <a:noFill/>
        </p:spPr>
        <p:txBody>
          <a:bodyPr wrap="square">
            <a:spAutoFit/>
          </a:bodyPr>
          <a:lstStyle/>
          <a:p>
            <a:pPr marL="285750" indent="-285750" algn="ctr">
              <a:buFont typeface="Arial" panose="020B0604020202020204" pitchFamily="34" charset="0"/>
              <a:buChar char="•"/>
            </a:pPr>
            <a:r>
              <a:rPr lang="en-US" sz="1800" dirty="0"/>
              <a:t>Exprimer </a:t>
            </a:r>
            <a:r>
              <a:rPr lang="en-US" sz="1800" dirty="0" err="1"/>
              <a:t>une</a:t>
            </a:r>
            <a:r>
              <a:rPr lang="en-US" sz="1800" dirty="0"/>
              <a:t> intention </a:t>
            </a:r>
            <a:r>
              <a:rPr lang="en-US" sz="1800" dirty="0" err="1"/>
              <a:t>n’est</a:t>
            </a:r>
            <a:r>
              <a:rPr lang="en-US" sz="1800" dirty="0"/>
              <a:t> pas </a:t>
            </a:r>
            <a:r>
              <a:rPr lang="en-US" sz="1800" dirty="0" err="1"/>
              <a:t>produire</a:t>
            </a:r>
            <a:r>
              <a:rPr lang="en-US" sz="1800" dirty="0"/>
              <a:t> </a:t>
            </a:r>
            <a:r>
              <a:rPr lang="en-US" sz="1800" dirty="0" err="1"/>
              <a:t>une</a:t>
            </a:r>
            <a:r>
              <a:rPr lang="en-US" sz="1800" dirty="0"/>
              <a:t> action</a:t>
            </a:r>
          </a:p>
          <a:p>
            <a:pPr marL="285750" indent="-285750" algn="ctr">
              <a:buFont typeface="Arial" panose="020B0604020202020204" pitchFamily="34" charset="0"/>
              <a:buChar char="•"/>
            </a:pPr>
            <a:r>
              <a:rPr lang="en-US" dirty="0"/>
              <a:t>Dans le </a:t>
            </a:r>
            <a:r>
              <a:rPr lang="en-US" dirty="0" err="1"/>
              <a:t>domaine</a:t>
            </a:r>
            <a:r>
              <a:rPr lang="en-US" dirty="0"/>
              <a:t> </a:t>
            </a:r>
            <a:r>
              <a:rPr lang="en-US" dirty="0" err="1"/>
              <a:t>climatique</a:t>
            </a:r>
            <a:r>
              <a:rPr lang="en-US" dirty="0"/>
              <a:t>, il </a:t>
            </a:r>
            <a:r>
              <a:rPr lang="en-US" dirty="0" err="1"/>
              <a:t>n’y</a:t>
            </a:r>
            <a:r>
              <a:rPr lang="en-US" dirty="0"/>
              <a:t> a </a:t>
            </a:r>
            <a:r>
              <a:rPr lang="en-US" dirty="0" err="1"/>
              <a:t>aucun</a:t>
            </a:r>
            <a:r>
              <a:rPr lang="en-US" dirty="0"/>
              <a:t> lien</a:t>
            </a:r>
          </a:p>
          <a:p>
            <a:pPr marL="285750" indent="-285750" algn="ctr">
              <a:buFont typeface="Arial" panose="020B0604020202020204" pitchFamily="34" charset="0"/>
              <a:buChar char="•"/>
            </a:pPr>
            <a:r>
              <a:rPr lang="en-US" dirty="0"/>
              <a:t>“Intention-behavior gap”</a:t>
            </a:r>
            <a:endParaRPr lang="fr-FR" dirty="0"/>
          </a:p>
        </p:txBody>
      </p:sp>
    </p:spTree>
    <p:extLst>
      <p:ext uri="{BB962C8B-B14F-4D97-AF65-F5344CB8AC3E}">
        <p14:creationId xmlns:p14="http://schemas.microsoft.com/office/powerpoint/2010/main" val="38965862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2">
                                            <p:txEl>
                                              <p:pRg st="0" end="0"/>
                                            </p:txEl>
                                          </p:spTgt>
                                        </p:tgtEl>
                                        <p:attrNameLst>
                                          <p:attrName>style.visibility</p:attrName>
                                        </p:attrNameLst>
                                      </p:cBhvr>
                                      <p:to>
                                        <p:strVal val="visible"/>
                                      </p:to>
                                    </p:set>
                                    <p:animEffect transition="in" filter="fade">
                                      <p:cBhvr>
                                        <p:cTn id="31" dur="500"/>
                                        <p:tgtEl>
                                          <p:spTgt spid="12">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2">
                                            <p:txEl>
                                              <p:pRg st="1" end="1"/>
                                            </p:txEl>
                                          </p:spTgt>
                                        </p:tgtEl>
                                        <p:attrNameLst>
                                          <p:attrName>style.visibility</p:attrName>
                                        </p:attrNameLst>
                                      </p:cBhvr>
                                      <p:to>
                                        <p:strVal val="visible"/>
                                      </p:to>
                                    </p:set>
                                    <p:animEffect transition="in" filter="fade">
                                      <p:cBhvr>
                                        <p:cTn id="36" dur="500"/>
                                        <p:tgtEl>
                                          <p:spTgt spid="12">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2">
                                            <p:txEl>
                                              <p:pRg st="2" end="2"/>
                                            </p:txEl>
                                          </p:spTgt>
                                        </p:tgtEl>
                                        <p:attrNameLst>
                                          <p:attrName>style.visibility</p:attrName>
                                        </p:attrNameLst>
                                      </p:cBhvr>
                                      <p:to>
                                        <p:strVal val="visible"/>
                                      </p:to>
                                    </p:set>
                                    <p:animEffect transition="in" filter="fade">
                                      <p:cBhvr>
                                        <p:cTn id="41"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74B24-0DE3-9BB1-73C6-081FEDCB4857}"/>
            </a:ext>
          </a:extLst>
        </p:cNvPr>
        <p:cNvGrpSpPr/>
        <p:nvPr/>
      </p:nvGrpSpPr>
      <p:grpSpPr>
        <a:xfrm>
          <a:off x="0" y="0"/>
          <a:ext cx="0" cy="0"/>
          <a:chOff x="0" y="0"/>
          <a:chExt cx="0" cy="0"/>
        </a:xfrm>
      </p:grpSpPr>
      <p:pic>
        <p:nvPicPr>
          <p:cNvPr id="2050" name="Picture 2" descr="Dweck's Mindset Theory: How to Develop a Growth Mindset - Growth Engineering">
            <a:extLst>
              <a:ext uri="{FF2B5EF4-FFF2-40B4-BE49-F238E27FC236}">
                <a16:creationId xmlns:a16="http://schemas.microsoft.com/office/drawing/2014/main" id="{38AF7C2E-DC63-C499-66EA-790C9A4C92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339" y="190500"/>
            <a:ext cx="4655568" cy="31051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f then – lawactually with darin thompson">
            <a:extLst>
              <a:ext uri="{FF2B5EF4-FFF2-40B4-BE49-F238E27FC236}">
                <a16:creationId xmlns:a16="http://schemas.microsoft.com/office/drawing/2014/main" id="{35EC968C-1D25-A7FA-8119-062B4F5A03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46861" y="700087"/>
            <a:ext cx="4876800" cy="208597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 Am Positive Affirmations for Kids, Homeschooling Art, Motivational  Poster, Positive Decor, Playroom, Homeschool, Gift for Kids, Digital - Etsy">
            <a:extLst>
              <a:ext uri="{FF2B5EF4-FFF2-40B4-BE49-F238E27FC236}">
                <a16:creationId xmlns:a16="http://schemas.microsoft.com/office/drawing/2014/main" id="{1E95042A-3172-2CBA-185E-E8EC2E2D6D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2593" y="3902794"/>
            <a:ext cx="4147059" cy="2764706"/>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Blog 105-Rethinking Policy from a Behavioural Angle: A Case of Nudge | AESA">
            <a:extLst>
              <a:ext uri="{FF2B5EF4-FFF2-40B4-BE49-F238E27FC236}">
                <a16:creationId xmlns:a16="http://schemas.microsoft.com/office/drawing/2014/main" id="{F4774BD2-5D34-E48A-96A4-A732CFCC81E3}"/>
              </a:ext>
            </a:extLst>
          </p:cNvPr>
          <p:cNvPicPr>
            <a:picLocks noChangeAspect="1" noChangeArrowheads="1"/>
          </p:cNvPicPr>
          <p:nvPr/>
        </p:nvPicPr>
        <p:blipFill>
          <a:blip r:embed="rId6"/>
          <a:srcRect/>
          <a:stretch/>
        </p:blipFill>
        <p:spPr bwMode="auto">
          <a:xfrm>
            <a:off x="6336107" y="3238528"/>
            <a:ext cx="5498307" cy="3428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68318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98AFF-DBE9-ECD7-1FB9-50CB2249A3A1}"/>
            </a:ext>
          </a:extLst>
        </p:cNvPr>
        <p:cNvGrpSpPr/>
        <p:nvPr/>
      </p:nvGrpSpPr>
      <p:grpSpPr>
        <a:xfrm>
          <a:off x="0" y="0"/>
          <a:ext cx="0" cy="0"/>
          <a:chOff x="0" y="0"/>
          <a:chExt cx="0" cy="0"/>
        </a:xfrm>
      </p:grpSpPr>
      <p:pic>
        <p:nvPicPr>
          <p:cNvPr id="2054" name="Picture 6" descr="I Am Positive Affirmations for Kids, Homeschooling Art, Motivational  Poster, Positive Decor, Playroom, Homeschool, Gift for Kids, Digital - Etsy">
            <a:extLst>
              <a:ext uri="{FF2B5EF4-FFF2-40B4-BE49-F238E27FC236}">
                <a16:creationId xmlns:a16="http://schemas.microsoft.com/office/drawing/2014/main" id="{3D4B2BF8-582D-0449-84FC-26330CCD2E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790" y="4642935"/>
            <a:ext cx="3090114" cy="2060076"/>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8E20CE3F-E7E6-6BC5-7EC9-B60F0D72083C}"/>
              </a:ext>
            </a:extLst>
          </p:cNvPr>
          <p:cNvSpPr txBox="1"/>
          <p:nvPr/>
        </p:nvSpPr>
        <p:spPr>
          <a:xfrm>
            <a:off x="370644" y="316360"/>
            <a:ext cx="6094520" cy="1569660"/>
          </a:xfrm>
          <a:prstGeom prst="rect">
            <a:avLst/>
          </a:prstGeom>
          <a:noFill/>
        </p:spPr>
        <p:txBody>
          <a:bodyPr wrap="square">
            <a:spAutoFit/>
          </a:bodyPr>
          <a:lstStyle/>
          <a:p>
            <a:pPr algn="just"/>
            <a:r>
              <a:rPr lang="fr-FR" sz="1600" dirty="0"/>
              <a:t>De nombreuses études ont montré des effets positifs des interventions d’affirmation d’identité (par exemple, en politique et dans les études sur la laïcité, </a:t>
            </a:r>
            <a:r>
              <a:rPr lang="fr-FR" sz="1600" dirty="0" err="1"/>
              <a:t>Alnajjar</a:t>
            </a:r>
            <a:r>
              <a:rPr lang="fr-FR" sz="1600" dirty="0"/>
              <a:t> et al., 2025 ; </a:t>
            </a:r>
            <a:r>
              <a:rPr lang="fr-FR" sz="1600" dirty="0" err="1"/>
              <a:t>Badea</a:t>
            </a:r>
            <a:r>
              <a:rPr lang="fr-FR" sz="1600" dirty="0"/>
              <a:t> et al., 2018 ;  </a:t>
            </a:r>
            <a:r>
              <a:rPr lang="fr-FR" sz="1600" dirty="0" err="1"/>
              <a:t>Lesick</a:t>
            </a:r>
            <a:r>
              <a:rPr lang="fr-FR" sz="1600" dirty="0"/>
              <a:t> et al., 2021 ; sur les préjugés sexuels, </a:t>
            </a:r>
            <a:r>
              <a:rPr lang="fr-FR" sz="1600" dirty="0" err="1"/>
              <a:t>Lehmiller</a:t>
            </a:r>
            <a:r>
              <a:rPr lang="fr-FR" sz="1600" dirty="0"/>
              <a:t> et al., 2010 ; sur le féminisme, Persson et al., 2021 ; et en éducation, </a:t>
            </a:r>
            <a:r>
              <a:rPr lang="fr-FR" sz="1600" dirty="0" err="1"/>
              <a:t>Borman</a:t>
            </a:r>
            <a:r>
              <a:rPr lang="fr-FR" sz="1600" dirty="0"/>
              <a:t> et al., 2016).</a:t>
            </a:r>
          </a:p>
        </p:txBody>
      </p:sp>
      <p:sp>
        <p:nvSpPr>
          <p:cNvPr id="4" name="ZoneTexte 3">
            <a:extLst>
              <a:ext uri="{FF2B5EF4-FFF2-40B4-BE49-F238E27FC236}">
                <a16:creationId xmlns:a16="http://schemas.microsoft.com/office/drawing/2014/main" id="{A0BE4244-3EDE-220C-C5C8-D670640A805C}"/>
              </a:ext>
            </a:extLst>
          </p:cNvPr>
          <p:cNvSpPr txBox="1"/>
          <p:nvPr/>
        </p:nvSpPr>
        <p:spPr>
          <a:xfrm>
            <a:off x="5272599" y="316360"/>
            <a:ext cx="6094520" cy="338554"/>
          </a:xfrm>
          <a:prstGeom prst="rect">
            <a:avLst/>
          </a:prstGeom>
          <a:noFill/>
        </p:spPr>
        <p:txBody>
          <a:bodyPr wrap="square">
            <a:spAutoFit/>
          </a:bodyPr>
          <a:lstStyle/>
          <a:p>
            <a:pPr algn="r"/>
            <a:r>
              <a:rPr lang="fr-FR" sz="1600" dirty="0"/>
              <a:t>Néanmoins, pas à large échelle</a:t>
            </a:r>
          </a:p>
        </p:txBody>
      </p:sp>
      <p:sp>
        <p:nvSpPr>
          <p:cNvPr id="6" name="ZoneTexte 5">
            <a:extLst>
              <a:ext uri="{FF2B5EF4-FFF2-40B4-BE49-F238E27FC236}">
                <a16:creationId xmlns:a16="http://schemas.microsoft.com/office/drawing/2014/main" id="{8472673C-7168-510B-6C0C-6BA33D6E2AA4}"/>
              </a:ext>
            </a:extLst>
          </p:cNvPr>
          <p:cNvSpPr txBox="1"/>
          <p:nvPr/>
        </p:nvSpPr>
        <p:spPr>
          <a:xfrm>
            <a:off x="7581529" y="5549378"/>
            <a:ext cx="4463248" cy="1200329"/>
          </a:xfrm>
          <a:prstGeom prst="rect">
            <a:avLst/>
          </a:prstGeom>
          <a:noFill/>
        </p:spPr>
        <p:txBody>
          <a:bodyPr wrap="square">
            <a:spAutoFit/>
          </a:bodyPr>
          <a:lstStyle/>
          <a:p>
            <a:pPr marL="171450" indent="-171450" algn="just">
              <a:buFont typeface="Arial" panose="020B0604020202020204" pitchFamily="34" charset="0"/>
              <a:buChar char="•"/>
            </a:pPr>
            <a:r>
              <a:rPr lang="en-US" sz="900" dirty="0"/>
              <a:t>Hanselman, P., Rozek, C. S., Grigg, J., &amp; Borman, G. D. (2017). New evidence on self-affirmation effects and theorized sources of heterogeneity from large-scale replications. Journal of educational psychology, 109(3), 405. https://psycnet.apa.org/doi/10.1037/edu0000141   </a:t>
            </a:r>
          </a:p>
          <a:p>
            <a:pPr marL="171450" indent="-171450" algn="just">
              <a:buFont typeface="Arial" panose="020B0604020202020204" pitchFamily="34" charset="0"/>
              <a:buChar char="•"/>
            </a:pPr>
            <a:r>
              <a:rPr lang="en-US" sz="900" dirty="0"/>
              <a:t>Escobar-Soler, C., Berrios, R., Peñaloza-Díaz, G., Melis-Rivera, C., </a:t>
            </a:r>
            <a:r>
              <a:rPr lang="en-US" sz="900" dirty="0" err="1"/>
              <a:t>Caqueo-Urízar</a:t>
            </a:r>
            <a:r>
              <a:rPr lang="en-US" sz="900" dirty="0"/>
              <a:t>, A., Ponce-Correa, F., &amp; Flores, J. (2023). Effectiveness of Self-Affirmation Interventions in Educational Settings: A Meta-Analysis. Healthcare, 12(1), 3. https://doi.org/10.3390/healthcare12010003</a:t>
            </a:r>
          </a:p>
        </p:txBody>
      </p:sp>
      <p:sp>
        <p:nvSpPr>
          <p:cNvPr id="7" name="ZoneTexte 6">
            <a:extLst>
              <a:ext uri="{FF2B5EF4-FFF2-40B4-BE49-F238E27FC236}">
                <a16:creationId xmlns:a16="http://schemas.microsoft.com/office/drawing/2014/main" id="{CE0974B0-6EC2-AACB-F46D-397300DD960C}"/>
              </a:ext>
            </a:extLst>
          </p:cNvPr>
          <p:cNvSpPr txBox="1"/>
          <p:nvPr/>
        </p:nvSpPr>
        <p:spPr>
          <a:xfrm>
            <a:off x="5272599" y="797419"/>
            <a:ext cx="6094520" cy="338554"/>
          </a:xfrm>
          <a:prstGeom prst="rect">
            <a:avLst/>
          </a:prstGeom>
          <a:noFill/>
        </p:spPr>
        <p:txBody>
          <a:bodyPr wrap="square">
            <a:spAutoFit/>
          </a:bodyPr>
          <a:lstStyle/>
          <a:p>
            <a:pPr algn="r"/>
            <a:r>
              <a:rPr lang="fr-FR" sz="1600" dirty="0" err="1"/>
              <a:t>Hanselman</a:t>
            </a:r>
            <a:r>
              <a:rPr lang="fr-FR" sz="1600" dirty="0"/>
              <a:t> et al., 2017</a:t>
            </a:r>
          </a:p>
        </p:txBody>
      </p:sp>
      <p:sp>
        <p:nvSpPr>
          <p:cNvPr id="11" name="ZoneTexte 10">
            <a:extLst>
              <a:ext uri="{FF2B5EF4-FFF2-40B4-BE49-F238E27FC236}">
                <a16:creationId xmlns:a16="http://schemas.microsoft.com/office/drawing/2014/main" id="{BA74D54C-D554-D4D8-B61E-1C13367F3E24}"/>
              </a:ext>
            </a:extLst>
          </p:cNvPr>
          <p:cNvSpPr txBox="1"/>
          <p:nvPr/>
        </p:nvSpPr>
        <p:spPr>
          <a:xfrm>
            <a:off x="5726836" y="1185828"/>
            <a:ext cx="6094520" cy="338554"/>
          </a:xfrm>
          <a:prstGeom prst="rect">
            <a:avLst/>
          </a:prstGeom>
          <a:noFill/>
        </p:spPr>
        <p:txBody>
          <a:bodyPr wrap="square">
            <a:spAutoFit/>
          </a:bodyPr>
          <a:lstStyle/>
          <a:p>
            <a:pPr algn="r"/>
            <a:r>
              <a:rPr lang="fr-FR" sz="1600" dirty="0"/>
              <a:t>Ni dans les </a:t>
            </a:r>
            <a:r>
              <a:rPr lang="fr-FR" sz="1600" dirty="0" err="1"/>
              <a:t>méta-analyses</a:t>
            </a:r>
            <a:r>
              <a:rPr lang="fr-FR" sz="1600" dirty="0"/>
              <a:t> (Escobar-Soler et al., 2023)</a:t>
            </a:r>
          </a:p>
        </p:txBody>
      </p:sp>
      <p:sp>
        <p:nvSpPr>
          <p:cNvPr id="14" name="ZoneTexte 13">
            <a:extLst>
              <a:ext uri="{FF2B5EF4-FFF2-40B4-BE49-F238E27FC236}">
                <a16:creationId xmlns:a16="http://schemas.microsoft.com/office/drawing/2014/main" id="{1DA3ED2C-9B4A-640D-1969-6D9CB65A40D9}"/>
              </a:ext>
            </a:extLst>
          </p:cNvPr>
          <p:cNvSpPr txBox="1"/>
          <p:nvPr/>
        </p:nvSpPr>
        <p:spPr>
          <a:xfrm>
            <a:off x="3462290" y="1809643"/>
            <a:ext cx="8238477" cy="2677656"/>
          </a:xfrm>
          <a:prstGeom prst="rect">
            <a:avLst/>
          </a:prstGeom>
          <a:noFill/>
        </p:spPr>
        <p:txBody>
          <a:bodyPr wrap="square">
            <a:spAutoFit/>
          </a:bodyPr>
          <a:lstStyle/>
          <a:p>
            <a:r>
              <a:rPr lang="en-US" sz="1200" dirty="0"/>
              <a:t>“it is not plausible to expect these interventions to have a positive </a:t>
            </a:r>
            <a:r>
              <a:rPr lang="en-US" sz="1200" b="1" dirty="0"/>
              <a:t>impact if it is not certain that these individuals or groups are potentially threatened in their own contexts</a:t>
            </a:r>
            <a:r>
              <a:rPr lang="en-US" sz="1200" dirty="0"/>
              <a:t>. In this sense, researchers suggest an exhaustive search and a more precise </a:t>
            </a:r>
            <a:r>
              <a:rPr lang="en-US" sz="1200" b="1" dirty="0"/>
              <a:t>definition of moderators related to individual differences and methodological aspects </a:t>
            </a:r>
            <a:r>
              <a:rPr lang="en-US" sz="1200" dirty="0"/>
              <a:t>that may explain the variation in these interventions across studies”, […]“The findings of studies carried out in the last five years whose results show inconsistent, minimal, or even null effects of self-affirmation interventions present </a:t>
            </a:r>
            <a:r>
              <a:rPr lang="en-US" sz="1200" b="1" dirty="0"/>
              <a:t>common explanatory assumptions</a:t>
            </a:r>
            <a:r>
              <a:rPr lang="en-US" sz="1200" dirty="0"/>
              <a:t> related to individual differences between participants (coping with identity threat), the social and cultural context in which they operate, and </a:t>
            </a:r>
            <a:r>
              <a:rPr lang="en-US" sz="1200" b="1" dirty="0"/>
              <a:t>differences in methodological procedures </a:t>
            </a:r>
            <a:r>
              <a:rPr lang="en-US" sz="1200" dirty="0"/>
              <a:t>the between studies based on the provision of sufficient and necessary conditions for optimal fieldwork”. […]“Although students of color belong to a socially and culturally marginalized group in the United States</a:t>
            </a:r>
            <a:r>
              <a:rPr lang="en-US" sz="1200" b="1" dirty="0"/>
              <a:t>, they tend not to feel threatened when they are in the majority</a:t>
            </a:r>
            <a:r>
              <a:rPr lang="en-US" sz="1200" dirty="0"/>
              <a:t>, </a:t>
            </a:r>
            <a:r>
              <a:rPr lang="en-US" sz="1200" b="1" dirty="0"/>
              <a:t>rendering self-affirmation interventions ineffective</a:t>
            </a:r>
            <a:r>
              <a:rPr lang="en-US" sz="1200" dirty="0"/>
              <a:t>” […]“The discrepancy between these findings suggests that the </a:t>
            </a:r>
            <a:r>
              <a:rPr lang="en-US" sz="1200" b="1" dirty="0"/>
              <a:t>presence of teachers or educational assistants in the intervention may have had an unintended effect on students’ self-affirmation experiences</a:t>
            </a:r>
            <a:r>
              <a:rPr lang="en-US" sz="1200" dirty="0"/>
              <a:t>. The dynamics of the interactions between teachers and students during the intervention may have played a crucial role in this effect. For instance, </a:t>
            </a:r>
            <a:r>
              <a:rPr lang="en-US" sz="1200" b="1" dirty="0"/>
              <a:t>if teachers provided excessive direction or a rigid structure in the implementation of self-affirmation, students may have perceived the activity as less personal </a:t>
            </a:r>
            <a:r>
              <a:rPr lang="en-US" sz="1200" dirty="0"/>
              <a:t>and authentic.”</a:t>
            </a:r>
            <a:endParaRPr lang="fr-FR" sz="1200" dirty="0"/>
          </a:p>
        </p:txBody>
      </p:sp>
    </p:spTree>
    <p:extLst>
      <p:ext uri="{BB962C8B-B14F-4D97-AF65-F5344CB8AC3E}">
        <p14:creationId xmlns:p14="http://schemas.microsoft.com/office/powerpoint/2010/main" val="13965391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1" grpId="0"/>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FAB0D-AE47-066E-88C2-58EC1E233382}"/>
            </a:ext>
          </a:extLst>
        </p:cNvPr>
        <p:cNvGrpSpPr/>
        <p:nvPr/>
      </p:nvGrpSpPr>
      <p:grpSpPr>
        <a:xfrm>
          <a:off x="0" y="0"/>
          <a:ext cx="0" cy="0"/>
          <a:chOff x="0" y="0"/>
          <a:chExt cx="0" cy="0"/>
        </a:xfrm>
      </p:grpSpPr>
      <p:pic>
        <p:nvPicPr>
          <p:cNvPr id="2050" name="Picture 2" descr="Dweck's Mindset Theory: How to Develop a Growth Mindset - Growth Engineering">
            <a:extLst>
              <a:ext uri="{FF2B5EF4-FFF2-40B4-BE49-F238E27FC236}">
                <a16:creationId xmlns:a16="http://schemas.microsoft.com/office/drawing/2014/main" id="{C9E132DC-BF5C-0DB0-FED6-6AB47523D8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339" y="190500"/>
            <a:ext cx="4655568" cy="31051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f then – lawactually with darin thompson">
            <a:extLst>
              <a:ext uri="{FF2B5EF4-FFF2-40B4-BE49-F238E27FC236}">
                <a16:creationId xmlns:a16="http://schemas.microsoft.com/office/drawing/2014/main" id="{1B097D41-A5B5-22E6-0B00-33B3423677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46861" y="700087"/>
            <a:ext cx="4876800" cy="208597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 Am Positive Affirmations for Kids, Homeschooling Art, Motivational  Poster, Positive Decor, Playroom, Homeschool, Gift for Kids, Digital - Etsy">
            <a:extLst>
              <a:ext uri="{FF2B5EF4-FFF2-40B4-BE49-F238E27FC236}">
                <a16:creationId xmlns:a16="http://schemas.microsoft.com/office/drawing/2014/main" id="{C5CB5D06-ECED-57D9-A756-D2B0140E37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2593" y="3902794"/>
            <a:ext cx="4147059" cy="2764706"/>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Blog 105-Rethinking Policy from a Behavioural Angle: A Case of Nudge | AESA">
            <a:extLst>
              <a:ext uri="{FF2B5EF4-FFF2-40B4-BE49-F238E27FC236}">
                <a16:creationId xmlns:a16="http://schemas.microsoft.com/office/drawing/2014/main" id="{29253721-C802-FE14-321E-42ED406A9C0E}"/>
              </a:ext>
            </a:extLst>
          </p:cNvPr>
          <p:cNvPicPr>
            <a:picLocks noChangeAspect="1" noChangeArrowheads="1"/>
          </p:cNvPicPr>
          <p:nvPr/>
        </p:nvPicPr>
        <p:blipFill>
          <a:blip r:embed="rId6"/>
          <a:srcRect/>
          <a:stretch/>
        </p:blipFill>
        <p:spPr bwMode="auto">
          <a:xfrm>
            <a:off x="6336107" y="3238528"/>
            <a:ext cx="5498307" cy="3428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94063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ACAF8-C87E-3836-1AEF-1F9220DCBE56}"/>
            </a:ext>
          </a:extLst>
        </p:cNvPr>
        <p:cNvGrpSpPr/>
        <p:nvPr/>
      </p:nvGrpSpPr>
      <p:grpSpPr>
        <a:xfrm>
          <a:off x="0" y="0"/>
          <a:ext cx="0" cy="0"/>
          <a:chOff x="0" y="0"/>
          <a:chExt cx="0" cy="0"/>
        </a:xfrm>
      </p:grpSpPr>
      <p:pic>
        <p:nvPicPr>
          <p:cNvPr id="2056" name="Picture 8" descr="Blog 105-Rethinking Policy from a Behavioural Angle: A Case of Nudge | AESA">
            <a:extLst>
              <a:ext uri="{FF2B5EF4-FFF2-40B4-BE49-F238E27FC236}">
                <a16:creationId xmlns:a16="http://schemas.microsoft.com/office/drawing/2014/main" id="{6605FE24-4C64-DB5B-1C9E-321E4546EEA1}"/>
              </a:ext>
            </a:extLst>
          </p:cNvPr>
          <p:cNvPicPr>
            <a:picLocks noChangeAspect="1" noChangeArrowheads="1"/>
          </p:cNvPicPr>
          <p:nvPr/>
        </p:nvPicPr>
        <p:blipFill>
          <a:blip r:embed="rId3"/>
          <a:srcRect/>
          <a:stretch/>
        </p:blipFill>
        <p:spPr bwMode="auto">
          <a:xfrm>
            <a:off x="7901126" y="4214530"/>
            <a:ext cx="3933288" cy="2452941"/>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F6A93F5B-5CB5-572A-7C89-9C8441CBF8B1}"/>
              </a:ext>
            </a:extLst>
          </p:cNvPr>
          <p:cNvSpPr txBox="1"/>
          <p:nvPr/>
        </p:nvSpPr>
        <p:spPr>
          <a:xfrm>
            <a:off x="534879" y="432332"/>
            <a:ext cx="6094520" cy="369332"/>
          </a:xfrm>
          <a:prstGeom prst="rect">
            <a:avLst/>
          </a:prstGeom>
          <a:noFill/>
        </p:spPr>
        <p:txBody>
          <a:bodyPr wrap="square">
            <a:spAutoFit/>
          </a:bodyPr>
          <a:lstStyle/>
          <a:p>
            <a:r>
              <a:rPr lang="fr-FR" dirty="0"/>
              <a:t>DellaVigna &amp; Linos, 2022</a:t>
            </a:r>
          </a:p>
        </p:txBody>
      </p:sp>
      <p:sp>
        <p:nvSpPr>
          <p:cNvPr id="5" name="ZoneTexte 4">
            <a:extLst>
              <a:ext uri="{FF2B5EF4-FFF2-40B4-BE49-F238E27FC236}">
                <a16:creationId xmlns:a16="http://schemas.microsoft.com/office/drawing/2014/main" id="{3645086E-EEE8-6B64-418D-13083A8E1E97}"/>
              </a:ext>
            </a:extLst>
          </p:cNvPr>
          <p:cNvSpPr txBox="1"/>
          <p:nvPr/>
        </p:nvSpPr>
        <p:spPr>
          <a:xfrm>
            <a:off x="465337" y="930961"/>
            <a:ext cx="6094520" cy="646331"/>
          </a:xfrm>
          <a:prstGeom prst="rect">
            <a:avLst/>
          </a:prstGeom>
          <a:noFill/>
        </p:spPr>
        <p:txBody>
          <a:bodyPr wrap="square">
            <a:spAutoFit/>
          </a:bodyPr>
          <a:lstStyle/>
          <a:p>
            <a:pPr algn="just"/>
            <a:r>
              <a:rPr lang="fr-FR" dirty="0"/>
              <a:t>Les effets des chercheurs universitaires sont deux fois plus gros que les effets des </a:t>
            </a:r>
            <a:r>
              <a:rPr lang="fr-FR" dirty="0" err="1"/>
              <a:t>Nudges</a:t>
            </a:r>
            <a:r>
              <a:rPr lang="fr-FR" dirty="0"/>
              <a:t> </a:t>
            </a:r>
            <a:r>
              <a:rPr lang="fr-FR" dirty="0" err="1"/>
              <a:t>Units</a:t>
            </a:r>
            <a:endParaRPr lang="fr-FR" dirty="0"/>
          </a:p>
        </p:txBody>
      </p:sp>
      <p:sp>
        <p:nvSpPr>
          <p:cNvPr id="6" name="ZoneTexte 5">
            <a:extLst>
              <a:ext uri="{FF2B5EF4-FFF2-40B4-BE49-F238E27FC236}">
                <a16:creationId xmlns:a16="http://schemas.microsoft.com/office/drawing/2014/main" id="{EBF2E796-65FB-16B3-7BD9-D3DC3CFBEAB2}"/>
              </a:ext>
            </a:extLst>
          </p:cNvPr>
          <p:cNvSpPr txBox="1"/>
          <p:nvPr/>
        </p:nvSpPr>
        <p:spPr>
          <a:xfrm>
            <a:off x="465337" y="1642654"/>
            <a:ext cx="6094520" cy="1200329"/>
          </a:xfrm>
          <a:prstGeom prst="rect">
            <a:avLst/>
          </a:prstGeom>
          <a:noFill/>
        </p:spPr>
        <p:txBody>
          <a:bodyPr wrap="square">
            <a:spAutoFit/>
          </a:bodyPr>
          <a:lstStyle/>
          <a:p>
            <a:pPr algn="just"/>
            <a:r>
              <a:rPr lang="fr-FR" dirty="0"/>
              <a:t>Les chercheurs sont plus intéressés par étudier des caractéristiques des </a:t>
            </a:r>
            <a:r>
              <a:rPr lang="fr-FR" dirty="0" err="1"/>
              <a:t>nudges</a:t>
            </a:r>
            <a:r>
              <a:rPr lang="fr-FR" dirty="0"/>
              <a:t> qui produisent des effets plus gros que par étudier des caractéristiques des </a:t>
            </a:r>
            <a:r>
              <a:rPr lang="fr-FR" dirty="0" err="1"/>
              <a:t>nudges</a:t>
            </a:r>
            <a:r>
              <a:rPr lang="fr-FR" dirty="0"/>
              <a:t> qui les rendent utile en pratique.</a:t>
            </a:r>
          </a:p>
        </p:txBody>
      </p:sp>
      <p:sp>
        <p:nvSpPr>
          <p:cNvPr id="7" name="ZoneTexte 6">
            <a:extLst>
              <a:ext uri="{FF2B5EF4-FFF2-40B4-BE49-F238E27FC236}">
                <a16:creationId xmlns:a16="http://schemas.microsoft.com/office/drawing/2014/main" id="{68BE2302-4DCE-79AC-EA09-04C22623FF11}"/>
              </a:ext>
            </a:extLst>
          </p:cNvPr>
          <p:cNvSpPr txBox="1"/>
          <p:nvPr/>
        </p:nvSpPr>
        <p:spPr>
          <a:xfrm>
            <a:off x="8011357" y="432332"/>
            <a:ext cx="2047043" cy="369332"/>
          </a:xfrm>
          <a:prstGeom prst="rect">
            <a:avLst/>
          </a:prstGeom>
          <a:noFill/>
        </p:spPr>
        <p:txBody>
          <a:bodyPr wrap="square">
            <a:spAutoFit/>
          </a:bodyPr>
          <a:lstStyle/>
          <a:p>
            <a:r>
              <a:rPr lang="fr-FR" dirty="0"/>
              <a:t>Bruns et al., (2025)</a:t>
            </a:r>
          </a:p>
        </p:txBody>
      </p:sp>
      <p:sp>
        <p:nvSpPr>
          <p:cNvPr id="8" name="ZoneTexte 7">
            <a:extLst>
              <a:ext uri="{FF2B5EF4-FFF2-40B4-BE49-F238E27FC236}">
                <a16:creationId xmlns:a16="http://schemas.microsoft.com/office/drawing/2014/main" id="{CC3A7507-492E-05CC-FCF0-21DF5943D785}"/>
              </a:ext>
            </a:extLst>
          </p:cNvPr>
          <p:cNvSpPr txBox="1"/>
          <p:nvPr/>
        </p:nvSpPr>
        <p:spPr>
          <a:xfrm>
            <a:off x="7164280" y="876501"/>
            <a:ext cx="4562383" cy="646331"/>
          </a:xfrm>
          <a:prstGeom prst="rect">
            <a:avLst/>
          </a:prstGeom>
          <a:noFill/>
        </p:spPr>
        <p:txBody>
          <a:bodyPr wrap="square">
            <a:spAutoFit/>
          </a:bodyPr>
          <a:lstStyle/>
          <a:p>
            <a:r>
              <a:rPr lang="fr-FR" dirty="0"/>
              <a:t>Comparaison des </a:t>
            </a:r>
            <a:r>
              <a:rPr lang="fr-FR" dirty="0" err="1"/>
              <a:t>nudges</a:t>
            </a:r>
            <a:r>
              <a:rPr lang="fr-FR" dirty="0"/>
              <a:t> transparents et opaques</a:t>
            </a:r>
          </a:p>
        </p:txBody>
      </p:sp>
      <p:sp>
        <p:nvSpPr>
          <p:cNvPr id="9" name="ZoneTexte 8">
            <a:extLst>
              <a:ext uri="{FF2B5EF4-FFF2-40B4-BE49-F238E27FC236}">
                <a16:creationId xmlns:a16="http://schemas.microsoft.com/office/drawing/2014/main" id="{698D3605-B7AE-8050-4B0A-00F6744FDAE0}"/>
              </a:ext>
            </a:extLst>
          </p:cNvPr>
          <p:cNvSpPr txBox="1"/>
          <p:nvPr/>
        </p:nvSpPr>
        <p:spPr>
          <a:xfrm>
            <a:off x="7164279" y="1597669"/>
            <a:ext cx="4562383" cy="646331"/>
          </a:xfrm>
          <a:prstGeom prst="rect">
            <a:avLst/>
          </a:prstGeom>
          <a:noFill/>
        </p:spPr>
        <p:txBody>
          <a:bodyPr wrap="square">
            <a:spAutoFit/>
          </a:bodyPr>
          <a:lstStyle/>
          <a:p>
            <a:r>
              <a:rPr lang="fr-FR" dirty="0"/>
              <a:t>Objectif démocratique d’information aux décideurs politiques</a:t>
            </a:r>
          </a:p>
        </p:txBody>
      </p:sp>
      <p:sp>
        <p:nvSpPr>
          <p:cNvPr id="10" name="ZoneTexte 9">
            <a:extLst>
              <a:ext uri="{FF2B5EF4-FFF2-40B4-BE49-F238E27FC236}">
                <a16:creationId xmlns:a16="http://schemas.microsoft.com/office/drawing/2014/main" id="{A47822D1-EF3E-E7C9-8A5D-E18F12E28BCB}"/>
              </a:ext>
            </a:extLst>
          </p:cNvPr>
          <p:cNvSpPr txBox="1"/>
          <p:nvPr/>
        </p:nvSpPr>
        <p:spPr>
          <a:xfrm>
            <a:off x="7164278" y="2449028"/>
            <a:ext cx="4562383" cy="646331"/>
          </a:xfrm>
          <a:prstGeom prst="rect">
            <a:avLst/>
          </a:prstGeom>
          <a:noFill/>
        </p:spPr>
        <p:txBody>
          <a:bodyPr wrap="square">
            <a:spAutoFit/>
          </a:bodyPr>
          <a:lstStyle/>
          <a:p>
            <a:r>
              <a:rPr lang="fr-FR" dirty="0"/>
              <a:t>Sur les 23 études comparant ces </a:t>
            </a:r>
            <a:r>
              <a:rPr lang="fr-FR" dirty="0" err="1"/>
              <a:t>nudges</a:t>
            </a:r>
            <a:r>
              <a:rPr lang="fr-FR" dirty="0"/>
              <a:t>, une seule est fait hors du laboratoire</a:t>
            </a:r>
          </a:p>
        </p:txBody>
      </p:sp>
      <p:sp>
        <p:nvSpPr>
          <p:cNvPr id="12" name="ZoneTexte 11">
            <a:extLst>
              <a:ext uri="{FF2B5EF4-FFF2-40B4-BE49-F238E27FC236}">
                <a16:creationId xmlns:a16="http://schemas.microsoft.com/office/drawing/2014/main" id="{463497B4-2E87-B8E1-AD17-F31AA288E0CB}"/>
              </a:ext>
            </a:extLst>
          </p:cNvPr>
          <p:cNvSpPr txBox="1"/>
          <p:nvPr/>
        </p:nvSpPr>
        <p:spPr>
          <a:xfrm>
            <a:off x="1928674" y="3095359"/>
            <a:ext cx="2199443" cy="369332"/>
          </a:xfrm>
          <a:prstGeom prst="rect">
            <a:avLst/>
          </a:prstGeom>
          <a:noFill/>
        </p:spPr>
        <p:txBody>
          <a:bodyPr wrap="square">
            <a:spAutoFit/>
          </a:bodyPr>
          <a:lstStyle/>
          <a:p>
            <a:r>
              <a:rPr lang="fr-FR" dirty="0"/>
              <a:t>Mertens et al., 2022</a:t>
            </a:r>
          </a:p>
        </p:txBody>
      </p:sp>
      <p:sp>
        <p:nvSpPr>
          <p:cNvPr id="13" name="ZoneTexte 12">
            <a:extLst>
              <a:ext uri="{FF2B5EF4-FFF2-40B4-BE49-F238E27FC236}">
                <a16:creationId xmlns:a16="http://schemas.microsoft.com/office/drawing/2014/main" id="{956FBB25-2638-2F47-CA07-BF14639E9173}"/>
              </a:ext>
            </a:extLst>
          </p:cNvPr>
          <p:cNvSpPr txBox="1"/>
          <p:nvPr/>
        </p:nvSpPr>
        <p:spPr>
          <a:xfrm>
            <a:off x="731668" y="3645686"/>
            <a:ext cx="4364115" cy="1477328"/>
          </a:xfrm>
          <a:prstGeom prst="rect">
            <a:avLst/>
          </a:prstGeom>
          <a:noFill/>
        </p:spPr>
        <p:txBody>
          <a:bodyPr wrap="square">
            <a:spAutoFit/>
          </a:bodyPr>
          <a:lstStyle/>
          <a:p>
            <a:pPr marL="285750" indent="-285750">
              <a:buFont typeface="Arial" panose="020B0604020202020204" pitchFamily="34" charset="0"/>
              <a:buChar char="•"/>
            </a:pPr>
            <a:r>
              <a:rPr lang="fr-FR" dirty="0"/>
              <a:t>Méta-analyse de l’ensemble des </a:t>
            </a:r>
            <a:r>
              <a:rPr lang="fr-FR" dirty="0" err="1"/>
              <a:t>nudges</a:t>
            </a:r>
            <a:endParaRPr lang="fr-FR" dirty="0"/>
          </a:p>
          <a:p>
            <a:pPr marL="285750" indent="-285750">
              <a:buFont typeface="Arial" panose="020B0604020202020204" pitchFamily="34" charset="0"/>
              <a:buChar char="•"/>
            </a:pPr>
            <a:r>
              <a:rPr lang="fr-FR" dirty="0"/>
              <a:t>Pas d’effet clair</a:t>
            </a:r>
          </a:p>
          <a:p>
            <a:pPr marL="285750" indent="-285750">
              <a:buFont typeface="Arial" panose="020B0604020202020204" pitchFamily="34" charset="0"/>
              <a:buChar char="•"/>
            </a:pPr>
            <a:r>
              <a:rPr lang="fr-FR" dirty="0"/>
              <a:t>Une énorme hétérogénéité</a:t>
            </a:r>
          </a:p>
          <a:p>
            <a:pPr marL="285750" indent="-285750">
              <a:buFont typeface="Arial" panose="020B0604020202020204" pitchFamily="34" charset="0"/>
              <a:buChar char="•"/>
            </a:pPr>
            <a:r>
              <a:rPr lang="fr-FR" dirty="0"/>
              <a:t>Une majorité des études en laboratoire</a:t>
            </a:r>
          </a:p>
        </p:txBody>
      </p:sp>
      <p:sp>
        <p:nvSpPr>
          <p:cNvPr id="16" name="ZoneTexte 15">
            <a:extLst>
              <a:ext uri="{FF2B5EF4-FFF2-40B4-BE49-F238E27FC236}">
                <a16:creationId xmlns:a16="http://schemas.microsoft.com/office/drawing/2014/main" id="{3850B814-6F6B-EE04-4E51-F3341EBD7D4F}"/>
              </a:ext>
            </a:extLst>
          </p:cNvPr>
          <p:cNvSpPr txBox="1"/>
          <p:nvPr/>
        </p:nvSpPr>
        <p:spPr>
          <a:xfrm>
            <a:off x="142784" y="5657671"/>
            <a:ext cx="6094520" cy="1200329"/>
          </a:xfrm>
          <a:prstGeom prst="rect">
            <a:avLst/>
          </a:prstGeom>
          <a:noFill/>
        </p:spPr>
        <p:txBody>
          <a:bodyPr wrap="square">
            <a:spAutoFit/>
          </a:bodyPr>
          <a:lstStyle/>
          <a:p>
            <a:pPr marL="171450" indent="-171450">
              <a:buFont typeface="Arial" panose="020B0604020202020204" pitchFamily="34" charset="0"/>
              <a:buChar char="•"/>
            </a:pPr>
            <a:r>
              <a:rPr lang="en-US" sz="900" dirty="0"/>
              <a:t>DellaVigna, S., &amp; Linos, E. (2022). RCTs to Scale : Comprehensive Evidence From Two Nudge Units. </a:t>
            </a:r>
            <a:r>
              <a:rPr lang="en-US" sz="900" dirty="0" err="1"/>
              <a:t>Econometrica</a:t>
            </a:r>
            <a:r>
              <a:rPr lang="en-US" sz="900" dirty="0"/>
              <a:t>, 90(1), 81‑116. https://doi.org/10.3982/ECTA18709</a:t>
            </a:r>
          </a:p>
          <a:p>
            <a:pPr marL="171450" indent="-171450">
              <a:buFont typeface="Arial" panose="020B0604020202020204" pitchFamily="34" charset="0"/>
              <a:buChar char="•"/>
            </a:pPr>
            <a:r>
              <a:rPr lang="en-US" sz="900" dirty="0"/>
              <a:t>Bruns, H., Fillon, A., Maniadis, Z., &amp; Paunov, Y. (2025). Comparing transparent and covert nudges : A meta-analysis calling for more diversity in nudge transparency research. Journal of Behavioral and Experimental Economics, 116, 102350. </a:t>
            </a:r>
            <a:r>
              <a:rPr lang="en-US" sz="900" dirty="0">
                <a:hlinkClick r:id="rId4"/>
              </a:rPr>
              <a:t>https://doi.org/10.1016/j.socec.2025.102350</a:t>
            </a:r>
            <a:endParaRPr lang="en-US" sz="900" dirty="0"/>
          </a:p>
          <a:p>
            <a:pPr marL="171450" indent="-171450">
              <a:buFont typeface="Arial" panose="020B0604020202020204" pitchFamily="34" charset="0"/>
              <a:buChar char="•"/>
            </a:pPr>
            <a:r>
              <a:rPr lang="en-US" sz="900" dirty="0"/>
              <a:t>Mertens, S., </a:t>
            </a:r>
            <a:r>
              <a:rPr lang="en-US" sz="900" dirty="0" err="1"/>
              <a:t>Herberz</a:t>
            </a:r>
            <a:r>
              <a:rPr lang="en-US" sz="900" dirty="0"/>
              <a:t>, M., Hahnel, U. J. J., &amp; Brosch, T. (2022). The effectiveness of nudging : A meta-analysis of choice architecture interventions across behavioral domains. Proceedings of the National Academy of Sciences, 119(1), e2107346118. https://doi.org/10.1073/pnas.2107346118</a:t>
            </a:r>
          </a:p>
        </p:txBody>
      </p:sp>
    </p:spTree>
    <p:extLst>
      <p:ext uri="{BB962C8B-B14F-4D97-AF65-F5344CB8AC3E}">
        <p14:creationId xmlns:p14="http://schemas.microsoft.com/office/powerpoint/2010/main" val="6610033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3">
                                            <p:txEl>
                                              <p:pRg st="0" end="0"/>
                                            </p:txEl>
                                          </p:spTgt>
                                        </p:tgtEl>
                                        <p:attrNameLst>
                                          <p:attrName>style.visibility</p:attrName>
                                        </p:attrNameLst>
                                      </p:cBhvr>
                                      <p:to>
                                        <p:strVal val="visible"/>
                                      </p:to>
                                    </p:set>
                                    <p:animEffect transition="in" filter="fade">
                                      <p:cBhvr>
                                        <p:cTn id="39" dur="500"/>
                                        <p:tgtEl>
                                          <p:spTgt spid="13">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3">
                                            <p:txEl>
                                              <p:pRg st="1" end="1"/>
                                            </p:txEl>
                                          </p:spTgt>
                                        </p:tgtEl>
                                        <p:attrNameLst>
                                          <p:attrName>style.visibility</p:attrName>
                                        </p:attrNameLst>
                                      </p:cBhvr>
                                      <p:to>
                                        <p:strVal val="visible"/>
                                      </p:to>
                                    </p:set>
                                    <p:animEffect transition="in" filter="fade">
                                      <p:cBhvr>
                                        <p:cTn id="44" dur="500"/>
                                        <p:tgtEl>
                                          <p:spTgt spid="13">
                                            <p:txEl>
                                              <p:pRg st="1" end="1"/>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3">
                                            <p:txEl>
                                              <p:pRg st="2" end="2"/>
                                            </p:txEl>
                                          </p:spTgt>
                                        </p:tgtEl>
                                        <p:attrNameLst>
                                          <p:attrName>style.visibility</p:attrName>
                                        </p:attrNameLst>
                                      </p:cBhvr>
                                      <p:to>
                                        <p:strVal val="visible"/>
                                      </p:to>
                                    </p:set>
                                    <p:animEffect transition="in" filter="fade">
                                      <p:cBhvr>
                                        <p:cTn id="49" dur="500"/>
                                        <p:tgtEl>
                                          <p:spTgt spid="13">
                                            <p:txEl>
                                              <p:pRg st="2" end="2"/>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3">
                                            <p:txEl>
                                              <p:pRg st="3" end="3"/>
                                            </p:txEl>
                                          </p:spTgt>
                                        </p:tgtEl>
                                        <p:attrNameLst>
                                          <p:attrName>style.visibility</p:attrName>
                                        </p:attrNameLst>
                                      </p:cBhvr>
                                      <p:to>
                                        <p:strVal val="visible"/>
                                      </p:to>
                                    </p:set>
                                    <p:animEffect transition="in" filter="fade">
                                      <p:cBhvr>
                                        <p:cTn id="54" dur="500"/>
                                        <p:tgtEl>
                                          <p:spTgt spid="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0FD30-00D3-9A84-D71D-D7A33FDF68DD}"/>
            </a:ext>
          </a:extLst>
        </p:cNvPr>
        <p:cNvGrpSpPr/>
        <p:nvPr/>
      </p:nvGrpSpPr>
      <p:grpSpPr>
        <a:xfrm>
          <a:off x="0" y="0"/>
          <a:ext cx="0" cy="0"/>
          <a:chOff x="0" y="0"/>
          <a:chExt cx="0" cy="0"/>
        </a:xfrm>
      </p:grpSpPr>
      <p:pic>
        <p:nvPicPr>
          <p:cNvPr id="2050" name="Picture 2" descr="Dweck's Mindset Theory: How to Develop a Growth Mindset - Growth Engineering">
            <a:extLst>
              <a:ext uri="{FF2B5EF4-FFF2-40B4-BE49-F238E27FC236}">
                <a16:creationId xmlns:a16="http://schemas.microsoft.com/office/drawing/2014/main" id="{60442545-D0F5-F4C3-AC33-E109DACF2A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339" y="190500"/>
            <a:ext cx="4655568" cy="31051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f then – lawactually with darin thompson">
            <a:extLst>
              <a:ext uri="{FF2B5EF4-FFF2-40B4-BE49-F238E27FC236}">
                <a16:creationId xmlns:a16="http://schemas.microsoft.com/office/drawing/2014/main" id="{A6B5F597-7426-D2A9-A7C0-4FD59FE580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46861" y="700087"/>
            <a:ext cx="4876800" cy="208597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 Am Positive Affirmations for Kids, Homeschooling Art, Motivational  Poster, Positive Decor, Playroom, Homeschool, Gift for Kids, Digital - Etsy">
            <a:extLst>
              <a:ext uri="{FF2B5EF4-FFF2-40B4-BE49-F238E27FC236}">
                <a16:creationId xmlns:a16="http://schemas.microsoft.com/office/drawing/2014/main" id="{DBB15D89-0877-0453-26E1-2AB8AB42025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2593" y="3902794"/>
            <a:ext cx="4147059" cy="2764706"/>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Blog 105-Rethinking Policy from a Behavioural Angle: A Case of Nudge | AESA">
            <a:extLst>
              <a:ext uri="{FF2B5EF4-FFF2-40B4-BE49-F238E27FC236}">
                <a16:creationId xmlns:a16="http://schemas.microsoft.com/office/drawing/2014/main" id="{530D7422-1DB0-537C-EDD8-D58E737F3D74}"/>
              </a:ext>
            </a:extLst>
          </p:cNvPr>
          <p:cNvPicPr>
            <a:picLocks noChangeAspect="1" noChangeArrowheads="1"/>
          </p:cNvPicPr>
          <p:nvPr/>
        </p:nvPicPr>
        <p:blipFill>
          <a:blip r:embed="rId6"/>
          <a:srcRect/>
          <a:stretch/>
        </p:blipFill>
        <p:spPr bwMode="auto">
          <a:xfrm>
            <a:off x="6336107" y="3238528"/>
            <a:ext cx="5498307" cy="3428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26573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1AEF4-8D7B-F31A-12B3-B49150300398}"/>
            </a:ext>
          </a:extLst>
        </p:cNvPr>
        <p:cNvGrpSpPr/>
        <p:nvPr/>
      </p:nvGrpSpPr>
      <p:grpSpPr>
        <a:xfrm>
          <a:off x="0" y="0"/>
          <a:ext cx="0" cy="0"/>
          <a:chOff x="0" y="0"/>
          <a:chExt cx="0" cy="0"/>
        </a:xfrm>
      </p:grpSpPr>
      <p:pic>
        <p:nvPicPr>
          <p:cNvPr id="2050" name="Picture 2" descr="Dweck's Mindset Theory: How to Develop a Growth Mindset - Growth Engineering">
            <a:extLst>
              <a:ext uri="{FF2B5EF4-FFF2-40B4-BE49-F238E27FC236}">
                <a16:creationId xmlns:a16="http://schemas.microsoft.com/office/drawing/2014/main" id="{FC3A0D8B-EC82-3582-A5F3-2730E617FA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211" y="190499"/>
            <a:ext cx="2602727" cy="173595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f then – lawactually with darin thompson">
            <a:extLst>
              <a:ext uri="{FF2B5EF4-FFF2-40B4-BE49-F238E27FC236}">
                <a16:creationId xmlns:a16="http://schemas.microsoft.com/office/drawing/2014/main" id="{19D096D3-48D0-7AB2-BA3C-42337BFFA5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82396" y="398247"/>
            <a:ext cx="3152018" cy="134822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 Am Positive Affirmations for Kids, Homeschooling Art, Motivational  Poster, Positive Decor, Playroom, Homeschool, Gift for Kids, Digital - Etsy">
            <a:extLst>
              <a:ext uri="{FF2B5EF4-FFF2-40B4-BE49-F238E27FC236}">
                <a16:creationId xmlns:a16="http://schemas.microsoft.com/office/drawing/2014/main" id="{302EA293-35F9-A3B4-2BF2-787AB80D5A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586" y="4633179"/>
            <a:ext cx="3051439" cy="2034293"/>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Blog 105-Rethinking Policy from a Behavioural Angle: A Case of Nudge | AESA">
            <a:extLst>
              <a:ext uri="{FF2B5EF4-FFF2-40B4-BE49-F238E27FC236}">
                <a16:creationId xmlns:a16="http://schemas.microsoft.com/office/drawing/2014/main" id="{618866A0-B29D-81DD-A84E-D2044F952965}"/>
              </a:ext>
            </a:extLst>
          </p:cNvPr>
          <p:cNvPicPr>
            <a:picLocks noChangeAspect="1" noChangeArrowheads="1"/>
          </p:cNvPicPr>
          <p:nvPr/>
        </p:nvPicPr>
        <p:blipFill>
          <a:blip r:embed="rId6"/>
          <a:srcRect/>
          <a:stretch/>
        </p:blipFill>
        <p:spPr bwMode="auto">
          <a:xfrm>
            <a:off x="8460419" y="4563326"/>
            <a:ext cx="3373995" cy="2104146"/>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3B1C90EE-2CD7-B983-7A5E-C44EEACB22E7}"/>
              </a:ext>
            </a:extLst>
          </p:cNvPr>
          <p:cNvSpPr txBox="1"/>
          <p:nvPr/>
        </p:nvSpPr>
        <p:spPr>
          <a:xfrm>
            <a:off x="2774304" y="703028"/>
            <a:ext cx="5908092" cy="369332"/>
          </a:xfrm>
          <a:prstGeom prst="rect">
            <a:avLst/>
          </a:prstGeom>
          <a:noFill/>
        </p:spPr>
        <p:txBody>
          <a:bodyPr wrap="none" rtlCol="0">
            <a:spAutoFit/>
          </a:bodyPr>
          <a:lstStyle/>
          <a:p>
            <a:r>
              <a:rPr lang="fr-FR" dirty="0"/>
              <a:t>Plusieurs études individuelles qui trouvent des effets forts</a:t>
            </a:r>
          </a:p>
        </p:txBody>
      </p:sp>
      <p:sp>
        <p:nvSpPr>
          <p:cNvPr id="4" name="ZoneTexte 3">
            <a:extLst>
              <a:ext uri="{FF2B5EF4-FFF2-40B4-BE49-F238E27FC236}">
                <a16:creationId xmlns:a16="http://schemas.microsoft.com/office/drawing/2014/main" id="{B9B98172-006A-E40D-8D8A-422D869FD581}"/>
              </a:ext>
            </a:extLst>
          </p:cNvPr>
          <p:cNvSpPr txBox="1"/>
          <p:nvPr/>
        </p:nvSpPr>
        <p:spPr>
          <a:xfrm>
            <a:off x="2844938" y="1224750"/>
            <a:ext cx="5038495" cy="369332"/>
          </a:xfrm>
          <a:prstGeom prst="rect">
            <a:avLst/>
          </a:prstGeom>
          <a:noFill/>
        </p:spPr>
        <p:txBody>
          <a:bodyPr wrap="none" rtlCol="0">
            <a:spAutoFit/>
          </a:bodyPr>
          <a:lstStyle/>
          <a:p>
            <a:r>
              <a:rPr lang="fr-FR" dirty="0"/>
              <a:t>Les </a:t>
            </a:r>
            <a:r>
              <a:rPr lang="fr-FR" dirty="0" err="1"/>
              <a:t>méta-analyses</a:t>
            </a:r>
            <a:r>
              <a:rPr lang="fr-FR" dirty="0"/>
              <a:t> ne trouvent pas d’effet moyen</a:t>
            </a:r>
          </a:p>
        </p:txBody>
      </p:sp>
      <p:sp>
        <p:nvSpPr>
          <p:cNvPr id="5" name="ZoneTexte 4">
            <a:extLst>
              <a:ext uri="{FF2B5EF4-FFF2-40B4-BE49-F238E27FC236}">
                <a16:creationId xmlns:a16="http://schemas.microsoft.com/office/drawing/2014/main" id="{A019744C-1114-D4F9-3017-33A448DF2A8F}"/>
              </a:ext>
            </a:extLst>
          </p:cNvPr>
          <p:cNvSpPr txBox="1"/>
          <p:nvPr/>
        </p:nvSpPr>
        <p:spPr>
          <a:xfrm>
            <a:off x="2774304" y="2185403"/>
            <a:ext cx="8088176" cy="646331"/>
          </a:xfrm>
          <a:prstGeom prst="rect">
            <a:avLst/>
          </a:prstGeom>
          <a:noFill/>
        </p:spPr>
        <p:txBody>
          <a:bodyPr wrap="none" rtlCol="0">
            <a:spAutoFit/>
          </a:bodyPr>
          <a:lstStyle/>
          <a:p>
            <a:r>
              <a:rPr lang="fr-FR" dirty="0"/>
              <a:t>Les chercheurs (et méta-analystes) proposent des modérateurs – </a:t>
            </a:r>
          </a:p>
          <a:p>
            <a:r>
              <a:rPr lang="fr-FR" dirty="0"/>
              <a:t>des conditions pour lesquelles l’effet se trouverait de manière plus consistante</a:t>
            </a:r>
          </a:p>
        </p:txBody>
      </p:sp>
      <p:sp>
        <p:nvSpPr>
          <p:cNvPr id="6" name="ZoneTexte 5">
            <a:extLst>
              <a:ext uri="{FF2B5EF4-FFF2-40B4-BE49-F238E27FC236}">
                <a16:creationId xmlns:a16="http://schemas.microsoft.com/office/drawing/2014/main" id="{354C9E88-4E31-7732-C8A1-989675A60458}"/>
              </a:ext>
            </a:extLst>
          </p:cNvPr>
          <p:cNvSpPr txBox="1"/>
          <p:nvPr/>
        </p:nvSpPr>
        <p:spPr>
          <a:xfrm>
            <a:off x="2774304" y="1668365"/>
            <a:ext cx="5292796" cy="369332"/>
          </a:xfrm>
          <a:prstGeom prst="rect">
            <a:avLst/>
          </a:prstGeom>
          <a:noFill/>
        </p:spPr>
        <p:txBody>
          <a:bodyPr wrap="none" rtlCol="0">
            <a:spAutoFit/>
          </a:bodyPr>
          <a:lstStyle/>
          <a:p>
            <a:r>
              <a:rPr lang="fr-FR" dirty="0"/>
              <a:t>Les </a:t>
            </a:r>
            <a:r>
              <a:rPr lang="fr-FR" dirty="0" err="1"/>
              <a:t>méta-analyses</a:t>
            </a:r>
            <a:r>
              <a:rPr lang="fr-FR" dirty="0"/>
              <a:t> trouvent une hétérogénéité forte</a:t>
            </a:r>
          </a:p>
        </p:txBody>
      </p:sp>
      <p:sp>
        <p:nvSpPr>
          <p:cNvPr id="7" name="ZoneTexte 6">
            <a:extLst>
              <a:ext uri="{FF2B5EF4-FFF2-40B4-BE49-F238E27FC236}">
                <a16:creationId xmlns:a16="http://schemas.microsoft.com/office/drawing/2014/main" id="{09CC8593-0E00-02A2-4E8F-5B381498D1C8}"/>
              </a:ext>
            </a:extLst>
          </p:cNvPr>
          <p:cNvSpPr txBox="1"/>
          <p:nvPr/>
        </p:nvSpPr>
        <p:spPr>
          <a:xfrm>
            <a:off x="2774304" y="2956651"/>
            <a:ext cx="8772210" cy="369332"/>
          </a:xfrm>
          <a:prstGeom prst="rect">
            <a:avLst/>
          </a:prstGeom>
          <a:noFill/>
        </p:spPr>
        <p:txBody>
          <a:bodyPr wrap="none" rtlCol="0">
            <a:spAutoFit/>
          </a:bodyPr>
          <a:lstStyle/>
          <a:p>
            <a:r>
              <a:rPr lang="fr-FR" dirty="0"/>
              <a:t>Pourtant, il semblerait que l’effet psychologique soit différent de l’effet de l’intervention</a:t>
            </a:r>
          </a:p>
        </p:txBody>
      </p:sp>
      <p:sp>
        <p:nvSpPr>
          <p:cNvPr id="8" name="ZoneTexte 7">
            <a:extLst>
              <a:ext uri="{FF2B5EF4-FFF2-40B4-BE49-F238E27FC236}">
                <a16:creationId xmlns:a16="http://schemas.microsoft.com/office/drawing/2014/main" id="{5EE01F33-92EF-1C96-2F74-ADC5070C8F11}"/>
              </a:ext>
            </a:extLst>
          </p:cNvPr>
          <p:cNvSpPr txBox="1"/>
          <p:nvPr/>
        </p:nvSpPr>
        <p:spPr>
          <a:xfrm>
            <a:off x="2774304" y="3427548"/>
            <a:ext cx="8198496" cy="923330"/>
          </a:xfrm>
          <a:prstGeom prst="rect">
            <a:avLst/>
          </a:prstGeom>
          <a:noFill/>
        </p:spPr>
        <p:txBody>
          <a:bodyPr wrap="square" rtlCol="0">
            <a:spAutoFit/>
          </a:bodyPr>
          <a:lstStyle/>
          <a:p>
            <a:pPr algn="just"/>
            <a:r>
              <a:rPr lang="fr-FR" b="1" dirty="0"/>
              <a:t>On aurait donc deux types d’expérimentation : les expérimentations testant plutôt l’effet psychologique et les expérimentations testant plutôt l’effet de l’intervention</a:t>
            </a:r>
          </a:p>
        </p:txBody>
      </p:sp>
      <p:sp>
        <p:nvSpPr>
          <p:cNvPr id="9" name="ZoneTexte 8">
            <a:extLst>
              <a:ext uri="{FF2B5EF4-FFF2-40B4-BE49-F238E27FC236}">
                <a16:creationId xmlns:a16="http://schemas.microsoft.com/office/drawing/2014/main" id="{07520A59-CC5B-E457-09D6-D4FFA3C09BEF}"/>
              </a:ext>
            </a:extLst>
          </p:cNvPr>
          <p:cNvSpPr txBox="1"/>
          <p:nvPr/>
        </p:nvSpPr>
        <p:spPr>
          <a:xfrm>
            <a:off x="3731582" y="4854550"/>
            <a:ext cx="4595672" cy="1477328"/>
          </a:xfrm>
          <a:prstGeom prst="rect">
            <a:avLst/>
          </a:prstGeom>
          <a:noFill/>
        </p:spPr>
        <p:txBody>
          <a:bodyPr wrap="square" rtlCol="0">
            <a:spAutoFit/>
          </a:bodyPr>
          <a:lstStyle/>
          <a:p>
            <a:pPr marL="285750" indent="-285750" algn="just">
              <a:buFont typeface="Arial" panose="020B0604020202020204" pitchFamily="34" charset="0"/>
              <a:buChar char="•"/>
            </a:pPr>
            <a:r>
              <a:rPr lang="fr-FR" b="1" dirty="0"/>
              <a:t>L’exploration de l’hétérogénéité est une impasse</a:t>
            </a:r>
          </a:p>
          <a:p>
            <a:pPr marL="285750" indent="-285750" algn="just">
              <a:buFont typeface="Arial" panose="020B0604020202020204" pitchFamily="34" charset="0"/>
              <a:buChar char="•"/>
            </a:pPr>
            <a:r>
              <a:rPr lang="fr-FR" b="1" dirty="0"/>
              <a:t>Nous devons explorer le type d’expérimentation produisant ces effets → la conception expérimentale</a:t>
            </a:r>
          </a:p>
        </p:txBody>
      </p:sp>
    </p:spTree>
    <p:extLst>
      <p:ext uri="{BB962C8B-B14F-4D97-AF65-F5344CB8AC3E}">
        <p14:creationId xmlns:p14="http://schemas.microsoft.com/office/powerpoint/2010/main" val="22572344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30" name="Rectangle 512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9" name="Rectangle 512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1" name="Rectangle 513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3" name="Rectangle 513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a:extLst>
              <a:ext uri="{FF2B5EF4-FFF2-40B4-BE49-F238E27FC236}">
                <a16:creationId xmlns:a16="http://schemas.microsoft.com/office/drawing/2014/main" id="{C78D2DB5-B70B-C915-172F-89D30A2B14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461" b="43836"/>
          <a:stretch>
            <a:fillRect/>
          </a:stretch>
        </p:blipFill>
        <p:spPr bwMode="auto">
          <a:xfrm>
            <a:off x="457200" y="457200"/>
            <a:ext cx="11277600" cy="59436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The power of the placebo effect - Harvard Health">
            <a:extLst>
              <a:ext uri="{FF2B5EF4-FFF2-40B4-BE49-F238E27FC236}">
                <a16:creationId xmlns:a16="http://schemas.microsoft.com/office/drawing/2014/main" id="{E2413199-5E1B-994B-8C02-848443AFEA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066" y="529175"/>
            <a:ext cx="3352202" cy="2512407"/>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460+ Doctor Giving Pills And Water Stock Photos, Pictures &amp; Royalty-Free  Images - iStock">
            <a:extLst>
              <a:ext uri="{FF2B5EF4-FFF2-40B4-BE49-F238E27FC236}">
                <a16:creationId xmlns:a16="http://schemas.microsoft.com/office/drawing/2014/main" id="{F1D4802D-6018-A326-4A20-30314C3B17E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2535" y="529175"/>
            <a:ext cx="4266399" cy="2844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48958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124"/>
                                        </p:tgtEl>
                                        <p:attrNameLst>
                                          <p:attrName>style.visibility</p:attrName>
                                        </p:attrNameLst>
                                      </p:cBhvr>
                                      <p:to>
                                        <p:strVal val="visible"/>
                                      </p:to>
                                    </p:set>
                                    <p:anim calcmode="lin" valueType="num">
                                      <p:cBhvr additive="base">
                                        <p:cTn id="7" dur="500" fill="hold"/>
                                        <p:tgtEl>
                                          <p:spTgt spid="5124"/>
                                        </p:tgtEl>
                                        <p:attrNameLst>
                                          <p:attrName>ppt_x</p:attrName>
                                        </p:attrNameLst>
                                      </p:cBhvr>
                                      <p:tavLst>
                                        <p:tav tm="0">
                                          <p:val>
                                            <p:strVal val="0-#ppt_w/2"/>
                                          </p:val>
                                        </p:tav>
                                        <p:tav tm="100000">
                                          <p:val>
                                            <p:strVal val="#ppt_x"/>
                                          </p:val>
                                        </p:tav>
                                      </p:tavLst>
                                    </p:anim>
                                    <p:anim calcmode="lin" valueType="num">
                                      <p:cBhvr additive="base">
                                        <p:cTn id="8" dur="500" fill="hold"/>
                                        <p:tgtEl>
                                          <p:spTgt spid="512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5128"/>
                                        </p:tgtEl>
                                        <p:attrNameLst>
                                          <p:attrName>style.visibility</p:attrName>
                                        </p:attrNameLst>
                                      </p:cBhvr>
                                      <p:to>
                                        <p:strVal val="visible"/>
                                      </p:to>
                                    </p:set>
                                    <p:anim calcmode="lin" valueType="num">
                                      <p:cBhvr additive="base">
                                        <p:cTn id="13" dur="500" fill="hold"/>
                                        <p:tgtEl>
                                          <p:spTgt spid="5128"/>
                                        </p:tgtEl>
                                        <p:attrNameLst>
                                          <p:attrName>ppt_x</p:attrName>
                                        </p:attrNameLst>
                                      </p:cBhvr>
                                      <p:tavLst>
                                        <p:tav tm="0">
                                          <p:val>
                                            <p:strVal val="1+#ppt_w/2"/>
                                          </p:val>
                                        </p:tav>
                                        <p:tav tm="100000">
                                          <p:val>
                                            <p:strVal val="#ppt_x"/>
                                          </p:val>
                                        </p:tav>
                                      </p:tavLst>
                                    </p:anim>
                                    <p:anim calcmode="lin" valueType="num">
                                      <p:cBhvr additive="base">
                                        <p:cTn id="14" dur="500" fill="hold"/>
                                        <p:tgtEl>
                                          <p:spTgt spid="51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FB2770-4570-FB1F-271F-790141C9F6ED}"/>
              </a:ext>
            </a:extLst>
          </p:cNvPr>
          <p:cNvSpPr>
            <a:spLocks noGrp="1"/>
          </p:cNvSpPr>
          <p:nvPr>
            <p:ph type="title"/>
          </p:nvPr>
        </p:nvSpPr>
        <p:spPr/>
        <p:txBody>
          <a:bodyPr/>
          <a:lstStyle/>
          <a:p>
            <a:r>
              <a:rPr lang="fr-FR" dirty="0"/>
              <a:t>Schwartz 1960</a:t>
            </a:r>
          </a:p>
        </p:txBody>
      </p:sp>
      <p:sp>
        <p:nvSpPr>
          <p:cNvPr id="3" name="Espace réservé du contenu 2">
            <a:extLst>
              <a:ext uri="{FF2B5EF4-FFF2-40B4-BE49-F238E27FC236}">
                <a16:creationId xmlns:a16="http://schemas.microsoft.com/office/drawing/2014/main" id="{DBD41581-B178-B360-5F6C-F6D02FD36B23}"/>
              </a:ext>
            </a:extLst>
          </p:cNvPr>
          <p:cNvSpPr>
            <a:spLocks noGrp="1"/>
          </p:cNvSpPr>
          <p:nvPr>
            <p:ph idx="1"/>
          </p:nvPr>
        </p:nvSpPr>
        <p:spPr/>
        <p:txBody>
          <a:bodyPr/>
          <a:lstStyle/>
          <a:p>
            <a:endParaRPr lang="fr-FR"/>
          </a:p>
        </p:txBody>
      </p:sp>
      <p:pic>
        <p:nvPicPr>
          <p:cNvPr id="5" name="Image 4">
            <a:extLst>
              <a:ext uri="{FF2B5EF4-FFF2-40B4-BE49-F238E27FC236}">
                <a16:creationId xmlns:a16="http://schemas.microsoft.com/office/drawing/2014/main" id="{556391C3-4839-078A-8DEF-6570F27AF348}"/>
              </a:ext>
            </a:extLst>
          </p:cNvPr>
          <p:cNvPicPr>
            <a:picLocks noChangeAspect="1"/>
          </p:cNvPicPr>
          <p:nvPr/>
        </p:nvPicPr>
        <p:blipFill>
          <a:blip r:embed="rId2"/>
          <a:stretch>
            <a:fillRect/>
          </a:stretch>
        </p:blipFill>
        <p:spPr>
          <a:xfrm>
            <a:off x="487505" y="1986844"/>
            <a:ext cx="11134027" cy="2460978"/>
          </a:xfrm>
          <a:prstGeom prst="rect">
            <a:avLst/>
          </a:prstGeom>
        </p:spPr>
      </p:pic>
      <p:cxnSp>
        <p:nvCxnSpPr>
          <p:cNvPr id="6" name="Connecteur droit avec flèche 5">
            <a:extLst>
              <a:ext uri="{FF2B5EF4-FFF2-40B4-BE49-F238E27FC236}">
                <a16:creationId xmlns:a16="http://schemas.microsoft.com/office/drawing/2014/main" id="{C5B70D8F-0113-31A0-9483-C93E867E906F}"/>
              </a:ext>
            </a:extLst>
          </p:cNvPr>
          <p:cNvCxnSpPr>
            <a:stCxn id="5" idx="2"/>
          </p:cNvCxnSpPr>
          <p:nvPr/>
        </p:nvCxnSpPr>
        <p:spPr>
          <a:xfrm flipH="1">
            <a:off x="4250453" y="4447822"/>
            <a:ext cx="1804066" cy="55625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7" name="Connecteur droit avec flèche 6">
            <a:extLst>
              <a:ext uri="{FF2B5EF4-FFF2-40B4-BE49-F238E27FC236}">
                <a16:creationId xmlns:a16="http://schemas.microsoft.com/office/drawing/2014/main" id="{A3C2598C-9EF2-FD9A-02DE-FE6A466248CA}"/>
              </a:ext>
            </a:extLst>
          </p:cNvPr>
          <p:cNvCxnSpPr>
            <a:cxnSpLocks/>
            <a:stCxn id="5" idx="2"/>
          </p:cNvCxnSpPr>
          <p:nvPr/>
        </p:nvCxnSpPr>
        <p:spPr>
          <a:xfrm>
            <a:off x="6054519" y="4447822"/>
            <a:ext cx="1572180" cy="55625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1" name="ZoneTexte 10">
            <a:extLst>
              <a:ext uri="{FF2B5EF4-FFF2-40B4-BE49-F238E27FC236}">
                <a16:creationId xmlns:a16="http://schemas.microsoft.com/office/drawing/2014/main" id="{2B82F374-3066-CF40-7AFE-F35C29108473}"/>
              </a:ext>
            </a:extLst>
          </p:cNvPr>
          <p:cNvSpPr txBox="1"/>
          <p:nvPr/>
        </p:nvSpPr>
        <p:spPr>
          <a:xfrm>
            <a:off x="1507253" y="5188627"/>
            <a:ext cx="4377545" cy="369332"/>
          </a:xfrm>
          <a:prstGeom prst="rect">
            <a:avLst/>
          </a:prstGeom>
          <a:noFill/>
        </p:spPr>
        <p:txBody>
          <a:bodyPr wrap="none" rtlCol="0">
            <a:spAutoFit/>
          </a:bodyPr>
          <a:lstStyle/>
          <a:p>
            <a:r>
              <a:rPr lang="fr-FR" dirty="0"/>
              <a:t>Homogène = précis = pas généralisable</a:t>
            </a:r>
          </a:p>
        </p:txBody>
      </p:sp>
      <p:sp>
        <p:nvSpPr>
          <p:cNvPr id="12" name="ZoneTexte 11">
            <a:extLst>
              <a:ext uri="{FF2B5EF4-FFF2-40B4-BE49-F238E27FC236}">
                <a16:creationId xmlns:a16="http://schemas.microsoft.com/office/drawing/2014/main" id="{D7EC2D08-E9A2-20CC-80B7-441D8DA6E33D}"/>
              </a:ext>
            </a:extLst>
          </p:cNvPr>
          <p:cNvSpPr txBox="1"/>
          <p:nvPr/>
        </p:nvSpPr>
        <p:spPr>
          <a:xfrm>
            <a:off x="6216574" y="5188627"/>
            <a:ext cx="4435894" cy="369332"/>
          </a:xfrm>
          <a:prstGeom prst="rect">
            <a:avLst/>
          </a:prstGeom>
          <a:noFill/>
        </p:spPr>
        <p:txBody>
          <a:bodyPr wrap="none" rtlCol="0">
            <a:spAutoFit/>
          </a:bodyPr>
          <a:lstStyle/>
          <a:p>
            <a:r>
              <a:rPr lang="fr-FR" dirty="0"/>
              <a:t>Hétérogène = imprécis = généralisable</a:t>
            </a:r>
          </a:p>
        </p:txBody>
      </p:sp>
    </p:spTree>
    <p:extLst>
      <p:ext uri="{BB962C8B-B14F-4D97-AF65-F5344CB8AC3E}">
        <p14:creationId xmlns:p14="http://schemas.microsoft.com/office/powerpoint/2010/main" val="36089561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A7D9F5-079D-BAAD-F4AE-0C0F05328727}"/>
              </a:ext>
            </a:extLst>
          </p:cNvPr>
          <p:cNvSpPr>
            <a:spLocks noGrp="1"/>
          </p:cNvSpPr>
          <p:nvPr>
            <p:ph type="title"/>
          </p:nvPr>
        </p:nvSpPr>
        <p:spPr>
          <a:xfrm>
            <a:off x="1082675" y="592018"/>
            <a:ext cx="10026650" cy="655637"/>
          </a:xfrm>
        </p:spPr>
        <p:txBody>
          <a:bodyPr>
            <a:normAutofit fontScale="90000"/>
          </a:bodyPr>
          <a:lstStyle/>
          <a:p>
            <a:r>
              <a:rPr lang="fr-FR" dirty="0">
                <a:latin typeface="Arial Rounded MT Bold" panose="020F0704030504030204" pitchFamily="34" charset="0"/>
              </a:rPr>
              <a:t>Les essais pragmatiques </a:t>
            </a:r>
            <a:br>
              <a:rPr lang="fr-FR" dirty="0">
                <a:latin typeface="Arial Rounded MT Bold" panose="020F0704030504030204" pitchFamily="34" charset="0"/>
              </a:rPr>
            </a:br>
            <a:r>
              <a:rPr lang="fr-FR" dirty="0">
                <a:latin typeface="Arial Rounded MT Bold" panose="020F0704030504030204" pitchFamily="34" charset="0"/>
              </a:rPr>
              <a:t>Schwartz – </a:t>
            </a:r>
            <a:r>
              <a:rPr lang="fr-FR" dirty="0" err="1">
                <a:latin typeface="Arial Rounded MT Bold" panose="020F0704030504030204" pitchFamily="34" charset="0"/>
              </a:rPr>
              <a:t>Lellouch</a:t>
            </a:r>
            <a:r>
              <a:rPr lang="fr-FR" dirty="0">
                <a:latin typeface="Arial Rounded MT Bold" panose="020F0704030504030204" pitchFamily="34" charset="0"/>
              </a:rPr>
              <a:t> 1967</a:t>
            </a:r>
          </a:p>
        </p:txBody>
      </p:sp>
      <p:pic>
        <p:nvPicPr>
          <p:cNvPr id="5" name="Image 4">
            <a:extLst>
              <a:ext uri="{FF2B5EF4-FFF2-40B4-BE49-F238E27FC236}">
                <a16:creationId xmlns:a16="http://schemas.microsoft.com/office/drawing/2014/main" id="{A43A1E1E-66BC-D895-86FD-0B13C507AEB2}"/>
              </a:ext>
            </a:extLst>
          </p:cNvPr>
          <p:cNvPicPr>
            <a:picLocks noChangeAspect="1"/>
          </p:cNvPicPr>
          <p:nvPr/>
        </p:nvPicPr>
        <p:blipFill>
          <a:blip r:embed="rId3"/>
          <a:stretch>
            <a:fillRect/>
          </a:stretch>
        </p:blipFill>
        <p:spPr>
          <a:xfrm>
            <a:off x="4229100" y="1367234"/>
            <a:ext cx="3280410" cy="5125641"/>
          </a:xfrm>
          <a:prstGeom prst="rect">
            <a:avLst/>
          </a:prstGeom>
        </p:spPr>
      </p:pic>
      <p:cxnSp>
        <p:nvCxnSpPr>
          <p:cNvPr id="7" name="Connecteur droit avec flèche 6">
            <a:extLst>
              <a:ext uri="{FF2B5EF4-FFF2-40B4-BE49-F238E27FC236}">
                <a16:creationId xmlns:a16="http://schemas.microsoft.com/office/drawing/2014/main" id="{CBB621CB-78B5-58F1-54F4-927DE0AB610E}"/>
              </a:ext>
            </a:extLst>
          </p:cNvPr>
          <p:cNvCxnSpPr/>
          <p:nvPr/>
        </p:nvCxnSpPr>
        <p:spPr>
          <a:xfrm>
            <a:off x="3133725" y="5095875"/>
            <a:ext cx="1619250" cy="4857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ZoneTexte 7">
            <a:extLst>
              <a:ext uri="{FF2B5EF4-FFF2-40B4-BE49-F238E27FC236}">
                <a16:creationId xmlns:a16="http://schemas.microsoft.com/office/drawing/2014/main" id="{15D773B1-D4F8-14CE-EC83-B1C2AB3AEE00}"/>
              </a:ext>
            </a:extLst>
          </p:cNvPr>
          <p:cNvSpPr txBox="1"/>
          <p:nvPr/>
        </p:nvSpPr>
        <p:spPr>
          <a:xfrm>
            <a:off x="2031731" y="4726543"/>
            <a:ext cx="1099788" cy="369332"/>
          </a:xfrm>
          <a:prstGeom prst="rect">
            <a:avLst/>
          </a:prstGeom>
          <a:noFill/>
        </p:spPr>
        <p:txBody>
          <a:bodyPr wrap="none" rtlCol="0">
            <a:spAutoFit/>
          </a:bodyPr>
          <a:lstStyle/>
          <a:p>
            <a:r>
              <a:rPr lang="fr-FR" dirty="0"/>
              <a:t>Explicatif</a:t>
            </a:r>
          </a:p>
        </p:txBody>
      </p:sp>
      <p:cxnSp>
        <p:nvCxnSpPr>
          <p:cNvPr id="9" name="Connecteur droit avec flèche 8">
            <a:extLst>
              <a:ext uri="{FF2B5EF4-FFF2-40B4-BE49-F238E27FC236}">
                <a16:creationId xmlns:a16="http://schemas.microsoft.com/office/drawing/2014/main" id="{5E7B8911-7F9F-0C32-B585-7186E1216C60}"/>
              </a:ext>
            </a:extLst>
          </p:cNvPr>
          <p:cNvCxnSpPr>
            <a:cxnSpLocks/>
            <a:stCxn id="10" idx="2"/>
          </p:cNvCxnSpPr>
          <p:nvPr/>
        </p:nvCxnSpPr>
        <p:spPr>
          <a:xfrm flipH="1">
            <a:off x="7381875" y="4911209"/>
            <a:ext cx="1535431" cy="7752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ZoneTexte 9">
            <a:extLst>
              <a:ext uri="{FF2B5EF4-FFF2-40B4-BE49-F238E27FC236}">
                <a16:creationId xmlns:a16="http://schemas.microsoft.com/office/drawing/2014/main" id="{5866DA9F-DFAF-79D3-69F5-60CE6E88FB51}"/>
              </a:ext>
            </a:extLst>
          </p:cNvPr>
          <p:cNvSpPr txBox="1"/>
          <p:nvPr/>
        </p:nvSpPr>
        <p:spPr>
          <a:xfrm>
            <a:off x="8042911" y="4541877"/>
            <a:ext cx="1748789" cy="369332"/>
          </a:xfrm>
          <a:prstGeom prst="rect">
            <a:avLst/>
          </a:prstGeom>
          <a:noFill/>
        </p:spPr>
        <p:txBody>
          <a:bodyPr wrap="square" rtlCol="0">
            <a:spAutoFit/>
          </a:bodyPr>
          <a:lstStyle/>
          <a:p>
            <a:r>
              <a:rPr lang="fr-FR" dirty="0"/>
              <a:t>Pragmatique</a:t>
            </a:r>
          </a:p>
        </p:txBody>
      </p:sp>
    </p:spTree>
    <p:extLst>
      <p:ext uri="{BB962C8B-B14F-4D97-AF65-F5344CB8AC3E}">
        <p14:creationId xmlns:p14="http://schemas.microsoft.com/office/powerpoint/2010/main" val="33845522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448771-BE34-7A6C-C68E-BD0E39B67E37}"/>
              </a:ext>
            </a:extLst>
          </p:cNvPr>
          <p:cNvSpPr>
            <a:spLocks noGrp="1"/>
          </p:cNvSpPr>
          <p:nvPr>
            <p:ph type="title"/>
          </p:nvPr>
        </p:nvSpPr>
        <p:spPr/>
        <p:txBody>
          <a:bodyPr/>
          <a:lstStyle/>
          <a:p>
            <a:endParaRPr lang="fr-FR"/>
          </a:p>
        </p:txBody>
      </p:sp>
      <p:pic>
        <p:nvPicPr>
          <p:cNvPr id="5" name="Espace réservé du contenu 4" descr="Une image contenant texte, capture d’écran, Police, diagramme&#10;&#10;Description générée automatiquement">
            <a:extLst>
              <a:ext uri="{FF2B5EF4-FFF2-40B4-BE49-F238E27FC236}">
                <a16:creationId xmlns:a16="http://schemas.microsoft.com/office/drawing/2014/main" id="{2631969C-B83C-6A3C-4F93-D8739FD342D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91822" y="140595"/>
            <a:ext cx="5813778" cy="6717405"/>
          </a:xfrm>
        </p:spPr>
      </p:pic>
      <p:sp>
        <p:nvSpPr>
          <p:cNvPr id="6" name="Espace réservé du contenu 2">
            <a:extLst>
              <a:ext uri="{FF2B5EF4-FFF2-40B4-BE49-F238E27FC236}">
                <a16:creationId xmlns:a16="http://schemas.microsoft.com/office/drawing/2014/main" id="{A80A4E20-A9B2-67CF-2E22-545F3CB28DC7}"/>
              </a:ext>
            </a:extLst>
          </p:cNvPr>
          <p:cNvSpPr txBox="1">
            <a:spLocks/>
          </p:cNvSpPr>
          <p:nvPr/>
        </p:nvSpPr>
        <p:spPr>
          <a:xfrm>
            <a:off x="6965244" y="1790700"/>
            <a:ext cx="4140906" cy="3978275"/>
          </a:xfrm>
          <a:prstGeom prst="rect">
            <a:avLst/>
          </a:prstGeom>
        </p:spPr>
        <p:txBody>
          <a:bodyPr vert="horz" lIns="0" tIns="0" rIns="0" bIns="0" rtlCol="0" anchor="t" anchorCtr="0">
            <a:normAutofit/>
          </a:bodyPr>
          <a:lstStyle>
            <a:lvl1pPr marL="360000" indent="-360000" algn="l" defTabSz="914400" rtl="0" eaLnBrk="1" latinLnBrk="0" hangingPunct="1">
              <a:lnSpc>
                <a:spcPct val="125000"/>
              </a:lnSpc>
              <a:spcBef>
                <a:spcPts val="10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1pPr>
            <a:lvl2pPr marL="36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2pPr>
            <a:lvl3pPr marL="108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3pPr>
            <a:lvl4pPr marL="108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4pPr>
            <a:lvl5pPr marL="180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a:ln w="0"/>
                <a:solidFill>
                  <a:schemeClr val="tx1"/>
                </a:solidFill>
                <a:effectLst>
                  <a:outerShdw blurRad="38100" dist="19050" dir="2700000" algn="tl" rotWithShape="0">
                    <a:schemeClr val="dk1">
                      <a:alpha val="40000"/>
                    </a:schemeClr>
                  </a:outerShdw>
                </a:effectLst>
              </a:rPr>
              <a:t>Pragmatique</a:t>
            </a:r>
            <a:r>
              <a:rPr lang="en-US" dirty="0">
                <a:ln w="0"/>
                <a:solidFill>
                  <a:schemeClr val="tx1"/>
                </a:solidFill>
                <a:effectLst>
                  <a:outerShdw blurRad="38100" dist="19050" dir="2700000" algn="tl" rotWithShape="0">
                    <a:schemeClr val="dk1">
                      <a:alpha val="40000"/>
                    </a:schemeClr>
                  </a:outerShdw>
                </a:effectLst>
              </a:rPr>
              <a:t> : pas </a:t>
            </a:r>
            <a:r>
              <a:rPr lang="en-US" dirty="0" err="1">
                <a:ln w="0"/>
                <a:solidFill>
                  <a:schemeClr val="tx1"/>
                </a:solidFill>
                <a:effectLst>
                  <a:outerShdw blurRad="38100" dist="19050" dir="2700000" algn="tl" rotWithShape="0">
                    <a:schemeClr val="dk1">
                      <a:alpha val="40000"/>
                    </a:schemeClr>
                  </a:outerShdw>
                </a:effectLst>
              </a:rPr>
              <a:t>besoin</a:t>
            </a:r>
            <a:r>
              <a:rPr lang="en-US" dirty="0">
                <a:ln w="0"/>
                <a:solidFill>
                  <a:schemeClr val="tx1"/>
                </a:solidFill>
                <a:effectLst>
                  <a:outerShdw blurRad="38100" dist="19050" dir="2700000" algn="tl" rotWithShape="0">
                    <a:schemeClr val="dk1">
                      <a:alpha val="40000"/>
                    </a:schemeClr>
                  </a:outerShdw>
                </a:effectLst>
              </a:rPr>
              <a:t> de placebo – condition </a:t>
            </a:r>
            <a:r>
              <a:rPr lang="en-US" dirty="0" err="1">
                <a:ln w="0"/>
                <a:solidFill>
                  <a:schemeClr val="tx1"/>
                </a:solidFill>
                <a:effectLst>
                  <a:outerShdw blurRad="38100" dist="19050" dir="2700000" algn="tl" rotWithShape="0">
                    <a:schemeClr val="dk1">
                      <a:alpha val="40000"/>
                    </a:schemeClr>
                  </a:outerShdw>
                </a:effectLst>
              </a:rPr>
              <a:t>usuelle</a:t>
            </a:r>
            <a:endParaRPr lang="en-US" dirty="0">
              <a:ln w="0"/>
              <a:solidFill>
                <a:schemeClr val="tx1"/>
              </a:solidFill>
              <a:effectLst>
                <a:outerShdw blurRad="38100" dist="19050" dir="2700000" algn="tl" rotWithShape="0">
                  <a:schemeClr val="dk1">
                    <a:alpha val="40000"/>
                  </a:schemeClr>
                </a:outerShdw>
              </a:effectLst>
            </a:endParaRPr>
          </a:p>
          <a:p>
            <a:r>
              <a:rPr lang="en-US" dirty="0">
                <a:ln w="0"/>
                <a:solidFill>
                  <a:schemeClr val="tx1"/>
                </a:solidFill>
                <a:effectLst>
                  <a:outerShdw blurRad="38100" dist="19050" dir="2700000" algn="tl" rotWithShape="0">
                    <a:schemeClr val="dk1">
                      <a:alpha val="40000"/>
                    </a:schemeClr>
                  </a:outerShdw>
                </a:effectLst>
              </a:rPr>
              <a:t>On </a:t>
            </a:r>
            <a:r>
              <a:rPr lang="en-US" dirty="0" err="1">
                <a:ln w="0"/>
                <a:solidFill>
                  <a:schemeClr val="tx1"/>
                </a:solidFill>
                <a:effectLst>
                  <a:outerShdw blurRad="38100" dist="19050" dir="2700000" algn="tl" rotWithShape="0">
                    <a:schemeClr val="dk1">
                      <a:alpha val="40000"/>
                    </a:schemeClr>
                  </a:outerShdw>
                </a:effectLst>
              </a:rPr>
              <a:t>cherche</a:t>
            </a:r>
            <a:r>
              <a:rPr lang="en-US" dirty="0">
                <a:ln w="0"/>
                <a:solidFill>
                  <a:schemeClr val="tx1"/>
                </a:solidFill>
                <a:effectLst>
                  <a:outerShdw blurRad="38100" dist="19050" dir="2700000" algn="tl" rotWithShape="0">
                    <a:schemeClr val="dk1">
                      <a:alpha val="40000"/>
                    </a:schemeClr>
                  </a:outerShdw>
                </a:effectLst>
              </a:rPr>
              <a:t> à </a:t>
            </a:r>
            <a:r>
              <a:rPr lang="en-US" dirty="0" err="1">
                <a:ln w="0"/>
                <a:solidFill>
                  <a:schemeClr val="tx1"/>
                </a:solidFill>
                <a:effectLst>
                  <a:outerShdw blurRad="38100" dist="19050" dir="2700000" algn="tl" rotWithShape="0">
                    <a:schemeClr val="dk1">
                      <a:alpha val="40000"/>
                    </a:schemeClr>
                  </a:outerShdw>
                </a:effectLst>
              </a:rPr>
              <a:t>prouver</a:t>
            </a:r>
            <a:r>
              <a:rPr lang="en-US" dirty="0">
                <a:ln w="0"/>
                <a:solidFill>
                  <a:schemeClr val="tx1"/>
                </a:solidFill>
                <a:effectLst>
                  <a:outerShdw blurRad="38100" dist="19050" dir="2700000" algn="tl" rotWithShape="0">
                    <a:schemeClr val="dk1">
                      <a:alpha val="40000"/>
                    </a:schemeClr>
                  </a:outerShdw>
                </a:effectLst>
              </a:rPr>
              <a:t> que le medicament est “plus utile” </a:t>
            </a:r>
            <a:r>
              <a:rPr lang="en-US" dirty="0" err="1">
                <a:ln w="0"/>
                <a:solidFill>
                  <a:schemeClr val="tx1"/>
                </a:solidFill>
                <a:effectLst>
                  <a:outerShdw blurRad="38100" dist="19050" dir="2700000" algn="tl" rotWithShape="0">
                    <a:schemeClr val="dk1">
                      <a:alpha val="40000"/>
                    </a:schemeClr>
                  </a:outerShdw>
                </a:effectLst>
              </a:rPr>
              <a:t>qu’un</a:t>
            </a:r>
            <a:r>
              <a:rPr lang="en-US" dirty="0">
                <a:ln w="0"/>
                <a:solidFill>
                  <a:schemeClr val="tx1"/>
                </a:solidFill>
                <a:effectLst>
                  <a:outerShdw blurRad="38100" dist="19050" dir="2700000" algn="tl" rotWithShape="0">
                    <a:schemeClr val="dk1">
                      <a:alpha val="40000"/>
                    </a:schemeClr>
                  </a:outerShdw>
                </a:effectLst>
              </a:rPr>
              <a:t> </a:t>
            </a:r>
            <a:r>
              <a:rPr lang="en-US" dirty="0" err="1">
                <a:ln w="0"/>
                <a:solidFill>
                  <a:schemeClr val="tx1"/>
                </a:solidFill>
                <a:effectLst>
                  <a:outerShdw blurRad="38100" dist="19050" dir="2700000" algn="tl" rotWithShape="0">
                    <a:schemeClr val="dk1">
                      <a:alpha val="40000"/>
                    </a:schemeClr>
                  </a:outerShdw>
                </a:effectLst>
              </a:rPr>
              <a:t>autre</a:t>
            </a:r>
            <a:r>
              <a:rPr lang="en-US" dirty="0">
                <a:ln w="0"/>
                <a:solidFill>
                  <a:schemeClr val="tx1"/>
                </a:solidFill>
                <a:effectLst>
                  <a:outerShdw blurRad="38100" dist="19050" dir="2700000" algn="tl" rotWithShape="0">
                    <a:schemeClr val="dk1">
                      <a:alpha val="40000"/>
                    </a:schemeClr>
                  </a:outerShdw>
                </a:effectLst>
              </a:rPr>
              <a:t>, pas </a:t>
            </a:r>
            <a:r>
              <a:rPr lang="en-US" dirty="0" err="1">
                <a:ln w="0"/>
                <a:solidFill>
                  <a:schemeClr val="tx1"/>
                </a:solidFill>
                <a:effectLst>
                  <a:outerShdw blurRad="38100" dist="19050" dir="2700000" algn="tl" rotWithShape="0">
                    <a:schemeClr val="dk1">
                      <a:alpha val="40000"/>
                    </a:schemeClr>
                  </a:outerShdw>
                </a:effectLst>
              </a:rPr>
              <a:t>qu’il</a:t>
            </a:r>
            <a:r>
              <a:rPr lang="en-US" dirty="0">
                <a:ln w="0"/>
                <a:solidFill>
                  <a:schemeClr val="tx1"/>
                </a:solidFill>
                <a:effectLst>
                  <a:outerShdw blurRad="38100" dist="19050" dir="2700000" algn="tl" rotWithShape="0">
                    <a:schemeClr val="dk1">
                      <a:alpha val="40000"/>
                    </a:schemeClr>
                  </a:outerShdw>
                </a:effectLst>
              </a:rPr>
              <a:t> est </a:t>
            </a:r>
            <a:r>
              <a:rPr lang="en-US" dirty="0" err="1">
                <a:ln w="0"/>
                <a:solidFill>
                  <a:schemeClr val="tx1"/>
                </a:solidFill>
                <a:effectLst>
                  <a:outerShdw blurRad="38100" dist="19050" dir="2700000" algn="tl" rotWithShape="0">
                    <a:schemeClr val="dk1">
                      <a:alpha val="40000"/>
                    </a:schemeClr>
                  </a:outerShdw>
                </a:effectLst>
              </a:rPr>
              <a:t>efficace</a:t>
            </a:r>
            <a:r>
              <a:rPr lang="en-US" dirty="0">
                <a:ln w="0"/>
                <a:solidFill>
                  <a:schemeClr val="tx1"/>
                </a:solidFill>
                <a:effectLst>
                  <a:outerShdw blurRad="38100" dist="19050" dir="2700000" algn="tl" rotWithShape="0">
                    <a:schemeClr val="dk1">
                      <a:alpha val="40000"/>
                    </a:schemeClr>
                  </a:outerShdw>
                </a:effectLst>
              </a:rPr>
              <a:t> en </a:t>
            </a:r>
            <a:r>
              <a:rPr lang="en-US" dirty="0" err="1">
                <a:ln w="0"/>
                <a:solidFill>
                  <a:schemeClr val="tx1"/>
                </a:solidFill>
                <a:effectLst>
                  <a:outerShdw blurRad="38100" dist="19050" dir="2700000" algn="tl" rotWithShape="0">
                    <a:schemeClr val="dk1">
                      <a:alpha val="40000"/>
                    </a:schemeClr>
                  </a:outerShdw>
                </a:effectLst>
              </a:rPr>
              <a:t>lui-même</a:t>
            </a: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8015519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 10">
            <a:extLst>
              <a:ext uri="{FF2B5EF4-FFF2-40B4-BE49-F238E27FC236}">
                <a16:creationId xmlns:a16="http://schemas.microsoft.com/office/drawing/2014/main" id="{D8DB9CA5-38DE-F27D-1A20-34577A5EA24D}"/>
              </a:ext>
            </a:extLst>
          </p:cNvPr>
          <p:cNvPicPr>
            <a:picLocks noChangeAspect="1"/>
          </p:cNvPicPr>
          <p:nvPr/>
        </p:nvPicPr>
        <p:blipFill>
          <a:blip r:embed="rId3"/>
          <a:stretch>
            <a:fillRect/>
          </a:stretch>
        </p:blipFill>
        <p:spPr>
          <a:xfrm>
            <a:off x="1981201" y="1254125"/>
            <a:ext cx="6262447" cy="5391150"/>
          </a:xfrm>
          <a:prstGeom prst="rect">
            <a:avLst/>
          </a:prstGeom>
        </p:spPr>
      </p:pic>
      <p:pic>
        <p:nvPicPr>
          <p:cNvPr id="5" name="Image 4">
            <a:extLst>
              <a:ext uri="{FF2B5EF4-FFF2-40B4-BE49-F238E27FC236}">
                <a16:creationId xmlns:a16="http://schemas.microsoft.com/office/drawing/2014/main" id="{5DC24692-C2B1-9743-E182-90CE7BF1BC2D}"/>
              </a:ext>
            </a:extLst>
          </p:cNvPr>
          <p:cNvPicPr>
            <a:picLocks noChangeAspect="1"/>
          </p:cNvPicPr>
          <p:nvPr/>
        </p:nvPicPr>
        <p:blipFill>
          <a:blip r:embed="rId4"/>
          <a:stretch>
            <a:fillRect/>
          </a:stretch>
        </p:blipFill>
        <p:spPr>
          <a:xfrm>
            <a:off x="7167323" y="212725"/>
            <a:ext cx="4791074" cy="1599421"/>
          </a:xfrm>
          <a:prstGeom prst="rect">
            <a:avLst/>
          </a:prstGeom>
        </p:spPr>
      </p:pic>
      <p:sp>
        <p:nvSpPr>
          <p:cNvPr id="2" name="ZoneTexte 1">
            <a:extLst>
              <a:ext uri="{FF2B5EF4-FFF2-40B4-BE49-F238E27FC236}">
                <a16:creationId xmlns:a16="http://schemas.microsoft.com/office/drawing/2014/main" id="{A6C5648D-A489-7F0B-AC21-2921A6E682D3}"/>
              </a:ext>
            </a:extLst>
          </p:cNvPr>
          <p:cNvSpPr txBox="1"/>
          <p:nvPr/>
        </p:nvSpPr>
        <p:spPr>
          <a:xfrm>
            <a:off x="8799451" y="3132307"/>
            <a:ext cx="2822696" cy="1200329"/>
          </a:xfrm>
          <a:prstGeom prst="rect">
            <a:avLst/>
          </a:prstGeom>
          <a:noFill/>
        </p:spPr>
        <p:txBody>
          <a:bodyPr wrap="none" rtlCol="0">
            <a:spAutoFit/>
          </a:bodyPr>
          <a:lstStyle/>
          <a:p>
            <a:r>
              <a:rPr lang="fr-FR" dirty="0"/>
              <a:t>Depuis 2014</a:t>
            </a:r>
          </a:p>
          <a:p>
            <a:r>
              <a:rPr lang="fr-FR" dirty="0"/>
              <a:t>Dans la liste des</a:t>
            </a:r>
          </a:p>
          <a:p>
            <a:r>
              <a:rPr lang="fr-FR" dirty="0"/>
              <a:t> « 8 articles les plus utiles </a:t>
            </a:r>
          </a:p>
          <a:p>
            <a:r>
              <a:rPr lang="fr-FR" dirty="0"/>
              <a:t>du NIHR »</a:t>
            </a:r>
          </a:p>
        </p:txBody>
      </p:sp>
    </p:spTree>
    <p:extLst>
      <p:ext uri="{BB962C8B-B14F-4D97-AF65-F5344CB8AC3E}">
        <p14:creationId xmlns:p14="http://schemas.microsoft.com/office/powerpoint/2010/main" val="29189391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0D1B215F-EC69-C66B-55D1-69C97454E4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4050" y="601686"/>
            <a:ext cx="10863899" cy="61167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50890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62BF4C-1581-10FE-0EC2-B06FF2FD4FF9}"/>
              </a:ext>
            </a:extLst>
          </p:cNvPr>
          <p:cNvSpPr>
            <a:spLocks noGrp="1"/>
          </p:cNvSpPr>
          <p:nvPr>
            <p:ph type="title"/>
          </p:nvPr>
        </p:nvSpPr>
        <p:spPr/>
        <p:txBody>
          <a:bodyPr/>
          <a:lstStyle/>
          <a:p>
            <a:r>
              <a:rPr lang="fr-FR" dirty="0">
                <a:latin typeface="Arial Rounded MT Bold" panose="020F0704030504030204" pitchFamily="34" charset="0"/>
              </a:rPr>
              <a:t>En psychologie</a:t>
            </a:r>
          </a:p>
        </p:txBody>
      </p:sp>
      <p:sp>
        <p:nvSpPr>
          <p:cNvPr id="4" name="AutoShape 2" descr="Hallsworth (2023) Figure 1">
            <a:extLst>
              <a:ext uri="{FF2B5EF4-FFF2-40B4-BE49-F238E27FC236}">
                <a16:creationId xmlns:a16="http://schemas.microsoft.com/office/drawing/2014/main" id="{4D7BA0D8-6A09-7370-1022-DD19C25CC8D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2052" name="Picture 4" descr="figure 1">
            <a:extLst>
              <a:ext uri="{FF2B5EF4-FFF2-40B4-BE49-F238E27FC236}">
                <a16:creationId xmlns:a16="http://schemas.microsoft.com/office/drawing/2014/main" id="{478096AA-97A4-F14A-1894-7A6F1C074F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987" y="2005012"/>
            <a:ext cx="6524625" cy="3048000"/>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CCF25C77-37EE-E41B-7913-C8C94980E9AB}"/>
              </a:ext>
            </a:extLst>
          </p:cNvPr>
          <p:cNvSpPr txBox="1"/>
          <p:nvPr/>
        </p:nvSpPr>
        <p:spPr>
          <a:xfrm>
            <a:off x="495300" y="5731470"/>
            <a:ext cx="6096000" cy="523220"/>
          </a:xfrm>
          <a:prstGeom prst="rect">
            <a:avLst/>
          </a:prstGeom>
          <a:noFill/>
        </p:spPr>
        <p:txBody>
          <a:bodyPr wrap="square">
            <a:spAutoFit/>
          </a:bodyPr>
          <a:lstStyle/>
          <a:p>
            <a:r>
              <a:rPr lang="en-US" sz="1400" b="0" i="0" dirty="0" err="1">
                <a:effectLst/>
                <a:latin typeface="-apple-system"/>
              </a:rPr>
              <a:t>Hallsworth</a:t>
            </a:r>
            <a:r>
              <a:rPr lang="en-US" sz="1400" b="0" i="0" dirty="0">
                <a:effectLst/>
                <a:latin typeface="-apple-system"/>
              </a:rPr>
              <a:t>, M. A manifesto for applying </a:t>
            </a:r>
            <a:r>
              <a:rPr lang="en-US" sz="1400" b="0" i="0" dirty="0" err="1">
                <a:effectLst/>
                <a:latin typeface="-apple-system"/>
              </a:rPr>
              <a:t>behavioural</a:t>
            </a:r>
            <a:r>
              <a:rPr lang="en-US" sz="1400" b="0" i="0" dirty="0">
                <a:effectLst/>
                <a:latin typeface="-apple-system"/>
              </a:rPr>
              <a:t> science. </a:t>
            </a:r>
            <a:r>
              <a:rPr lang="en-US" sz="1400" b="0" i="1" dirty="0">
                <a:effectLst/>
                <a:latin typeface="-apple-system"/>
              </a:rPr>
              <a:t>Nat Hum </a:t>
            </a:r>
            <a:r>
              <a:rPr lang="en-US" sz="1400" b="0" i="1" dirty="0" err="1">
                <a:effectLst/>
                <a:latin typeface="-apple-system"/>
              </a:rPr>
              <a:t>Behav</a:t>
            </a:r>
            <a:r>
              <a:rPr lang="en-US" sz="1400" b="0" i="0" dirty="0">
                <a:effectLst/>
                <a:latin typeface="-apple-system"/>
              </a:rPr>
              <a:t> </a:t>
            </a:r>
            <a:r>
              <a:rPr lang="en-US" sz="1400" b="1" i="0" dirty="0">
                <a:effectLst/>
                <a:latin typeface="-apple-system"/>
              </a:rPr>
              <a:t>7</a:t>
            </a:r>
            <a:r>
              <a:rPr lang="en-US" sz="1400" b="0" i="0" dirty="0">
                <a:effectLst/>
                <a:latin typeface="-apple-system"/>
              </a:rPr>
              <a:t>, 310–322 (2023). https://doi.org/10.1038/s41562-023-01555-3</a:t>
            </a:r>
            <a:endParaRPr lang="fr-FR" sz="1400" dirty="0"/>
          </a:p>
        </p:txBody>
      </p:sp>
      <p:pic>
        <p:nvPicPr>
          <p:cNvPr id="8" name="Image 7">
            <a:extLst>
              <a:ext uri="{FF2B5EF4-FFF2-40B4-BE49-F238E27FC236}">
                <a16:creationId xmlns:a16="http://schemas.microsoft.com/office/drawing/2014/main" id="{DC196D22-808E-14E8-A326-CB4F70EAB2C9}"/>
              </a:ext>
            </a:extLst>
          </p:cNvPr>
          <p:cNvPicPr>
            <a:picLocks noChangeAspect="1"/>
          </p:cNvPicPr>
          <p:nvPr/>
        </p:nvPicPr>
        <p:blipFill>
          <a:blip r:embed="rId3"/>
          <a:stretch>
            <a:fillRect/>
          </a:stretch>
        </p:blipFill>
        <p:spPr>
          <a:xfrm>
            <a:off x="7038976" y="707397"/>
            <a:ext cx="4872037" cy="4412290"/>
          </a:xfrm>
          <a:prstGeom prst="rect">
            <a:avLst/>
          </a:prstGeom>
        </p:spPr>
      </p:pic>
    </p:spTree>
    <p:extLst>
      <p:ext uri="{BB962C8B-B14F-4D97-AF65-F5344CB8AC3E}">
        <p14:creationId xmlns:p14="http://schemas.microsoft.com/office/powerpoint/2010/main" val="25487230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animEffect transition="in" filter="fade">
                                      <p:cBhvr>
                                        <p:cTn id="7" dur="500"/>
                                        <p:tgtEl>
                                          <p:spTgt spid="205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C146F4-31FC-8428-7264-46B1EBBC5ED3}"/>
              </a:ext>
            </a:extLst>
          </p:cNvPr>
          <p:cNvSpPr>
            <a:spLocks noGrp="1"/>
          </p:cNvSpPr>
          <p:nvPr>
            <p:ph type="title"/>
          </p:nvPr>
        </p:nvSpPr>
        <p:spPr/>
        <p:txBody>
          <a:bodyPr/>
          <a:lstStyle/>
          <a:p>
            <a:r>
              <a:rPr lang="fr-FR" dirty="0"/>
              <a:t>Le problème des interventions qui ne fonctionnent pas</a:t>
            </a:r>
          </a:p>
        </p:txBody>
      </p:sp>
      <p:sp>
        <p:nvSpPr>
          <p:cNvPr id="3" name="Espace réservé du contenu 2">
            <a:extLst>
              <a:ext uri="{FF2B5EF4-FFF2-40B4-BE49-F238E27FC236}">
                <a16:creationId xmlns:a16="http://schemas.microsoft.com/office/drawing/2014/main" id="{1E74DE6C-BC98-D2CD-9E76-B5B653CB7173}"/>
              </a:ext>
            </a:extLst>
          </p:cNvPr>
          <p:cNvSpPr>
            <a:spLocks noGrp="1"/>
          </p:cNvSpPr>
          <p:nvPr>
            <p:ph idx="1"/>
          </p:nvPr>
        </p:nvSpPr>
        <p:spPr/>
        <p:txBody>
          <a:bodyPr>
            <a:normAutofit fontScale="92500" lnSpcReduction="20000"/>
          </a:bodyPr>
          <a:lstStyle/>
          <a:p>
            <a:r>
              <a:rPr lang="fr-FR" dirty="0"/>
              <a:t>N’est pas un problème d’hétérogénéité des résultats</a:t>
            </a:r>
          </a:p>
          <a:p>
            <a:r>
              <a:rPr lang="fr-FR" dirty="0"/>
              <a:t>Ni des données</a:t>
            </a:r>
          </a:p>
          <a:p>
            <a:r>
              <a:rPr lang="fr-FR" dirty="0"/>
              <a:t>Mais de la conception expérimentale</a:t>
            </a:r>
          </a:p>
          <a:p>
            <a:r>
              <a:rPr lang="fr-FR" dirty="0"/>
              <a:t>Concentrons-nous soit sur la conception la plus stricte, soit sur la moins stricte, plutôt que de tester toutes les conceptions entre deux</a:t>
            </a:r>
          </a:p>
          <a:p>
            <a:r>
              <a:rPr lang="fr-FR" dirty="0"/>
              <a:t>Arrêtons avec les « implication for the </a:t>
            </a:r>
            <a:r>
              <a:rPr lang="fr-FR" dirty="0" err="1"/>
              <a:t>theory</a:t>
            </a:r>
            <a:r>
              <a:rPr lang="fr-FR" dirty="0"/>
              <a:t> » et « implication for the practice » et concevons des essais qui n’informent que l’un ou que l’autre, mais en le faisant parfaitement</a:t>
            </a:r>
          </a:p>
          <a:p>
            <a:r>
              <a:rPr lang="fr-FR" dirty="0"/>
              <a:t>Cela n’a que des bénéfices pour les chercheurs qui testent des théories (et les méta-analystes) et les chercheurs qui s’intéressent à des effets utiles en pratique (et les décideurs et les citoyens qui en bénéficient)</a:t>
            </a:r>
          </a:p>
        </p:txBody>
      </p:sp>
    </p:spTree>
    <p:extLst>
      <p:ext uri="{BB962C8B-B14F-4D97-AF65-F5344CB8AC3E}">
        <p14:creationId xmlns:p14="http://schemas.microsoft.com/office/powerpoint/2010/main" val="15966635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4D66EB-B37E-339B-36CE-14F965069A84}"/>
              </a:ext>
            </a:extLst>
          </p:cNvPr>
          <p:cNvSpPr>
            <a:spLocks noGrp="1"/>
          </p:cNvSpPr>
          <p:nvPr>
            <p:ph type="title"/>
          </p:nvPr>
        </p:nvSpPr>
        <p:spPr/>
        <p:txBody>
          <a:bodyPr/>
          <a:lstStyle/>
          <a:p>
            <a:r>
              <a:rPr lang="fr-FR" dirty="0"/>
              <a:t>Vers des interventions utiles en pratique</a:t>
            </a:r>
          </a:p>
        </p:txBody>
      </p:sp>
      <p:sp>
        <p:nvSpPr>
          <p:cNvPr id="3" name="Espace réservé du contenu 2">
            <a:extLst>
              <a:ext uri="{FF2B5EF4-FFF2-40B4-BE49-F238E27FC236}">
                <a16:creationId xmlns:a16="http://schemas.microsoft.com/office/drawing/2014/main" id="{E4CBF06A-6E04-FF60-20B2-6A2E8FC2A61F}"/>
              </a:ext>
            </a:extLst>
          </p:cNvPr>
          <p:cNvSpPr>
            <a:spLocks noGrp="1"/>
          </p:cNvSpPr>
          <p:nvPr>
            <p:ph idx="1"/>
          </p:nvPr>
        </p:nvSpPr>
        <p:spPr/>
        <p:txBody>
          <a:bodyPr/>
          <a:lstStyle/>
          <a:p>
            <a:r>
              <a:rPr lang="fr-FR" dirty="0"/>
              <a:t>Les participants de l’intervention doivent-être aussi similaire que possible à la population qui recevrait l’intervention à large échelle (les chercheurs doivent intervenir aussi peu que possible dans le processus de recrutement).</a:t>
            </a:r>
          </a:p>
          <a:p>
            <a:r>
              <a:rPr lang="fr-FR" dirty="0"/>
              <a:t>L’intervention doit être implémenté dans l’environnement dans laquelle elle fonctionne – lieu, contrainte, routine, contingences du monde réel. Une intervention dans le travail doit se faire au travail (et pas après le travail ou dans une formation externe), une intervention à l’école doit se faire en cours (et pas dans un lieu comme le préau en grand groupe ou sous-groupe)</a:t>
            </a:r>
          </a:p>
        </p:txBody>
      </p:sp>
    </p:spTree>
    <p:extLst>
      <p:ext uri="{BB962C8B-B14F-4D97-AF65-F5344CB8AC3E}">
        <p14:creationId xmlns:p14="http://schemas.microsoft.com/office/powerpoint/2010/main" val="33366553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14804-ACA5-2E19-CE33-3AEA4701DF6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2F6B779-17C1-B5DC-5C98-3C1317AF581A}"/>
              </a:ext>
            </a:extLst>
          </p:cNvPr>
          <p:cNvSpPr>
            <a:spLocks noGrp="1"/>
          </p:cNvSpPr>
          <p:nvPr>
            <p:ph type="title"/>
          </p:nvPr>
        </p:nvSpPr>
        <p:spPr/>
        <p:txBody>
          <a:bodyPr/>
          <a:lstStyle/>
          <a:p>
            <a:r>
              <a:rPr lang="fr-FR" dirty="0"/>
              <a:t>Vers des interventions utiles en pratique</a:t>
            </a:r>
          </a:p>
        </p:txBody>
      </p:sp>
      <p:sp>
        <p:nvSpPr>
          <p:cNvPr id="3" name="Espace réservé du contenu 2">
            <a:extLst>
              <a:ext uri="{FF2B5EF4-FFF2-40B4-BE49-F238E27FC236}">
                <a16:creationId xmlns:a16="http://schemas.microsoft.com/office/drawing/2014/main" id="{E2C56E09-5E47-B153-6F09-8222E771B1B1}"/>
              </a:ext>
            </a:extLst>
          </p:cNvPr>
          <p:cNvSpPr>
            <a:spLocks noGrp="1"/>
          </p:cNvSpPr>
          <p:nvPr>
            <p:ph idx="1"/>
          </p:nvPr>
        </p:nvSpPr>
        <p:spPr/>
        <p:txBody>
          <a:bodyPr>
            <a:normAutofit lnSpcReduction="10000"/>
          </a:bodyPr>
          <a:lstStyle/>
          <a:p>
            <a:r>
              <a:rPr lang="fr-FR" dirty="0"/>
              <a:t>L’intervention doit être aussi flexible que possible : que se passe-t-il s’il n’y a pas d’ordinateur ? S’il n’y a pas de formateur ? S’il n’y a pas exactement des groupes de 4 élèves ? Si nous n’avons que 20 minutes au lieu d’une heure ?</a:t>
            </a:r>
          </a:p>
          <a:p>
            <a:r>
              <a:rPr lang="fr-FR" dirty="0"/>
              <a:t>Le suivi de l’intervention doit être le plus faible possible, voir inexistant. Idéalement, le chercheur en éducation ne devrait pas collecter des données supplémentaires à ce que ferais l’enseignant (contrôles, devoirs etc.); le chercheurs en </a:t>
            </a:r>
            <a:r>
              <a:rPr lang="fr-FR" dirty="0" err="1"/>
              <a:t>nudge</a:t>
            </a:r>
            <a:r>
              <a:rPr lang="fr-FR" dirty="0"/>
              <a:t> doit pouvoir mesurer les comportements (achat, passage dans un lieu, consommation électrique) sans le demander directement aux participants.</a:t>
            </a:r>
          </a:p>
        </p:txBody>
      </p:sp>
    </p:spTree>
    <p:extLst>
      <p:ext uri="{BB962C8B-B14F-4D97-AF65-F5344CB8AC3E}">
        <p14:creationId xmlns:p14="http://schemas.microsoft.com/office/powerpoint/2010/main" val="28623210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56BEE-C1B5-2191-A606-734768BD302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CC89777-DAF1-8969-A48B-242D2BBE51A5}"/>
              </a:ext>
            </a:extLst>
          </p:cNvPr>
          <p:cNvSpPr>
            <a:spLocks noGrp="1"/>
          </p:cNvSpPr>
          <p:nvPr>
            <p:ph type="title"/>
          </p:nvPr>
        </p:nvSpPr>
        <p:spPr/>
        <p:txBody>
          <a:bodyPr/>
          <a:lstStyle/>
          <a:p>
            <a:r>
              <a:rPr lang="fr-FR" dirty="0"/>
              <a:t>Vers des interventions utiles en pratique</a:t>
            </a:r>
          </a:p>
        </p:txBody>
      </p:sp>
      <p:sp>
        <p:nvSpPr>
          <p:cNvPr id="3" name="Espace réservé du contenu 2">
            <a:extLst>
              <a:ext uri="{FF2B5EF4-FFF2-40B4-BE49-F238E27FC236}">
                <a16:creationId xmlns:a16="http://schemas.microsoft.com/office/drawing/2014/main" id="{991BF5EB-1468-BBEA-3D92-202DB9438650}"/>
              </a:ext>
            </a:extLst>
          </p:cNvPr>
          <p:cNvSpPr>
            <a:spLocks noGrp="1"/>
          </p:cNvSpPr>
          <p:nvPr>
            <p:ph idx="1"/>
          </p:nvPr>
        </p:nvSpPr>
        <p:spPr/>
        <p:txBody>
          <a:bodyPr>
            <a:normAutofit fontScale="92500"/>
          </a:bodyPr>
          <a:lstStyle/>
          <a:p>
            <a:r>
              <a:rPr lang="fr-FR" dirty="0"/>
              <a:t>L’intervention pragmatique a des bénéfices évidents au participant. Si ce n’est pas le cas, les coûts seront toujours trop importants pour justifier son implémentation à large échelle. Le participant doit comprendre directement pourquoi l’intervention lui est bénéfique.</a:t>
            </a:r>
          </a:p>
          <a:p>
            <a:r>
              <a:rPr lang="fr-FR" dirty="0"/>
              <a:t>L’intervention pragmatique prend en compte l’ensemble des participants (intention to </a:t>
            </a:r>
            <a:r>
              <a:rPr lang="fr-FR" dirty="0" err="1"/>
              <a:t>treat</a:t>
            </a:r>
            <a:r>
              <a:rPr lang="fr-FR" dirty="0"/>
              <a:t>) et non pas seulement les participants ayant été jusqu’au bout de l’expérimentation. Dans la vraie vie, il y aura des personnes qui refuseront l’intervention, qui arrêteront. Est-ce-que l’effet survit à cette perte ? Les interventions pragmatiques incluent dans l’analyse des personnes désengagées, qui ont raté les vérifications de compréhension ou d’attention, ou qui ont été absent.</a:t>
            </a:r>
          </a:p>
        </p:txBody>
      </p:sp>
    </p:spTree>
    <p:extLst>
      <p:ext uri="{BB962C8B-B14F-4D97-AF65-F5344CB8AC3E}">
        <p14:creationId xmlns:p14="http://schemas.microsoft.com/office/powerpoint/2010/main" val="35162478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22F51-B95E-BCD8-A99E-9C67FE3BB73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6844907-9EA2-F990-040C-32337AB7AE32}"/>
              </a:ext>
            </a:extLst>
          </p:cNvPr>
          <p:cNvSpPr>
            <a:spLocks noGrp="1"/>
          </p:cNvSpPr>
          <p:nvPr>
            <p:ph type="title"/>
          </p:nvPr>
        </p:nvSpPr>
        <p:spPr/>
        <p:txBody>
          <a:bodyPr/>
          <a:lstStyle/>
          <a:p>
            <a:r>
              <a:rPr lang="fr-FR" dirty="0"/>
              <a:t>Vers des interventions utiles en pratique</a:t>
            </a:r>
          </a:p>
        </p:txBody>
      </p:sp>
      <p:sp>
        <p:nvSpPr>
          <p:cNvPr id="3" name="Espace réservé du contenu 2">
            <a:extLst>
              <a:ext uri="{FF2B5EF4-FFF2-40B4-BE49-F238E27FC236}">
                <a16:creationId xmlns:a16="http://schemas.microsoft.com/office/drawing/2014/main" id="{1BAE84F2-4518-FDA8-FB75-D69776963DED}"/>
              </a:ext>
            </a:extLst>
          </p:cNvPr>
          <p:cNvSpPr>
            <a:spLocks noGrp="1"/>
          </p:cNvSpPr>
          <p:nvPr>
            <p:ph idx="1"/>
          </p:nvPr>
        </p:nvSpPr>
        <p:spPr/>
        <p:txBody>
          <a:bodyPr>
            <a:normAutofit/>
          </a:bodyPr>
          <a:lstStyle/>
          <a:p>
            <a:r>
              <a:rPr lang="fr-FR" dirty="0"/>
              <a:t>Enfin, dans les interventions pragmatiques, le groupe contrôle est aussi proche que possible de l’expérience normale de la vie de la personne, et le plus éloigné possible d’une condition « placebo »</a:t>
            </a:r>
          </a:p>
        </p:txBody>
      </p:sp>
    </p:spTree>
    <p:extLst>
      <p:ext uri="{BB962C8B-B14F-4D97-AF65-F5344CB8AC3E}">
        <p14:creationId xmlns:p14="http://schemas.microsoft.com/office/powerpoint/2010/main" val="1094978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EEB16-8B51-F2F9-35F4-BDAE596953E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E5C7D1F-FEB9-3F79-E530-24679EC9907E}"/>
              </a:ext>
            </a:extLst>
          </p:cNvPr>
          <p:cNvSpPr>
            <a:spLocks noGrp="1"/>
          </p:cNvSpPr>
          <p:nvPr>
            <p:ph type="title"/>
          </p:nvPr>
        </p:nvSpPr>
        <p:spPr/>
        <p:txBody>
          <a:bodyPr/>
          <a:lstStyle/>
          <a:p>
            <a:r>
              <a:rPr lang="fr-FR" dirty="0"/>
              <a:t>Vers des interventions utiles en pratique</a:t>
            </a:r>
          </a:p>
        </p:txBody>
      </p:sp>
      <p:sp>
        <p:nvSpPr>
          <p:cNvPr id="3" name="Espace réservé du contenu 2">
            <a:extLst>
              <a:ext uri="{FF2B5EF4-FFF2-40B4-BE49-F238E27FC236}">
                <a16:creationId xmlns:a16="http://schemas.microsoft.com/office/drawing/2014/main" id="{44F1A5B5-9E9D-C8AA-3414-9CB3864CB54D}"/>
              </a:ext>
            </a:extLst>
          </p:cNvPr>
          <p:cNvSpPr>
            <a:spLocks noGrp="1"/>
          </p:cNvSpPr>
          <p:nvPr>
            <p:ph idx="1"/>
          </p:nvPr>
        </p:nvSpPr>
        <p:spPr>
          <a:xfrm>
            <a:off x="838200" y="1253331"/>
            <a:ext cx="10515600" cy="4351338"/>
          </a:xfrm>
        </p:spPr>
        <p:txBody>
          <a:bodyPr>
            <a:normAutofit lnSpcReduction="10000"/>
          </a:bodyPr>
          <a:lstStyle/>
          <a:p>
            <a:r>
              <a:rPr lang="fr-FR" dirty="0"/>
              <a:t>Echantillon similaire à la population générale</a:t>
            </a:r>
          </a:p>
          <a:p>
            <a:r>
              <a:rPr lang="fr-FR" dirty="0"/>
              <a:t>Implémenté dans les conditions les plus proches de la réalité</a:t>
            </a:r>
          </a:p>
          <a:p>
            <a:r>
              <a:rPr lang="fr-FR" dirty="0"/>
              <a:t>Aussi flexible que possible, dans la procédure comme dans l’expérience participant</a:t>
            </a:r>
          </a:p>
          <a:p>
            <a:r>
              <a:rPr lang="fr-FR" dirty="0"/>
              <a:t>Avec un suivi du chercheur le plus faible possible</a:t>
            </a:r>
          </a:p>
          <a:p>
            <a:r>
              <a:rPr lang="fr-FR" dirty="0"/>
              <a:t>Avec des bénéfices évidents pour le participant</a:t>
            </a:r>
          </a:p>
          <a:p>
            <a:r>
              <a:rPr lang="fr-FR" dirty="0"/>
              <a:t>L’analyse statistique prenant en compte l’ensemble des participants</a:t>
            </a:r>
          </a:p>
          <a:p>
            <a:r>
              <a:rPr lang="fr-FR" dirty="0"/>
              <a:t>Le groupe contrôle étant aussi proche que possible de l’expérience normale de l’individu</a:t>
            </a:r>
          </a:p>
        </p:txBody>
      </p:sp>
      <p:sp>
        <p:nvSpPr>
          <p:cNvPr id="4" name="Espace réservé du contenu 2">
            <a:extLst>
              <a:ext uri="{FF2B5EF4-FFF2-40B4-BE49-F238E27FC236}">
                <a16:creationId xmlns:a16="http://schemas.microsoft.com/office/drawing/2014/main" id="{93278C53-DABD-1B48-EAF8-45AE456D6714}"/>
              </a:ext>
            </a:extLst>
          </p:cNvPr>
          <p:cNvSpPr txBox="1">
            <a:spLocks/>
          </p:cNvSpPr>
          <p:nvPr/>
        </p:nvSpPr>
        <p:spPr>
          <a:xfrm>
            <a:off x="2353805" y="5818335"/>
            <a:ext cx="8510507" cy="67454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b="1" dirty="0"/>
              <a:t>Le chercheur doit être aussi inutile que possible (après </a:t>
            </a:r>
            <a:r>
              <a:rPr lang="fr-FR" b="1"/>
              <a:t>la randomisation)</a:t>
            </a:r>
            <a:endParaRPr lang="fr-FR" b="1" dirty="0"/>
          </a:p>
        </p:txBody>
      </p:sp>
    </p:spTree>
    <p:extLst>
      <p:ext uri="{BB962C8B-B14F-4D97-AF65-F5344CB8AC3E}">
        <p14:creationId xmlns:p14="http://schemas.microsoft.com/office/powerpoint/2010/main" val="13849183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86A79F-421A-0169-8E2C-B3BB72604ABF}"/>
              </a:ext>
            </a:extLst>
          </p:cNvPr>
          <p:cNvSpPr>
            <a:spLocks noGrp="1"/>
          </p:cNvSpPr>
          <p:nvPr>
            <p:ph type="title"/>
          </p:nvPr>
        </p:nvSpPr>
        <p:spPr/>
        <p:txBody>
          <a:bodyPr>
            <a:normAutofit/>
          </a:bodyPr>
          <a:lstStyle/>
          <a:p>
            <a:r>
              <a:rPr lang="fr-FR" dirty="0"/>
              <a:t>Un début de prise de conscience en psychologie clinique (en fait en psychiatrie)</a:t>
            </a:r>
          </a:p>
        </p:txBody>
      </p:sp>
      <p:sp>
        <p:nvSpPr>
          <p:cNvPr id="3" name="Espace réservé du contenu 2">
            <a:extLst>
              <a:ext uri="{FF2B5EF4-FFF2-40B4-BE49-F238E27FC236}">
                <a16:creationId xmlns:a16="http://schemas.microsoft.com/office/drawing/2014/main" id="{E9B71452-B578-A608-4856-9DFEF333CFC8}"/>
              </a:ext>
            </a:extLst>
          </p:cNvPr>
          <p:cNvSpPr>
            <a:spLocks noGrp="1"/>
          </p:cNvSpPr>
          <p:nvPr>
            <p:ph idx="1"/>
          </p:nvPr>
        </p:nvSpPr>
        <p:spPr>
          <a:xfrm>
            <a:off x="6447294" y="1825625"/>
            <a:ext cx="4906505" cy="4351338"/>
          </a:xfrm>
        </p:spPr>
        <p:txBody>
          <a:bodyPr/>
          <a:lstStyle/>
          <a:p>
            <a:endParaRPr lang="fr-FR" dirty="0"/>
          </a:p>
          <a:p>
            <a:r>
              <a:rPr lang="fr-FR" dirty="0"/>
              <a:t>29 citations depuis 2013</a:t>
            </a:r>
          </a:p>
        </p:txBody>
      </p:sp>
      <p:pic>
        <p:nvPicPr>
          <p:cNvPr id="5" name="Image 4">
            <a:extLst>
              <a:ext uri="{FF2B5EF4-FFF2-40B4-BE49-F238E27FC236}">
                <a16:creationId xmlns:a16="http://schemas.microsoft.com/office/drawing/2014/main" id="{42B7BE15-C434-A180-4E32-7FFA1CE153DC}"/>
              </a:ext>
            </a:extLst>
          </p:cNvPr>
          <p:cNvPicPr>
            <a:picLocks noChangeAspect="1"/>
          </p:cNvPicPr>
          <p:nvPr/>
        </p:nvPicPr>
        <p:blipFill>
          <a:blip r:embed="rId2"/>
          <a:stretch>
            <a:fillRect/>
          </a:stretch>
        </p:blipFill>
        <p:spPr>
          <a:xfrm>
            <a:off x="6096000" y="2959097"/>
            <a:ext cx="5700254" cy="3741744"/>
          </a:xfrm>
          <a:prstGeom prst="rect">
            <a:avLst/>
          </a:prstGeom>
        </p:spPr>
      </p:pic>
      <p:pic>
        <p:nvPicPr>
          <p:cNvPr id="4" name="Image 3" descr="Une image contenant texte, capture d’écran, Police, nombre&#10;&#10;Le contenu généré par l’IA peut être incorrect.">
            <a:extLst>
              <a:ext uri="{FF2B5EF4-FFF2-40B4-BE49-F238E27FC236}">
                <a16:creationId xmlns:a16="http://schemas.microsoft.com/office/drawing/2014/main" id="{A7816E6F-F689-2016-54A0-1BADD7463733}"/>
              </a:ext>
            </a:extLst>
          </p:cNvPr>
          <p:cNvPicPr>
            <a:picLocks noChangeAspect="1"/>
          </p:cNvPicPr>
          <p:nvPr/>
        </p:nvPicPr>
        <p:blipFill>
          <a:blip r:embed="rId3"/>
          <a:stretch>
            <a:fillRect/>
          </a:stretch>
        </p:blipFill>
        <p:spPr>
          <a:xfrm>
            <a:off x="912719" y="3244396"/>
            <a:ext cx="4038414" cy="1103219"/>
          </a:xfrm>
          <a:prstGeom prst="rect">
            <a:avLst/>
          </a:prstGeom>
        </p:spPr>
      </p:pic>
      <p:pic>
        <p:nvPicPr>
          <p:cNvPr id="6" name="Image 5" descr="Une image contenant texte, Police, capture d’écran, ligne&#10;&#10;Le contenu généré par l’IA peut être incorrect.">
            <a:extLst>
              <a:ext uri="{FF2B5EF4-FFF2-40B4-BE49-F238E27FC236}">
                <a16:creationId xmlns:a16="http://schemas.microsoft.com/office/drawing/2014/main" id="{8FAA29C6-1F3A-3982-CA1F-B0D3E8A129E1}"/>
              </a:ext>
            </a:extLst>
          </p:cNvPr>
          <p:cNvPicPr>
            <a:picLocks noChangeAspect="1"/>
          </p:cNvPicPr>
          <p:nvPr/>
        </p:nvPicPr>
        <p:blipFill>
          <a:blip r:embed="rId4"/>
          <a:stretch>
            <a:fillRect/>
          </a:stretch>
        </p:blipFill>
        <p:spPr>
          <a:xfrm>
            <a:off x="838200" y="4506458"/>
            <a:ext cx="4179981" cy="715683"/>
          </a:xfrm>
          <a:prstGeom prst="rect">
            <a:avLst/>
          </a:prstGeom>
        </p:spPr>
      </p:pic>
    </p:spTree>
    <p:extLst>
      <p:ext uri="{BB962C8B-B14F-4D97-AF65-F5344CB8AC3E}">
        <p14:creationId xmlns:p14="http://schemas.microsoft.com/office/powerpoint/2010/main" val="22864270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06BF6BA-ED68-6CDF-CDD2-8BB5B9693799}"/>
              </a:ext>
            </a:extLst>
          </p:cNvPr>
          <p:cNvSpPr>
            <a:spLocks noGrp="1"/>
          </p:cNvSpPr>
          <p:nvPr>
            <p:ph idx="1"/>
          </p:nvPr>
        </p:nvSpPr>
        <p:spPr>
          <a:xfrm>
            <a:off x="1082675" y="729544"/>
            <a:ext cx="5576846" cy="5727700"/>
          </a:xfrm>
        </p:spPr>
        <p:txBody>
          <a:bodyPr>
            <a:normAutofit fontScale="92500" lnSpcReduction="10000"/>
          </a:bodyPr>
          <a:lstStyle/>
          <a:p>
            <a:r>
              <a:rPr lang="fr-FR" dirty="0">
                <a:ln w="0"/>
                <a:solidFill>
                  <a:schemeClr val="tx1"/>
                </a:solidFill>
                <a:effectLst>
                  <a:outerShdw blurRad="38100" dist="19050" dir="2700000" algn="tl" rotWithShape="0">
                    <a:schemeClr val="dk1">
                      <a:alpha val="40000"/>
                    </a:schemeClr>
                  </a:outerShdw>
                </a:effectLst>
              </a:rPr>
              <a:t>Les cliniciens pensent que les </a:t>
            </a:r>
            <a:r>
              <a:rPr lang="fr-FR" dirty="0" err="1">
                <a:ln w="0"/>
                <a:solidFill>
                  <a:schemeClr val="tx1"/>
                </a:solidFill>
                <a:effectLst>
                  <a:outerShdw blurRad="38100" dist="19050" dir="2700000" algn="tl" rotWithShape="0">
                    <a:schemeClr val="dk1">
                      <a:alpha val="40000"/>
                    </a:schemeClr>
                  </a:outerShdw>
                </a:effectLst>
              </a:rPr>
              <a:t>RCTs</a:t>
            </a:r>
            <a:r>
              <a:rPr lang="fr-FR" dirty="0">
                <a:ln w="0"/>
                <a:solidFill>
                  <a:schemeClr val="tx1"/>
                </a:solidFill>
                <a:effectLst>
                  <a:outerShdw blurRad="38100" dist="19050" dir="2700000" algn="tl" rotWithShape="0">
                    <a:schemeClr val="dk1">
                      <a:alpha val="40000"/>
                    </a:schemeClr>
                  </a:outerShdw>
                </a:effectLst>
              </a:rPr>
              <a:t> sont le plus haut niveau de preuve</a:t>
            </a:r>
          </a:p>
          <a:p>
            <a:r>
              <a:rPr lang="fr-FR" dirty="0">
                <a:ln w="0"/>
                <a:solidFill>
                  <a:schemeClr val="tx1"/>
                </a:solidFill>
                <a:effectLst>
                  <a:outerShdw blurRad="38100" dist="19050" dir="2700000" algn="tl" rotWithShape="0">
                    <a:schemeClr val="dk1">
                      <a:alpha val="40000"/>
                    </a:schemeClr>
                  </a:outerShdw>
                </a:effectLst>
              </a:rPr>
              <a:t>Mais ne sont pas applicables à la réalité clinique (nombre de patients, hétérogénéité des profils, alliance thérapeutique </a:t>
            </a:r>
            <a:r>
              <a:rPr lang="fr-FR" dirty="0" err="1">
                <a:ln w="0"/>
                <a:solidFill>
                  <a:schemeClr val="tx1"/>
                </a:solidFill>
                <a:effectLst>
                  <a:outerShdw blurRad="38100" dist="19050" dir="2700000" algn="tl" rotWithShape="0">
                    <a:schemeClr val="dk1">
                      <a:alpha val="40000"/>
                    </a:schemeClr>
                  </a:outerShdw>
                </a:effectLst>
              </a:rPr>
              <a:t>etc</a:t>
            </a:r>
            <a:r>
              <a:rPr lang="fr-FR" dirty="0">
                <a:ln w="0"/>
                <a:solidFill>
                  <a:schemeClr val="tx1"/>
                </a:solidFill>
                <a:effectLst>
                  <a:outerShdw blurRad="38100" dist="19050" dir="2700000" algn="tl" rotWithShape="0">
                    <a:schemeClr val="dk1">
                      <a:alpha val="40000"/>
                    </a:schemeClr>
                  </a:outerShdw>
                </a:effectLst>
              </a:rPr>
              <a:t>,)</a:t>
            </a:r>
          </a:p>
          <a:p>
            <a:r>
              <a:rPr lang="fr-FR" dirty="0">
                <a:ln w="0"/>
                <a:solidFill>
                  <a:schemeClr val="tx1"/>
                </a:solidFill>
                <a:effectLst>
                  <a:outerShdw blurRad="38100" dist="19050" dir="2700000" algn="tl" rotWithShape="0">
                    <a:schemeClr val="dk1">
                      <a:alpha val="40000"/>
                    </a:schemeClr>
                  </a:outerShdw>
                </a:effectLst>
              </a:rPr>
              <a:t>Les essais randomisés contrôlés ne sont pas une bonne méthode pour tester l’efficacité de techniques ou de méthodes cliniques</a:t>
            </a:r>
          </a:p>
          <a:p>
            <a:r>
              <a:rPr lang="fr-FR" dirty="0">
                <a:ln w="0"/>
                <a:solidFill>
                  <a:schemeClr val="tx1"/>
                </a:solidFill>
                <a:effectLst>
                  <a:outerShdw blurRad="38100" dist="19050" dir="2700000" algn="tl" rotWithShape="0">
                    <a:schemeClr val="dk1">
                      <a:alpha val="40000"/>
                    </a:schemeClr>
                  </a:outerShdw>
                </a:effectLst>
              </a:rPr>
              <a:t>Les observations cliniques ont une forte validité externe et les </a:t>
            </a:r>
            <a:r>
              <a:rPr lang="fr-FR" dirty="0" err="1">
                <a:ln w="0"/>
                <a:solidFill>
                  <a:schemeClr val="tx1"/>
                </a:solidFill>
                <a:effectLst>
                  <a:outerShdw blurRad="38100" dist="19050" dir="2700000" algn="tl" rotWithShape="0">
                    <a:schemeClr val="dk1">
                      <a:alpha val="40000"/>
                    </a:schemeClr>
                  </a:outerShdw>
                </a:effectLst>
              </a:rPr>
              <a:t>RCTs</a:t>
            </a:r>
            <a:r>
              <a:rPr lang="fr-FR" dirty="0">
                <a:ln w="0"/>
                <a:solidFill>
                  <a:schemeClr val="tx1"/>
                </a:solidFill>
                <a:effectLst>
                  <a:outerShdw blurRad="38100" dist="19050" dir="2700000" algn="tl" rotWithShape="0">
                    <a:schemeClr val="dk1">
                      <a:alpha val="40000"/>
                    </a:schemeClr>
                  </a:outerShdw>
                </a:effectLst>
              </a:rPr>
              <a:t> une forte validité interne : les essais pragmatiques tentent de combiner les deux</a:t>
            </a:r>
          </a:p>
        </p:txBody>
      </p:sp>
      <p:pic>
        <p:nvPicPr>
          <p:cNvPr id="5" name="Image 4">
            <a:extLst>
              <a:ext uri="{FF2B5EF4-FFF2-40B4-BE49-F238E27FC236}">
                <a16:creationId xmlns:a16="http://schemas.microsoft.com/office/drawing/2014/main" id="{9B453958-6F8D-3235-D61A-ACC523A5CC88}"/>
              </a:ext>
            </a:extLst>
          </p:cNvPr>
          <p:cNvPicPr>
            <a:picLocks noChangeAspect="1"/>
          </p:cNvPicPr>
          <p:nvPr/>
        </p:nvPicPr>
        <p:blipFill>
          <a:blip r:embed="rId2"/>
          <a:stretch>
            <a:fillRect/>
          </a:stretch>
        </p:blipFill>
        <p:spPr>
          <a:xfrm>
            <a:off x="6941743" y="1714351"/>
            <a:ext cx="4991533" cy="3429297"/>
          </a:xfrm>
          <a:prstGeom prst="rect">
            <a:avLst/>
          </a:prstGeom>
        </p:spPr>
      </p:pic>
    </p:spTree>
    <p:extLst>
      <p:ext uri="{BB962C8B-B14F-4D97-AF65-F5344CB8AC3E}">
        <p14:creationId xmlns:p14="http://schemas.microsoft.com/office/powerpoint/2010/main" val="33493935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8ECD1-B9FB-79C2-64B4-9CD5F2A5520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585C6D3-6BC4-2F92-D345-129D9FD35233}"/>
              </a:ext>
            </a:extLst>
          </p:cNvPr>
          <p:cNvSpPr>
            <a:spLocks noGrp="1"/>
          </p:cNvSpPr>
          <p:nvPr>
            <p:ph type="title"/>
          </p:nvPr>
        </p:nvSpPr>
        <p:spPr/>
        <p:txBody>
          <a:bodyPr/>
          <a:lstStyle/>
          <a:p>
            <a:r>
              <a:rPr lang="fr-FR" dirty="0"/>
              <a:t>Conclusion</a:t>
            </a:r>
          </a:p>
        </p:txBody>
      </p:sp>
      <p:sp>
        <p:nvSpPr>
          <p:cNvPr id="3" name="Espace réservé du contenu 2">
            <a:extLst>
              <a:ext uri="{FF2B5EF4-FFF2-40B4-BE49-F238E27FC236}">
                <a16:creationId xmlns:a16="http://schemas.microsoft.com/office/drawing/2014/main" id="{9E23C861-A6DD-23FE-8BA3-E39B0546699A}"/>
              </a:ext>
            </a:extLst>
          </p:cNvPr>
          <p:cNvSpPr>
            <a:spLocks noGrp="1"/>
          </p:cNvSpPr>
          <p:nvPr>
            <p:ph idx="1"/>
          </p:nvPr>
        </p:nvSpPr>
        <p:spPr>
          <a:xfrm>
            <a:off x="838200" y="1690688"/>
            <a:ext cx="10515600" cy="4486275"/>
          </a:xfrm>
        </p:spPr>
        <p:txBody>
          <a:bodyPr>
            <a:normAutofit fontScale="92500" lnSpcReduction="20000"/>
          </a:bodyPr>
          <a:lstStyle/>
          <a:p>
            <a:r>
              <a:rPr lang="fr-FR" dirty="0"/>
              <a:t>Les dernières années, les chercheurs en sciences comportementales ont appelé à une révolution d’hétérogénéité</a:t>
            </a:r>
          </a:p>
          <a:p>
            <a:r>
              <a:rPr lang="fr-FR" dirty="0"/>
              <a:t>Nous proposons une révolution dans les intentions expérimentales : à quelle question les chercheurs tentent-ils de répondre ?</a:t>
            </a:r>
          </a:p>
          <a:p>
            <a:r>
              <a:rPr lang="fr-FR" dirty="0"/>
              <a:t>Des études avec des modérateurs réduiront l’hétérogénéité seulement si elles sont conçues de manière plus explicative</a:t>
            </a:r>
          </a:p>
          <a:p>
            <a:r>
              <a:rPr lang="fr-FR" dirty="0"/>
              <a:t>Les interventions seront prises plus au sérieux par les décideurs politiques seulement si elles sont conçues pour répondre à leur question : celle de l’utilité pratique et de la possibilité d’être mise à l’échelle</a:t>
            </a:r>
          </a:p>
          <a:p>
            <a:r>
              <a:rPr lang="fr-FR" dirty="0"/>
              <a:t>C’est le cas pour les interventions en psychologie sociale, mais est aussi un aspect fondamental et négligé de la psychologie clinique, qui n’est que de la psychologie interventionnelle</a:t>
            </a:r>
          </a:p>
        </p:txBody>
      </p:sp>
    </p:spTree>
    <p:extLst>
      <p:ext uri="{BB962C8B-B14F-4D97-AF65-F5344CB8AC3E}">
        <p14:creationId xmlns:p14="http://schemas.microsoft.com/office/powerpoint/2010/main" val="39500446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2701B4-1B8F-2B7C-CE8F-BA690EEFE83B}"/>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7B32F716-BF44-016A-491E-EE9BE1A3E789}"/>
              </a:ext>
            </a:extLst>
          </p:cNvPr>
          <p:cNvSpPr>
            <a:spLocks noGrp="1"/>
          </p:cNvSpPr>
          <p:nvPr>
            <p:ph idx="1"/>
          </p:nvPr>
        </p:nvSpPr>
        <p:spPr/>
        <p:txBody>
          <a:bodyPr/>
          <a:lstStyle/>
          <a:p>
            <a:endParaRPr lang="fr-FR"/>
          </a:p>
        </p:txBody>
      </p:sp>
      <p:pic>
        <p:nvPicPr>
          <p:cNvPr id="8194" name="Picture 2" descr="WORD FOR THE WEEK – PRAGMATISM - MARD LIFE">
            <a:extLst>
              <a:ext uri="{FF2B5EF4-FFF2-40B4-BE49-F238E27FC236}">
                <a16:creationId xmlns:a16="http://schemas.microsoft.com/office/drawing/2014/main" id="{E6CFDDA5-172C-FE48-3EEC-55A4B8E6D4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6319" y="365125"/>
            <a:ext cx="9562453" cy="57996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17601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622D2B-C29E-5399-EAB6-6AC6AEBB430D}"/>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29380F34-1453-0653-1628-AD0351687D3B}"/>
              </a:ext>
            </a:extLst>
          </p:cNvPr>
          <p:cNvSpPr>
            <a:spLocks noGrp="1"/>
          </p:cNvSpPr>
          <p:nvPr>
            <p:ph idx="1"/>
          </p:nvPr>
        </p:nvSpPr>
        <p:spPr/>
        <p:txBody>
          <a:bodyPr/>
          <a:lstStyle/>
          <a:p>
            <a:endParaRPr lang="fr-FR"/>
          </a:p>
        </p:txBody>
      </p:sp>
      <p:pic>
        <p:nvPicPr>
          <p:cNvPr id="7" name="Image 6">
            <a:extLst>
              <a:ext uri="{FF2B5EF4-FFF2-40B4-BE49-F238E27FC236}">
                <a16:creationId xmlns:a16="http://schemas.microsoft.com/office/drawing/2014/main" id="{B59CFEF3-13FF-0AC1-BB31-BE956A80E37E}"/>
              </a:ext>
            </a:extLst>
          </p:cNvPr>
          <p:cNvPicPr>
            <a:picLocks noChangeAspect="1"/>
          </p:cNvPicPr>
          <p:nvPr/>
        </p:nvPicPr>
        <p:blipFill>
          <a:blip r:embed="rId2"/>
          <a:stretch>
            <a:fillRect/>
          </a:stretch>
        </p:blipFill>
        <p:spPr>
          <a:xfrm>
            <a:off x="3368842" y="890209"/>
            <a:ext cx="5615172" cy="5602666"/>
          </a:xfrm>
          <a:prstGeom prst="rect">
            <a:avLst/>
          </a:prstGeom>
        </p:spPr>
      </p:pic>
    </p:spTree>
    <p:extLst>
      <p:ext uri="{BB962C8B-B14F-4D97-AF65-F5344CB8AC3E}">
        <p14:creationId xmlns:p14="http://schemas.microsoft.com/office/powerpoint/2010/main" val="35983966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Connecteur droit avec flèche 4">
            <a:extLst>
              <a:ext uri="{FF2B5EF4-FFF2-40B4-BE49-F238E27FC236}">
                <a16:creationId xmlns:a16="http://schemas.microsoft.com/office/drawing/2014/main" id="{4AC56E4A-E0A3-20BA-D8C0-9D47C818AEEF}"/>
              </a:ext>
            </a:extLst>
          </p:cNvPr>
          <p:cNvCxnSpPr>
            <a:cxnSpLocks/>
          </p:cNvCxnSpPr>
          <p:nvPr/>
        </p:nvCxnSpPr>
        <p:spPr>
          <a:xfrm>
            <a:off x="3121269" y="1222131"/>
            <a:ext cx="54864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ZoneTexte 5">
            <a:extLst>
              <a:ext uri="{FF2B5EF4-FFF2-40B4-BE49-F238E27FC236}">
                <a16:creationId xmlns:a16="http://schemas.microsoft.com/office/drawing/2014/main" id="{744AB7E5-281D-E4ED-45F3-3E1A29CB5B54}"/>
              </a:ext>
            </a:extLst>
          </p:cNvPr>
          <p:cNvSpPr txBox="1"/>
          <p:nvPr/>
        </p:nvSpPr>
        <p:spPr>
          <a:xfrm>
            <a:off x="1389185" y="1037465"/>
            <a:ext cx="1732084" cy="369332"/>
          </a:xfrm>
          <a:prstGeom prst="rect">
            <a:avLst/>
          </a:prstGeom>
          <a:noFill/>
          <a:ln>
            <a:solidFill>
              <a:schemeClr val="accent1"/>
            </a:solidFill>
          </a:ln>
        </p:spPr>
        <p:txBody>
          <a:bodyPr wrap="square" rtlCol="0">
            <a:spAutoFit/>
          </a:bodyPr>
          <a:lstStyle/>
          <a:p>
            <a:pPr algn="ctr"/>
            <a:r>
              <a:rPr lang="fr-FR" dirty="0"/>
              <a:t>Théorie</a:t>
            </a:r>
          </a:p>
        </p:txBody>
      </p:sp>
      <p:sp>
        <p:nvSpPr>
          <p:cNvPr id="8" name="ZoneTexte 7">
            <a:extLst>
              <a:ext uri="{FF2B5EF4-FFF2-40B4-BE49-F238E27FC236}">
                <a16:creationId xmlns:a16="http://schemas.microsoft.com/office/drawing/2014/main" id="{C5FE07B4-59E1-0C94-C13B-577D8643D134}"/>
              </a:ext>
            </a:extLst>
          </p:cNvPr>
          <p:cNvSpPr txBox="1"/>
          <p:nvPr/>
        </p:nvSpPr>
        <p:spPr>
          <a:xfrm>
            <a:off x="8607669" y="1081426"/>
            <a:ext cx="1732084" cy="369332"/>
          </a:xfrm>
          <a:prstGeom prst="rect">
            <a:avLst/>
          </a:prstGeom>
          <a:noFill/>
          <a:ln>
            <a:solidFill>
              <a:schemeClr val="accent1"/>
            </a:solidFill>
          </a:ln>
        </p:spPr>
        <p:txBody>
          <a:bodyPr wrap="square" rtlCol="0">
            <a:spAutoFit/>
          </a:bodyPr>
          <a:lstStyle/>
          <a:p>
            <a:pPr algn="ctr"/>
            <a:r>
              <a:rPr lang="fr-FR" dirty="0"/>
              <a:t>effet</a:t>
            </a:r>
          </a:p>
        </p:txBody>
      </p:sp>
      <p:cxnSp>
        <p:nvCxnSpPr>
          <p:cNvPr id="10" name="Connecteur droit avec flèche 9">
            <a:extLst>
              <a:ext uri="{FF2B5EF4-FFF2-40B4-BE49-F238E27FC236}">
                <a16:creationId xmlns:a16="http://schemas.microsoft.com/office/drawing/2014/main" id="{9078D130-4989-0DFA-F0B5-38AFB092656D}"/>
              </a:ext>
            </a:extLst>
          </p:cNvPr>
          <p:cNvCxnSpPr>
            <a:cxnSpLocks/>
          </p:cNvCxnSpPr>
          <p:nvPr/>
        </p:nvCxnSpPr>
        <p:spPr>
          <a:xfrm>
            <a:off x="3121269" y="2499946"/>
            <a:ext cx="182000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ZoneTexte 10">
            <a:extLst>
              <a:ext uri="{FF2B5EF4-FFF2-40B4-BE49-F238E27FC236}">
                <a16:creationId xmlns:a16="http://schemas.microsoft.com/office/drawing/2014/main" id="{B2349859-8EE5-62C0-4F37-AAA51C96E052}"/>
              </a:ext>
            </a:extLst>
          </p:cNvPr>
          <p:cNvSpPr txBox="1"/>
          <p:nvPr/>
        </p:nvSpPr>
        <p:spPr>
          <a:xfrm>
            <a:off x="1389185" y="2315280"/>
            <a:ext cx="1732084" cy="369332"/>
          </a:xfrm>
          <a:prstGeom prst="rect">
            <a:avLst/>
          </a:prstGeom>
          <a:noFill/>
          <a:ln>
            <a:solidFill>
              <a:schemeClr val="accent1"/>
            </a:solidFill>
          </a:ln>
        </p:spPr>
        <p:txBody>
          <a:bodyPr wrap="square" rtlCol="0">
            <a:spAutoFit/>
          </a:bodyPr>
          <a:lstStyle/>
          <a:p>
            <a:pPr algn="ctr"/>
            <a:r>
              <a:rPr lang="fr-FR" dirty="0"/>
              <a:t>Théorie</a:t>
            </a:r>
          </a:p>
        </p:txBody>
      </p:sp>
      <p:sp>
        <p:nvSpPr>
          <p:cNvPr id="12" name="ZoneTexte 11">
            <a:extLst>
              <a:ext uri="{FF2B5EF4-FFF2-40B4-BE49-F238E27FC236}">
                <a16:creationId xmlns:a16="http://schemas.microsoft.com/office/drawing/2014/main" id="{79DA62D8-13E4-7CD2-53EF-DDEBB2962EDF}"/>
              </a:ext>
            </a:extLst>
          </p:cNvPr>
          <p:cNvSpPr txBox="1"/>
          <p:nvPr/>
        </p:nvSpPr>
        <p:spPr>
          <a:xfrm>
            <a:off x="8493369" y="2277180"/>
            <a:ext cx="1732084" cy="369332"/>
          </a:xfrm>
          <a:prstGeom prst="rect">
            <a:avLst/>
          </a:prstGeom>
          <a:noFill/>
          <a:ln>
            <a:solidFill>
              <a:schemeClr val="accent1"/>
            </a:solidFill>
          </a:ln>
        </p:spPr>
        <p:txBody>
          <a:bodyPr wrap="square" rtlCol="0">
            <a:spAutoFit/>
          </a:bodyPr>
          <a:lstStyle/>
          <a:p>
            <a:pPr algn="ctr"/>
            <a:r>
              <a:rPr lang="fr-FR" dirty="0"/>
              <a:t>effet</a:t>
            </a:r>
          </a:p>
        </p:txBody>
      </p:sp>
      <p:sp>
        <p:nvSpPr>
          <p:cNvPr id="14" name="ZoneTexte 13">
            <a:extLst>
              <a:ext uri="{FF2B5EF4-FFF2-40B4-BE49-F238E27FC236}">
                <a16:creationId xmlns:a16="http://schemas.microsoft.com/office/drawing/2014/main" id="{69FD8491-A0B9-C5C3-336C-4BC2ACB384EE}"/>
              </a:ext>
            </a:extLst>
          </p:cNvPr>
          <p:cNvSpPr txBox="1"/>
          <p:nvPr/>
        </p:nvSpPr>
        <p:spPr>
          <a:xfrm>
            <a:off x="4941277" y="2265457"/>
            <a:ext cx="1732084" cy="369332"/>
          </a:xfrm>
          <a:prstGeom prst="rect">
            <a:avLst/>
          </a:prstGeom>
          <a:noFill/>
          <a:ln>
            <a:solidFill>
              <a:schemeClr val="accent1"/>
            </a:solidFill>
          </a:ln>
        </p:spPr>
        <p:txBody>
          <a:bodyPr wrap="square" rtlCol="0">
            <a:spAutoFit/>
          </a:bodyPr>
          <a:lstStyle/>
          <a:p>
            <a:pPr algn="ctr"/>
            <a:r>
              <a:rPr lang="fr-FR" dirty="0"/>
              <a:t>Modérateur</a:t>
            </a:r>
          </a:p>
        </p:txBody>
      </p:sp>
      <p:cxnSp>
        <p:nvCxnSpPr>
          <p:cNvPr id="15" name="Connecteur droit avec flèche 14">
            <a:extLst>
              <a:ext uri="{FF2B5EF4-FFF2-40B4-BE49-F238E27FC236}">
                <a16:creationId xmlns:a16="http://schemas.microsoft.com/office/drawing/2014/main" id="{1CCEA7A0-20AA-ADE3-51E2-491AA92D5C8A}"/>
              </a:ext>
            </a:extLst>
          </p:cNvPr>
          <p:cNvCxnSpPr>
            <a:cxnSpLocks/>
          </p:cNvCxnSpPr>
          <p:nvPr/>
        </p:nvCxnSpPr>
        <p:spPr>
          <a:xfrm>
            <a:off x="6673361" y="2461846"/>
            <a:ext cx="182000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Connecteur droit avec flèche 15">
            <a:extLst>
              <a:ext uri="{FF2B5EF4-FFF2-40B4-BE49-F238E27FC236}">
                <a16:creationId xmlns:a16="http://schemas.microsoft.com/office/drawing/2014/main" id="{C6E1EDD3-5033-9818-E734-40A6411EC406}"/>
              </a:ext>
            </a:extLst>
          </p:cNvPr>
          <p:cNvCxnSpPr>
            <a:cxnSpLocks/>
          </p:cNvCxnSpPr>
          <p:nvPr/>
        </p:nvCxnSpPr>
        <p:spPr>
          <a:xfrm>
            <a:off x="3121269" y="4173389"/>
            <a:ext cx="182000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ZoneTexte 16">
            <a:extLst>
              <a:ext uri="{FF2B5EF4-FFF2-40B4-BE49-F238E27FC236}">
                <a16:creationId xmlns:a16="http://schemas.microsoft.com/office/drawing/2014/main" id="{0389E1C7-6C71-044E-196B-422AED979298}"/>
              </a:ext>
            </a:extLst>
          </p:cNvPr>
          <p:cNvSpPr txBox="1"/>
          <p:nvPr/>
        </p:nvSpPr>
        <p:spPr>
          <a:xfrm>
            <a:off x="1389185" y="3988723"/>
            <a:ext cx="1732084" cy="369332"/>
          </a:xfrm>
          <a:prstGeom prst="rect">
            <a:avLst/>
          </a:prstGeom>
          <a:noFill/>
          <a:ln>
            <a:solidFill>
              <a:schemeClr val="accent1"/>
            </a:solidFill>
          </a:ln>
        </p:spPr>
        <p:txBody>
          <a:bodyPr wrap="square" rtlCol="0">
            <a:spAutoFit/>
          </a:bodyPr>
          <a:lstStyle/>
          <a:p>
            <a:pPr algn="ctr"/>
            <a:r>
              <a:rPr lang="fr-FR" dirty="0"/>
              <a:t>Théorie</a:t>
            </a:r>
          </a:p>
        </p:txBody>
      </p:sp>
      <p:sp>
        <p:nvSpPr>
          <p:cNvPr id="18" name="ZoneTexte 17">
            <a:extLst>
              <a:ext uri="{FF2B5EF4-FFF2-40B4-BE49-F238E27FC236}">
                <a16:creationId xmlns:a16="http://schemas.microsoft.com/office/drawing/2014/main" id="{83317697-4272-AABC-DA11-B2748162C787}"/>
              </a:ext>
            </a:extLst>
          </p:cNvPr>
          <p:cNvSpPr txBox="1"/>
          <p:nvPr/>
        </p:nvSpPr>
        <p:spPr>
          <a:xfrm>
            <a:off x="8493369" y="3950623"/>
            <a:ext cx="1732084" cy="369332"/>
          </a:xfrm>
          <a:prstGeom prst="rect">
            <a:avLst/>
          </a:prstGeom>
          <a:noFill/>
          <a:ln>
            <a:solidFill>
              <a:schemeClr val="accent1"/>
            </a:solidFill>
          </a:ln>
        </p:spPr>
        <p:txBody>
          <a:bodyPr wrap="square" rtlCol="0">
            <a:spAutoFit/>
          </a:bodyPr>
          <a:lstStyle/>
          <a:p>
            <a:pPr algn="ctr"/>
            <a:r>
              <a:rPr lang="fr-FR" dirty="0"/>
              <a:t>effet</a:t>
            </a:r>
          </a:p>
        </p:txBody>
      </p:sp>
      <p:sp>
        <p:nvSpPr>
          <p:cNvPr id="19" name="ZoneTexte 18">
            <a:extLst>
              <a:ext uri="{FF2B5EF4-FFF2-40B4-BE49-F238E27FC236}">
                <a16:creationId xmlns:a16="http://schemas.microsoft.com/office/drawing/2014/main" id="{A2F32DB9-85FC-A2BD-54F4-5DBF50BD6B20}"/>
              </a:ext>
            </a:extLst>
          </p:cNvPr>
          <p:cNvSpPr txBox="1"/>
          <p:nvPr/>
        </p:nvSpPr>
        <p:spPr>
          <a:xfrm>
            <a:off x="4941277" y="3938900"/>
            <a:ext cx="1732084" cy="369332"/>
          </a:xfrm>
          <a:prstGeom prst="rect">
            <a:avLst/>
          </a:prstGeom>
          <a:noFill/>
          <a:ln>
            <a:solidFill>
              <a:schemeClr val="accent1"/>
            </a:solidFill>
          </a:ln>
        </p:spPr>
        <p:txBody>
          <a:bodyPr wrap="square" rtlCol="0">
            <a:spAutoFit/>
          </a:bodyPr>
          <a:lstStyle/>
          <a:p>
            <a:pPr algn="ctr"/>
            <a:r>
              <a:rPr lang="fr-FR" dirty="0"/>
              <a:t>Modérateur</a:t>
            </a:r>
          </a:p>
        </p:txBody>
      </p:sp>
      <p:cxnSp>
        <p:nvCxnSpPr>
          <p:cNvPr id="20" name="Connecteur droit avec flèche 19">
            <a:extLst>
              <a:ext uri="{FF2B5EF4-FFF2-40B4-BE49-F238E27FC236}">
                <a16:creationId xmlns:a16="http://schemas.microsoft.com/office/drawing/2014/main" id="{529885B9-E02F-AC82-0F46-DA428EFAC7DF}"/>
              </a:ext>
            </a:extLst>
          </p:cNvPr>
          <p:cNvCxnSpPr>
            <a:cxnSpLocks/>
          </p:cNvCxnSpPr>
          <p:nvPr/>
        </p:nvCxnSpPr>
        <p:spPr>
          <a:xfrm>
            <a:off x="6673361" y="4135289"/>
            <a:ext cx="182000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ZoneTexte 20">
            <a:extLst>
              <a:ext uri="{FF2B5EF4-FFF2-40B4-BE49-F238E27FC236}">
                <a16:creationId xmlns:a16="http://schemas.microsoft.com/office/drawing/2014/main" id="{3A2D7BD7-7630-6944-105F-BB570F5CCA3C}"/>
              </a:ext>
            </a:extLst>
          </p:cNvPr>
          <p:cNvSpPr txBox="1"/>
          <p:nvPr/>
        </p:nvSpPr>
        <p:spPr>
          <a:xfrm>
            <a:off x="2790092" y="3152001"/>
            <a:ext cx="1732084" cy="369332"/>
          </a:xfrm>
          <a:prstGeom prst="rect">
            <a:avLst/>
          </a:prstGeom>
          <a:noFill/>
          <a:ln>
            <a:solidFill>
              <a:schemeClr val="accent1"/>
            </a:solidFill>
          </a:ln>
        </p:spPr>
        <p:txBody>
          <a:bodyPr wrap="square" rtlCol="0">
            <a:spAutoFit/>
          </a:bodyPr>
          <a:lstStyle/>
          <a:p>
            <a:pPr algn="ctr"/>
            <a:r>
              <a:rPr lang="fr-FR" dirty="0"/>
              <a:t>intervention</a:t>
            </a:r>
          </a:p>
        </p:txBody>
      </p:sp>
      <p:cxnSp>
        <p:nvCxnSpPr>
          <p:cNvPr id="22" name="Connecteur droit avec flèche 21">
            <a:extLst>
              <a:ext uri="{FF2B5EF4-FFF2-40B4-BE49-F238E27FC236}">
                <a16:creationId xmlns:a16="http://schemas.microsoft.com/office/drawing/2014/main" id="{E409564D-05CB-D733-B259-3CB9AFF8F0EC}"/>
              </a:ext>
            </a:extLst>
          </p:cNvPr>
          <p:cNvCxnSpPr>
            <a:cxnSpLocks/>
            <a:endCxn id="19" idx="0"/>
          </p:cNvCxnSpPr>
          <p:nvPr/>
        </p:nvCxnSpPr>
        <p:spPr>
          <a:xfrm>
            <a:off x="4522176" y="3382027"/>
            <a:ext cx="1285143" cy="5568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Connecteur droit avec flèche 23">
            <a:extLst>
              <a:ext uri="{FF2B5EF4-FFF2-40B4-BE49-F238E27FC236}">
                <a16:creationId xmlns:a16="http://schemas.microsoft.com/office/drawing/2014/main" id="{0B80AA41-5EDE-C7BC-86D6-E35A61C85B89}"/>
              </a:ext>
            </a:extLst>
          </p:cNvPr>
          <p:cNvCxnSpPr>
            <a:cxnSpLocks/>
            <a:stCxn id="21" idx="3"/>
            <a:endCxn id="18" idx="0"/>
          </p:cNvCxnSpPr>
          <p:nvPr/>
        </p:nvCxnSpPr>
        <p:spPr>
          <a:xfrm>
            <a:off x="4522176" y="3336667"/>
            <a:ext cx="4837235" cy="6139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5268935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1565</TotalTime>
  <Words>3046</Words>
  <Application>Microsoft Office PowerPoint</Application>
  <PresentationFormat>Grand écran</PresentationFormat>
  <Paragraphs>192</Paragraphs>
  <Slides>31</Slides>
  <Notes>16</Notes>
  <HiddenSlides>0</HiddenSlides>
  <MMClips>0</MMClips>
  <ScaleCrop>false</ScaleCrop>
  <HeadingPairs>
    <vt:vector size="4" baseType="variant">
      <vt:variant>
        <vt:lpstr>Thème</vt:lpstr>
      </vt:variant>
      <vt:variant>
        <vt:i4>1</vt:i4>
      </vt:variant>
      <vt:variant>
        <vt:lpstr>Titres des diapositives</vt:lpstr>
      </vt:variant>
      <vt:variant>
        <vt:i4>31</vt:i4>
      </vt:variant>
    </vt:vector>
  </HeadingPairs>
  <TitlesOfParts>
    <vt:vector size="32" baseType="lpstr">
      <vt:lpstr>Thème Office</vt:lpstr>
      <vt:lpstr>Quand la théorie ne suffit pas : pour des interventions psychologiques plus pragmatiques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Schwartz 1960</vt:lpstr>
      <vt:lpstr>Les essais pragmatiques  Schwartz – Lellouch 1967</vt:lpstr>
      <vt:lpstr>Présentation PowerPoint</vt:lpstr>
      <vt:lpstr>Présentation PowerPoint</vt:lpstr>
      <vt:lpstr>Présentation PowerPoint</vt:lpstr>
      <vt:lpstr>En psychologie</vt:lpstr>
      <vt:lpstr>Le problème des interventions qui ne fonctionnent pas</vt:lpstr>
      <vt:lpstr>Vers des interventions utiles en pratique</vt:lpstr>
      <vt:lpstr>Vers des interventions utiles en pratique</vt:lpstr>
      <vt:lpstr>Vers des interventions utiles en pratique</vt:lpstr>
      <vt:lpstr>Vers des interventions utiles en pratique</vt:lpstr>
      <vt:lpstr>Vers des interventions utiles en pratique</vt:lpstr>
      <vt:lpstr>Un début de prise de conscience en psychologie clinique (en fait en psychiatrie)</vt:lpstr>
      <vt:lpstr>Présentation PowerPoint</vt:lpstr>
      <vt:lpstr>Conclusion</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adrien fillon</dc:creator>
  <cp:lastModifiedBy>adrien fillon</cp:lastModifiedBy>
  <cp:revision>2</cp:revision>
  <dcterms:created xsi:type="dcterms:W3CDTF">2026-02-23T13:58:15Z</dcterms:created>
  <dcterms:modified xsi:type="dcterms:W3CDTF">2026-03-16T08:37:41Z</dcterms:modified>
</cp:coreProperties>
</file>
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5" r:id="rId29"/>
    <p:sldId id="283" r:id="rId30"/>
  </p:sldIdLst>
  <p:sldSz cx="12192000" cy="6858000"/>
  <p:notesSz cx="6858000" cy="9144000"/>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EEA66A-2F19-5880-59C5-EF6015BB21B4}" v="11" dt="2026-06-18T15:45:33.9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orient="horz" pos="2160"/>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4266954" name="Espace réservé d'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516363902" name="Espace réservé pour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fr-FR"/>
              <a:t>18/06/2026</a:t>
            </a:fld>
            <a:endParaRPr lang="fr-FR"/>
          </a:p>
        </p:txBody>
      </p:sp>
      <p:sp>
        <p:nvSpPr>
          <p:cNvPr id="1031779934" name="Espace réservé pour l'image de la diapositive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1042287574" name="Remarques Espace réservé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505341154"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150744777"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10524516" name="Espace réservé pour l'image de la diapositive 1"/>
          <p:cNvSpPr>
            <a:spLocks noGrp="1" noRot="1" noChangeAspect="1"/>
          </p:cNvSpPr>
          <p:nvPr>
            <p:ph type="sldImg"/>
          </p:nvPr>
        </p:nvSpPr>
        <p:spPr bwMode="auto">
          <a:xfrm>
            <a:off x="685800" y="1143000"/>
            <a:ext cx="5486400" cy="3086100"/>
          </a:xfrm>
        </p:spPr>
      </p:sp>
      <p:sp>
        <p:nvSpPr>
          <p:cNvPr id="1476913604" name="Remarques Espace réservé 2"/>
          <p:cNvSpPr>
            <a:spLocks noGrp="1"/>
          </p:cNvSpPr>
          <p:nvPr>
            <p:ph type="body" idx="1"/>
          </p:nvPr>
        </p:nvSpPr>
        <p:spPr bwMode="auto"/>
        <p:txBody>
          <a:bodyPr/>
          <a:lstStyle/>
          <a:p>
            <a:pPr>
              <a:defRPr/>
            </a:pPr>
            <a:endParaRPr lang="fr-FR">
              <a:latin typeface="Arial"/>
              <a:cs typeface="Arial"/>
            </a:endParaRPr>
          </a:p>
        </p:txBody>
      </p:sp>
      <p:sp>
        <p:nvSpPr>
          <p:cNvPr id="1153452625" name="Espace réservé pour le numéro de diapositive 3"/>
          <p:cNvSpPr>
            <a:spLocks noGrp="1"/>
          </p:cNvSpPr>
          <p:nvPr>
            <p:ph type="sldNum" sz="quarter" idx="10"/>
          </p:nvPr>
        </p:nvSpPr>
        <p:spPr bwMode="auto"/>
        <p:txBody>
          <a:bodyPr/>
          <a:lstStyle/>
          <a:p>
            <a:pPr>
              <a:defRPr/>
            </a:pPr>
            <a:fld id="{2E6999B8-B6B4-4561-A3CD-BBCDAB9FC9D9}" type="slidenum">
              <a:rPr lang="fr-F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3187079" name="Slide Image Placeholder 1"/>
          <p:cNvSpPr>
            <a:spLocks noGrp="1" noRot="1" noChangeAspect="1"/>
          </p:cNvSpPr>
          <p:nvPr>
            <p:ph type="sldImg"/>
          </p:nvPr>
        </p:nvSpPr>
        <p:spPr bwMode="auto"/>
      </p:sp>
      <p:sp>
        <p:nvSpPr>
          <p:cNvPr id="576977519" name="Notes Placeholder 2"/>
          <p:cNvSpPr>
            <a:spLocks noGrp="1"/>
          </p:cNvSpPr>
          <p:nvPr>
            <p:ph type="body" idx="1"/>
          </p:nvPr>
        </p:nvSpPr>
        <p:spPr bwMode="auto"/>
        <p:txBody>
          <a:bodyPr/>
          <a:lstStyle/>
          <a:p>
            <a:pPr>
              <a:defRPr/>
            </a:pPr>
            <a:r>
              <a:rPr lang="fr-FR"/>
              <a:t>L'histoire est souvent racontée ainsi :</a:t>
            </a:r>
          </a:p>
          <a:p>
            <a:pPr>
              <a:defRPr/>
            </a:pPr>
            <a:r>
              <a:rPr lang="fr-FR"/>
              <a:t>Un professeur demande à des étudiants de regarder par la fenêtre et d'observer ce qu'ils voient. Ou, dans une autre version racontée par Popper, il demande simplement : « Observez ! »</a:t>
            </a:r>
          </a:p>
          <a:p>
            <a:pPr>
              <a:defRPr/>
            </a:pPr>
            <a:r>
              <a:rPr lang="fr-FR"/>
              <a:t>Les étudiants restent perplexes et demandent : « Observer quoi ? »</a:t>
            </a:r>
          </a:p>
          <a:p>
            <a:pPr>
              <a:defRPr/>
            </a:pPr>
            <a:r>
              <a:rPr lang="fr-FR"/>
              <a:t>Popper utilise cette anecdote pour illustrer une idée importante : </a:t>
            </a:r>
            <a:r>
              <a:rPr lang="fr-FR" b="1"/>
              <a:t>il n'existe pas d'observation totalement neutre</a:t>
            </a:r>
            <a:r>
              <a:rPr lang="fr-FR"/>
              <a:t>. Quand nous observons le monde, nous le faisons toujours avec une question, une attente ou une théorie en tête. Un étudiant en physique qui regarde par la fenêtre ne verra pas la même chose qu'un biologiste, un architecte ou un artiste. Le physicien pourra remarquer la trajectoire d'un objet, les reflets de la lumière ou le mouvement des nuages, tandis qu'un autre observateur se concentrera sur d'autres aspects.</a:t>
            </a:r>
          </a:p>
          <a:p>
            <a:pPr>
              <a:defRPr/>
            </a:pPr>
            <a:r>
              <a:rPr lang="fr-FR"/>
              <a:t>Pour Popper, la science ne commence donc pas par une accumulation passive d'observations. Elle commence par des </a:t>
            </a:r>
            <a:r>
              <a:rPr lang="fr-FR" b="1"/>
              <a:t>problèmes</a:t>
            </a:r>
            <a:r>
              <a:rPr lang="fr-FR"/>
              <a:t>, des </a:t>
            </a:r>
            <a:r>
              <a:rPr lang="fr-FR" b="1"/>
              <a:t>hypothèses</a:t>
            </a:r>
            <a:r>
              <a:rPr lang="fr-FR"/>
              <a:t> et des </a:t>
            </a:r>
            <a:r>
              <a:rPr lang="fr-FR" b="1"/>
              <a:t>questions</a:t>
            </a:r>
            <a:r>
              <a:rPr lang="fr-FR"/>
              <a:t> que l'on confronte ensuite à l'expérience.</a:t>
            </a:r>
          </a:p>
          <a:p>
            <a:pPr>
              <a:defRPr/>
            </a:pPr>
            <a:r>
              <a:rPr lang="fr-FR"/>
              <a:t>La morale de l'histoire est que :</a:t>
            </a:r>
          </a:p>
          <a:p>
            <a:pPr marL="171450" indent="-171450">
              <a:buFont typeface="Arial"/>
              <a:buChar char="•"/>
              <a:defRPr/>
            </a:pPr>
            <a:r>
              <a:rPr lang="fr-FR"/>
              <a:t>observer nécessite un objectif ou une question ; </a:t>
            </a:r>
          </a:p>
          <a:p>
            <a:pPr marL="171450" indent="-171450">
              <a:buFont typeface="Arial"/>
              <a:buChar char="•"/>
              <a:defRPr/>
            </a:pPr>
            <a:r>
              <a:rPr lang="fr-FR"/>
              <a:t>les observations sont guidées par nos connaissances préalables ; </a:t>
            </a:r>
          </a:p>
          <a:p>
            <a:pPr marL="171450" indent="-171450">
              <a:buFont typeface="Arial"/>
              <a:buChar char="•"/>
              <a:defRPr/>
            </a:pPr>
            <a:r>
              <a:rPr lang="fr-FR"/>
              <a:t>la science progresse en testant des hypothèses plutôt qu'en accumulant simplement des faits.</a:t>
            </a:r>
          </a:p>
          <a:p>
            <a:pPr>
              <a:defRPr/>
            </a:pPr>
            <a:endParaRPr lang="fr-FR" dirty="0"/>
          </a:p>
        </p:txBody>
      </p:sp>
      <p:sp>
        <p:nvSpPr>
          <p:cNvPr id="1429463034" name="Slide Number Placeholder 3"/>
          <p:cNvSpPr>
            <a:spLocks noGrp="1"/>
          </p:cNvSpPr>
          <p:nvPr>
            <p:ph type="sldNum" sz="quarter" idx="10"/>
          </p:nvPr>
        </p:nvSpPr>
        <p:spPr bwMode="auto"/>
        <p:txBody>
          <a:bodyPr/>
          <a:lstStyle/>
          <a:p>
            <a:pPr>
              <a:defRPr/>
            </a:pPr>
            <a:fld id="{D280EEBB-AA8A-937A-2BC1-7BABA6E2AE36}"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4176189" name="Slide Image Placeholder 1"/>
          <p:cNvSpPr>
            <a:spLocks noGrp="1" noRot="1" noChangeAspect="1"/>
          </p:cNvSpPr>
          <p:nvPr>
            <p:ph type="sldImg"/>
          </p:nvPr>
        </p:nvSpPr>
        <p:spPr bwMode="auto"/>
      </p:sp>
      <p:sp>
        <p:nvSpPr>
          <p:cNvPr id="1635442355" name="Notes Placeholder 2"/>
          <p:cNvSpPr>
            <a:spLocks noGrp="1"/>
          </p:cNvSpPr>
          <p:nvPr>
            <p:ph type="body" idx="1"/>
          </p:nvPr>
        </p:nvSpPr>
        <p:spPr bwMode="auto"/>
        <p:txBody>
          <a:bodyPr/>
          <a:lstStyle/>
          <a:p>
            <a:pPr>
              <a:defRPr/>
            </a:pPr>
            <a:r>
              <a:rPr lang="fr-FR"/>
              <a:t>Les cygnes : la théorie "tous les cygnes sont blancs" est fausses si Un cygne est noir.</a:t>
            </a:r>
          </a:p>
          <a:p>
            <a:pPr>
              <a:defRPr/>
            </a:pPr>
            <a:r>
              <a:rPr lang="fr-FR" dirty="0"/>
              <a:t>Dans les faits, on peut proposer une hypothèse post-hoc : tous les cygnes </a:t>
            </a:r>
            <a:r>
              <a:rPr lang="fr-FR" dirty="0" err="1"/>
              <a:t>sotn</a:t>
            </a:r>
            <a:r>
              <a:rPr lang="fr-FR" dirty="0"/>
              <a:t> blanc sauf dans cette exception précise - ou généraliser la théorie "tous les cygnes sont blancs et noir". Et qu'Est-ce qui se passe si des cygnes sont marrons ?</a:t>
            </a:r>
          </a:p>
          <a:p>
            <a:pPr>
              <a:defRPr/>
            </a:pPr>
            <a:endParaRPr lang="fr-FR" dirty="0"/>
          </a:p>
          <a:p>
            <a:pPr>
              <a:defRPr/>
            </a:pPr>
            <a:r>
              <a:rPr lang="fr-FR" dirty="0"/>
              <a:t>EN psychologie on pose la question aux cygnes de 1 tout à fait blanc à 5 tout à fait noir et s'ils sont significativement inférieur à 2,5 on les considère comme blanc. Comment on peut réconcilier la science de </a:t>
            </a:r>
            <a:r>
              <a:rPr lang="fr-FR" dirty="0" err="1"/>
              <a:t>popper</a:t>
            </a:r>
            <a:r>
              <a:rPr lang="fr-FR" dirty="0"/>
              <a:t> avec nos méthodes ?</a:t>
            </a:r>
          </a:p>
        </p:txBody>
      </p:sp>
      <p:sp>
        <p:nvSpPr>
          <p:cNvPr id="173564234" name="Slide Number Placeholder 3"/>
          <p:cNvSpPr>
            <a:spLocks noGrp="1"/>
          </p:cNvSpPr>
          <p:nvPr>
            <p:ph type="sldNum" sz="quarter" idx="10"/>
          </p:nvPr>
        </p:nvSpPr>
        <p:spPr bwMode="auto"/>
        <p:txBody>
          <a:bodyPr/>
          <a:lstStyle/>
          <a:p>
            <a:pPr>
              <a:defRPr/>
            </a:pPr>
            <a:fld id="{A79A826B-5A0D-E2D8-7031-DAF077AB3C8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5273874" name="Slide Image Placeholder 1"/>
          <p:cNvSpPr>
            <a:spLocks noGrp="1" noRot="1" noChangeAspect="1"/>
          </p:cNvSpPr>
          <p:nvPr>
            <p:ph type="sldImg"/>
          </p:nvPr>
        </p:nvSpPr>
        <p:spPr bwMode="auto"/>
      </p:sp>
      <p:sp>
        <p:nvSpPr>
          <p:cNvPr id="1433886716" name="Notes Placeholder 2"/>
          <p:cNvSpPr>
            <a:spLocks noGrp="1"/>
          </p:cNvSpPr>
          <p:nvPr>
            <p:ph type="body" idx="1"/>
          </p:nvPr>
        </p:nvSpPr>
        <p:spPr bwMode="auto"/>
        <p:txBody>
          <a:bodyPr/>
          <a:lstStyle/>
          <a:p>
            <a:pPr>
              <a:defRPr/>
            </a:pPr>
            <a:r>
              <a:rPr lang="fr-FR" dirty="0"/>
              <a:t>IL est impossible de passer d'une hypothèse théorique à une </a:t>
            </a:r>
            <a:r>
              <a:rPr lang="fr-FR" dirty="0" err="1"/>
              <a:t>hypothè</a:t>
            </a:r>
            <a:r>
              <a:rPr lang="fr-FR" dirty="0"/>
              <a:t>se statistique précisément </a:t>
            </a:r>
            <a:r>
              <a:rPr lang="fr-FR" dirty="0" err="1"/>
              <a:t>a</a:t>
            </a:r>
            <a:r>
              <a:rPr lang="fr-FR" dirty="0"/>
              <a:t> cause de toutes les hypothèses auxiliaires liées </a:t>
            </a:r>
            <a:r>
              <a:rPr lang="fr-FR" dirty="0" err="1"/>
              <a:t>au modèle décrites</a:t>
            </a:r>
            <a:r>
              <a:rPr lang="fr-FR" dirty="0"/>
              <a:t> dessous. Si l'hypothèse opérationnelle est </a:t>
            </a:r>
            <a:r>
              <a:rPr lang="fr-FR" dirty="0" err="1"/>
              <a:t>falsifié</a:t>
            </a:r>
            <a:r>
              <a:rPr lang="fr-FR" dirty="0"/>
              <a:t> (non-</a:t>
            </a:r>
            <a:r>
              <a:rPr lang="fr-FR" dirty="0" err="1"/>
              <a:t>sig</a:t>
            </a:r>
            <a:r>
              <a:rPr lang="fr-FR" dirty="0"/>
              <a:t>) ça peut être parce que l'hypothèse théorique est fausse mais aussi à cause de tous les autres facteurs. Pire.... slide suivante</a:t>
            </a:r>
            <a:endParaRPr dirty="0"/>
          </a:p>
        </p:txBody>
      </p:sp>
      <p:sp>
        <p:nvSpPr>
          <p:cNvPr id="2026387468" name="Slide Number Placeholder 3"/>
          <p:cNvSpPr>
            <a:spLocks noGrp="1"/>
          </p:cNvSpPr>
          <p:nvPr>
            <p:ph type="sldNum" sz="quarter" idx="10"/>
          </p:nvPr>
        </p:nvSpPr>
        <p:spPr bwMode="auto"/>
        <p:txBody>
          <a:bodyPr/>
          <a:lstStyle/>
          <a:p>
            <a:pPr>
              <a:defRPr/>
            </a:pPr>
            <a:fld id="{14D51056-438C-C3F8-37F0-04ED550C2310}"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67591585" name="Slide Image Placeholder 1"/>
          <p:cNvSpPr>
            <a:spLocks noGrp="1" noRot="1" noChangeAspect="1"/>
          </p:cNvSpPr>
          <p:nvPr>
            <p:ph type="sldImg"/>
          </p:nvPr>
        </p:nvSpPr>
        <p:spPr bwMode="auto"/>
      </p:sp>
      <p:sp>
        <p:nvSpPr>
          <p:cNvPr id="437480634" name="Notes Placeholder 2"/>
          <p:cNvSpPr>
            <a:spLocks noGrp="1"/>
          </p:cNvSpPr>
          <p:nvPr>
            <p:ph type="body" idx="1"/>
          </p:nvPr>
        </p:nvSpPr>
        <p:spPr bwMode="auto"/>
        <p:txBody>
          <a:bodyPr/>
          <a:lstStyle/>
          <a:p>
            <a:pPr>
              <a:defRPr/>
            </a:pPr>
            <a:r>
              <a:rPr dirty="0"/>
              <a:t>Je </a:t>
            </a:r>
            <a:r>
              <a:rPr dirty="0" err="1"/>
              <a:t>veux</a:t>
            </a:r>
            <a:r>
              <a:rPr dirty="0"/>
              <a:t> </a:t>
            </a:r>
            <a:r>
              <a:rPr dirty="0" err="1"/>
              <a:t>prouver</a:t>
            </a:r>
            <a:r>
              <a:rPr dirty="0"/>
              <a:t> la dissonance cognitive </a:t>
            </a:r>
            <a:r>
              <a:rPr dirty="0" err="1"/>
              <a:t>en</a:t>
            </a:r>
            <a:r>
              <a:rPr dirty="0"/>
              <a:t> </a:t>
            </a:r>
            <a:r>
              <a:rPr dirty="0" err="1"/>
              <a:t>montrant</a:t>
            </a:r>
            <a:r>
              <a:rPr dirty="0"/>
              <a:t> </a:t>
            </a:r>
            <a:r>
              <a:rPr dirty="0" err="1"/>
              <a:t>une</a:t>
            </a:r>
            <a:r>
              <a:rPr dirty="0"/>
              <a:t> photo « </a:t>
            </a:r>
            <a:r>
              <a:rPr dirty="0" err="1"/>
              <a:t>fumer</a:t>
            </a:r>
            <a:r>
              <a:rPr dirty="0"/>
              <a:t> </a:t>
            </a:r>
            <a:r>
              <a:rPr dirty="0" err="1"/>
              <a:t>tue</a:t>
            </a:r>
            <a:r>
              <a:rPr dirty="0"/>
              <a:t> » à des </a:t>
            </a:r>
            <a:r>
              <a:rPr dirty="0" err="1"/>
              <a:t>fumeurs</a:t>
            </a:r>
            <a:r>
              <a:rPr dirty="0"/>
              <a:t> pour </a:t>
            </a:r>
            <a:r>
              <a:rPr dirty="0" err="1"/>
              <a:t>réduire</a:t>
            </a:r>
            <a:r>
              <a:rPr dirty="0"/>
              <a:t> la cigarette</a:t>
            </a:r>
          </a:p>
          <a:p>
            <a:pPr>
              <a:defRPr/>
            </a:pPr>
            <a:endParaRPr/>
          </a:p>
          <a:p>
            <a:pPr>
              <a:defRPr/>
            </a:pPr>
            <a:r>
              <a:rPr dirty="0"/>
              <a:t>Pour </a:t>
            </a:r>
            <a:r>
              <a:rPr dirty="0" err="1"/>
              <a:t>prouver</a:t>
            </a:r>
            <a:r>
              <a:rPr dirty="0"/>
              <a:t> la dissonance cognitive,</a:t>
            </a:r>
          </a:p>
          <a:p>
            <a:pPr>
              <a:defRPr/>
            </a:pPr>
            <a:r>
              <a:rPr dirty="0"/>
              <a:t>Il faut </a:t>
            </a:r>
            <a:r>
              <a:rPr dirty="0" err="1"/>
              <a:t>que</a:t>
            </a:r>
            <a:r>
              <a:rPr dirty="0"/>
              <a:t> </a:t>
            </a:r>
            <a:r>
              <a:rPr dirty="0" err="1"/>
              <a:t>je</a:t>
            </a:r>
            <a:r>
              <a:rPr dirty="0"/>
              <a:t> </a:t>
            </a:r>
            <a:r>
              <a:rPr dirty="0" err="1"/>
              <a:t>croie</a:t>
            </a:r>
            <a:r>
              <a:rPr dirty="0"/>
              <a:t> </a:t>
            </a:r>
            <a:r>
              <a:rPr dirty="0" err="1"/>
              <a:t>que</a:t>
            </a:r>
            <a:r>
              <a:rPr dirty="0"/>
              <a:t> les </a:t>
            </a:r>
            <a:r>
              <a:rPr dirty="0" err="1"/>
              <a:t>fumeurs</a:t>
            </a:r>
            <a:r>
              <a:rPr dirty="0"/>
              <a:t> « </a:t>
            </a:r>
            <a:r>
              <a:rPr dirty="0" err="1"/>
              <a:t>pensent</a:t>
            </a:r>
            <a:r>
              <a:rPr dirty="0"/>
              <a:t> </a:t>
            </a:r>
            <a:r>
              <a:rPr dirty="0" err="1"/>
              <a:t>que</a:t>
            </a:r>
            <a:r>
              <a:rPr dirty="0"/>
              <a:t> </a:t>
            </a:r>
            <a:r>
              <a:rPr dirty="0" err="1"/>
              <a:t>c’est</a:t>
            </a:r>
            <a:r>
              <a:rPr dirty="0"/>
              <a:t> bien de </a:t>
            </a:r>
            <a:r>
              <a:rPr dirty="0" err="1"/>
              <a:t>fumer</a:t>
            </a:r>
            <a:r>
              <a:rPr dirty="0"/>
              <a:t> »</a:t>
            </a:r>
          </a:p>
          <a:p>
            <a:pPr>
              <a:defRPr/>
            </a:pPr>
            <a:r>
              <a:rPr dirty="0"/>
              <a:t>Il faut </a:t>
            </a:r>
            <a:r>
              <a:rPr dirty="0" err="1"/>
              <a:t>que</a:t>
            </a:r>
            <a:r>
              <a:rPr dirty="0"/>
              <a:t> </a:t>
            </a:r>
            <a:r>
              <a:rPr dirty="0" err="1"/>
              <a:t>je</a:t>
            </a:r>
            <a:r>
              <a:rPr dirty="0"/>
              <a:t> </a:t>
            </a:r>
            <a:r>
              <a:rPr dirty="0" err="1"/>
              <a:t>croie</a:t>
            </a:r>
            <a:r>
              <a:rPr dirty="0"/>
              <a:t> </a:t>
            </a:r>
            <a:r>
              <a:rPr dirty="0" err="1"/>
              <a:t>que</a:t>
            </a:r>
            <a:r>
              <a:rPr dirty="0"/>
              <a:t> voir le message </a:t>
            </a:r>
            <a:r>
              <a:rPr dirty="0" err="1"/>
              <a:t>va</a:t>
            </a:r>
            <a:r>
              <a:rPr dirty="0"/>
              <a:t> </a:t>
            </a:r>
            <a:r>
              <a:rPr dirty="0" err="1"/>
              <a:t>devenir</a:t>
            </a:r>
            <a:r>
              <a:rPr dirty="0"/>
              <a:t> </a:t>
            </a:r>
            <a:r>
              <a:rPr dirty="0" err="1"/>
              <a:t>une</a:t>
            </a:r>
            <a:r>
              <a:rPr dirty="0"/>
              <a:t> </a:t>
            </a:r>
            <a:r>
              <a:rPr dirty="0" err="1"/>
              <a:t>croyance</a:t>
            </a:r>
            <a:r>
              <a:rPr dirty="0"/>
              <a:t>  « </a:t>
            </a:r>
            <a:r>
              <a:rPr dirty="0" err="1"/>
              <a:t>fumer</a:t>
            </a:r>
            <a:r>
              <a:rPr dirty="0"/>
              <a:t> </a:t>
            </a:r>
            <a:r>
              <a:rPr dirty="0" err="1"/>
              <a:t>n’est</a:t>
            </a:r>
            <a:r>
              <a:rPr dirty="0"/>
              <a:t> pas bien » chez les </a:t>
            </a:r>
            <a:r>
              <a:rPr dirty="0" err="1"/>
              <a:t>fumeurs</a:t>
            </a:r>
          </a:p>
          <a:p>
            <a:pPr>
              <a:defRPr/>
            </a:pPr>
            <a:r>
              <a:rPr dirty="0"/>
              <a:t>Il faut </a:t>
            </a:r>
            <a:r>
              <a:rPr dirty="0" err="1"/>
              <a:t>que</a:t>
            </a:r>
            <a:r>
              <a:rPr dirty="0"/>
              <a:t> </a:t>
            </a:r>
            <a:r>
              <a:rPr dirty="0" err="1"/>
              <a:t>je</a:t>
            </a:r>
            <a:r>
              <a:rPr dirty="0"/>
              <a:t> </a:t>
            </a:r>
            <a:r>
              <a:rPr dirty="0" err="1"/>
              <a:t>croie</a:t>
            </a:r>
            <a:r>
              <a:rPr dirty="0"/>
              <a:t> </a:t>
            </a:r>
            <a:r>
              <a:rPr dirty="0" err="1"/>
              <a:t>que</a:t>
            </a:r>
            <a:r>
              <a:rPr dirty="0"/>
              <a:t> </a:t>
            </a:r>
            <a:r>
              <a:rPr dirty="0" err="1"/>
              <a:t>ces</a:t>
            </a:r>
            <a:r>
              <a:rPr dirty="0"/>
              <a:t> deux pensées « </a:t>
            </a:r>
            <a:r>
              <a:rPr dirty="0" err="1"/>
              <a:t>fumer</a:t>
            </a:r>
            <a:r>
              <a:rPr dirty="0"/>
              <a:t> </a:t>
            </a:r>
            <a:r>
              <a:rPr dirty="0" err="1"/>
              <a:t>c’est</a:t>
            </a:r>
            <a:r>
              <a:rPr dirty="0"/>
              <a:t> bien » et « </a:t>
            </a:r>
            <a:r>
              <a:rPr dirty="0" err="1"/>
              <a:t>fumer</a:t>
            </a:r>
            <a:r>
              <a:rPr dirty="0"/>
              <a:t> </a:t>
            </a:r>
            <a:r>
              <a:rPr dirty="0" err="1"/>
              <a:t>c’est</a:t>
            </a:r>
            <a:r>
              <a:rPr dirty="0"/>
              <a:t> pas bien » </a:t>
            </a:r>
            <a:r>
              <a:rPr dirty="0" err="1"/>
              <a:t>sont</a:t>
            </a:r>
            <a:r>
              <a:rPr dirty="0"/>
              <a:t> </a:t>
            </a:r>
            <a:r>
              <a:rPr dirty="0" err="1"/>
              <a:t>présente</a:t>
            </a:r>
            <a:r>
              <a:rPr dirty="0"/>
              <a:t> </a:t>
            </a:r>
            <a:r>
              <a:rPr dirty="0" err="1"/>
              <a:t>en</a:t>
            </a:r>
            <a:r>
              <a:rPr dirty="0"/>
              <a:t> </a:t>
            </a:r>
            <a:r>
              <a:rPr dirty="0" err="1"/>
              <a:t>même</a:t>
            </a:r>
            <a:r>
              <a:rPr dirty="0"/>
              <a:t> temps dans la tête du </a:t>
            </a:r>
            <a:r>
              <a:rPr dirty="0" err="1"/>
              <a:t>fumeur</a:t>
            </a:r>
          </a:p>
          <a:p>
            <a:pPr>
              <a:defRPr/>
            </a:pPr>
            <a:r>
              <a:rPr dirty="0"/>
              <a:t>Il faut </a:t>
            </a:r>
            <a:r>
              <a:rPr dirty="0" err="1"/>
              <a:t>que</a:t>
            </a:r>
            <a:r>
              <a:rPr dirty="0"/>
              <a:t> </a:t>
            </a:r>
            <a:r>
              <a:rPr dirty="0" err="1"/>
              <a:t>je</a:t>
            </a:r>
            <a:r>
              <a:rPr dirty="0"/>
              <a:t> </a:t>
            </a:r>
            <a:r>
              <a:rPr dirty="0" err="1"/>
              <a:t>croie</a:t>
            </a:r>
            <a:r>
              <a:rPr dirty="0"/>
              <a:t> </a:t>
            </a:r>
            <a:r>
              <a:rPr dirty="0" err="1"/>
              <a:t>que</a:t>
            </a:r>
            <a:r>
              <a:rPr dirty="0"/>
              <a:t> </a:t>
            </a:r>
            <a:r>
              <a:rPr dirty="0" err="1"/>
              <a:t>cette</a:t>
            </a:r>
            <a:r>
              <a:rPr dirty="0"/>
              <a:t> </a:t>
            </a:r>
            <a:r>
              <a:rPr dirty="0" err="1"/>
              <a:t>présence</a:t>
            </a:r>
            <a:r>
              <a:rPr dirty="0"/>
              <a:t> </a:t>
            </a:r>
            <a:r>
              <a:rPr dirty="0" err="1"/>
              <a:t>créé</a:t>
            </a:r>
            <a:r>
              <a:rPr dirty="0"/>
              <a:t> un </a:t>
            </a:r>
            <a:r>
              <a:rPr dirty="0" err="1"/>
              <a:t>inconfort</a:t>
            </a:r>
            <a:r>
              <a:rPr dirty="0"/>
              <a:t> </a:t>
            </a:r>
            <a:r>
              <a:rPr dirty="0" err="1"/>
              <a:t>psychologique</a:t>
            </a:r>
          </a:p>
          <a:p>
            <a:pPr>
              <a:defRPr/>
            </a:pPr>
            <a:r>
              <a:rPr dirty="0"/>
              <a:t>Il faut </a:t>
            </a:r>
            <a:r>
              <a:rPr dirty="0" err="1"/>
              <a:t>que</a:t>
            </a:r>
            <a:r>
              <a:rPr dirty="0"/>
              <a:t> </a:t>
            </a:r>
            <a:r>
              <a:rPr dirty="0" err="1"/>
              <a:t>je</a:t>
            </a:r>
            <a:r>
              <a:rPr dirty="0"/>
              <a:t> </a:t>
            </a:r>
            <a:r>
              <a:rPr dirty="0" err="1"/>
              <a:t>croie</a:t>
            </a:r>
            <a:r>
              <a:rPr dirty="0"/>
              <a:t> </a:t>
            </a:r>
            <a:r>
              <a:rPr dirty="0" err="1"/>
              <a:t>que</a:t>
            </a:r>
            <a:r>
              <a:rPr dirty="0"/>
              <a:t> </a:t>
            </a:r>
            <a:r>
              <a:rPr dirty="0" err="1"/>
              <a:t>cet</a:t>
            </a:r>
            <a:r>
              <a:rPr dirty="0"/>
              <a:t> </a:t>
            </a:r>
            <a:r>
              <a:rPr dirty="0" err="1"/>
              <a:t>inconfort</a:t>
            </a:r>
            <a:r>
              <a:rPr dirty="0"/>
              <a:t> </a:t>
            </a:r>
            <a:r>
              <a:rPr dirty="0" err="1"/>
              <a:t>psychologique</a:t>
            </a:r>
            <a:r>
              <a:rPr dirty="0"/>
              <a:t> se </a:t>
            </a:r>
            <a:r>
              <a:rPr dirty="0" err="1"/>
              <a:t>transforme</a:t>
            </a:r>
            <a:r>
              <a:rPr dirty="0"/>
              <a:t> dans le </a:t>
            </a:r>
            <a:r>
              <a:rPr dirty="0" err="1"/>
              <a:t>comportement</a:t>
            </a:r>
            <a:r>
              <a:rPr dirty="0"/>
              <a:t> </a:t>
            </a:r>
            <a:r>
              <a:rPr dirty="0" err="1"/>
              <a:t>que</a:t>
            </a:r>
            <a:r>
              <a:rPr dirty="0"/>
              <a:t> je </a:t>
            </a:r>
            <a:r>
              <a:rPr dirty="0" err="1"/>
              <a:t>mesure</a:t>
            </a:r>
            <a:r>
              <a:rPr dirty="0"/>
              <a:t>.</a:t>
            </a:r>
          </a:p>
          <a:p>
            <a:pPr>
              <a:defRPr/>
            </a:pPr>
            <a:endParaRPr/>
          </a:p>
          <a:p>
            <a:pPr>
              <a:defRPr/>
            </a:pPr>
            <a:r>
              <a:rPr dirty="0" err="1"/>
              <a:t>Toutes</a:t>
            </a:r>
            <a:r>
              <a:rPr dirty="0"/>
              <a:t> </a:t>
            </a:r>
            <a:r>
              <a:rPr dirty="0" err="1"/>
              <a:t>ces</a:t>
            </a:r>
            <a:r>
              <a:rPr dirty="0"/>
              <a:t> </a:t>
            </a:r>
            <a:r>
              <a:rPr dirty="0" err="1"/>
              <a:t>croyances</a:t>
            </a:r>
            <a:r>
              <a:rPr dirty="0"/>
              <a:t> </a:t>
            </a:r>
            <a:r>
              <a:rPr dirty="0" err="1"/>
              <a:t>que</a:t>
            </a:r>
            <a:r>
              <a:rPr dirty="0"/>
              <a:t> </a:t>
            </a:r>
            <a:r>
              <a:rPr dirty="0" err="1"/>
              <a:t>j’ai</a:t>
            </a:r>
            <a:r>
              <a:rPr dirty="0"/>
              <a:t> </a:t>
            </a:r>
            <a:r>
              <a:rPr dirty="0" err="1"/>
              <a:t>en</a:t>
            </a:r>
            <a:r>
              <a:rPr dirty="0"/>
              <a:t> tant </a:t>
            </a:r>
            <a:r>
              <a:rPr dirty="0" err="1"/>
              <a:t>que</a:t>
            </a:r>
            <a:r>
              <a:rPr dirty="0"/>
              <a:t> </a:t>
            </a:r>
            <a:r>
              <a:rPr dirty="0" err="1"/>
              <a:t>chercheurs</a:t>
            </a:r>
            <a:r>
              <a:rPr dirty="0"/>
              <a:t> </a:t>
            </a:r>
            <a:r>
              <a:rPr dirty="0" err="1"/>
              <a:t>peuvent</a:t>
            </a:r>
            <a:r>
              <a:rPr dirty="0"/>
              <a:t> </a:t>
            </a:r>
            <a:r>
              <a:rPr dirty="0" err="1"/>
              <a:t>devenir</a:t>
            </a:r>
            <a:r>
              <a:rPr dirty="0"/>
              <a:t> des explications de « </a:t>
            </a:r>
            <a:r>
              <a:rPr dirty="0" err="1"/>
              <a:t>pourquoi</a:t>
            </a:r>
            <a:r>
              <a:rPr dirty="0"/>
              <a:t> </a:t>
            </a:r>
            <a:r>
              <a:rPr dirty="0" err="1"/>
              <a:t>ça</a:t>
            </a:r>
            <a:r>
              <a:rPr dirty="0"/>
              <a:t> </a:t>
            </a:r>
            <a:r>
              <a:rPr dirty="0" err="1"/>
              <a:t>n’a</a:t>
            </a:r>
            <a:r>
              <a:rPr dirty="0"/>
              <a:t> pas </a:t>
            </a:r>
            <a:r>
              <a:rPr dirty="0" err="1"/>
              <a:t>marché</a:t>
            </a:r>
            <a:r>
              <a:rPr dirty="0"/>
              <a:t> » </a:t>
            </a:r>
            <a:r>
              <a:rPr dirty="0" err="1"/>
              <a:t>si</a:t>
            </a:r>
            <a:r>
              <a:rPr dirty="0"/>
              <a:t> </a:t>
            </a:r>
            <a:r>
              <a:rPr dirty="0" err="1"/>
              <a:t>ça</a:t>
            </a:r>
            <a:r>
              <a:rPr dirty="0"/>
              <a:t> ne </a:t>
            </a:r>
            <a:r>
              <a:rPr dirty="0" err="1"/>
              <a:t>marche</a:t>
            </a:r>
            <a:r>
              <a:rPr dirty="0"/>
              <a:t> pas, explications qui ne </a:t>
            </a:r>
            <a:r>
              <a:rPr dirty="0" err="1"/>
              <a:t>remettent</a:t>
            </a:r>
            <a:r>
              <a:rPr dirty="0"/>
              <a:t> pas </a:t>
            </a:r>
            <a:r>
              <a:rPr dirty="0" err="1"/>
              <a:t>en</a:t>
            </a:r>
            <a:r>
              <a:rPr dirty="0"/>
              <a:t> question la </a:t>
            </a:r>
            <a:r>
              <a:rPr dirty="0" err="1"/>
              <a:t>théorie</a:t>
            </a:r>
            <a:r>
              <a:rPr dirty="0"/>
              <a:t> de la dissonance cognitive.</a:t>
            </a:r>
          </a:p>
          <a:p>
            <a:pPr>
              <a:defRPr/>
            </a:pPr>
            <a:endParaRPr dirty="0"/>
          </a:p>
          <a:p>
            <a:pPr>
              <a:defRPr/>
            </a:pPr>
            <a:r>
              <a:rPr lang="fr-FR" dirty="0" err="1"/>
              <a:t>Autrement</a:t>
            </a:r>
            <a:r>
              <a:rPr lang="fr-FR" dirty="0"/>
              <a:t> </a:t>
            </a:r>
            <a:r>
              <a:rPr lang="fr-FR" dirty="0" err="1"/>
              <a:t>dit</a:t>
            </a:r>
            <a:r>
              <a:rPr lang="fr-FR" dirty="0"/>
              <a:t>, un </a:t>
            </a:r>
            <a:r>
              <a:rPr lang="fr-FR" dirty="0" err="1"/>
              <a:t>chercheur</a:t>
            </a:r>
            <a:r>
              <a:rPr lang="fr-FR" dirty="0"/>
              <a:t> ne teste jamais </a:t>
            </a:r>
            <a:r>
              <a:rPr lang="fr-FR" dirty="0" err="1"/>
              <a:t>une</a:t>
            </a:r>
            <a:r>
              <a:rPr lang="fr-FR" dirty="0"/>
              <a:t> théorie, il teste une régularité des données dans un bruit lié à l'expérimentation ET liés aux croyances qui doivent être justes mais qui ne sont pas prouvables pour pouvoir tester la théorie. En conclusion</a:t>
            </a:r>
            <a:r>
              <a:rPr lang="fr-FR"/>
              <a:t>, une expérimentation ne permet jamais de tester une théorie.</a:t>
            </a:r>
          </a:p>
          <a:p>
            <a:pPr>
              <a:defRPr/>
            </a:pPr>
            <a:endParaRPr lang="fr-FR"/>
          </a:p>
        </p:txBody>
      </p:sp>
      <p:sp>
        <p:nvSpPr>
          <p:cNvPr id="1215451422" name="Slide Number Placeholder 3"/>
          <p:cNvSpPr>
            <a:spLocks noGrp="1"/>
          </p:cNvSpPr>
          <p:nvPr>
            <p:ph type="sldNum" sz="quarter" idx="10"/>
          </p:nvPr>
        </p:nvSpPr>
        <p:spPr bwMode="auto"/>
        <p:txBody>
          <a:bodyPr/>
          <a:lstStyle/>
          <a:p>
            <a:pPr>
              <a:defRPr/>
            </a:pPr>
            <a:fld id="{2F921170-29AB-067A-A7CC-49AA5C83D948}"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63715274" name="Slide Image Placeholder 1"/>
          <p:cNvSpPr>
            <a:spLocks noGrp="1" noRot="1" noChangeAspect="1"/>
          </p:cNvSpPr>
          <p:nvPr>
            <p:ph type="sldImg"/>
          </p:nvPr>
        </p:nvSpPr>
        <p:spPr bwMode="auto"/>
      </p:sp>
      <p:sp>
        <p:nvSpPr>
          <p:cNvPr id="271082901" name="Notes Placeholder 2"/>
          <p:cNvSpPr>
            <a:spLocks noGrp="1"/>
          </p:cNvSpPr>
          <p:nvPr>
            <p:ph type="body" idx="1"/>
          </p:nvPr>
        </p:nvSpPr>
        <p:spPr bwMode="auto"/>
        <p:txBody>
          <a:bodyPr/>
          <a:lstStyle/>
          <a:p>
            <a:pPr>
              <a:defRPr/>
            </a:pPr>
            <a:endParaRPr/>
          </a:p>
        </p:txBody>
      </p:sp>
      <p:sp>
        <p:nvSpPr>
          <p:cNvPr id="1565475100" name="Slide Number Placeholder 3"/>
          <p:cNvSpPr>
            <a:spLocks noGrp="1"/>
          </p:cNvSpPr>
          <p:nvPr>
            <p:ph type="sldNum" sz="quarter" idx="10"/>
          </p:nvPr>
        </p:nvSpPr>
        <p:spPr bwMode="auto"/>
        <p:txBody>
          <a:bodyPr/>
          <a:lstStyle/>
          <a:p>
            <a:pPr>
              <a:defRPr/>
            </a:pPr>
            <a:fld id="{745B49BF-9EED-DC94-0817-8799F58C3691}"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2523778" name="Slide Image Placeholder 1"/>
          <p:cNvSpPr>
            <a:spLocks noGrp="1" noRot="1" noChangeAspect="1"/>
          </p:cNvSpPr>
          <p:nvPr>
            <p:ph type="sldImg"/>
          </p:nvPr>
        </p:nvSpPr>
        <p:spPr bwMode="auto"/>
      </p:sp>
      <p:sp>
        <p:nvSpPr>
          <p:cNvPr id="1646903163" name="Notes Placeholder 2"/>
          <p:cNvSpPr>
            <a:spLocks noGrp="1"/>
          </p:cNvSpPr>
          <p:nvPr>
            <p:ph type="body" idx="1"/>
          </p:nvPr>
        </p:nvSpPr>
        <p:spPr bwMode="auto"/>
        <p:txBody>
          <a:bodyPr/>
          <a:lstStyle/>
          <a:p>
            <a:pPr>
              <a:defRPr/>
            </a:pPr>
            <a:endParaRPr/>
          </a:p>
        </p:txBody>
      </p:sp>
      <p:sp>
        <p:nvSpPr>
          <p:cNvPr id="1474989055" name="Slide Number Placeholder 3"/>
          <p:cNvSpPr>
            <a:spLocks noGrp="1"/>
          </p:cNvSpPr>
          <p:nvPr>
            <p:ph type="sldNum" sz="quarter" idx="10"/>
          </p:nvPr>
        </p:nvSpPr>
        <p:spPr bwMode="auto"/>
        <p:txBody>
          <a:bodyPr/>
          <a:lstStyle/>
          <a:p>
            <a:pPr>
              <a:defRPr/>
            </a:pPr>
            <a:fld id="{ACEC1C74-24F5-024B-4876-22D90E2C1F9B}"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71263743" name="Slide Image Placeholder 1"/>
          <p:cNvSpPr>
            <a:spLocks noGrp="1" noRot="1" noChangeAspect="1"/>
          </p:cNvSpPr>
          <p:nvPr>
            <p:ph type="sldImg"/>
          </p:nvPr>
        </p:nvSpPr>
        <p:spPr bwMode="auto"/>
      </p:sp>
      <p:sp>
        <p:nvSpPr>
          <p:cNvPr id="2088800781" name="Notes Placeholder 2"/>
          <p:cNvSpPr>
            <a:spLocks noGrp="1"/>
          </p:cNvSpPr>
          <p:nvPr>
            <p:ph type="body" idx="1"/>
          </p:nvPr>
        </p:nvSpPr>
        <p:spPr bwMode="auto"/>
        <p:txBody>
          <a:bodyPr/>
          <a:lstStyle/>
          <a:p>
            <a:pPr>
              <a:defRPr/>
            </a:pPr>
            <a:endParaRPr/>
          </a:p>
        </p:txBody>
      </p:sp>
      <p:sp>
        <p:nvSpPr>
          <p:cNvPr id="1078501601" name="Slide Number Placeholder 3"/>
          <p:cNvSpPr>
            <a:spLocks noGrp="1"/>
          </p:cNvSpPr>
          <p:nvPr>
            <p:ph type="sldNum" sz="quarter" idx="10"/>
          </p:nvPr>
        </p:nvSpPr>
        <p:spPr bwMode="auto"/>
        <p:txBody>
          <a:bodyPr/>
          <a:lstStyle/>
          <a:p>
            <a:pPr>
              <a:defRPr/>
            </a:pPr>
            <a:fld id="{5FB0B2EC-7E5A-4A53-4B0F-9454214006A8}"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48123538" name="Slide Image Placeholder 1"/>
          <p:cNvSpPr>
            <a:spLocks noGrp="1" noRot="1" noChangeAspect="1"/>
          </p:cNvSpPr>
          <p:nvPr>
            <p:ph type="sldImg"/>
          </p:nvPr>
        </p:nvSpPr>
        <p:spPr bwMode="auto"/>
      </p:sp>
      <p:sp>
        <p:nvSpPr>
          <p:cNvPr id="1262178429" name="Notes Placeholder 2"/>
          <p:cNvSpPr>
            <a:spLocks noGrp="1"/>
          </p:cNvSpPr>
          <p:nvPr>
            <p:ph type="body" idx="1"/>
          </p:nvPr>
        </p:nvSpPr>
        <p:spPr bwMode="auto"/>
        <p:txBody>
          <a:bodyPr/>
          <a:lstStyle/>
          <a:p>
            <a:pPr>
              <a:defRPr/>
            </a:pPr>
            <a:r>
              <a:rPr lang="fr-FR" dirty="0" err="1"/>
              <a:t>Exemple</a:t>
            </a:r>
            <a:r>
              <a:rPr lang="fr-FR" dirty="0"/>
              <a:t> </a:t>
            </a:r>
            <a:r>
              <a:rPr lang="fr-FR" dirty="0" err="1"/>
              <a:t>d'hypothèse</a:t>
            </a:r>
            <a:r>
              <a:rPr lang="fr-FR" dirty="0"/>
              <a:t> </a:t>
            </a:r>
            <a:r>
              <a:rPr lang="fr-FR" dirty="0" err="1"/>
              <a:t>en</a:t>
            </a:r>
            <a:r>
              <a:rPr lang="fr-FR"/>
              <a:t> physique et en psycho</a:t>
            </a:r>
            <a:endParaRPr/>
          </a:p>
        </p:txBody>
      </p:sp>
      <p:sp>
        <p:nvSpPr>
          <p:cNvPr id="225744493" name="Slide Number Placeholder 3"/>
          <p:cNvSpPr>
            <a:spLocks noGrp="1"/>
          </p:cNvSpPr>
          <p:nvPr>
            <p:ph type="sldNum" sz="quarter" idx="10"/>
          </p:nvPr>
        </p:nvSpPr>
        <p:spPr bwMode="auto"/>
        <p:txBody>
          <a:bodyPr/>
          <a:lstStyle/>
          <a:p>
            <a:pPr>
              <a:defRPr/>
            </a:pPr>
            <a:fld id="{C70CE8BC-5D94-CA38-AF4F-B0C19307D24C}"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6690078" name="Slide Image Placeholder 1"/>
          <p:cNvSpPr>
            <a:spLocks noGrp="1" noRot="1" noChangeAspect="1"/>
          </p:cNvSpPr>
          <p:nvPr>
            <p:ph type="sldImg"/>
          </p:nvPr>
        </p:nvSpPr>
        <p:spPr bwMode="auto"/>
      </p:sp>
      <p:sp>
        <p:nvSpPr>
          <p:cNvPr id="966238838" name="Notes Placeholder 2"/>
          <p:cNvSpPr>
            <a:spLocks noGrp="1"/>
          </p:cNvSpPr>
          <p:nvPr>
            <p:ph type="body" idx="1"/>
          </p:nvPr>
        </p:nvSpPr>
        <p:spPr bwMode="auto"/>
        <p:txBody>
          <a:bodyPr/>
          <a:lstStyle/>
          <a:p>
            <a:pPr>
              <a:defRPr/>
            </a:pPr>
            <a:r>
              <a:rPr lang="fr-FR"/>
              <a:t>En psychologie, on ne teste jamais H0 – toutes les autres valeurs possibles versus H1 une seule valeur prédite possible. On teste l'inverse, H0 m = 0 et H1 toutes les autres valeurs possibles ou dans le cas de l'unilatéral, la moitié des valeurs possibles</a:t>
            </a:r>
            <a:endParaRPr/>
          </a:p>
        </p:txBody>
      </p:sp>
      <p:sp>
        <p:nvSpPr>
          <p:cNvPr id="1599535957" name="Slide Number Placeholder 3"/>
          <p:cNvSpPr>
            <a:spLocks noGrp="1"/>
          </p:cNvSpPr>
          <p:nvPr>
            <p:ph type="sldNum" sz="quarter" idx="10"/>
          </p:nvPr>
        </p:nvSpPr>
        <p:spPr bwMode="auto"/>
        <p:txBody>
          <a:bodyPr/>
          <a:lstStyle/>
          <a:p>
            <a:pPr>
              <a:defRPr/>
            </a:pPr>
            <a:fld id="{6BADD8D6-A14E-B277-A5A5-D4D2C3E3D075}"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3635798" name="Slide Image Placeholder 1"/>
          <p:cNvSpPr>
            <a:spLocks noGrp="1" noRot="1" noChangeAspect="1"/>
          </p:cNvSpPr>
          <p:nvPr>
            <p:ph type="sldImg"/>
          </p:nvPr>
        </p:nvSpPr>
        <p:spPr bwMode="auto"/>
      </p:sp>
      <p:sp>
        <p:nvSpPr>
          <p:cNvPr id="1762961842" name="Notes Placeholder 2"/>
          <p:cNvSpPr>
            <a:spLocks noGrp="1"/>
          </p:cNvSpPr>
          <p:nvPr>
            <p:ph type="body" idx="1"/>
          </p:nvPr>
        </p:nvSpPr>
        <p:spPr bwMode="auto"/>
        <p:txBody>
          <a:bodyPr/>
          <a:lstStyle/>
          <a:p>
            <a:pPr>
              <a:defRPr/>
            </a:pPr>
            <a:endParaRPr/>
          </a:p>
        </p:txBody>
      </p:sp>
      <p:sp>
        <p:nvSpPr>
          <p:cNvPr id="131787433" name="Slide Number Placeholder 3"/>
          <p:cNvSpPr>
            <a:spLocks noGrp="1"/>
          </p:cNvSpPr>
          <p:nvPr>
            <p:ph type="sldNum" sz="quarter" idx="10"/>
          </p:nvPr>
        </p:nvSpPr>
        <p:spPr bwMode="auto"/>
        <p:txBody>
          <a:bodyPr/>
          <a:lstStyle/>
          <a:p>
            <a:pPr>
              <a:defRPr/>
            </a:pPr>
            <a:fld id="{361B6438-7B4B-A580-72DD-3B42ADB8AB95}"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14058891" name="Slide Image Placeholder 1"/>
          <p:cNvSpPr>
            <a:spLocks noGrp="1" noRot="1" noChangeAspect="1"/>
          </p:cNvSpPr>
          <p:nvPr>
            <p:ph type="sldImg"/>
          </p:nvPr>
        </p:nvSpPr>
        <p:spPr bwMode="auto"/>
      </p:sp>
      <p:sp>
        <p:nvSpPr>
          <p:cNvPr id="543264961" name="Notes Placeholder 2"/>
          <p:cNvSpPr>
            <a:spLocks noGrp="1"/>
          </p:cNvSpPr>
          <p:nvPr>
            <p:ph type="body" idx="1"/>
          </p:nvPr>
        </p:nvSpPr>
        <p:spPr bwMode="auto"/>
        <p:txBody>
          <a:bodyPr/>
          <a:lstStyle/>
          <a:p>
            <a:pPr>
              <a:defRPr/>
            </a:pPr>
            <a:r>
              <a:rPr lang="fr-FR"/>
              <a:t>Tous nos effets ne seraient-ils pas que des faux positifs ?</a:t>
            </a:r>
            <a:endParaRPr/>
          </a:p>
        </p:txBody>
      </p:sp>
      <p:sp>
        <p:nvSpPr>
          <p:cNvPr id="1399275060" name="Slide Number Placeholder 3"/>
          <p:cNvSpPr>
            <a:spLocks noGrp="1"/>
          </p:cNvSpPr>
          <p:nvPr>
            <p:ph type="sldNum" sz="quarter" idx="10"/>
          </p:nvPr>
        </p:nvSpPr>
        <p:spPr bwMode="auto"/>
        <p:txBody>
          <a:bodyPr/>
          <a:lstStyle/>
          <a:p>
            <a:pPr>
              <a:defRPr/>
            </a:pPr>
            <a:fld id="{C4518728-6B13-F23E-A5DA-F5EB39EB9AD7}"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54659" name="Slide Image Placeholder 1"/>
          <p:cNvSpPr>
            <a:spLocks noGrp="1" noRot="1" noChangeAspect="1"/>
          </p:cNvSpPr>
          <p:nvPr>
            <p:ph type="sldImg"/>
          </p:nvPr>
        </p:nvSpPr>
        <p:spPr bwMode="auto"/>
      </p:sp>
      <p:sp>
        <p:nvSpPr>
          <p:cNvPr id="395943003" name="Notes Placeholder 2"/>
          <p:cNvSpPr>
            <a:spLocks noGrp="1"/>
          </p:cNvSpPr>
          <p:nvPr>
            <p:ph type="body" idx="1"/>
          </p:nvPr>
        </p:nvSpPr>
        <p:spPr bwMode="auto"/>
        <p:txBody>
          <a:bodyPr/>
          <a:lstStyle/>
          <a:p>
            <a:pPr>
              <a:defRPr/>
            </a:pPr>
            <a:endParaRPr/>
          </a:p>
        </p:txBody>
      </p:sp>
      <p:sp>
        <p:nvSpPr>
          <p:cNvPr id="1701097726" name="Slide Number Placeholder 3"/>
          <p:cNvSpPr>
            <a:spLocks noGrp="1"/>
          </p:cNvSpPr>
          <p:nvPr>
            <p:ph type="sldNum" sz="quarter" idx="10"/>
          </p:nvPr>
        </p:nvSpPr>
        <p:spPr bwMode="auto"/>
        <p:txBody>
          <a:bodyPr/>
          <a:lstStyle/>
          <a:p>
            <a:pPr>
              <a:defRPr/>
            </a:pPr>
            <a:fld id="{B241AC84-58B4-79B1-B691-F902C4E2288D}"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14293743" name="Slide Image Placeholder 1"/>
          <p:cNvSpPr>
            <a:spLocks noGrp="1" noRot="1" noChangeAspect="1"/>
          </p:cNvSpPr>
          <p:nvPr>
            <p:ph type="sldImg"/>
          </p:nvPr>
        </p:nvSpPr>
        <p:spPr bwMode="auto"/>
      </p:sp>
      <p:sp>
        <p:nvSpPr>
          <p:cNvPr id="332219495" name="Notes Placeholder 2"/>
          <p:cNvSpPr>
            <a:spLocks noGrp="1"/>
          </p:cNvSpPr>
          <p:nvPr>
            <p:ph type="body" idx="1"/>
          </p:nvPr>
        </p:nvSpPr>
        <p:spPr bwMode="auto"/>
        <p:txBody>
          <a:bodyPr/>
          <a:lstStyle/>
          <a:p>
            <a:pPr>
              <a:defRPr/>
            </a:pPr>
            <a:endParaRPr/>
          </a:p>
        </p:txBody>
      </p:sp>
      <p:sp>
        <p:nvSpPr>
          <p:cNvPr id="1819706830" name="Slide Number Placeholder 3"/>
          <p:cNvSpPr>
            <a:spLocks noGrp="1"/>
          </p:cNvSpPr>
          <p:nvPr>
            <p:ph type="sldNum" sz="quarter" idx="10"/>
          </p:nvPr>
        </p:nvSpPr>
        <p:spPr bwMode="auto"/>
        <p:txBody>
          <a:bodyPr/>
          <a:lstStyle/>
          <a:p>
            <a:pPr>
              <a:defRPr/>
            </a:pPr>
            <a:fld id="{2F29E22F-B5F1-4D1F-1D9C-417821B5561E}"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50804941" name="Slide Image Placeholder 1"/>
          <p:cNvSpPr>
            <a:spLocks noGrp="1" noRot="1" noChangeAspect="1"/>
          </p:cNvSpPr>
          <p:nvPr>
            <p:ph type="sldImg"/>
          </p:nvPr>
        </p:nvSpPr>
        <p:spPr bwMode="auto"/>
      </p:sp>
      <p:sp>
        <p:nvSpPr>
          <p:cNvPr id="284722164" name="Notes Placeholder 2"/>
          <p:cNvSpPr>
            <a:spLocks noGrp="1"/>
          </p:cNvSpPr>
          <p:nvPr>
            <p:ph type="body" idx="1"/>
          </p:nvPr>
        </p:nvSpPr>
        <p:spPr bwMode="auto"/>
        <p:txBody>
          <a:bodyPr/>
          <a:lstStyle/>
          <a:p>
            <a:pPr>
              <a:defRPr/>
            </a:pPr>
            <a:r>
              <a:rPr lang="fr-FR" dirty="0" err="1"/>
              <a:t>UNe</a:t>
            </a:r>
            <a:r>
              <a:rPr lang="fr-FR" dirty="0"/>
              <a:t> science qui fait </a:t>
            </a:r>
            <a:r>
              <a:rPr lang="fr-FR" dirty="0" err="1"/>
              <a:t>des hypothèse unilatérale</a:t>
            </a:r>
            <a:r>
              <a:rPr lang="fr-FR" dirty="0"/>
              <a:t> et dont, sur le long terme, a un taux de reproductibilité de 50% teste probablement essentiellement des théories aléatoires.</a:t>
            </a:r>
          </a:p>
        </p:txBody>
      </p:sp>
      <p:sp>
        <p:nvSpPr>
          <p:cNvPr id="1307609144" name="Slide Number Placeholder 3"/>
          <p:cNvSpPr>
            <a:spLocks noGrp="1"/>
          </p:cNvSpPr>
          <p:nvPr>
            <p:ph type="sldNum" sz="quarter" idx="10"/>
          </p:nvPr>
        </p:nvSpPr>
        <p:spPr bwMode="auto"/>
        <p:txBody>
          <a:bodyPr/>
          <a:lstStyle/>
          <a:p>
            <a:pPr>
              <a:defRPr/>
            </a:pPr>
            <a:fld id="{39130B8B-7284-3929-0A53-FAD10923DC27}"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70659330" name="Slide Image Placeholder 1"/>
          <p:cNvSpPr>
            <a:spLocks noGrp="1" noRot="1" noChangeAspect="1"/>
          </p:cNvSpPr>
          <p:nvPr>
            <p:ph type="sldImg"/>
          </p:nvPr>
        </p:nvSpPr>
        <p:spPr bwMode="auto"/>
      </p:sp>
      <p:sp>
        <p:nvSpPr>
          <p:cNvPr id="1164002151" name="Notes Placeholder 2"/>
          <p:cNvSpPr>
            <a:spLocks noGrp="1"/>
          </p:cNvSpPr>
          <p:nvPr>
            <p:ph type="body" idx="1"/>
          </p:nvPr>
        </p:nvSpPr>
        <p:spPr bwMode="auto"/>
        <p:txBody>
          <a:bodyPr/>
          <a:lstStyle/>
          <a:p>
            <a:pPr>
              <a:defRPr/>
            </a:pPr>
            <a:endParaRPr/>
          </a:p>
        </p:txBody>
      </p:sp>
      <p:sp>
        <p:nvSpPr>
          <p:cNvPr id="957742007" name="Slide Number Placeholder 3"/>
          <p:cNvSpPr>
            <a:spLocks noGrp="1"/>
          </p:cNvSpPr>
          <p:nvPr>
            <p:ph type="sldNum" sz="quarter" idx="10"/>
          </p:nvPr>
        </p:nvSpPr>
        <p:spPr bwMode="auto"/>
        <p:txBody>
          <a:bodyPr/>
          <a:lstStyle/>
          <a:p>
            <a:pPr>
              <a:defRPr/>
            </a:pPr>
            <a:fld id="{A61BB86B-09DB-6BF7-9D19-F3C1552C0505}"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5908382" name="Slide Image Placeholder 1"/>
          <p:cNvSpPr>
            <a:spLocks noGrp="1" noRot="1" noChangeAspect="1"/>
          </p:cNvSpPr>
          <p:nvPr>
            <p:ph type="sldImg"/>
          </p:nvPr>
        </p:nvSpPr>
        <p:spPr bwMode="auto"/>
      </p:sp>
      <p:sp>
        <p:nvSpPr>
          <p:cNvPr id="872194141" name="Notes Placeholder 2"/>
          <p:cNvSpPr>
            <a:spLocks noGrp="1"/>
          </p:cNvSpPr>
          <p:nvPr>
            <p:ph type="body" idx="1"/>
          </p:nvPr>
        </p:nvSpPr>
        <p:spPr bwMode="auto"/>
        <p:txBody>
          <a:bodyPr/>
          <a:lstStyle/>
          <a:p>
            <a:pPr>
              <a:defRPr/>
            </a:pPr>
            <a:r>
              <a:rPr dirty="0"/>
              <a:t>3. </a:t>
            </a:r>
            <a:r>
              <a:rPr lang="fr-FR" dirty="0"/>
              <a:t>clause </a:t>
            </a:r>
            <a:r>
              <a:rPr lang="fr-FR" dirty="0" err="1"/>
              <a:t>ceteris</a:t>
            </a:r>
            <a:r>
              <a:rPr lang="fr-FR" dirty="0"/>
              <a:t> </a:t>
            </a:r>
            <a:r>
              <a:rPr lang="fr-FR" dirty="0" err="1"/>
              <a:t>paribus</a:t>
            </a:r>
            <a:r>
              <a:rPr lang="fr-FR" dirty="0"/>
              <a:t> :  </a:t>
            </a:r>
            <a:r>
              <a:rPr dirty="0" err="1"/>
              <a:t>Imaginons</a:t>
            </a:r>
            <a:r>
              <a:rPr dirty="0"/>
              <a:t> </a:t>
            </a:r>
            <a:r>
              <a:rPr dirty="0" err="1"/>
              <a:t>que</a:t>
            </a:r>
            <a:r>
              <a:rPr dirty="0"/>
              <a:t> </a:t>
            </a:r>
            <a:r>
              <a:rPr dirty="0" err="1"/>
              <a:t>je</a:t>
            </a:r>
            <a:r>
              <a:rPr dirty="0"/>
              <a:t> </a:t>
            </a:r>
            <a:r>
              <a:rPr dirty="0" err="1"/>
              <a:t>veuille</a:t>
            </a:r>
            <a:r>
              <a:rPr dirty="0"/>
              <a:t> voir </a:t>
            </a:r>
            <a:r>
              <a:rPr dirty="0" err="1"/>
              <a:t>si</a:t>
            </a:r>
            <a:r>
              <a:rPr dirty="0"/>
              <a:t> donner un 0/20 </a:t>
            </a:r>
            <a:r>
              <a:rPr dirty="0" err="1"/>
              <a:t>augmente</a:t>
            </a:r>
            <a:r>
              <a:rPr dirty="0"/>
              <a:t> le stress </a:t>
            </a:r>
            <a:r>
              <a:rPr dirty="0" err="1"/>
              <a:t>d’échec</a:t>
            </a:r>
            <a:r>
              <a:rPr dirty="0"/>
              <a:t> </a:t>
            </a:r>
            <a:r>
              <a:rPr dirty="0" err="1"/>
              <a:t>scolaire</a:t>
            </a:r>
            <a:r>
              <a:rPr dirty="0"/>
              <a:t> par rapport à la </a:t>
            </a:r>
            <a:r>
              <a:rPr dirty="0" err="1"/>
              <a:t>moyenne</a:t>
            </a:r>
            <a:r>
              <a:rPr dirty="0"/>
              <a:t> finale du </a:t>
            </a:r>
            <a:r>
              <a:rPr dirty="0" err="1"/>
              <a:t>semestre</a:t>
            </a:r>
            <a:r>
              <a:rPr dirty="0"/>
              <a:t> par rapport à donner 20/20 au </a:t>
            </a:r>
            <a:r>
              <a:rPr dirty="0" err="1"/>
              <a:t>groupe</a:t>
            </a:r>
            <a:r>
              <a:rPr dirty="0"/>
              <a:t> </a:t>
            </a:r>
            <a:r>
              <a:rPr dirty="0" err="1"/>
              <a:t>contrôle</a:t>
            </a:r>
            <a:r>
              <a:rPr dirty="0"/>
              <a:t>. </a:t>
            </a:r>
            <a:r>
              <a:rPr dirty="0" err="1"/>
              <a:t>Qu’est</a:t>
            </a:r>
            <a:r>
              <a:rPr dirty="0"/>
              <a:t> </a:t>
            </a:r>
            <a:r>
              <a:rPr dirty="0" err="1"/>
              <a:t>ce</a:t>
            </a:r>
            <a:r>
              <a:rPr dirty="0"/>
              <a:t> qui nous </a:t>
            </a:r>
            <a:r>
              <a:rPr dirty="0" err="1"/>
              <a:t>dit</a:t>
            </a:r>
            <a:r>
              <a:rPr dirty="0"/>
              <a:t> </a:t>
            </a:r>
            <a:r>
              <a:rPr dirty="0" err="1"/>
              <a:t>que</a:t>
            </a:r>
            <a:r>
              <a:rPr dirty="0"/>
              <a:t> les </a:t>
            </a:r>
            <a:r>
              <a:rPr dirty="0" err="1"/>
              <a:t>personnes</a:t>
            </a:r>
            <a:r>
              <a:rPr dirty="0"/>
              <a:t> qui </a:t>
            </a:r>
            <a:r>
              <a:rPr dirty="0" err="1"/>
              <a:t>recoivent</a:t>
            </a:r>
            <a:r>
              <a:rPr dirty="0"/>
              <a:t> 20/20 ne </a:t>
            </a:r>
            <a:r>
              <a:rPr dirty="0" err="1"/>
              <a:t>vont</a:t>
            </a:r>
            <a:r>
              <a:rPr dirty="0"/>
              <a:t> pas se </a:t>
            </a:r>
            <a:r>
              <a:rPr dirty="0" err="1"/>
              <a:t>sentir</a:t>
            </a:r>
            <a:r>
              <a:rPr dirty="0"/>
              <a:t> plus </a:t>
            </a:r>
            <a:r>
              <a:rPr dirty="0" err="1"/>
              <a:t>stressé</a:t>
            </a:r>
            <a:r>
              <a:rPr dirty="0"/>
              <a:t> </a:t>
            </a:r>
            <a:r>
              <a:rPr dirty="0" err="1"/>
              <a:t>d’avoir</a:t>
            </a:r>
            <a:r>
              <a:rPr dirty="0"/>
              <a:t> </a:t>
            </a:r>
            <a:r>
              <a:rPr dirty="0" err="1"/>
              <a:t>une</a:t>
            </a:r>
            <a:r>
              <a:rPr dirty="0"/>
              <a:t> </a:t>
            </a:r>
            <a:r>
              <a:rPr dirty="0" err="1"/>
              <a:t>moyenne</a:t>
            </a:r>
            <a:r>
              <a:rPr dirty="0"/>
              <a:t> </a:t>
            </a:r>
            <a:r>
              <a:rPr dirty="0" err="1"/>
              <a:t>inférieure</a:t>
            </a:r>
            <a:r>
              <a:rPr dirty="0"/>
              <a:t> </a:t>
            </a:r>
            <a:r>
              <a:rPr dirty="0" err="1"/>
              <a:t>s’ils</a:t>
            </a:r>
            <a:r>
              <a:rPr dirty="0"/>
              <a:t> </a:t>
            </a:r>
            <a:r>
              <a:rPr dirty="0" err="1"/>
              <a:t>ont</a:t>
            </a:r>
            <a:r>
              <a:rPr dirty="0"/>
              <a:t> ensuite </a:t>
            </a:r>
            <a:r>
              <a:rPr dirty="0" err="1"/>
              <a:t>une</a:t>
            </a:r>
            <a:r>
              <a:rPr dirty="0"/>
              <a:t> </a:t>
            </a:r>
            <a:r>
              <a:rPr dirty="0" err="1"/>
              <a:t>moins</a:t>
            </a:r>
            <a:r>
              <a:rPr dirty="0"/>
              <a:t> bonne note ? On </a:t>
            </a:r>
            <a:r>
              <a:rPr dirty="0" err="1"/>
              <a:t>a</a:t>
            </a:r>
            <a:r>
              <a:rPr dirty="0"/>
              <a:t> </a:t>
            </a:r>
            <a:r>
              <a:rPr dirty="0" err="1"/>
              <a:t>ajouté</a:t>
            </a:r>
            <a:r>
              <a:rPr dirty="0"/>
              <a:t> </a:t>
            </a:r>
            <a:r>
              <a:rPr dirty="0" err="1"/>
              <a:t>une</a:t>
            </a:r>
            <a:r>
              <a:rPr dirty="0"/>
              <a:t> variable </a:t>
            </a:r>
            <a:r>
              <a:rPr dirty="0" err="1"/>
              <a:t>auxiliaire</a:t>
            </a:r>
            <a:r>
              <a:rPr dirty="0"/>
              <a:t> </a:t>
            </a:r>
            <a:r>
              <a:rPr dirty="0" err="1"/>
              <a:t>biaisée</a:t>
            </a:r>
            <a:r>
              <a:rPr dirty="0"/>
              <a:t> pour « </a:t>
            </a:r>
            <a:r>
              <a:rPr dirty="0" err="1"/>
              <a:t>contrôler</a:t>
            </a:r>
            <a:r>
              <a:rPr dirty="0"/>
              <a:t> </a:t>
            </a:r>
            <a:r>
              <a:rPr dirty="0" err="1"/>
              <a:t>toutes</a:t>
            </a:r>
            <a:r>
              <a:rPr dirty="0"/>
              <a:t> choses </a:t>
            </a:r>
            <a:r>
              <a:rPr dirty="0" err="1"/>
              <a:t>égales</a:t>
            </a:r>
            <a:r>
              <a:rPr dirty="0"/>
              <a:t> par </a:t>
            </a:r>
            <a:r>
              <a:rPr dirty="0" err="1"/>
              <a:t>ailleurs</a:t>
            </a:r>
            <a:r>
              <a:rPr dirty="0"/>
              <a:t> »</a:t>
            </a:r>
          </a:p>
        </p:txBody>
      </p:sp>
      <p:sp>
        <p:nvSpPr>
          <p:cNvPr id="548097003" name="Slide Number Placeholder 3"/>
          <p:cNvSpPr>
            <a:spLocks noGrp="1"/>
          </p:cNvSpPr>
          <p:nvPr>
            <p:ph type="sldNum" sz="quarter" idx="10"/>
          </p:nvPr>
        </p:nvSpPr>
        <p:spPr bwMode="auto"/>
        <p:txBody>
          <a:bodyPr/>
          <a:lstStyle/>
          <a:p>
            <a:pPr>
              <a:defRPr/>
            </a:pPr>
            <a:fld id="{DC900277-7D44-4324-F48A-C3BE02C45321}"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8147298" name="Slide Image Placeholder 1"/>
          <p:cNvSpPr>
            <a:spLocks noGrp="1" noRot="1" noChangeAspect="1"/>
          </p:cNvSpPr>
          <p:nvPr>
            <p:ph type="sldImg"/>
          </p:nvPr>
        </p:nvSpPr>
        <p:spPr bwMode="auto"/>
      </p:sp>
      <p:sp>
        <p:nvSpPr>
          <p:cNvPr id="257889637" name="Notes Placeholder 2"/>
          <p:cNvSpPr>
            <a:spLocks noGrp="1"/>
          </p:cNvSpPr>
          <p:nvPr>
            <p:ph type="body" idx="1"/>
          </p:nvPr>
        </p:nvSpPr>
        <p:spPr bwMode="auto"/>
        <p:txBody>
          <a:bodyPr/>
          <a:lstStyle/>
          <a:p>
            <a:pPr>
              <a:defRPr/>
            </a:pPr>
            <a:endParaRPr/>
          </a:p>
        </p:txBody>
      </p:sp>
      <p:sp>
        <p:nvSpPr>
          <p:cNvPr id="1288558293" name="Slide Number Placeholder 3"/>
          <p:cNvSpPr>
            <a:spLocks noGrp="1"/>
          </p:cNvSpPr>
          <p:nvPr>
            <p:ph type="sldNum" sz="quarter" idx="10"/>
          </p:nvPr>
        </p:nvSpPr>
        <p:spPr bwMode="auto"/>
        <p:txBody>
          <a:bodyPr/>
          <a:lstStyle/>
          <a:p>
            <a:pPr>
              <a:defRPr/>
            </a:pPr>
            <a:fld id="{AF4A0C91-70B6-BB32-B724-12F84E84DB14}"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13855187" name="Slide Image Placeholder 1"/>
          <p:cNvSpPr>
            <a:spLocks noGrp="1" noRot="1" noChangeAspect="1"/>
          </p:cNvSpPr>
          <p:nvPr>
            <p:ph type="sldImg"/>
          </p:nvPr>
        </p:nvSpPr>
        <p:spPr bwMode="auto"/>
      </p:sp>
      <p:sp>
        <p:nvSpPr>
          <p:cNvPr id="1235572132" name="Notes Placeholder 2"/>
          <p:cNvSpPr>
            <a:spLocks noGrp="1"/>
          </p:cNvSpPr>
          <p:nvPr>
            <p:ph type="body" idx="1"/>
          </p:nvPr>
        </p:nvSpPr>
        <p:spPr bwMode="auto"/>
        <p:txBody>
          <a:bodyPr/>
          <a:lstStyle/>
          <a:p>
            <a:pPr>
              <a:defRPr/>
            </a:pPr>
            <a:endParaRPr/>
          </a:p>
        </p:txBody>
      </p:sp>
      <p:sp>
        <p:nvSpPr>
          <p:cNvPr id="613578568" name="Slide Number Placeholder 3"/>
          <p:cNvSpPr>
            <a:spLocks noGrp="1"/>
          </p:cNvSpPr>
          <p:nvPr>
            <p:ph type="sldNum" sz="quarter" idx="10"/>
          </p:nvPr>
        </p:nvSpPr>
        <p:spPr bwMode="auto"/>
        <p:txBody>
          <a:bodyPr/>
          <a:lstStyle/>
          <a:p>
            <a:pPr>
              <a:defRPr/>
            </a:pPr>
            <a:fld id="{067A6E76-0DC1-6767-7E6D-2DA9E21C9E94}"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93467450" name="Slide Image Placeholder 1"/>
          <p:cNvSpPr>
            <a:spLocks noGrp="1" noRot="1" noChangeAspect="1"/>
          </p:cNvSpPr>
          <p:nvPr>
            <p:ph type="sldImg"/>
          </p:nvPr>
        </p:nvSpPr>
        <p:spPr bwMode="auto"/>
      </p:sp>
      <p:sp>
        <p:nvSpPr>
          <p:cNvPr id="81131049" name="Notes Placeholder 2"/>
          <p:cNvSpPr>
            <a:spLocks noGrp="1"/>
          </p:cNvSpPr>
          <p:nvPr>
            <p:ph type="body" idx="1"/>
          </p:nvPr>
        </p:nvSpPr>
        <p:spPr bwMode="auto"/>
        <p:txBody>
          <a:bodyPr/>
          <a:lstStyle/>
          <a:p>
            <a:pPr>
              <a:defRPr/>
            </a:pPr>
            <a:endParaRPr/>
          </a:p>
        </p:txBody>
      </p:sp>
      <p:sp>
        <p:nvSpPr>
          <p:cNvPr id="554419483" name="Slide Number Placeholder 3"/>
          <p:cNvSpPr>
            <a:spLocks noGrp="1"/>
          </p:cNvSpPr>
          <p:nvPr>
            <p:ph type="sldNum" sz="quarter" idx="10"/>
          </p:nvPr>
        </p:nvSpPr>
        <p:spPr bwMode="auto"/>
        <p:txBody>
          <a:bodyPr/>
          <a:lstStyle/>
          <a:p>
            <a:pPr>
              <a:defRPr/>
            </a:pPr>
            <a:fld id="{29145FC3-C113-6B6F-9D59-F146966777BE}"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06904194" name="Slide Image Placeholder 1"/>
          <p:cNvSpPr>
            <a:spLocks noGrp="1" noRot="1" noChangeAspect="1"/>
          </p:cNvSpPr>
          <p:nvPr>
            <p:ph type="sldImg"/>
          </p:nvPr>
        </p:nvSpPr>
        <p:spPr bwMode="auto"/>
      </p:sp>
      <p:sp>
        <p:nvSpPr>
          <p:cNvPr id="308590069" name="Notes Placeholder 2"/>
          <p:cNvSpPr>
            <a:spLocks noGrp="1"/>
          </p:cNvSpPr>
          <p:nvPr>
            <p:ph type="body" idx="1"/>
          </p:nvPr>
        </p:nvSpPr>
        <p:spPr bwMode="auto"/>
        <p:txBody>
          <a:bodyPr/>
          <a:lstStyle/>
          <a:p>
            <a:pPr>
              <a:defRPr/>
            </a:pPr>
            <a:r>
              <a:rPr lang="fr-FR"/>
              <a:t>Question générale que chaque chercheur devrait se poser sur son champ de recherche</a:t>
            </a:r>
            <a:endParaRPr/>
          </a:p>
        </p:txBody>
      </p:sp>
      <p:sp>
        <p:nvSpPr>
          <p:cNvPr id="981625770" name="Slide Number Placeholder 3"/>
          <p:cNvSpPr>
            <a:spLocks noGrp="1"/>
          </p:cNvSpPr>
          <p:nvPr>
            <p:ph type="sldNum" sz="quarter" idx="10"/>
          </p:nvPr>
        </p:nvSpPr>
        <p:spPr bwMode="auto"/>
        <p:txBody>
          <a:bodyPr/>
          <a:lstStyle/>
          <a:p>
            <a:pPr>
              <a:defRPr/>
            </a:pPr>
            <a:fld id="{C0195CE1-4F4A-C85F-BA97-D0A58CC5AC76}"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45648791" name="Slide Image Placeholder 1"/>
          <p:cNvSpPr>
            <a:spLocks noGrp="1" noRot="1" noChangeAspect="1"/>
          </p:cNvSpPr>
          <p:nvPr>
            <p:ph type="sldImg"/>
          </p:nvPr>
        </p:nvSpPr>
        <p:spPr bwMode="auto"/>
      </p:sp>
      <p:sp>
        <p:nvSpPr>
          <p:cNvPr id="284247083" name="Notes Placeholder 2"/>
          <p:cNvSpPr>
            <a:spLocks noGrp="1"/>
          </p:cNvSpPr>
          <p:nvPr>
            <p:ph type="body" idx="1"/>
          </p:nvPr>
        </p:nvSpPr>
        <p:spPr bwMode="auto"/>
        <p:txBody>
          <a:bodyPr/>
          <a:lstStyle/>
          <a:p>
            <a:pPr>
              <a:defRPr/>
            </a:pPr>
            <a:endParaRPr/>
          </a:p>
        </p:txBody>
      </p:sp>
      <p:sp>
        <p:nvSpPr>
          <p:cNvPr id="366909276" name="Slide Number Placeholder 3"/>
          <p:cNvSpPr>
            <a:spLocks noGrp="1"/>
          </p:cNvSpPr>
          <p:nvPr>
            <p:ph type="sldNum" sz="quarter" idx="10"/>
          </p:nvPr>
        </p:nvSpPr>
        <p:spPr bwMode="auto"/>
        <p:txBody>
          <a:bodyPr/>
          <a:lstStyle/>
          <a:p>
            <a:pPr>
              <a:defRPr/>
            </a:pPr>
            <a:fld id="{68A0B989-AC47-DB78-FF17-131FC5F905E1}"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6581353" name="Slide Image Placeholder 1"/>
          <p:cNvSpPr>
            <a:spLocks noGrp="1" noRot="1" noChangeAspect="1"/>
          </p:cNvSpPr>
          <p:nvPr>
            <p:ph type="sldImg"/>
          </p:nvPr>
        </p:nvSpPr>
        <p:spPr bwMode="auto"/>
      </p:sp>
      <p:sp>
        <p:nvSpPr>
          <p:cNvPr id="1468148674" name="Notes Placeholder 2"/>
          <p:cNvSpPr>
            <a:spLocks noGrp="1"/>
          </p:cNvSpPr>
          <p:nvPr>
            <p:ph type="body" idx="1"/>
          </p:nvPr>
        </p:nvSpPr>
        <p:spPr bwMode="auto"/>
        <p:txBody>
          <a:bodyPr/>
          <a:lstStyle/>
          <a:p>
            <a:pPr>
              <a:defRPr/>
            </a:pPr>
            <a:r>
              <a:rPr lang="fr-FR" dirty="0"/>
              <a:t>La scientificité de la psychologie provient de la théorie du good </a:t>
            </a:r>
            <a:r>
              <a:rPr lang="fr-FR" dirty="0" err="1"/>
              <a:t>enough</a:t>
            </a:r>
            <a:r>
              <a:rPr lang="fr-FR" dirty="0"/>
              <a:t> proposé par Paul Meehl et </a:t>
            </a:r>
            <a:r>
              <a:rPr lang="fr-FR" dirty="0" err="1"/>
              <a:t>Irme</a:t>
            </a:r>
            <a:r>
              <a:rPr lang="fr-FR" dirty="0"/>
              <a:t> Lakatos</a:t>
            </a:r>
          </a:p>
        </p:txBody>
      </p:sp>
      <p:sp>
        <p:nvSpPr>
          <p:cNvPr id="138052329" name="Slide Number Placeholder 3"/>
          <p:cNvSpPr>
            <a:spLocks noGrp="1"/>
          </p:cNvSpPr>
          <p:nvPr>
            <p:ph type="sldNum" sz="quarter" idx="10"/>
          </p:nvPr>
        </p:nvSpPr>
        <p:spPr bwMode="auto"/>
        <p:txBody>
          <a:bodyPr/>
          <a:lstStyle/>
          <a:p>
            <a:pPr>
              <a:defRPr/>
            </a:pPr>
            <a:fld id="{D0137759-3AC3-2534-C811-FB62920A6EE6}"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17721902" name="Slide Image Placeholder 1"/>
          <p:cNvSpPr>
            <a:spLocks noGrp="1" noRot="1" noChangeAspect="1"/>
          </p:cNvSpPr>
          <p:nvPr>
            <p:ph type="sldImg"/>
          </p:nvPr>
        </p:nvSpPr>
        <p:spPr bwMode="auto"/>
      </p:sp>
      <p:sp>
        <p:nvSpPr>
          <p:cNvPr id="944218992" name="Notes Placeholder 2"/>
          <p:cNvSpPr>
            <a:spLocks noGrp="1"/>
          </p:cNvSpPr>
          <p:nvPr>
            <p:ph type="body" idx="1"/>
          </p:nvPr>
        </p:nvSpPr>
        <p:spPr bwMode="auto"/>
        <p:txBody>
          <a:bodyPr/>
          <a:lstStyle/>
          <a:p>
            <a:pPr>
              <a:defRPr/>
            </a:pPr>
            <a:endParaRPr/>
          </a:p>
        </p:txBody>
      </p:sp>
      <p:sp>
        <p:nvSpPr>
          <p:cNvPr id="183584990" name="Slide Number Placeholder 3"/>
          <p:cNvSpPr>
            <a:spLocks noGrp="1"/>
          </p:cNvSpPr>
          <p:nvPr>
            <p:ph type="sldNum" sz="quarter" idx="10"/>
          </p:nvPr>
        </p:nvSpPr>
        <p:spPr bwMode="auto"/>
        <p:txBody>
          <a:bodyPr/>
          <a:lstStyle/>
          <a:p>
            <a:pPr>
              <a:defRPr/>
            </a:pPr>
            <a:fld id="{57602952-263D-2753-27DE-EDD0BD60DE6C}"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807101" name="Slide Image Placeholder 1"/>
          <p:cNvSpPr>
            <a:spLocks noGrp="1" noRot="1" noChangeAspect="1"/>
          </p:cNvSpPr>
          <p:nvPr>
            <p:ph type="sldImg"/>
          </p:nvPr>
        </p:nvSpPr>
        <p:spPr bwMode="auto"/>
      </p:sp>
      <p:sp>
        <p:nvSpPr>
          <p:cNvPr id="1214513298" name="Notes Placeholder 2"/>
          <p:cNvSpPr>
            <a:spLocks noGrp="1"/>
          </p:cNvSpPr>
          <p:nvPr>
            <p:ph type="body" idx="1"/>
          </p:nvPr>
        </p:nvSpPr>
        <p:spPr bwMode="auto"/>
        <p:txBody>
          <a:bodyPr/>
          <a:lstStyle/>
          <a:p>
            <a:pPr>
              <a:defRPr/>
            </a:pPr>
            <a:endParaRPr/>
          </a:p>
        </p:txBody>
      </p:sp>
      <p:sp>
        <p:nvSpPr>
          <p:cNvPr id="920981821" name="Slide Number Placeholder 3"/>
          <p:cNvSpPr>
            <a:spLocks noGrp="1"/>
          </p:cNvSpPr>
          <p:nvPr>
            <p:ph type="sldNum" sz="quarter" idx="10"/>
          </p:nvPr>
        </p:nvSpPr>
        <p:spPr bwMode="auto"/>
        <p:txBody>
          <a:bodyPr/>
          <a:lstStyle/>
          <a:p>
            <a:pPr>
              <a:defRPr/>
            </a:pPr>
            <a:fld id="{9E6E1C75-656F-1630-3529-E3443292CB65}"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58312660" name="Slide Image Placeholder 1"/>
          <p:cNvSpPr>
            <a:spLocks noGrp="1" noRot="1" noChangeAspect="1"/>
          </p:cNvSpPr>
          <p:nvPr>
            <p:ph type="sldImg"/>
          </p:nvPr>
        </p:nvSpPr>
        <p:spPr bwMode="auto"/>
      </p:sp>
      <p:sp>
        <p:nvSpPr>
          <p:cNvPr id="1101704299" name="Notes Placeholder 2"/>
          <p:cNvSpPr>
            <a:spLocks noGrp="1"/>
          </p:cNvSpPr>
          <p:nvPr>
            <p:ph type="body" idx="1"/>
          </p:nvPr>
        </p:nvSpPr>
        <p:spPr bwMode="auto"/>
        <p:txBody>
          <a:bodyPr/>
          <a:lstStyle/>
          <a:p>
            <a:pPr>
              <a:defRPr/>
            </a:pPr>
            <a:endParaRPr/>
          </a:p>
        </p:txBody>
      </p:sp>
      <p:sp>
        <p:nvSpPr>
          <p:cNvPr id="65221175" name="Slide Number Placeholder 3"/>
          <p:cNvSpPr>
            <a:spLocks noGrp="1"/>
          </p:cNvSpPr>
          <p:nvPr>
            <p:ph type="sldNum" sz="quarter" idx="10"/>
          </p:nvPr>
        </p:nvSpPr>
        <p:spPr bwMode="auto"/>
        <p:txBody>
          <a:bodyPr/>
          <a:lstStyle/>
          <a:p>
            <a:pPr>
              <a:defRPr/>
            </a:pPr>
            <a:fld id="{B9C15CB8-8A10-41C3-59BF-B936E623ACC8}"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01877403" name="Slide Image Placeholder 1"/>
          <p:cNvSpPr>
            <a:spLocks noGrp="1" noRot="1" noChangeAspect="1"/>
          </p:cNvSpPr>
          <p:nvPr>
            <p:ph type="sldImg"/>
          </p:nvPr>
        </p:nvSpPr>
        <p:spPr bwMode="auto"/>
      </p:sp>
      <p:sp>
        <p:nvSpPr>
          <p:cNvPr id="1179872552" name="Notes Placeholder 2"/>
          <p:cNvSpPr>
            <a:spLocks noGrp="1"/>
          </p:cNvSpPr>
          <p:nvPr>
            <p:ph type="body" idx="1"/>
          </p:nvPr>
        </p:nvSpPr>
        <p:spPr bwMode="auto"/>
        <p:txBody>
          <a:bodyPr/>
          <a:lstStyle/>
          <a:p>
            <a:pPr>
              <a:defRPr/>
            </a:pPr>
            <a:endParaRPr/>
          </a:p>
        </p:txBody>
      </p:sp>
      <p:sp>
        <p:nvSpPr>
          <p:cNvPr id="2023636408" name="Slide Number Placeholder 3"/>
          <p:cNvSpPr>
            <a:spLocks noGrp="1"/>
          </p:cNvSpPr>
          <p:nvPr>
            <p:ph type="sldNum" sz="quarter" idx="10"/>
          </p:nvPr>
        </p:nvSpPr>
        <p:spPr bwMode="auto"/>
        <p:txBody>
          <a:bodyPr/>
          <a:lstStyle/>
          <a:p>
            <a:pPr>
              <a:defRPr/>
            </a:pPr>
            <a:fld id="{363C9AF0-D616-F528-95EC-878D54BBCCDD}"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4A7C6-5818-5EC0-E338-9052E349898E}"/>
            </a:ext>
          </a:extLst>
        </p:cNvPr>
        <p:cNvGrpSpPr/>
        <p:nvPr/>
      </p:nvGrpSpPr>
      <p:grpSpPr bwMode="auto">
        <a:xfrm>
          <a:off x="0" y="0"/>
          <a:ext cx="0" cy="0"/>
          <a:chOff x="0" y="0"/>
          <a:chExt cx="0" cy="0"/>
        </a:xfrm>
      </p:grpSpPr>
      <p:sp>
        <p:nvSpPr>
          <p:cNvPr id="1601877403" name="Slide Image Placeholder 1">
            <a:extLst>
              <a:ext uri="{FF2B5EF4-FFF2-40B4-BE49-F238E27FC236}">
                <a16:creationId xmlns:a16="http://schemas.microsoft.com/office/drawing/2014/main" id="{5272BBEC-F64C-A010-21D7-A2D6A9E039BF}"/>
              </a:ext>
            </a:extLst>
          </p:cNvPr>
          <p:cNvSpPr>
            <a:spLocks noGrp="1" noRot="1" noChangeAspect="1"/>
          </p:cNvSpPr>
          <p:nvPr>
            <p:ph type="sldImg"/>
          </p:nvPr>
        </p:nvSpPr>
        <p:spPr bwMode="auto"/>
      </p:sp>
      <p:sp>
        <p:nvSpPr>
          <p:cNvPr id="1179872552" name="Notes Placeholder 2">
            <a:extLst>
              <a:ext uri="{FF2B5EF4-FFF2-40B4-BE49-F238E27FC236}">
                <a16:creationId xmlns:a16="http://schemas.microsoft.com/office/drawing/2014/main" id="{5D70696A-4F20-BCFC-920D-B89E86121EF6}"/>
              </a:ext>
            </a:extLst>
          </p:cNvPr>
          <p:cNvSpPr>
            <a:spLocks noGrp="1"/>
          </p:cNvSpPr>
          <p:nvPr>
            <p:ph type="body" idx="1"/>
          </p:nvPr>
        </p:nvSpPr>
        <p:spPr bwMode="auto"/>
        <p:txBody>
          <a:bodyPr/>
          <a:lstStyle/>
          <a:p>
            <a:pPr>
              <a:defRPr/>
            </a:pPr>
            <a:endParaRPr/>
          </a:p>
        </p:txBody>
      </p:sp>
      <p:sp>
        <p:nvSpPr>
          <p:cNvPr id="2023636408" name="Slide Number Placeholder 3">
            <a:extLst>
              <a:ext uri="{FF2B5EF4-FFF2-40B4-BE49-F238E27FC236}">
                <a16:creationId xmlns:a16="http://schemas.microsoft.com/office/drawing/2014/main" id="{A86FC25E-F835-CAC2-0C38-8F01714E92C5}"/>
              </a:ext>
            </a:extLst>
          </p:cNvPr>
          <p:cNvSpPr>
            <a:spLocks noGrp="1"/>
          </p:cNvSpPr>
          <p:nvPr>
            <p:ph type="sldNum" sz="quarter" idx="10"/>
          </p:nvPr>
        </p:nvSpPr>
        <p:spPr bwMode="auto"/>
        <p:txBody>
          <a:bodyPr/>
          <a:lstStyle/>
          <a:p>
            <a:pPr>
              <a:defRPr/>
            </a:pPr>
            <a:fld id="{363C9AF0-D616-F528-95EC-878D54BBCCDD}" type="slidenum">
              <a:rPr/>
              <a:t>28</a:t>
            </a:fld>
            <a:endParaRPr/>
          </a:p>
        </p:txBody>
      </p:sp>
    </p:spTree>
    <p:extLst>
      <p:ext uri="{BB962C8B-B14F-4D97-AF65-F5344CB8AC3E}">
        <p14:creationId xmlns:p14="http://schemas.microsoft.com/office/powerpoint/2010/main" val="671810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37900651" name="Slide Image Placeholder 1"/>
          <p:cNvSpPr>
            <a:spLocks noGrp="1" noRot="1" noChangeAspect="1"/>
          </p:cNvSpPr>
          <p:nvPr>
            <p:ph type="sldImg"/>
          </p:nvPr>
        </p:nvSpPr>
        <p:spPr bwMode="auto"/>
      </p:sp>
      <p:sp>
        <p:nvSpPr>
          <p:cNvPr id="46128860" name="Notes Placeholder 2"/>
          <p:cNvSpPr>
            <a:spLocks noGrp="1"/>
          </p:cNvSpPr>
          <p:nvPr>
            <p:ph type="body" idx="1"/>
          </p:nvPr>
        </p:nvSpPr>
        <p:spPr bwMode="auto"/>
        <p:txBody>
          <a:bodyPr/>
          <a:lstStyle/>
          <a:p>
            <a:pPr>
              <a:defRPr/>
            </a:pPr>
            <a:endParaRPr/>
          </a:p>
        </p:txBody>
      </p:sp>
      <p:sp>
        <p:nvSpPr>
          <p:cNvPr id="658608823" name="Slide Number Placeholder 3"/>
          <p:cNvSpPr>
            <a:spLocks noGrp="1"/>
          </p:cNvSpPr>
          <p:nvPr>
            <p:ph type="sldNum" sz="quarter" idx="10"/>
          </p:nvPr>
        </p:nvSpPr>
        <p:spPr bwMode="auto"/>
        <p:txBody>
          <a:bodyPr/>
          <a:lstStyle/>
          <a:p>
            <a:pPr>
              <a:defRPr/>
            </a:pPr>
            <a:fld id="{76B3441E-CB82-C04C-DEE2-2B57738780DD}" type="slidenum">
              <a:rPr/>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Diapositive de titre">
    <p:spTree>
      <p:nvGrpSpPr>
        <p:cNvPr id="1" name=""/>
        <p:cNvGrpSpPr/>
        <p:nvPr/>
      </p:nvGrpSpPr>
      <p:grpSpPr bwMode="auto">
        <a:xfrm>
          <a:off x="0" y="0"/>
          <a:ext cx="0" cy="0"/>
          <a:chOff x="0" y="0"/>
          <a:chExt cx="0" cy="0"/>
        </a:xfrm>
      </p:grpSpPr>
      <p:sp>
        <p:nvSpPr>
          <p:cNvPr id="1879677878" name="Titre 1"/>
          <p:cNvSpPr>
            <a:spLocks noGrp="1"/>
          </p:cNvSpPr>
          <p:nvPr>
            <p:ph type="ctrTitle"/>
          </p:nvPr>
        </p:nvSpPr>
        <p:spPr bwMode="auto">
          <a:xfrm>
            <a:off x="1524000" y="1122363"/>
            <a:ext cx="9144000" cy="2387600"/>
          </a:xfrm>
        </p:spPr>
        <p:txBody>
          <a:bodyPr anchor="b"/>
          <a:lstStyle>
            <a:lvl1pPr algn="ctr">
              <a:defRPr sz="6000"/>
            </a:lvl1pPr>
          </a:lstStyle>
          <a:p>
            <a:pPr>
              <a:defRPr/>
            </a:pPr>
            <a:r>
              <a:rPr lang="fr-FR"/>
              <a:t>Modifiez le style du titre</a:t>
            </a:r>
            <a:endParaRPr/>
          </a:p>
        </p:txBody>
      </p:sp>
      <p:sp>
        <p:nvSpPr>
          <p:cNvPr id="69119773" name="Sous-titr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a:p>
        </p:txBody>
      </p:sp>
      <p:sp>
        <p:nvSpPr>
          <p:cNvPr id="1728677349" name="Espace réservé de la date 3"/>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2107257397" name="Espace réservé du pied de page 4"/>
          <p:cNvSpPr>
            <a:spLocks noGrp="1"/>
          </p:cNvSpPr>
          <p:nvPr>
            <p:ph type="ftr" sz="quarter" idx="11"/>
          </p:nvPr>
        </p:nvSpPr>
        <p:spPr bwMode="auto"/>
        <p:txBody>
          <a:bodyPr/>
          <a:lstStyle/>
          <a:p>
            <a:pPr>
              <a:defRPr/>
            </a:pPr>
            <a:endParaRPr lang="fr-FR"/>
          </a:p>
        </p:txBody>
      </p:sp>
      <p:sp>
        <p:nvSpPr>
          <p:cNvPr id="2028588256"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re et contenu">
    <p:spTree>
      <p:nvGrpSpPr>
        <p:cNvPr id="1" name=""/>
        <p:cNvGrpSpPr/>
        <p:nvPr/>
      </p:nvGrpSpPr>
      <p:grpSpPr bwMode="auto">
        <a:xfrm>
          <a:off x="0" y="0"/>
          <a:ext cx="0" cy="0"/>
          <a:chOff x="0" y="0"/>
          <a:chExt cx="0" cy="0"/>
        </a:xfrm>
      </p:grpSpPr>
      <p:sp>
        <p:nvSpPr>
          <p:cNvPr id="1277788560" name="Titre 1"/>
          <p:cNvSpPr>
            <a:spLocks noGrp="1"/>
          </p:cNvSpPr>
          <p:nvPr>
            <p:ph type="title"/>
          </p:nvPr>
        </p:nvSpPr>
        <p:spPr bwMode="auto"/>
        <p:txBody>
          <a:bodyPr/>
          <a:lstStyle/>
          <a:p>
            <a:pPr>
              <a:defRPr/>
            </a:pPr>
            <a:r>
              <a:rPr lang="fr-FR"/>
              <a:t>Modifiez le style du titre</a:t>
            </a:r>
            <a:endParaRPr/>
          </a:p>
        </p:txBody>
      </p:sp>
      <p:sp>
        <p:nvSpPr>
          <p:cNvPr id="1980476972" name="Espace réservé du contenu 2"/>
          <p:cNvSpPr>
            <a:spLocks noGrp="1"/>
          </p:cNvSpPr>
          <p:nvPr>
            <p:ph idx="1"/>
          </p:nvPr>
        </p:nvSpPr>
        <p:spPr bwMode="auto"/>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916350552" name="Espace réservé de la date 3"/>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723711752" name="Espace réservé du pied de page 4"/>
          <p:cNvSpPr>
            <a:spLocks noGrp="1"/>
          </p:cNvSpPr>
          <p:nvPr>
            <p:ph type="ftr" sz="quarter" idx="11"/>
          </p:nvPr>
        </p:nvSpPr>
        <p:spPr bwMode="auto"/>
        <p:txBody>
          <a:bodyPr/>
          <a:lstStyle/>
          <a:p>
            <a:pPr>
              <a:defRPr/>
            </a:pPr>
            <a:endParaRPr lang="fr-FR"/>
          </a:p>
        </p:txBody>
      </p:sp>
      <p:sp>
        <p:nvSpPr>
          <p:cNvPr id="1504215489"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Titre de section">
    <p:spTree>
      <p:nvGrpSpPr>
        <p:cNvPr id="1" name=""/>
        <p:cNvGrpSpPr/>
        <p:nvPr/>
      </p:nvGrpSpPr>
      <p:grpSpPr bwMode="auto">
        <a:xfrm>
          <a:off x="0" y="0"/>
          <a:ext cx="0" cy="0"/>
          <a:chOff x="0" y="0"/>
          <a:chExt cx="0" cy="0"/>
        </a:xfrm>
      </p:grpSpPr>
      <p:sp>
        <p:nvSpPr>
          <p:cNvPr id="2015147901" name="Titre 1"/>
          <p:cNvSpPr>
            <a:spLocks noGrp="1"/>
          </p:cNvSpPr>
          <p:nvPr>
            <p:ph type="title"/>
          </p:nvPr>
        </p:nvSpPr>
        <p:spPr bwMode="auto">
          <a:xfrm>
            <a:off x="831850" y="1709738"/>
            <a:ext cx="10515600" cy="2852737"/>
          </a:xfrm>
        </p:spPr>
        <p:txBody>
          <a:bodyPr anchor="b"/>
          <a:lstStyle>
            <a:lvl1pPr>
              <a:defRPr sz="6000"/>
            </a:lvl1pPr>
          </a:lstStyle>
          <a:p>
            <a:pPr>
              <a:defRPr/>
            </a:pPr>
            <a:r>
              <a:rPr lang="fr-FR"/>
              <a:t>Modifiez le style du titre</a:t>
            </a:r>
            <a:endParaRPr/>
          </a:p>
        </p:txBody>
      </p:sp>
      <p:sp>
        <p:nvSpPr>
          <p:cNvPr id="1340172421" name="Espace réservé du texte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fr-FR"/>
              <a:t>Modifiez les styles du texte du masque</a:t>
            </a:r>
            <a:endParaRPr/>
          </a:p>
        </p:txBody>
      </p:sp>
      <p:sp>
        <p:nvSpPr>
          <p:cNvPr id="124293314" name="Espace réservé de la date 3"/>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692741924" name="Espace réservé du pied de page 4"/>
          <p:cNvSpPr>
            <a:spLocks noGrp="1"/>
          </p:cNvSpPr>
          <p:nvPr>
            <p:ph type="ftr" sz="quarter" idx="11"/>
          </p:nvPr>
        </p:nvSpPr>
        <p:spPr bwMode="auto"/>
        <p:txBody>
          <a:bodyPr/>
          <a:lstStyle/>
          <a:p>
            <a:pPr>
              <a:defRPr/>
            </a:pPr>
            <a:endParaRPr lang="fr-FR"/>
          </a:p>
        </p:txBody>
      </p:sp>
      <p:sp>
        <p:nvSpPr>
          <p:cNvPr id="760043779"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Deux contenus">
    <p:spTree>
      <p:nvGrpSpPr>
        <p:cNvPr id="1" name=""/>
        <p:cNvGrpSpPr/>
        <p:nvPr/>
      </p:nvGrpSpPr>
      <p:grpSpPr bwMode="auto">
        <a:xfrm>
          <a:off x="0" y="0"/>
          <a:ext cx="0" cy="0"/>
          <a:chOff x="0" y="0"/>
          <a:chExt cx="0" cy="0"/>
        </a:xfrm>
      </p:grpSpPr>
      <p:sp>
        <p:nvSpPr>
          <p:cNvPr id="1426961391" name="Titre 1"/>
          <p:cNvSpPr>
            <a:spLocks noGrp="1"/>
          </p:cNvSpPr>
          <p:nvPr>
            <p:ph type="title"/>
          </p:nvPr>
        </p:nvSpPr>
        <p:spPr bwMode="auto"/>
        <p:txBody>
          <a:bodyPr/>
          <a:lstStyle/>
          <a:p>
            <a:pPr>
              <a:defRPr/>
            </a:pPr>
            <a:r>
              <a:rPr lang="fr-FR"/>
              <a:t>Modifiez le style du titre</a:t>
            </a:r>
            <a:endParaRPr/>
          </a:p>
        </p:txBody>
      </p:sp>
      <p:sp>
        <p:nvSpPr>
          <p:cNvPr id="882709088" name="Espace réservé du contenu 2"/>
          <p:cNvSpPr>
            <a:spLocks noGrp="1"/>
          </p:cNvSpPr>
          <p:nvPr>
            <p:ph sz="half" idx="1"/>
          </p:nvPr>
        </p:nvSpPr>
        <p:spPr bwMode="auto">
          <a:xfrm>
            <a:off x="838200" y="1825625"/>
            <a:ext cx="5181600" cy="435133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453018835" name="Espace réservé du contenu 3"/>
          <p:cNvSpPr>
            <a:spLocks noGrp="1"/>
          </p:cNvSpPr>
          <p:nvPr>
            <p:ph sz="half" idx="2"/>
          </p:nvPr>
        </p:nvSpPr>
        <p:spPr bwMode="auto">
          <a:xfrm>
            <a:off x="6172200" y="1825625"/>
            <a:ext cx="5181600" cy="435133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133664557" name="Espace réservé de la date 4"/>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865505177" name="Espace réservé du pied de page 5"/>
          <p:cNvSpPr>
            <a:spLocks noGrp="1"/>
          </p:cNvSpPr>
          <p:nvPr>
            <p:ph type="ftr" sz="quarter" idx="11"/>
          </p:nvPr>
        </p:nvSpPr>
        <p:spPr bwMode="auto"/>
        <p:txBody>
          <a:bodyPr/>
          <a:lstStyle/>
          <a:p>
            <a:pPr>
              <a:defRPr/>
            </a:pPr>
            <a:endParaRPr lang="fr-FR"/>
          </a:p>
        </p:txBody>
      </p:sp>
      <p:sp>
        <p:nvSpPr>
          <p:cNvPr id="746583738"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ison">
    <p:spTree>
      <p:nvGrpSpPr>
        <p:cNvPr id="1" name=""/>
        <p:cNvGrpSpPr/>
        <p:nvPr/>
      </p:nvGrpSpPr>
      <p:grpSpPr bwMode="auto">
        <a:xfrm>
          <a:off x="0" y="0"/>
          <a:ext cx="0" cy="0"/>
          <a:chOff x="0" y="0"/>
          <a:chExt cx="0" cy="0"/>
        </a:xfrm>
      </p:grpSpPr>
      <p:sp>
        <p:nvSpPr>
          <p:cNvPr id="17166177" name="Titre 1"/>
          <p:cNvSpPr>
            <a:spLocks noGrp="1"/>
          </p:cNvSpPr>
          <p:nvPr>
            <p:ph type="title"/>
          </p:nvPr>
        </p:nvSpPr>
        <p:spPr bwMode="auto">
          <a:xfrm>
            <a:off x="839788" y="365125"/>
            <a:ext cx="10515600" cy="1325563"/>
          </a:xfrm>
        </p:spPr>
        <p:txBody>
          <a:bodyPr/>
          <a:lstStyle/>
          <a:p>
            <a:pPr>
              <a:defRPr/>
            </a:pPr>
            <a:r>
              <a:rPr lang="fr-FR"/>
              <a:t>Modifiez le style du titre</a:t>
            </a:r>
            <a:endParaRPr/>
          </a:p>
        </p:txBody>
      </p:sp>
      <p:sp>
        <p:nvSpPr>
          <p:cNvPr id="1802705063" name="Espace réservé du texte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998744356" name="Espace réservé du contenu 3"/>
          <p:cNvSpPr>
            <a:spLocks noGrp="1"/>
          </p:cNvSpPr>
          <p:nvPr>
            <p:ph sz="half" idx="2"/>
          </p:nvPr>
        </p:nvSpPr>
        <p:spPr bwMode="auto">
          <a:xfrm>
            <a:off x="839788" y="2505074"/>
            <a:ext cx="5157787" cy="368458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81122133" name="Espace réservé du texte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423983129" name="Espace réservé du contenu 5"/>
          <p:cNvSpPr>
            <a:spLocks noGrp="1"/>
          </p:cNvSpPr>
          <p:nvPr>
            <p:ph sz="quarter" idx="4"/>
          </p:nvPr>
        </p:nvSpPr>
        <p:spPr bwMode="auto">
          <a:xfrm>
            <a:off x="6172200" y="2505074"/>
            <a:ext cx="5183188" cy="368458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402573385" name="Espace réservé de la date 6"/>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1546718719" name="Espace réservé du pied de page 7"/>
          <p:cNvSpPr>
            <a:spLocks noGrp="1"/>
          </p:cNvSpPr>
          <p:nvPr>
            <p:ph type="ftr" sz="quarter" idx="11"/>
          </p:nvPr>
        </p:nvSpPr>
        <p:spPr bwMode="auto"/>
        <p:txBody>
          <a:bodyPr/>
          <a:lstStyle/>
          <a:p>
            <a:pPr>
              <a:defRPr/>
            </a:pPr>
            <a:endParaRPr lang="fr-FR"/>
          </a:p>
        </p:txBody>
      </p:sp>
      <p:sp>
        <p:nvSpPr>
          <p:cNvPr id="1046381580" name="Espace réservé du numéro de diapositive 8"/>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re seul">
    <p:spTree>
      <p:nvGrpSpPr>
        <p:cNvPr id="1" name=""/>
        <p:cNvGrpSpPr/>
        <p:nvPr/>
      </p:nvGrpSpPr>
      <p:grpSpPr bwMode="auto">
        <a:xfrm>
          <a:off x="0" y="0"/>
          <a:ext cx="0" cy="0"/>
          <a:chOff x="0" y="0"/>
          <a:chExt cx="0" cy="0"/>
        </a:xfrm>
      </p:grpSpPr>
      <p:sp>
        <p:nvSpPr>
          <p:cNvPr id="197115174" name="Titre 1"/>
          <p:cNvSpPr>
            <a:spLocks noGrp="1"/>
          </p:cNvSpPr>
          <p:nvPr>
            <p:ph type="title"/>
          </p:nvPr>
        </p:nvSpPr>
        <p:spPr bwMode="auto"/>
        <p:txBody>
          <a:bodyPr/>
          <a:lstStyle/>
          <a:p>
            <a:pPr>
              <a:defRPr/>
            </a:pPr>
            <a:r>
              <a:rPr lang="fr-FR"/>
              <a:t>Modifiez le style du titre</a:t>
            </a:r>
            <a:endParaRPr/>
          </a:p>
        </p:txBody>
      </p:sp>
      <p:sp>
        <p:nvSpPr>
          <p:cNvPr id="791003904" name="Espace réservé de la date 2"/>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923440024" name="Espace réservé du pied de page 3"/>
          <p:cNvSpPr>
            <a:spLocks noGrp="1"/>
          </p:cNvSpPr>
          <p:nvPr>
            <p:ph type="ftr" sz="quarter" idx="11"/>
          </p:nvPr>
        </p:nvSpPr>
        <p:spPr bwMode="auto"/>
        <p:txBody>
          <a:bodyPr/>
          <a:lstStyle/>
          <a:p>
            <a:pPr>
              <a:defRPr/>
            </a:pPr>
            <a:endParaRPr lang="fr-FR"/>
          </a:p>
        </p:txBody>
      </p:sp>
      <p:sp>
        <p:nvSpPr>
          <p:cNvPr id="1630453039" name="Espace réservé du numéro de diapositive 4"/>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Vide">
    <p:spTree>
      <p:nvGrpSpPr>
        <p:cNvPr id="1" name=""/>
        <p:cNvGrpSpPr/>
        <p:nvPr/>
      </p:nvGrpSpPr>
      <p:grpSpPr bwMode="auto">
        <a:xfrm>
          <a:off x="0" y="0"/>
          <a:ext cx="0" cy="0"/>
          <a:chOff x="0" y="0"/>
          <a:chExt cx="0" cy="0"/>
        </a:xfrm>
      </p:grpSpPr>
      <p:sp>
        <p:nvSpPr>
          <p:cNvPr id="800308629" name="Espace réservé de la date 1"/>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1231990760" name="Espace réservé du pied de page 2"/>
          <p:cNvSpPr>
            <a:spLocks noGrp="1"/>
          </p:cNvSpPr>
          <p:nvPr>
            <p:ph type="ftr" sz="quarter" idx="11"/>
          </p:nvPr>
        </p:nvSpPr>
        <p:spPr bwMode="auto"/>
        <p:txBody>
          <a:bodyPr/>
          <a:lstStyle/>
          <a:p>
            <a:pPr>
              <a:defRPr/>
            </a:pPr>
            <a:endParaRPr lang="fr-FR"/>
          </a:p>
        </p:txBody>
      </p:sp>
      <p:sp>
        <p:nvSpPr>
          <p:cNvPr id="778682496" name="Espace réservé du numéro de diapositive 3"/>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u avec légende">
    <p:spTree>
      <p:nvGrpSpPr>
        <p:cNvPr id="1" name=""/>
        <p:cNvGrpSpPr/>
        <p:nvPr/>
      </p:nvGrpSpPr>
      <p:grpSpPr bwMode="auto">
        <a:xfrm>
          <a:off x="0" y="0"/>
          <a:ext cx="0" cy="0"/>
          <a:chOff x="0" y="0"/>
          <a:chExt cx="0" cy="0"/>
        </a:xfrm>
      </p:grpSpPr>
      <p:sp>
        <p:nvSpPr>
          <p:cNvPr id="669234052"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1462022124" name="Espace réservé du contenu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839908771"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648796990" name="Espace réservé de la date 4"/>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2112488025" name="Espace réservé du pied de page 5"/>
          <p:cNvSpPr>
            <a:spLocks noGrp="1"/>
          </p:cNvSpPr>
          <p:nvPr>
            <p:ph type="ftr" sz="quarter" idx="11"/>
          </p:nvPr>
        </p:nvSpPr>
        <p:spPr bwMode="auto"/>
        <p:txBody>
          <a:bodyPr/>
          <a:lstStyle/>
          <a:p>
            <a:pPr>
              <a:defRPr/>
            </a:pPr>
            <a:endParaRPr lang="fr-FR"/>
          </a:p>
        </p:txBody>
      </p:sp>
      <p:sp>
        <p:nvSpPr>
          <p:cNvPr id="147612233"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Image avec légende">
    <p:spTree>
      <p:nvGrpSpPr>
        <p:cNvPr id="1" name=""/>
        <p:cNvGrpSpPr/>
        <p:nvPr/>
      </p:nvGrpSpPr>
      <p:grpSpPr bwMode="auto">
        <a:xfrm>
          <a:off x="0" y="0"/>
          <a:ext cx="0" cy="0"/>
          <a:chOff x="0" y="0"/>
          <a:chExt cx="0" cy="0"/>
        </a:xfrm>
      </p:grpSpPr>
      <p:sp>
        <p:nvSpPr>
          <p:cNvPr id="1655610648"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1124573072" name="Espace réservé pour une image 2"/>
          <p:cNvSpPr>
            <a:spLocks noGrp="1" noChangeAspect="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a:p>
        </p:txBody>
      </p:sp>
      <p:sp>
        <p:nvSpPr>
          <p:cNvPr id="1738217723"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1393502372" name="Espace réservé de la date 4"/>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1490959868" name="Espace réservé du pied de page 5"/>
          <p:cNvSpPr>
            <a:spLocks noGrp="1"/>
          </p:cNvSpPr>
          <p:nvPr>
            <p:ph type="ftr" sz="quarter" idx="11"/>
          </p:nvPr>
        </p:nvSpPr>
        <p:spPr bwMode="auto"/>
        <p:txBody>
          <a:bodyPr/>
          <a:lstStyle/>
          <a:p>
            <a:pPr>
              <a:defRPr/>
            </a:pPr>
            <a:endParaRPr lang="fr-FR"/>
          </a:p>
        </p:txBody>
      </p:sp>
      <p:sp>
        <p:nvSpPr>
          <p:cNvPr id="1722563016" name="Espace réservé du numéro de diapositive 6"/>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re et texte vertical">
    <p:spTree>
      <p:nvGrpSpPr>
        <p:cNvPr id="1" name=""/>
        <p:cNvGrpSpPr/>
        <p:nvPr/>
      </p:nvGrpSpPr>
      <p:grpSpPr bwMode="auto">
        <a:xfrm>
          <a:off x="0" y="0"/>
          <a:ext cx="0" cy="0"/>
          <a:chOff x="0" y="0"/>
          <a:chExt cx="0" cy="0"/>
        </a:xfrm>
      </p:grpSpPr>
      <p:sp>
        <p:nvSpPr>
          <p:cNvPr id="254330521" name="Titre 1"/>
          <p:cNvSpPr>
            <a:spLocks noGrp="1"/>
          </p:cNvSpPr>
          <p:nvPr>
            <p:ph type="title"/>
          </p:nvPr>
        </p:nvSpPr>
        <p:spPr bwMode="auto"/>
        <p:txBody>
          <a:bodyPr/>
          <a:lstStyle/>
          <a:p>
            <a:pPr>
              <a:defRPr/>
            </a:pPr>
            <a:r>
              <a:rPr lang="fr-FR"/>
              <a:t>Modifiez le style du titre</a:t>
            </a:r>
            <a:endParaRPr/>
          </a:p>
        </p:txBody>
      </p:sp>
      <p:sp>
        <p:nvSpPr>
          <p:cNvPr id="2084632816" name="Espace réservé du texte vertical 2"/>
          <p:cNvSpPr>
            <a:spLocks noGrp="1"/>
          </p:cNvSpPr>
          <p:nvPr>
            <p:ph type="body" orient="vert" idx="1"/>
          </p:nvPr>
        </p:nvSpPr>
        <p:spPr bwMode="auto"/>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60108662" name="Espace réservé de la date 3"/>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1272772528" name="Espace réservé du pied de page 4"/>
          <p:cNvSpPr>
            <a:spLocks noGrp="1"/>
          </p:cNvSpPr>
          <p:nvPr>
            <p:ph type="ftr" sz="quarter" idx="11"/>
          </p:nvPr>
        </p:nvSpPr>
        <p:spPr bwMode="auto"/>
        <p:txBody>
          <a:bodyPr/>
          <a:lstStyle/>
          <a:p>
            <a:pPr>
              <a:defRPr/>
            </a:pPr>
            <a:endParaRPr lang="fr-FR"/>
          </a:p>
        </p:txBody>
      </p:sp>
      <p:sp>
        <p:nvSpPr>
          <p:cNvPr id="2139778002"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Titre vertical et texte">
    <p:spTree>
      <p:nvGrpSpPr>
        <p:cNvPr id="1" name=""/>
        <p:cNvGrpSpPr/>
        <p:nvPr/>
      </p:nvGrpSpPr>
      <p:grpSpPr bwMode="auto">
        <a:xfrm>
          <a:off x="0" y="0"/>
          <a:ext cx="0" cy="0"/>
          <a:chOff x="0" y="0"/>
          <a:chExt cx="0" cy="0"/>
        </a:xfrm>
      </p:grpSpPr>
      <p:sp>
        <p:nvSpPr>
          <p:cNvPr id="312898321" name="Titre vertical 1"/>
          <p:cNvSpPr>
            <a:spLocks noGrp="1"/>
          </p:cNvSpPr>
          <p:nvPr>
            <p:ph type="title" orient="vert"/>
          </p:nvPr>
        </p:nvSpPr>
        <p:spPr bwMode="auto">
          <a:xfrm>
            <a:off x="8724900" y="365125"/>
            <a:ext cx="2628900" cy="5811838"/>
          </a:xfrm>
        </p:spPr>
        <p:txBody>
          <a:bodyPr vert="eaVert"/>
          <a:lstStyle/>
          <a:p>
            <a:pPr>
              <a:defRPr/>
            </a:pPr>
            <a:r>
              <a:rPr lang="fr-FR"/>
              <a:t>Modifiez le style du titre</a:t>
            </a:r>
            <a:endParaRPr/>
          </a:p>
        </p:txBody>
      </p:sp>
      <p:sp>
        <p:nvSpPr>
          <p:cNvPr id="1877412883" name="Espace réservé du texte vertical 2"/>
          <p:cNvSpPr>
            <a:spLocks noGrp="1"/>
          </p:cNvSpPr>
          <p:nvPr>
            <p:ph type="body" orient="vert" idx="1"/>
          </p:nvPr>
        </p:nvSpPr>
        <p:spPr bwMode="auto">
          <a:xfrm>
            <a:off x="838200" y="365125"/>
            <a:ext cx="7734300" cy="5811838"/>
          </a:xfrm>
        </p:spPr>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43463551" name="Espace réservé de la date 3"/>
          <p:cNvSpPr>
            <a:spLocks noGrp="1"/>
          </p:cNvSpPr>
          <p:nvPr>
            <p:ph type="dt" sz="half" idx="10"/>
          </p:nvPr>
        </p:nvSpPr>
        <p:spPr bwMode="auto"/>
        <p:txBody>
          <a:bodyPr/>
          <a:lstStyle/>
          <a:p>
            <a:pPr>
              <a:defRPr/>
            </a:pPr>
            <a:fld id="{BCC18F51-09EC-435C-A3BA-64A766E099C0}" type="datetimeFigureOut">
              <a:rPr lang="fr-FR"/>
              <a:t>18/06/2026</a:t>
            </a:fld>
            <a:endParaRPr lang="fr-FR"/>
          </a:p>
        </p:txBody>
      </p:sp>
      <p:sp>
        <p:nvSpPr>
          <p:cNvPr id="785591049" name="Espace réservé du pied de page 4"/>
          <p:cNvSpPr>
            <a:spLocks noGrp="1"/>
          </p:cNvSpPr>
          <p:nvPr>
            <p:ph type="ftr" sz="quarter" idx="11"/>
          </p:nvPr>
        </p:nvSpPr>
        <p:spPr bwMode="auto"/>
        <p:txBody>
          <a:bodyPr/>
          <a:lstStyle/>
          <a:p>
            <a:pPr>
              <a:defRPr/>
            </a:pPr>
            <a:endParaRPr lang="fr-FR"/>
          </a:p>
        </p:txBody>
      </p:sp>
      <p:sp>
        <p:nvSpPr>
          <p:cNvPr id="2101714112" name="Espace réservé du numéro de diapositive 5"/>
          <p:cNvSpPr>
            <a:spLocks noGrp="1"/>
          </p:cNvSpPr>
          <p:nvPr>
            <p:ph type="sldNum" sz="quarter" idx="12"/>
          </p:nvPr>
        </p:nvSpPr>
        <p:spPr bwMode="auto"/>
        <p:txBody>
          <a:bodyPr/>
          <a:lstStyle/>
          <a:p>
            <a:pPr>
              <a:defRPr/>
            </a:pPr>
            <a:fld id="{08395586-F03A-48D1-94DF-16B239DF4FB5}" type="slidenum">
              <a:rPr lang="fr-F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05978179" name="Espace réservé du titre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2078365628" name="Espace réservé du texte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867068178" name="Espace réservé de la date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fr-FR"/>
              <a:t>18/06/2026</a:t>
            </a:fld>
            <a:endParaRPr lang="fr-FR"/>
          </a:p>
        </p:txBody>
      </p:sp>
      <p:sp>
        <p:nvSpPr>
          <p:cNvPr id="1466061897" name="Espace réservé du pied de page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fr-FR"/>
          </a:p>
        </p:txBody>
      </p:sp>
      <p:sp>
        <p:nvSpPr>
          <p:cNvPr id="492512372" name="Espace réservé du numéro de diapositiv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fr-F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6.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9145132" name="Title 1"/>
          <p:cNvSpPr>
            <a:spLocks noGrp="1"/>
          </p:cNvSpPr>
          <p:nvPr>
            <p:ph type="ctrTitle"/>
          </p:nvPr>
        </p:nvSpPr>
        <p:spPr bwMode="auto"/>
        <p:txBody>
          <a:bodyPr vertOverflow="overflow" horzOverflow="overflow" vert="horz" wrap="square" lIns="91440" tIns="45720" rIns="91440" bIns="45720" numCol="1" spcCol="0" rtlCol="0" fromWordArt="0" anchor="b" anchorCtr="0" forceAA="0" compatLnSpc="0">
            <a:normAutofit fontScale="95000" lnSpcReduction="1000"/>
          </a:bodyPr>
          <a:lstStyle/>
          <a:p>
            <a:pPr>
              <a:defRPr/>
            </a:pPr>
            <a:r>
              <a:rPr lang="fr-FR"/>
              <a:t>Comprendre la psychologie en tant que science</a:t>
            </a:r>
            <a:endParaRPr/>
          </a:p>
        </p:txBody>
      </p:sp>
      <p:sp>
        <p:nvSpPr>
          <p:cNvPr id="1331327296" name="Subtitle 2"/>
          <p:cNvSpPr>
            <a:spLocks noGrp="1"/>
          </p:cNvSpPr>
          <p:nvPr>
            <p:ph type="subTitle" idx="1"/>
          </p:nvPr>
        </p:nvSpPr>
        <p:spPr bwMode="auto"/>
        <p:txBody>
          <a:bodyPr/>
          <a:lstStyle/>
          <a:p>
            <a:pPr>
              <a:defRPr/>
            </a:pPr>
            <a:r>
              <a:rPr lang="fr-FR"/>
              <a:t>Adrien Fillon – Small meetings d’été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636530" name="Titre 1"/>
          <p:cNvSpPr>
            <a:spLocks noGrp="1"/>
          </p:cNvSpPr>
          <p:nvPr>
            <p:ph type="title"/>
          </p:nvPr>
        </p:nvSpPr>
        <p:spPr bwMode="auto"/>
        <p:txBody>
          <a:bodyPr/>
          <a:lstStyle/>
          <a:p>
            <a:pPr>
              <a:defRPr/>
            </a:pPr>
            <a:endParaRPr/>
          </a:p>
        </p:txBody>
      </p:sp>
      <p:sp>
        <p:nvSpPr>
          <p:cNvPr id="2009344861" name="Espace réservé du contenu 2"/>
          <p:cNvSpPr>
            <a:spLocks noGrp="1"/>
          </p:cNvSpPr>
          <p:nvPr>
            <p:ph idx="1"/>
          </p:nvPr>
        </p:nvSpPr>
        <p:spPr bwMode="auto"/>
        <p:txBody>
          <a:bodyPr/>
          <a:lstStyle/>
          <a:p>
            <a:pPr>
              <a:defRPr/>
            </a:pPr>
            <a:endParaRPr/>
          </a:p>
        </p:txBody>
      </p:sp>
      <p:pic>
        <p:nvPicPr>
          <p:cNvPr id="350693780" name="Image 1874721831"/>
          <p:cNvPicPr>
            <a:picLocks noChangeAspect="1"/>
          </p:cNvPicPr>
          <p:nvPr/>
        </p:nvPicPr>
        <p:blipFill rotWithShape="1">
          <a:blip r:embed="rId3"/>
          <a:stretch/>
        </p:blipFill>
        <p:spPr bwMode="auto">
          <a:xfrm>
            <a:off x="124353" y="85725"/>
            <a:ext cx="2286000" cy="3114675"/>
          </a:xfrm>
          <a:prstGeom prst="rect">
            <a:avLst/>
          </a:prstGeom>
        </p:spPr>
      </p:pic>
      <p:pic>
        <p:nvPicPr>
          <p:cNvPr id="1116524679" name="Image 1993998923"/>
          <p:cNvPicPr>
            <a:picLocks noChangeAspect="1"/>
          </p:cNvPicPr>
          <p:nvPr/>
        </p:nvPicPr>
        <p:blipFill rotWithShape="1">
          <a:blip r:embed="rId4"/>
          <a:stretch/>
        </p:blipFill>
        <p:spPr bwMode="auto">
          <a:xfrm>
            <a:off x="2711944" y="1492250"/>
            <a:ext cx="9263375" cy="521493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6524679"/>
                                        </p:tgtEl>
                                        <p:attrNameLst>
                                          <p:attrName>style.visibility</p:attrName>
                                        </p:attrNameLst>
                                      </p:cBhvr>
                                      <p:to>
                                        <p:strVal val="visible"/>
                                      </p:to>
                                    </p:set>
                                    <p:animEffect transition="in" filter="fade">
                                      <p:cBhvr>
                                        <p:cTn id="7" dur="500"/>
                                        <p:tgtEl>
                                          <p:spTgt spid="1116524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20279647" name="Titre 1"/>
          <p:cNvSpPr>
            <a:spLocks noGrp="1"/>
          </p:cNvSpPr>
          <p:nvPr>
            <p:ph type="title"/>
          </p:nvPr>
        </p:nvSpPr>
        <p:spPr bwMode="auto">
          <a:xfrm>
            <a:off x="2647187" y="365124"/>
            <a:ext cx="8706612" cy="1325562"/>
          </a:xfrm>
        </p:spPr>
        <p:txBody>
          <a:bodyPr/>
          <a:lstStyle/>
          <a:p>
            <a:pPr>
              <a:defRPr/>
            </a:pPr>
            <a:r>
              <a:t>Positivisme logique</a:t>
            </a:r>
          </a:p>
        </p:txBody>
      </p:sp>
      <p:sp>
        <p:nvSpPr>
          <p:cNvPr id="699723723" name="Espace réservé du contenu 2"/>
          <p:cNvSpPr>
            <a:spLocks noGrp="1"/>
          </p:cNvSpPr>
          <p:nvPr>
            <p:ph idx="1"/>
          </p:nvPr>
        </p:nvSpPr>
        <p:spPr bwMode="auto">
          <a:xfrm>
            <a:off x="2528123" y="1825623"/>
            <a:ext cx="8825673" cy="614341"/>
          </a:xfrm>
        </p:spPr>
        <p:txBody>
          <a:bodyPr vert="horz" lIns="91440" tIns="45720" rIns="91440" bIns="45720" rtlCol="0" anchor="t">
            <a:normAutofit/>
          </a:bodyPr>
          <a:lstStyle/>
          <a:p>
            <a:pPr>
              <a:defRPr/>
            </a:pPr>
            <a:r>
              <a:t>Principe de vérification</a:t>
            </a:r>
            <a:endParaRPr lang="fr-FR"/>
          </a:p>
        </p:txBody>
      </p:sp>
      <p:pic>
        <p:nvPicPr>
          <p:cNvPr id="624860653" name="Image 190552950"/>
          <p:cNvPicPr>
            <a:picLocks noChangeAspect="1"/>
          </p:cNvPicPr>
          <p:nvPr/>
        </p:nvPicPr>
        <p:blipFill rotWithShape="1">
          <a:blip r:embed="rId3"/>
          <a:stretch/>
        </p:blipFill>
        <p:spPr bwMode="auto">
          <a:xfrm>
            <a:off x="124353" y="85725"/>
            <a:ext cx="2286000" cy="3114675"/>
          </a:xfrm>
          <a:prstGeom prst="rect">
            <a:avLst/>
          </a:prstGeom>
        </p:spPr>
      </p:pic>
      <p:pic>
        <p:nvPicPr>
          <p:cNvPr id="147227417" name="Graphique 1499918430"/>
          <p:cNvPicPr>
            <a:picLocks noChangeAspect="1"/>
          </p:cNvPicPr>
          <p:nvPr/>
        </p:nvPicPr>
        <p:blipFill rotWithShape="1">
          <a:blip>
            <a:extLst>
              <a:ext uri="{96DAC541-7B7A-43D3-8B79-37D633B846F1}">
                <asvg:svgBlip xmlns:asvg="http://schemas.microsoft.com/office/drawing/2016/SVG/main" r:embed="rId4"/>
              </a:ext>
            </a:extLst>
          </a:blip>
          <a:stretch/>
        </p:blipFill>
        <p:spPr bwMode="auto">
          <a:xfrm>
            <a:off x="5213645" y="2718593"/>
            <a:ext cx="7120170" cy="2849223"/>
          </a:xfrm>
          <a:prstGeom prst="rect">
            <a:avLst/>
          </a:prstGeom>
        </p:spPr>
      </p:pic>
      <p:sp>
        <p:nvSpPr>
          <p:cNvPr id="1469129084" name="Espace réservé du contenu 2"/>
          <p:cNvSpPr>
            <a:spLocks noGrp="1"/>
          </p:cNvSpPr>
          <p:nvPr/>
        </p:nvSpPr>
        <p:spPr bwMode="auto">
          <a:xfrm>
            <a:off x="272816" y="5139435"/>
            <a:ext cx="8825674" cy="1091500"/>
          </a:xfrm>
        </p:spPr>
        <p:txBody>
          <a:bodyPr vert="horz" lIns="91440" tIns="45720" rIns="91440" bIns="45720" rtlCol="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a:defRPr/>
            </a:pPr>
            <a:r>
              <a:t>Corroboration</a:t>
            </a:r>
          </a:p>
          <a:p>
            <a:pPr>
              <a:defRPr/>
            </a:pPr>
            <a:r>
              <a:t>Vérisimilitude – comparaison de théories</a:t>
            </a:r>
          </a:p>
        </p:txBody>
      </p:sp>
      <p:sp>
        <p:nvSpPr>
          <p:cNvPr id="1534470795" name="Espace réservé du contenu 2"/>
          <p:cNvSpPr txBox="1"/>
          <p:nvPr/>
        </p:nvSpPr>
        <p:spPr bwMode="auto">
          <a:xfrm>
            <a:off x="2531627" y="1373679"/>
            <a:ext cx="8878225" cy="532542"/>
          </a:xfrm>
          <a:prstGeom prst="rect">
            <a:avLst/>
          </a:prstGeom>
        </p:spPr>
        <p:txBody>
          <a:bodyPr vert="horz" lIns="91440" tIns="45720" rIns="91440" bIns="45720" rtlCol="0" anchor="t">
            <a:normAutofit/>
          </a:bodyPr>
          <a:lst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a:defRPr/>
            </a:pPr>
            <a:r>
              <a:rPr lang="fr-FR"/>
              <a:t>Conjecture et réfutation</a:t>
            </a:r>
            <a:endParaRPr/>
          </a:p>
        </p:txBody>
      </p:sp>
      <p:sp>
        <p:nvSpPr>
          <p:cNvPr id="2032235355" name="ZoneTexte 2032235354"/>
          <p:cNvSpPr txBox="1"/>
          <p:nvPr/>
        </p:nvSpPr>
        <p:spPr bwMode="auto">
          <a:xfrm>
            <a:off x="2647186" y="2326083"/>
            <a:ext cx="3704747" cy="85989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Une hypothèse est vraie ou fausse</a:t>
            </a:r>
            <a:endParaRPr lang="fr-FR" sz="2800" b="0" i="0" u="none" strike="noStrike" cap="none" spc="0">
              <a:solidFill>
                <a:schemeClr val="tx1"/>
              </a:solidFill>
              <a:latin typeface="Arial"/>
              <a:cs typeface="Arial"/>
            </a:endParaRPr>
          </a:p>
        </p:txBody>
      </p:sp>
      <p:sp>
        <p:nvSpPr>
          <p:cNvPr id="1387859339" name="ZoneTexte 1387859338"/>
          <p:cNvSpPr txBox="1"/>
          <p:nvPr/>
        </p:nvSpPr>
        <p:spPr bwMode="auto">
          <a:xfrm>
            <a:off x="2806859" y="3200400"/>
            <a:ext cx="2557901" cy="47584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Les cygnes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4470795"/>
                                        </p:tgtEl>
                                        <p:attrNameLst>
                                          <p:attrName>style.visibility</p:attrName>
                                        </p:attrNameLst>
                                      </p:cBhvr>
                                      <p:to>
                                        <p:strVal val="visible"/>
                                      </p:to>
                                    </p:set>
                                    <p:animEffect transition="in" filter="fade">
                                      <p:cBhvr>
                                        <p:cTn id="7" dur="500"/>
                                        <p:tgtEl>
                                          <p:spTgt spid="15344707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9723723"/>
                                        </p:tgtEl>
                                        <p:attrNameLst>
                                          <p:attrName>style.visibility</p:attrName>
                                        </p:attrNameLst>
                                      </p:cBhvr>
                                      <p:to>
                                        <p:strVal val="visible"/>
                                      </p:to>
                                    </p:set>
                                    <p:animEffect transition="in" filter="fade">
                                      <p:cBhvr>
                                        <p:cTn id="12" dur="500"/>
                                        <p:tgtEl>
                                          <p:spTgt spid="69972372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322353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87859339"/>
                                        </p:tgtEl>
                                        <p:attrNameLst>
                                          <p:attrName>style.visibility</p:attrName>
                                        </p:attrNameLst>
                                      </p:cBhvr>
                                      <p:to>
                                        <p:strVal val="visible"/>
                                      </p:to>
                                    </p:set>
                                    <p:animEffect transition="in" filter="fade">
                                      <p:cBhvr>
                                        <p:cTn id="21" dur="500"/>
                                        <p:tgtEl>
                                          <p:spTgt spid="138785933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7227417"/>
                                        </p:tgtEl>
                                        <p:attrNameLst>
                                          <p:attrName>style.visibility</p:attrName>
                                        </p:attrNameLst>
                                      </p:cBhvr>
                                      <p:to>
                                        <p:strVal val="visible"/>
                                      </p:to>
                                    </p:set>
                                    <p:animEffect transition="in" filter="fade">
                                      <p:cBhvr>
                                        <p:cTn id="26" dur="500"/>
                                        <p:tgtEl>
                                          <p:spTgt spid="1472274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69129084"/>
                                        </p:tgtEl>
                                        <p:attrNameLst>
                                          <p:attrName>style.visibility</p:attrName>
                                        </p:attrNameLst>
                                      </p:cBhvr>
                                      <p:to>
                                        <p:strVal val="visible"/>
                                      </p:to>
                                    </p:set>
                                    <p:animEffect transition="in" filter="fade">
                                      <p:cBhvr>
                                        <p:cTn id="31" dur="500"/>
                                        <p:tgtEl>
                                          <p:spTgt spid="1469129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04260895" name="Titre 1"/>
          <p:cNvSpPr>
            <a:spLocks noGrp="1"/>
          </p:cNvSpPr>
          <p:nvPr>
            <p:ph type="title"/>
          </p:nvPr>
        </p:nvSpPr>
        <p:spPr bwMode="auto">
          <a:xfrm>
            <a:off x="2647187" y="365124"/>
            <a:ext cx="8706612" cy="1325562"/>
          </a:xfrm>
        </p:spPr>
        <p:txBody>
          <a:bodyPr/>
          <a:lstStyle/>
          <a:p>
            <a:pPr>
              <a:defRPr/>
            </a:pPr>
            <a:r>
              <a:t>Positivisme logique</a:t>
            </a:r>
          </a:p>
        </p:txBody>
      </p:sp>
      <p:sp>
        <p:nvSpPr>
          <p:cNvPr id="99369841" name="Espace réservé du contenu 2"/>
          <p:cNvSpPr>
            <a:spLocks noGrp="1"/>
          </p:cNvSpPr>
          <p:nvPr>
            <p:ph idx="1"/>
          </p:nvPr>
        </p:nvSpPr>
        <p:spPr bwMode="auto"/>
        <p:txBody>
          <a:bodyPr/>
          <a:lstStyle/>
          <a:p>
            <a:pPr>
              <a:defRPr/>
            </a:pPr>
            <a:endParaRPr/>
          </a:p>
        </p:txBody>
      </p:sp>
      <p:pic>
        <p:nvPicPr>
          <p:cNvPr id="1512962099" name="Image 836662482"/>
          <p:cNvPicPr>
            <a:picLocks noChangeAspect="1"/>
          </p:cNvPicPr>
          <p:nvPr/>
        </p:nvPicPr>
        <p:blipFill rotWithShape="1">
          <a:blip r:embed="rId3"/>
          <a:stretch/>
        </p:blipFill>
        <p:spPr bwMode="auto">
          <a:xfrm>
            <a:off x="124353" y="85725"/>
            <a:ext cx="2286000" cy="3114675"/>
          </a:xfrm>
          <a:prstGeom prst="rect">
            <a:avLst/>
          </a:prstGeom>
        </p:spPr>
      </p:pic>
      <p:sp>
        <p:nvSpPr>
          <p:cNvPr id="2092375119" name="Espace réservé du contenu 2"/>
          <p:cNvSpPr>
            <a:spLocks noGrp="1"/>
          </p:cNvSpPr>
          <p:nvPr/>
        </p:nvSpPr>
        <p:spPr bwMode="auto">
          <a:xfrm>
            <a:off x="124353" y="4918074"/>
            <a:ext cx="1488016" cy="588433"/>
          </a:xfrm>
        </p:spPr>
        <p:txBody>
          <a:bodyPr vert="horz" lIns="91440" tIns="45720" rIns="91440" bIns="45720" rtlCol="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t>Théorie</a:t>
            </a:r>
          </a:p>
        </p:txBody>
      </p:sp>
      <p:sp>
        <p:nvSpPr>
          <p:cNvPr id="438238001" name="Espace réservé du contenu 2"/>
          <p:cNvSpPr>
            <a:spLocks noGrp="1"/>
          </p:cNvSpPr>
          <p:nvPr/>
        </p:nvSpPr>
        <p:spPr bwMode="auto">
          <a:xfrm>
            <a:off x="2803524" y="4918074"/>
            <a:ext cx="1488015" cy="588432"/>
          </a:xfrm>
        </p:spPr>
        <p:txBody>
          <a:bodyPr vertOverflow="overflow" horzOverflow="overflow" vert="horz" wrap="square" lIns="91440" tIns="45720" rIns="91440" bIns="45720" numCol="1" spcCol="0" rtlCol="0" fromWordArt="0" anchor="t" anchorCtr="0" forceAA="0" compatLnSpc="0">
            <a:normAutofit fontScale="75000" lnSpcReduction="5000"/>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t>Hyp. Théorique</a:t>
            </a:r>
          </a:p>
        </p:txBody>
      </p:sp>
      <p:sp>
        <p:nvSpPr>
          <p:cNvPr id="1513318390" name="Espace réservé du contenu 2"/>
          <p:cNvSpPr>
            <a:spLocks noGrp="1"/>
          </p:cNvSpPr>
          <p:nvPr/>
        </p:nvSpPr>
        <p:spPr bwMode="auto">
          <a:xfrm>
            <a:off x="5452946" y="4991099"/>
            <a:ext cx="1652469" cy="588432"/>
          </a:xfrm>
        </p:spPr>
        <p:txBody>
          <a:bodyPr vertOverflow="overflow" horzOverflow="overflow" vert="horz" wrap="square" lIns="91440" tIns="45720" rIns="91440" bIns="45720" numCol="1" spcCol="0" rtlCol="0" fromWordArt="0" anchor="t" anchorCtr="0" forceAA="0" compatLnSpc="0">
            <a:normAutofit fontScale="65000" lnSpcReduction="7000"/>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t>Hyp. opérationnelle</a:t>
            </a:r>
          </a:p>
        </p:txBody>
      </p:sp>
      <p:sp>
        <p:nvSpPr>
          <p:cNvPr id="1169454628" name="Espace réservé du contenu 2"/>
          <p:cNvSpPr>
            <a:spLocks noGrp="1"/>
          </p:cNvSpPr>
          <p:nvPr/>
        </p:nvSpPr>
        <p:spPr bwMode="auto">
          <a:xfrm>
            <a:off x="7929560" y="4991099"/>
            <a:ext cx="1488015" cy="588432"/>
          </a:xfrm>
        </p:spPr>
        <p:txBody>
          <a:bodyPr vertOverflow="overflow" horzOverflow="overflow" vert="horz" wrap="square" lIns="91440" tIns="45720" rIns="91440" bIns="45720" numCol="1" spcCol="0" rtlCol="0" fromWordArt="0" anchor="t" anchorCtr="0" forceAA="0" compatLnSpc="0">
            <a:normAutofit fontScale="75000" lnSpcReduction="5000"/>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t>Hyp. statistique</a:t>
            </a:r>
          </a:p>
        </p:txBody>
      </p:sp>
      <p:sp>
        <p:nvSpPr>
          <p:cNvPr id="1014834250" name="Espace réservé du contenu 2"/>
          <p:cNvSpPr>
            <a:spLocks noGrp="1"/>
          </p:cNvSpPr>
          <p:nvPr/>
        </p:nvSpPr>
        <p:spPr bwMode="auto">
          <a:xfrm>
            <a:off x="10056431" y="4991099"/>
            <a:ext cx="1488015" cy="588432"/>
          </a:xfrm>
        </p:spPr>
        <p:txBody>
          <a:bodyPr vertOverflow="overflow" horzOverflow="overflow" vert="horz" wrap="square" lIns="91440" tIns="45720" rIns="91440" bIns="45720" numCol="1" spcCol="0" rtlCol="0" fromWordArt="0" anchor="t" anchorCtr="0" forceAA="0" compatLnSpc="0">
            <a:normAutofit fontScale="75000" lnSpcReduction="5000"/>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t>Analyse statistique</a:t>
            </a:r>
          </a:p>
        </p:txBody>
      </p:sp>
      <p:sp>
        <p:nvSpPr>
          <p:cNvPr id="40519231" name="Flèche : droite 319605437"/>
          <p:cNvSpPr/>
          <p:nvPr/>
        </p:nvSpPr>
        <p:spPr bwMode="auto">
          <a:xfrm>
            <a:off x="1920874" y="4901404"/>
            <a:ext cx="489479" cy="621770"/>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sp>
      <p:sp>
        <p:nvSpPr>
          <p:cNvPr id="1557709650" name="Flèche : droite 119091404"/>
          <p:cNvSpPr/>
          <p:nvPr/>
        </p:nvSpPr>
        <p:spPr bwMode="auto">
          <a:xfrm>
            <a:off x="4494212" y="4991099"/>
            <a:ext cx="489478" cy="621769"/>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sp>
      <p:sp>
        <p:nvSpPr>
          <p:cNvPr id="432303415" name="Flèche : droite 1433474386"/>
          <p:cNvSpPr/>
          <p:nvPr/>
        </p:nvSpPr>
        <p:spPr bwMode="auto">
          <a:xfrm>
            <a:off x="7292445" y="5050894"/>
            <a:ext cx="489478" cy="621769"/>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sp>
      <p:sp>
        <p:nvSpPr>
          <p:cNvPr id="1941539434" name="Flèche : droite 1439124874"/>
          <p:cNvSpPr/>
          <p:nvPr/>
        </p:nvSpPr>
        <p:spPr bwMode="auto">
          <a:xfrm>
            <a:off x="9417576" y="4991099"/>
            <a:ext cx="489478" cy="621769"/>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sp>
      <p:sp>
        <p:nvSpPr>
          <p:cNvPr id="1313563981" name="Rectangle 718076044"/>
          <p:cNvSpPr/>
          <p:nvPr/>
        </p:nvSpPr>
        <p:spPr bwMode="auto">
          <a:xfrm>
            <a:off x="4353750" y="4828644"/>
            <a:ext cx="3598333" cy="978958"/>
          </a:xfrm>
          <a:prstGeom prst="rect">
            <a:avLst/>
          </a:prstGeom>
          <a:noFill/>
          <a:ln w="57150" cap="flat" cmpd="sng" algn="ctr">
            <a:solidFill>
              <a:srgbClr val="FF0000"/>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472136578" name="Espace réservé du contenu 2"/>
          <p:cNvSpPr>
            <a:spLocks noGrp="1"/>
          </p:cNvSpPr>
          <p:nvPr/>
        </p:nvSpPr>
        <p:spPr bwMode="auto">
          <a:xfrm>
            <a:off x="2587656" y="2946135"/>
            <a:ext cx="8825674" cy="1230311"/>
          </a:xfrm>
        </p:spPr>
        <p:txBody>
          <a:bodyPr vert="horz" lIns="91440" tIns="45720" rIns="91440" bIns="45720" rtlCol="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a:defRPr/>
            </a:pPr>
            <a:r>
              <a:t>Thèse Duhem-Quine : il est impossible de faire une falsification non-ambiguë d’une hypothèse scientifique</a:t>
            </a:r>
          </a:p>
        </p:txBody>
      </p:sp>
      <p:sp>
        <p:nvSpPr>
          <p:cNvPr id="1097401657" name="Espace réservé du contenu 2"/>
          <p:cNvSpPr>
            <a:spLocks noGrp="1"/>
          </p:cNvSpPr>
          <p:nvPr/>
        </p:nvSpPr>
        <p:spPr bwMode="auto">
          <a:xfrm>
            <a:off x="398493" y="5939895"/>
            <a:ext cx="11204839" cy="744536"/>
          </a:xfrm>
        </p:spPr>
        <p:txBody>
          <a:bodyPr vertOverflow="overflow" horzOverflow="overflow" vert="horz" wrap="square" lIns="91440" tIns="45720" rIns="91440" bIns="45720" numCol="1" spcCol="0" rtlCol="0" fromWordArt="0" anchor="t" anchorCtr="0" forceAA="0" compatLnSpc="0">
            <a:normAutofit fontScale="90000" lnSpcReduction="2000"/>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t>Précision de mesure – questionnaires – scénario - validité interne – validité externe – fidélité – puissance statistique ...</a:t>
            </a:r>
          </a:p>
        </p:txBody>
      </p:sp>
      <p:sp>
        <p:nvSpPr>
          <p:cNvPr id="327405461" name="Espace réservé du contenu 2"/>
          <p:cNvSpPr txBox="1"/>
          <p:nvPr/>
        </p:nvSpPr>
        <p:spPr bwMode="auto">
          <a:xfrm>
            <a:off x="2531626" y="1373679"/>
            <a:ext cx="8878224" cy="532541"/>
          </a:xfrm>
          <a:prstGeom prst="rect">
            <a:avLst/>
          </a:prstGeom>
        </p:spPr>
        <p:txBody>
          <a:bodyPr vert="horz" lIns="91440" tIns="45720" rIns="91440" bIns="45720" rtlCol="0" anchor="t">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a:defRPr/>
            </a:pPr>
            <a:r>
              <a:rPr lang="fr-FR"/>
              <a:t>Conjecture et réfutation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2136578"/>
                                        </p:tgtEl>
                                        <p:attrNameLst>
                                          <p:attrName>style.visibility</p:attrName>
                                        </p:attrNameLst>
                                      </p:cBhvr>
                                      <p:to>
                                        <p:strVal val="visible"/>
                                      </p:to>
                                    </p:set>
                                    <p:animEffect transition="in" filter="fade">
                                      <p:cBhvr>
                                        <p:cTn id="7" dur="500"/>
                                        <p:tgtEl>
                                          <p:spTgt spid="4721365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92375119"/>
                                        </p:tgtEl>
                                        <p:attrNameLst>
                                          <p:attrName>style.visibility</p:attrName>
                                        </p:attrNameLst>
                                      </p:cBhvr>
                                      <p:to>
                                        <p:strVal val="visible"/>
                                      </p:to>
                                    </p:set>
                                    <p:animEffect transition="in" filter="fade">
                                      <p:cBhvr>
                                        <p:cTn id="12" dur="500"/>
                                        <p:tgtEl>
                                          <p:spTgt spid="20923751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519231"/>
                                        </p:tgtEl>
                                        <p:attrNameLst>
                                          <p:attrName>style.visibility</p:attrName>
                                        </p:attrNameLst>
                                      </p:cBhvr>
                                      <p:to>
                                        <p:strVal val="visible"/>
                                      </p:to>
                                    </p:set>
                                    <p:animEffect transition="in" filter="fade">
                                      <p:cBhvr>
                                        <p:cTn id="17" dur="500"/>
                                        <p:tgtEl>
                                          <p:spTgt spid="405192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8238001"/>
                                        </p:tgtEl>
                                        <p:attrNameLst>
                                          <p:attrName>style.visibility</p:attrName>
                                        </p:attrNameLst>
                                      </p:cBhvr>
                                      <p:to>
                                        <p:strVal val="visible"/>
                                      </p:to>
                                    </p:set>
                                    <p:animEffect transition="in" filter="fade">
                                      <p:cBhvr>
                                        <p:cTn id="22" dur="500"/>
                                        <p:tgtEl>
                                          <p:spTgt spid="43823800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57709650"/>
                                        </p:tgtEl>
                                        <p:attrNameLst>
                                          <p:attrName>style.visibility</p:attrName>
                                        </p:attrNameLst>
                                      </p:cBhvr>
                                      <p:to>
                                        <p:strVal val="visible"/>
                                      </p:to>
                                    </p:set>
                                    <p:animEffect transition="in" filter="fade">
                                      <p:cBhvr>
                                        <p:cTn id="27" dur="500"/>
                                        <p:tgtEl>
                                          <p:spTgt spid="15577096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13318390"/>
                                        </p:tgtEl>
                                        <p:attrNameLst>
                                          <p:attrName>style.visibility</p:attrName>
                                        </p:attrNameLst>
                                      </p:cBhvr>
                                      <p:to>
                                        <p:strVal val="visible"/>
                                      </p:to>
                                    </p:set>
                                    <p:animEffect transition="in" filter="fade">
                                      <p:cBhvr>
                                        <p:cTn id="32" dur="500"/>
                                        <p:tgtEl>
                                          <p:spTgt spid="151331839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32303415"/>
                                        </p:tgtEl>
                                        <p:attrNameLst>
                                          <p:attrName>style.visibility</p:attrName>
                                        </p:attrNameLst>
                                      </p:cBhvr>
                                      <p:to>
                                        <p:strVal val="visible"/>
                                      </p:to>
                                    </p:set>
                                    <p:animEffect transition="in" filter="fade">
                                      <p:cBhvr>
                                        <p:cTn id="37" dur="500"/>
                                        <p:tgtEl>
                                          <p:spTgt spid="4323034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69454628"/>
                                        </p:tgtEl>
                                        <p:attrNameLst>
                                          <p:attrName>style.visibility</p:attrName>
                                        </p:attrNameLst>
                                      </p:cBhvr>
                                      <p:to>
                                        <p:strVal val="visible"/>
                                      </p:to>
                                    </p:set>
                                    <p:animEffect transition="in" filter="fade">
                                      <p:cBhvr>
                                        <p:cTn id="42" dur="500"/>
                                        <p:tgtEl>
                                          <p:spTgt spid="11694546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41539434"/>
                                        </p:tgtEl>
                                        <p:attrNameLst>
                                          <p:attrName>style.visibility</p:attrName>
                                        </p:attrNameLst>
                                      </p:cBhvr>
                                      <p:to>
                                        <p:strVal val="visible"/>
                                      </p:to>
                                    </p:set>
                                    <p:animEffect transition="in" filter="fade">
                                      <p:cBhvr>
                                        <p:cTn id="47" dur="500"/>
                                        <p:tgtEl>
                                          <p:spTgt spid="19415394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14834250"/>
                                        </p:tgtEl>
                                        <p:attrNameLst>
                                          <p:attrName>style.visibility</p:attrName>
                                        </p:attrNameLst>
                                      </p:cBhvr>
                                      <p:to>
                                        <p:strVal val="visible"/>
                                      </p:to>
                                    </p:set>
                                    <p:animEffect transition="in" filter="fade">
                                      <p:cBhvr>
                                        <p:cTn id="52" dur="500"/>
                                        <p:tgtEl>
                                          <p:spTgt spid="101483425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13563981"/>
                                        </p:tgtEl>
                                        <p:attrNameLst>
                                          <p:attrName>style.visibility</p:attrName>
                                        </p:attrNameLst>
                                      </p:cBhvr>
                                      <p:to>
                                        <p:strVal val="visible"/>
                                      </p:to>
                                    </p:set>
                                    <p:animEffect transition="in" filter="fade">
                                      <p:cBhvr>
                                        <p:cTn id="57" dur="500"/>
                                        <p:tgtEl>
                                          <p:spTgt spid="131356398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97401657"/>
                                        </p:tgtEl>
                                        <p:attrNameLst>
                                          <p:attrName>style.visibility</p:attrName>
                                        </p:attrNameLst>
                                      </p:cBhvr>
                                      <p:to>
                                        <p:strVal val="visible"/>
                                      </p:to>
                                    </p:set>
                                    <p:animEffect transition="in" filter="fade">
                                      <p:cBhvr>
                                        <p:cTn id="62" dur="500"/>
                                        <p:tgtEl>
                                          <p:spTgt spid="1097401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54050029" name="Titre 1"/>
          <p:cNvSpPr>
            <a:spLocks noGrp="1"/>
          </p:cNvSpPr>
          <p:nvPr>
            <p:ph type="title"/>
          </p:nvPr>
        </p:nvSpPr>
        <p:spPr bwMode="auto">
          <a:xfrm>
            <a:off x="2700104" y="365124"/>
            <a:ext cx="8653695" cy="1325562"/>
          </a:xfrm>
        </p:spPr>
        <p:txBody>
          <a:bodyPr/>
          <a:lstStyle/>
          <a:p>
            <a:pPr>
              <a:defRPr/>
            </a:pPr>
            <a:r>
              <a:t>Programme de recherche (Lakatos, 1970)</a:t>
            </a:r>
          </a:p>
        </p:txBody>
      </p:sp>
      <p:sp>
        <p:nvSpPr>
          <p:cNvPr id="245655492" name="Espace réservé du contenu 2"/>
          <p:cNvSpPr>
            <a:spLocks noGrp="1"/>
          </p:cNvSpPr>
          <p:nvPr>
            <p:ph idx="1"/>
          </p:nvPr>
        </p:nvSpPr>
        <p:spPr bwMode="auto">
          <a:xfrm>
            <a:off x="838198" y="6022730"/>
            <a:ext cx="10515600" cy="776653"/>
          </a:xfrm>
        </p:spPr>
        <p:txBody>
          <a:bodyPr vertOverflow="overflow" horzOverflow="overflow" vert="horz" wrap="square" lIns="91440" tIns="45720" rIns="91440" bIns="45720" numCol="1" spcCol="0" rtlCol="0" fromWordArt="0" anchor="t" anchorCtr="0" forceAA="0" compatLnSpc="0">
            <a:normAutofit fontScale="95000" lnSpcReduction="1000"/>
          </a:bodyPr>
          <a:lstStyle/>
          <a:p>
            <a:pPr>
              <a:defRPr/>
            </a:pPr>
            <a:r>
              <a:t>Popper, Kuhn, Lakatos, prennent tous comme exemple la physique</a:t>
            </a:r>
          </a:p>
        </p:txBody>
      </p:sp>
      <p:pic>
        <p:nvPicPr>
          <p:cNvPr id="685948236" name="Image 334018704"/>
          <p:cNvPicPr>
            <a:picLocks noChangeAspect="1"/>
          </p:cNvPicPr>
          <p:nvPr/>
        </p:nvPicPr>
        <p:blipFill rotWithShape="1">
          <a:blip r:embed="rId3"/>
          <a:stretch/>
        </p:blipFill>
        <p:spPr bwMode="auto">
          <a:xfrm>
            <a:off x="230038" y="123031"/>
            <a:ext cx="2266569" cy="3135312"/>
          </a:xfrm>
          <a:prstGeom prst="rect">
            <a:avLst/>
          </a:prstGeom>
        </p:spPr>
      </p:pic>
      <p:pic>
        <p:nvPicPr>
          <p:cNvPr id="1907829612" name="Image 518132563"/>
          <p:cNvPicPr>
            <a:picLocks noChangeAspect="1"/>
          </p:cNvPicPr>
          <p:nvPr/>
        </p:nvPicPr>
        <p:blipFill rotWithShape="1">
          <a:blip r:embed="rId4"/>
          <a:stretch/>
        </p:blipFill>
        <p:spPr bwMode="auto">
          <a:xfrm>
            <a:off x="4190999" y="1785937"/>
            <a:ext cx="4832645" cy="416815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07829612"/>
                                        </p:tgtEl>
                                        <p:attrNameLst>
                                          <p:attrName>style.visibility</p:attrName>
                                        </p:attrNameLst>
                                      </p:cBhvr>
                                      <p:to>
                                        <p:strVal val="visible"/>
                                      </p:to>
                                    </p:set>
                                    <p:animEffect transition="in" filter="fade">
                                      <p:cBhvr>
                                        <p:cTn id="7" dur="500"/>
                                        <p:tgtEl>
                                          <p:spTgt spid="19078296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5655492"/>
                                        </p:tgtEl>
                                        <p:attrNameLst>
                                          <p:attrName>style.visibility</p:attrName>
                                        </p:attrNameLst>
                                      </p:cBhvr>
                                      <p:to>
                                        <p:strVal val="visible"/>
                                      </p:to>
                                    </p:set>
                                    <p:animEffect transition="in" filter="fade">
                                      <p:cBhvr>
                                        <p:cTn id="12" dur="500"/>
                                        <p:tgtEl>
                                          <p:spTgt spid="245655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95695780" name="Titre 1"/>
          <p:cNvSpPr>
            <a:spLocks noGrp="1"/>
          </p:cNvSpPr>
          <p:nvPr>
            <p:ph type="title"/>
          </p:nvPr>
        </p:nvSpPr>
        <p:spPr bwMode="auto"/>
        <p:txBody>
          <a:bodyPr/>
          <a:lstStyle/>
          <a:p>
            <a:pPr>
              <a:defRPr/>
            </a:pPr>
            <a:r>
              <a:t>Whatabout la psychologie ?</a:t>
            </a:r>
          </a:p>
        </p:txBody>
      </p:sp>
      <p:sp>
        <p:nvSpPr>
          <p:cNvPr id="1549787701" name="Cœur 1836959592"/>
          <p:cNvSpPr/>
          <p:nvPr/>
        </p:nvSpPr>
        <p:spPr bwMode="auto">
          <a:xfrm>
            <a:off x="4198326" y="2139461"/>
            <a:ext cx="3795346" cy="3971192"/>
          </a:xfrm>
          <a:prstGeom prst="heart">
            <a:avLst/>
          </a:prstGeom>
          <a:solidFill>
            <a:srgbClr val="D45BC8"/>
          </a:solidFill>
        </p:spPr>
        <p:style>
          <a:lnRef idx="2">
            <a:schemeClr val="accent1">
              <a:shade val="50000"/>
            </a:schemeClr>
          </a:lnRef>
          <a:fillRef idx="1">
            <a:schemeClr val="accent1"/>
          </a:fillRef>
          <a:effectRef idx="0">
            <a:schemeClr val="accent1"/>
          </a:effectRef>
          <a:fontRef idx="minor">
            <a:schemeClr val="lt1"/>
          </a:fontRef>
        </p:style>
      </p:sp>
      <p:pic>
        <p:nvPicPr>
          <p:cNvPr id="386358961" name="Image 703625653"/>
          <p:cNvPicPr>
            <a:picLocks noChangeAspect="1"/>
          </p:cNvPicPr>
          <p:nvPr/>
        </p:nvPicPr>
        <p:blipFill rotWithShape="1">
          <a:blip r:embed="rId3"/>
          <a:stretch/>
        </p:blipFill>
        <p:spPr bwMode="auto">
          <a:xfrm>
            <a:off x="5143500" y="2794488"/>
            <a:ext cx="1904999" cy="2324098"/>
          </a:xfrm>
          <a:prstGeom prst="rect">
            <a:avLst/>
          </a:prstGeom>
        </p:spPr>
      </p:pic>
      <p:sp>
        <p:nvSpPr>
          <p:cNvPr id="446720907" name="ZoneTexte 568233208"/>
          <p:cNvSpPr txBox="1"/>
          <p:nvPr/>
        </p:nvSpPr>
        <p:spPr bwMode="auto">
          <a:xfrm>
            <a:off x="924692" y="1819241"/>
            <a:ext cx="1891425"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Paul Meehl (1920 - 2003)</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86358961"/>
                                        </p:tgtEl>
                                        <p:attrNameLst>
                                          <p:attrName>style.visibility</p:attrName>
                                        </p:attrNameLst>
                                      </p:cBhvr>
                                      <p:to>
                                        <p:strVal val="visible"/>
                                      </p:to>
                                    </p:set>
                                    <p:animEffect transition="in" filter="wheel(1)">
                                      <p:cBhvr>
                                        <p:cTn id="7" dur="2000"/>
                                        <p:tgtEl>
                                          <p:spTgt spid="386358961"/>
                                        </p:tgtEl>
                                      </p:cBhvr>
                                    </p:animEffect>
                                  </p:childTnLst>
                                </p:cTn>
                              </p:par>
                              <p:par>
                                <p:cTn id="8" presetID="21" presetClass="entr" presetSubtype="1" fill="hold" nodeType="withEffect">
                                  <p:stCondLst>
                                    <p:cond delay="0"/>
                                  </p:stCondLst>
                                  <p:childTnLst>
                                    <p:set>
                                      <p:cBhvr>
                                        <p:cTn id="9" dur="1" fill="hold">
                                          <p:stCondLst>
                                            <p:cond delay="0"/>
                                          </p:stCondLst>
                                        </p:cTn>
                                        <p:tgtEl>
                                          <p:spTgt spid="1549787701"/>
                                        </p:tgtEl>
                                        <p:attrNameLst>
                                          <p:attrName>style.visibility</p:attrName>
                                        </p:attrNameLst>
                                      </p:cBhvr>
                                      <p:to>
                                        <p:strVal val="visible"/>
                                      </p:to>
                                    </p:set>
                                    <p:animEffect transition="in" filter="wheel(1)">
                                      <p:cBhvr>
                                        <p:cTn id="10" dur="2000"/>
                                        <p:tgtEl>
                                          <p:spTgt spid="154978770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46720907"/>
                                        </p:tgtEl>
                                        <p:attrNameLst>
                                          <p:attrName>style.visibility</p:attrName>
                                        </p:attrNameLst>
                                      </p:cBhvr>
                                      <p:to>
                                        <p:strVal val="visible"/>
                                      </p:to>
                                    </p:set>
                                    <p:animEffect transition="in" filter="fade">
                                      <p:cBhvr>
                                        <p:cTn id="15" dur="500"/>
                                        <p:tgtEl>
                                          <p:spTgt spid="446720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59647066" name="Titre 1"/>
          <p:cNvSpPr>
            <a:spLocks noGrp="1"/>
          </p:cNvSpPr>
          <p:nvPr>
            <p:ph type="title"/>
          </p:nvPr>
        </p:nvSpPr>
        <p:spPr bwMode="auto"/>
        <p:txBody>
          <a:bodyPr/>
          <a:lstStyle/>
          <a:p>
            <a:pPr>
              <a:defRPr/>
            </a:pPr>
            <a:r>
              <a:t>Whatabout la psychologie ?</a:t>
            </a:r>
          </a:p>
        </p:txBody>
      </p:sp>
      <p:sp>
        <p:nvSpPr>
          <p:cNvPr id="1980266810" name="Cœur 233067894"/>
          <p:cNvSpPr/>
          <p:nvPr/>
        </p:nvSpPr>
        <p:spPr bwMode="auto">
          <a:xfrm>
            <a:off x="8937415" y="365124"/>
            <a:ext cx="3039172" cy="3316165"/>
          </a:xfrm>
          <a:prstGeom prst="heart">
            <a:avLst/>
          </a:prstGeom>
          <a:solidFill>
            <a:srgbClr val="D45BC8"/>
          </a:solidFill>
        </p:spPr>
        <p:style>
          <a:lnRef idx="2">
            <a:schemeClr val="accent1">
              <a:shade val="50000"/>
            </a:schemeClr>
          </a:lnRef>
          <a:fillRef idx="1">
            <a:schemeClr val="accent1"/>
          </a:fillRef>
          <a:effectRef idx="0">
            <a:schemeClr val="accent1"/>
          </a:effectRef>
          <a:fontRef idx="minor">
            <a:schemeClr val="lt1"/>
          </a:fontRef>
        </p:style>
      </p:sp>
      <p:pic>
        <p:nvPicPr>
          <p:cNvPr id="76945694" name="Image 603521629"/>
          <p:cNvPicPr>
            <a:picLocks noChangeAspect="1"/>
          </p:cNvPicPr>
          <p:nvPr/>
        </p:nvPicPr>
        <p:blipFill rotWithShape="1">
          <a:blip r:embed="rId3"/>
          <a:stretch/>
        </p:blipFill>
        <p:spPr bwMode="auto">
          <a:xfrm>
            <a:off x="9661611" y="1027906"/>
            <a:ext cx="1590780" cy="1940752"/>
          </a:xfrm>
          <a:prstGeom prst="rect">
            <a:avLst/>
          </a:prstGeom>
        </p:spPr>
      </p:pic>
      <p:sp>
        <p:nvSpPr>
          <p:cNvPr id="1297119282" name="ZoneTexte 676287400"/>
          <p:cNvSpPr txBox="1"/>
          <p:nvPr/>
        </p:nvSpPr>
        <p:spPr bwMode="auto">
          <a:xfrm>
            <a:off x="838198" y="1499021"/>
            <a:ext cx="1891425"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Paul Meehl (1920 - 2003)</a:t>
            </a:r>
          </a:p>
        </p:txBody>
      </p:sp>
      <p:sp>
        <p:nvSpPr>
          <p:cNvPr id="2075315359" name="ZoneTexte 1684594437"/>
          <p:cNvSpPr txBox="1"/>
          <p:nvPr/>
        </p:nvSpPr>
        <p:spPr bwMode="auto">
          <a:xfrm>
            <a:off x="838198" y="2328218"/>
            <a:ext cx="7766399"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Fondateur de l’utilisation de machine learning pour le diagnostic psychologique</a:t>
            </a:r>
          </a:p>
        </p:txBody>
      </p:sp>
      <p:sp>
        <p:nvSpPr>
          <p:cNvPr id="2003481857" name="ZoneTexte 1535647636"/>
          <p:cNvSpPr txBox="1"/>
          <p:nvPr/>
        </p:nvSpPr>
        <p:spPr bwMode="auto">
          <a:xfrm>
            <a:off x="838198" y="2968658"/>
            <a:ext cx="7786198"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Fondateur de la validité de construit et de l’alpha de Cronbach</a:t>
            </a:r>
          </a:p>
        </p:txBody>
      </p:sp>
      <p:sp>
        <p:nvSpPr>
          <p:cNvPr id="1903102840" name="ZoneTexte 652738988"/>
          <p:cNvSpPr txBox="1"/>
          <p:nvPr/>
        </p:nvSpPr>
        <p:spPr bwMode="auto">
          <a:xfrm>
            <a:off x="902676" y="3429000"/>
            <a:ext cx="780419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Directeur de l’American Psychological Association</a:t>
            </a:r>
          </a:p>
        </p:txBody>
      </p:sp>
      <p:sp>
        <p:nvSpPr>
          <p:cNvPr id="288438569" name="ZoneTexte 635895488"/>
          <p:cNvSpPr txBox="1"/>
          <p:nvPr/>
        </p:nvSpPr>
        <p:spPr bwMode="auto">
          <a:xfrm>
            <a:off x="902676" y="3889130"/>
            <a:ext cx="7830476"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Premier chercheur à parler de fondement biologique de la schizophrénie</a:t>
            </a:r>
          </a:p>
        </p:txBody>
      </p:sp>
      <p:sp>
        <p:nvSpPr>
          <p:cNvPr id="516232673" name="ZoneTexte 640350357"/>
          <p:cNvSpPr txBox="1"/>
          <p:nvPr/>
        </p:nvSpPr>
        <p:spPr bwMode="auto">
          <a:xfrm>
            <a:off x="902676" y="4255250"/>
            <a:ext cx="7872955"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Créateur de la taxométrie : la science qui distingue les troubles psychologiques comme catégoriel ou dimensionnel</a:t>
            </a:r>
          </a:p>
        </p:txBody>
      </p:sp>
      <p:sp>
        <p:nvSpPr>
          <p:cNvPr id="665596120" name="ZoneTexte 842428909"/>
          <p:cNvSpPr txBox="1"/>
          <p:nvPr/>
        </p:nvSpPr>
        <p:spPr bwMode="auto">
          <a:xfrm>
            <a:off x="902676" y="4954305"/>
            <a:ext cx="789815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Créateur de la K-scale, l’échelle de désirabilité sociale</a:t>
            </a:r>
          </a:p>
        </p:txBody>
      </p:sp>
      <p:sp>
        <p:nvSpPr>
          <p:cNvPr id="783387635" name="ZoneTexte 2030539972"/>
          <p:cNvSpPr txBox="1"/>
          <p:nvPr/>
        </p:nvSpPr>
        <p:spPr bwMode="auto">
          <a:xfrm>
            <a:off x="902676" y="5408349"/>
            <a:ext cx="7904273"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Créateur du CRUD factor</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5315359"/>
                                        </p:tgtEl>
                                        <p:attrNameLst>
                                          <p:attrName>style.visibility</p:attrName>
                                        </p:attrNameLst>
                                      </p:cBhvr>
                                      <p:to>
                                        <p:strVal val="visible"/>
                                      </p:to>
                                    </p:set>
                                    <p:animEffect transition="in" filter="fade">
                                      <p:cBhvr>
                                        <p:cTn id="7" dur="500"/>
                                        <p:tgtEl>
                                          <p:spTgt spid="20753153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03481857"/>
                                        </p:tgtEl>
                                        <p:attrNameLst>
                                          <p:attrName>style.visibility</p:attrName>
                                        </p:attrNameLst>
                                      </p:cBhvr>
                                      <p:to>
                                        <p:strVal val="visible"/>
                                      </p:to>
                                    </p:set>
                                    <p:animEffect transition="in" filter="fade">
                                      <p:cBhvr>
                                        <p:cTn id="12" dur="500"/>
                                        <p:tgtEl>
                                          <p:spTgt spid="20034818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03102840"/>
                                        </p:tgtEl>
                                        <p:attrNameLst>
                                          <p:attrName>style.visibility</p:attrName>
                                        </p:attrNameLst>
                                      </p:cBhvr>
                                      <p:to>
                                        <p:strVal val="visible"/>
                                      </p:to>
                                    </p:set>
                                    <p:animEffect transition="in" filter="fade">
                                      <p:cBhvr>
                                        <p:cTn id="17" dur="500"/>
                                        <p:tgtEl>
                                          <p:spTgt spid="19031028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8438569"/>
                                        </p:tgtEl>
                                        <p:attrNameLst>
                                          <p:attrName>style.visibility</p:attrName>
                                        </p:attrNameLst>
                                      </p:cBhvr>
                                      <p:to>
                                        <p:strVal val="visible"/>
                                      </p:to>
                                    </p:set>
                                    <p:animEffect transition="in" filter="fade">
                                      <p:cBhvr>
                                        <p:cTn id="22" dur="500"/>
                                        <p:tgtEl>
                                          <p:spTgt spid="28843856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6232673"/>
                                        </p:tgtEl>
                                        <p:attrNameLst>
                                          <p:attrName>style.visibility</p:attrName>
                                        </p:attrNameLst>
                                      </p:cBhvr>
                                      <p:to>
                                        <p:strVal val="visible"/>
                                      </p:to>
                                    </p:set>
                                    <p:animEffect transition="in" filter="fade">
                                      <p:cBhvr>
                                        <p:cTn id="27" dur="500"/>
                                        <p:tgtEl>
                                          <p:spTgt spid="51623267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65596120"/>
                                        </p:tgtEl>
                                        <p:attrNameLst>
                                          <p:attrName>style.visibility</p:attrName>
                                        </p:attrNameLst>
                                      </p:cBhvr>
                                      <p:to>
                                        <p:strVal val="visible"/>
                                      </p:to>
                                    </p:set>
                                    <p:animEffect transition="in" filter="fade">
                                      <p:cBhvr>
                                        <p:cTn id="32" dur="500"/>
                                        <p:tgtEl>
                                          <p:spTgt spid="6655961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83387635"/>
                                        </p:tgtEl>
                                        <p:attrNameLst>
                                          <p:attrName>style.visibility</p:attrName>
                                        </p:attrNameLst>
                                      </p:cBhvr>
                                      <p:to>
                                        <p:strVal val="visible"/>
                                      </p:to>
                                    </p:set>
                                    <p:animEffect transition="in" filter="fade">
                                      <p:cBhvr>
                                        <p:cTn id="37" dur="500"/>
                                        <p:tgtEl>
                                          <p:spTgt spid="783387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43779917" name="Titre 1"/>
          <p:cNvSpPr>
            <a:spLocks noGrp="1"/>
          </p:cNvSpPr>
          <p:nvPr>
            <p:ph type="title"/>
          </p:nvPr>
        </p:nvSpPr>
        <p:spPr bwMode="auto"/>
        <p:txBody>
          <a:bodyPr/>
          <a:lstStyle/>
          <a:p>
            <a:pPr>
              <a:defRPr/>
            </a:pPr>
            <a:r>
              <a:t>Whatabout la psychologie ?</a:t>
            </a:r>
          </a:p>
        </p:txBody>
      </p:sp>
      <p:sp>
        <p:nvSpPr>
          <p:cNvPr id="2069026825" name="Cœur 1977046709"/>
          <p:cNvSpPr/>
          <p:nvPr/>
        </p:nvSpPr>
        <p:spPr bwMode="auto">
          <a:xfrm>
            <a:off x="8937415" y="365124"/>
            <a:ext cx="3039172" cy="3316165"/>
          </a:xfrm>
          <a:prstGeom prst="heart">
            <a:avLst/>
          </a:prstGeom>
          <a:solidFill>
            <a:srgbClr val="D45BC8"/>
          </a:solidFill>
        </p:spPr>
        <p:style>
          <a:lnRef idx="2">
            <a:schemeClr val="accent1">
              <a:shade val="50000"/>
            </a:schemeClr>
          </a:lnRef>
          <a:fillRef idx="1">
            <a:schemeClr val="accent1"/>
          </a:fillRef>
          <a:effectRef idx="0">
            <a:schemeClr val="accent1"/>
          </a:effectRef>
          <a:fontRef idx="minor">
            <a:schemeClr val="lt1"/>
          </a:fontRef>
        </p:style>
      </p:sp>
      <p:pic>
        <p:nvPicPr>
          <p:cNvPr id="270278300" name="Image 2053138973"/>
          <p:cNvPicPr>
            <a:picLocks noChangeAspect="1"/>
          </p:cNvPicPr>
          <p:nvPr/>
        </p:nvPicPr>
        <p:blipFill rotWithShape="1">
          <a:blip r:embed="rId3"/>
          <a:stretch/>
        </p:blipFill>
        <p:spPr bwMode="auto">
          <a:xfrm>
            <a:off x="9661611" y="1027906"/>
            <a:ext cx="1590780" cy="1940752"/>
          </a:xfrm>
          <a:prstGeom prst="rect">
            <a:avLst/>
          </a:prstGeom>
        </p:spPr>
      </p:pic>
      <p:sp>
        <p:nvSpPr>
          <p:cNvPr id="1641948732" name="ZoneTexte 1019142150"/>
          <p:cNvSpPr txBox="1"/>
          <p:nvPr/>
        </p:nvSpPr>
        <p:spPr bwMode="auto">
          <a:xfrm>
            <a:off x="838198" y="1499021"/>
            <a:ext cx="1891425"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Paul Meehl (1920 - 2003)</a:t>
            </a:r>
          </a:p>
        </p:txBody>
      </p:sp>
      <p:pic>
        <p:nvPicPr>
          <p:cNvPr id="1618733942" name="Image 1430906437"/>
          <p:cNvPicPr>
            <a:picLocks noChangeAspect="1"/>
          </p:cNvPicPr>
          <p:nvPr/>
        </p:nvPicPr>
        <p:blipFill rotWithShape="1">
          <a:blip r:embed="rId4"/>
          <a:stretch/>
        </p:blipFill>
        <p:spPr bwMode="auto">
          <a:xfrm>
            <a:off x="3239999" y="1819241"/>
            <a:ext cx="4927687" cy="43533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0018061" name="Titre 1"/>
          <p:cNvSpPr>
            <a:spLocks noGrp="1"/>
          </p:cNvSpPr>
          <p:nvPr>
            <p:ph type="title"/>
          </p:nvPr>
        </p:nvSpPr>
        <p:spPr bwMode="auto"/>
        <p:txBody>
          <a:bodyPr/>
          <a:lstStyle/>
          <a:p>
            <a:pPr>
              <a:defRPr/>
            </a:pPr>
            <a:r>
              <a:t>La psychologie fonctionne à l’inverse de la physique</a:t>
            </a:r>
          </a:p>
        </p:txBody>
      </p:sp>
      <mc:AlternateContent xmlns:mc="http://schemas.openxmlformats.org/markup-compatibility/2006">
        <mc:Choice xmlns:a14="http://schemas.microsoft.com/office/drawing/2010/main" Requires="a14">
          <p:sp>
            <p:nvSpPr>
              <p:cNvPr id="451657523" name="Espace réservé du contenu 2"/>
              <p:cNvSpPr>
                <a:spLocks noGrp="1"/>
              </p:cNvSpPr>
              <p:nvPr>
                <p:ph idx="1"/>
              </p:nvPr>
            </p:nvSpPr>
            <p:spPr bwMode="auto">
              <a:xfrm>
                <a:off x="838198" y="1825624"/>
                <a:ext cx="10515600" cy="1772708"/>
              </a:xfrm>
            </p:spPr>
            <p:txBody>
              <a:bodyPr vertOverflow="overflow" horzOverflow="overflow" vert="horz" wrap="square" lIns="91440" tIns="45720" rIns="91440" bIns="45720" numCol="1" spcCol="0" rtlCol="0" fromWordArt="0" anchor="t" anchorCtr="0" forceAA="0" compatLnSpc="0">
                <a:normAutofit/>
              </a:bodyPr>
              <a:lstStyle/>
              <a:p>
                <a:pPr>
                  <a:defRPr/>
                </a:pPr>
                <a:r>
                  <a:rPr sz="2400" b="0" i="0" u="none">
                    <a:solidFill>
                      <a:srgbClr val="000000"/>
                    </a:solidFill>
                    <a:latin typeface="Times New Roman"/>
                    <a:ea typeface="Times New Roman"/>
                    <a:cs typeface="Times New Roman"/>
                  </a:rPr>
                  <a:t>Si le boson de Higgs existe avec une masse </a:t>
                </a:r>
                <mc:AlternateContent>
                  <mc:Choice Requires="a14">
                    <a14:m>
                      <m:oMath xmlns:m="http://schemas.openxmlformats.org/officeDocument/2006/math">
                        <m:sSub>
                          <m:sSubPr>
                            <m:ctrlPr>
                              <a:rPr sz="2400" i="1">
                                <a:latin typeface="Cambria Math" panose="02040503050406030204" pitchFamily="18" charset="0"/>
                                <a:ea typeface="Cambria Math"/>
                                <a:cs typeface="Cambria Math"/>
                              </a:rPr>
                            </m:ctrlPr>
                          </m:sSubPr>
                          <m:e>
                            <m:r>
                              <a:rPr sz="2400">
                                <a:latin typeface="Cambria Math"/>
                              </a:rPr>
                              <m:t>𝑚</m:t>
                            </m:r>
                          </m:e>
                          <m:sub>
                            <m:r>
                              <a:rPr sz="2400">
                                <a:latin typeface="Cambria Math"/>
                              </a:rPr>
                              <m:t>𝐻</m:t>
                            </m:r>
                          </m:sub>
                        </m:sSub>
                      </m:oMath>
                    </a14:m>
                  </mc:Choice>
                  <mc:Fallback xmlns:m="http://schemas.openxmlformats.org/officeDocument/2006/math" xmlns:w="http://schemas.openxmlformats.org/wordprocessingml/2006/main" xmlns=""/>
                </mc:AlternateContent>
                <a:r>
                  <a:rPr sz="2400" b="0" i="0" u="none">
                    <a:solidFill>
                      <a:srgbClr val="000000"/>
                    </a:solidFill>
                    <a:latin typeface="Times New Roman"/>
                    <a:ea typeface="Times New Roman"/>
                    <a:cs typeface="Times New Roman"/>
                  </a:rPr>
                  <a:t>​, alors certaines collisions proton-proton au LHC produiront un excès d’événements, par rapport au bruit de fond attendu, compatible avec les canaux de désintégration prédits pour une particule scalaire de cette masse.</a:t>
                </a:r>
                <a:r>
                  <a:rPr lang="fr-FR" sz="2400" b="0" i="0" u="none" strike="noStrike" cap="none" spc="0">
                    <a:solidFill>
                      <a:schemeClr val="tx1"/>
                    </a:solidFill>
                    <a:latin typeface="Arial"/>
                    <a:ea typeface="Arial"/>
                    <a:cs typeface="Arial"/>
                  </a:rPr>
                  <a:t>Cet excès sera considéré comme une découverte si sa significativité statistique atteint au moins 5σ.</a:t>
                </a:r>
                <a:endParaRPr sz="2400"/>
              </a:p>
            </p:txBody>
          </p:sp>
        </mc:Choice>
        <mc:Fallback>
          <p:sp>
            <p:nvSpPr>
              <p:cNvPr id="451657523" name="Espace réservé du contenu 2"/>
              <p:cNvSpPr>
                <a:spLocks noGrp="1" noRot="1" noChangeAspect="1" noMove="1" noResize="1" noEditPoints="1" noAdjustHandles="1" noChangeArrowheads="1" noChangeShapeType="1" noTextEdit="1"/>
              </p:cNvSpPr>
              <p:nvPr>
                <p:ph idx="1"/>
              </p:nvPr>
            </p:nvSpPr>
            <p:spPr bwMode="auto">
              <a:xfrm>
                <a:off x="838198" y="1825624"/>
                <a:ext cx="10515600" cy="1772708"/>
              </a:xfrm>
              <a:blipFill>
                <a:blip r:embed="rId3"/>
                <a:stretch>
                  <a:fillRect l="-812" t="-4124" b="-2062"/>
                </a:stretch>
              </a:blipFill>
            </p:spPr>
            <p:txBody>
              <a:bodyPr/>
              <a:lstStyle/>
              <a:p>
                <a:r>
                  <a:rPr lang="fr-FR">
                    <a:noFill/>
                  </a:rPr>
                  <a:t> </a:t>
                </a:r>
              </a:p>
            </p:txBody>
          </p:sp>
        </mc:Fallback>
      </mc:AlternateContent>
      <p:sp>
        <p:nvSpPr>
          <p:cNvPr id="1479265161" name="ZoneTexte 282608923"/>
          <p:cNvSpPr txBox="1"/>
          <p:nvPr/>
        </p:nvSpPr>
        <p:spPr bwMode="auto">
          <a:xfrm>
            <a:off x="838198" y="3773910"/>
            <a:ext cx="10344319" cy="75016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400" b="0" i="0" u="none" strike="noStrike" cap="none" spc="0">
                <a:solidFill/>
                <a:latin typeface="Times New Roman"/>
                <a:ea typeface="Times New Roman"/>
                <a:cs typeface="Times New Roman"/>
              </a:rPr>
              <a:t>Les étudiants en classe puzzle auront une moyenne différente des élèves qui apprennent normalement.</a:t>
            </a:r>
            <a:endParaRPr sz="2400"/>
          </a:p>
        </p:txBody>
      </p:sp>
      <p:sp>
        <p:nvSpPr>
          <p:cNvPr id="766710781" name="ZoneTexte 274155699"/>
          <p:cNvSpPr txBox="1"/>
          <p:nvPr/>
        </p:nvSpPr>
        <p:spPr bwMode="auto">
          <a:xfrm>
            <a:off x="838198" y="4630313"/>
            <a:ext cx="10516320" cy="75016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400" b="0" i="0" u="none" strike="noStrike" cap="none" spc="0">
                <a:solidFill/>
                <a:latin typeface="Times New Roman"/>
                <a:ea typeface="Times New Roman"/>
                <a:cs typeface="Times New Roman"/>
              </a:rPr>
              <a:t>Les étudiants en classe puzzle auront une moyenne supérieure aux élèves qui apprennent normalement.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9265161"/>
                                        </p:tgtEl>
                                        <p:attrNameLst>
                                          <p:attrName>style.visibility</p:attrName>
                                        </p:attrNameLst>
                                      </p:cBhvr>
                                      <p:to>
                                        <p:strVal val="visible"/>
                                      </p:to>
                                    </p:set>
                                    <p:animEffect transition="in" filter="fade">
                                      <p:cBhvr>
                                        <p:cTn id="7" dur="500"/>
                                        <p:tgtEl>
                                          <p:spTgt spid="14792651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6710781"/>
                                        </p:tgtEl>
                                        <p:attrNameLst>
                                          <p:attrName>style.visibility</p:attrName>
                                        </p:attrNameLst>
                                      </p:cBhvr>
                                      <p:to>
                                        <p:strVal val="visible"/>
                                      </p:to>
                                    </p:set>
                                    <p:animEffect transition="in" filter="fade">
                                      <p:cBhvr>
                                        <p:cTn id="12" dur="500"/>
                                        <p:tgtEl>
                                          <p:spTgt spid="766710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719828230" name="Graphique 23417923"/>
          <p:cNvPicPr>
            <a:picLocks noChangeAspect="1"/>
          </p:cNvPicPr>
          <p:nvPr/>
        </p:nvPicPr>
        <p:blipFill rotWithShape="1">
          <a:blip>
            <a:extLst>
              <a:ext uri="{96DAC541-7B7A-43D3-8B79-37D633B846F1}">
                <asvg:svgBlip xmlns:asvg="http://schemas.microsoft.com/office/drawing/2016/SVG/main" r:embed="rId3"/>
              </a:ext>
            </a:extLst>
          </a:blip>
          <a:stretch/>
        </p:blipFill>
        <p:spPr bwMode="auto">
          <a:xfrm>
            <a:off x="909834" y="760451"/>
            <a:ext cx="5323707" cy="2130347"/>
          </a:xfrm>
          <a:prstGeom prst="rect">
            <a:avLst/>
          </a:prstGeom>
        </p:spPr>
      </p:pic>
      <p:pic>
        <p:nvPicPr>
          <p:cNvPr id="566751019" name="Image 930847703"/>
          <p:cNvPicPr>
            <a:picLocks noChangeAspect="1"/>
          </p:cNvPicPr>
          <p:nvPr/>
        </p:nvPicPr>
        <p:blipFill rotWithShape="1">
          <a:blip r:embed="rId4"/>
          <a:stretch/>
        </p:blipFill>
        <p:spPr bwMode="auto">
          <a:xfrm>
            <a:off x="3883268" y="3219816"/>
            <a:ext cx="7619999" cy="31146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9828230"/>
                                        </p:tgtEl>
                                        <p:attrNameLst>
                                          <p:attrName>style.visibility</p:attrName>
                                        </p:attrNameLst>
                                      </p:cBhvr>
                                      <p:to>
                                        <p:strVal val="visible"/>
                                      </p:to>
                                    </p:set>
                                    <p:animEffect transition="in" filter="fade">
                                      <p:cBhvr>
                                        <p:cTn id="7" dur="500"/>
                                        <p:tgtEl>
                                          <p:spTgt spid="7198282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6751019"/>
                                        </p:tgtEl>
                                        <p:attrNameLst>
                                          <p:attrName>style.visibility</p:attrName>
                                        </p:attrNameLst>
                                      </p:cBhvr>
                                      <p:to>
                                        <p:strVal val="visible"/>
                                      </p:to>
                                    </p:set>
                                    <p:animEffect transition="in" filter="fade">
                                      <p:cBhvr>
                                        <p:cTn id="12" dur="500"/>
                                        <p:tgtEl>
                                          <p:spTgt spid="566751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46362824" name="Titre 1"/>
          <p:cNvSpPr>
            <a:spLocks noGrp="1"/>
          </p:cNvSpPr>
          <p:nvPr>
            <p:ph type="title"/>
          </p:nvPr>
        </p:nvSpPr>
        <p:spPr bwMode="auto"/>
        <p:txBody>
          <a:bodyPr/>
          <a:lstStyle/>
          <a:p>
            <a:pPr>
              <a:defRPr/>
            </a:pPr>
            <a:endParaRPr/>
          </a:p>
        </p:txBody>
      </p:sp>
      <p:sp>
        <p:nvSpPr>
          <p:cNvPr id="704865870" name="Espace réservé du contenu 2"/>
          <p:cNvSpPr>
            <a:spLocks noGrp="1"/>
          </p:cNvSpPr>
          <p:nvPr>
            <p:ph idx="1"/>
          </p:nvPr>
        </p:nvSpPr>
        <p:spPr bwMode="auto">
          <a:xfrm>
            <a:off x="838198" y="1825624"/>
            <a:ext cx="10515600" cy="1653645"/>
          </a:xfrm>
        </p:spPr>
        <p:txBody>
          <a:bodyPr vertOverflow="overflow" horzOverflow="overflow" vert="horz" wrap="square" lIns="91440" tIns="45720" rIns="91440" bIns="45720" numCol="1" spcCol="0" rtlCol="0" fromWordArt="0" anchor="t" anchorCtr="0" forceAA="0" compatLnSpc="0">
            <a:normAutofit/>
          </a:bodyPr>
          <a:lstStyle/>
          <a:p>
            <a:pPr>
              <a:defRPr/>
            </a:pPr>
            <a:r>
              <a:t>Plus généralement, la physique repose sur des hypothèses sévères et des tests de précision</a:t>
            </a:r>
          </a:p>
          <a:p>
            <a:pPr lvl="1">
              <a:defRPr/>
            </a:pPr>
            <a:r>
              <a:t>Plus l’hypothèse est précise, plus, si elle est significative, on lui attribue de la vérisimilitude</a:t>
            </a:r>
          </a:p>
        </p:txBody>
      </p:sp>
      <p:sp>
        <p:nvSpPr>
          <p:cNvPr id="795240492" name="ZoneTexte 1317223722"/>
          <p:cNvSpPr txBox="1"/>
          <p:nvPr/>
        </p:nvSpPr>
        <p:spPr bwMode="auto">
          <a:xfrm>
            <a:off x="900937" y="3914563"/>
            <a:ext cx="10684217" cy="151826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Aft>
                <a:spcPts val="0"/>
              </a:spcAft>
              <a:buChar char="•"/>
              <a:defRPr/>
            </a:pPr>
            <a:r>
              <a:rPr lang="fr-FR" sz="2800" b="0" i="0" u="none" strike="noStrike" cap="none" spc="0">
                <a:solidFill>
                  <a:schemeClr val="tx1"/>
                </a:solidFill>
                <a:latin typeface="Arial"/>
                <a:ea typeface="Arial"/>
                <a:cs typeface="Arial"/>
              </a:rPr>
              <a:t>La psychologie repose sur des hypothèses faibles et des tests de généralisation</a:t>
            </a:r>
            <a:endParaRPr/>
          </a:p>
          <a:p>
            <a:pPr marL="628649" marR="0" lvl="1" indent="-228600" algn="l">
              <a:lnSpc>
                <a:spcPct val="90000"/>
              </a:lnSpc>
              <a:spcAft>
                <a:spcPts val="0"/>
              </a:spcAft>
              <a:buChar char="•"/>
              <a:defRPr/>
            </a:pPr>
            <a:r>
              <a:rPr lang="fr-FR" sz="2400" b="0" i="0" u="none" strike="noStrike" cap="none" spc="0">
                <a:solidFill>
                  <a:schemeClr val="tx1"/>
                </a:solidFill>
                <a:latin typeface="Arial"/>
                <a:ea typeface="Arial"/>
                <a:cs typeface="Arial"/>
              </a:rPr>
              <a:t>Plus l’hypothèse est vague, plus, si elle est significative, on lui attribue de la vérisimilitude</a:t>
            </a:r>
            <a:endParaRPr sz="2800" b="0" i="0" u="none" strike="noStrike" cap="none" spc="0">
              <a:solidFill>
                <a:schemeClr val="tx1"/>
              </a:solidFill>
              <a:latin typeface="Arial"/>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95240492"/>
                                        </p:tgtEl>
                                        <p:attrNameLst>
                                          <p:attrName>style.visibility</p:attrName>
                                        </p:attrNameLst>
                                      </p:cBhvr>
                                      <p:to>
                                        <p:strVal val="visible"/>
                                      </p:to>
                                    </p:set>
                                    <p:animEffect transition="in" filter="fade">
                                      <p:cBhvr>
                                        <p:cTn id="7" dur="500"/>
                                        <p:tgtEl>
                                          <p:spTgt spid="795240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7562815" name="Titre 1"/>
          <p:cNvSpPr>
            <a:spLocks noGrp="1"/>
          </p:cNvSpPr>
          <p:nvPr>
            <p:ph type="title"/>
          </p:nvPr>
        </p:nvSpPr>
        <p:spPr bwMode="auto"/>
        <p:txBody>
          <a:bodyPr/>
          <a:lstStyle/>
          <a:p>
            <a:pPr>
              <a:defRPr/>
            </a:pPr>
            <a:r>
              <a:t>Problème :</a:t>
            </a:r>
          </a:p>
        </p:txBody>
      </p:sp>
      <p:sp>
        <p:nvSpPr>
          <p:cNvPr id="632679051" name="Espace réservé du contenu 2"/>
          <p:cNvSpPr>
            <a:spLocks noGrp="1"/>
          </p:cNvSpPr>
          <p:nvPr>
            <p:ph idx="1"/>
          </p:nvPr>
        </p:nvSpPr>
        <p:spPr bwMode="auto">
          <a:xfrm>
            <a:off x="838198" y="1494895"/>
            <a:ext cx="10515600" cy="4351338"/>
          </a:xfrm>
        </p:spPr>
        <p:txBody>
          <a:bodyPr vertOverflow="overflow" horzOverflow="overflow" vert="horz" wrap="square" lIns="91440" tIns="45720" rIns="91440" bIns="45720" numCol="1" spcCol="0" rtlCol="0" fromWordArt="0" anchor="t" anchorCtr="0" forceAA="0" compatLnSpc="0">
            <a:normAutofit fontScale="85000" lnSpcReduction="3000"/>
          </a:bodyPr>
          <a:lstStyle/>
          <a:p>
            <a:pPr>
              <a:defRPr/>
            </a:pPr>
            <a:r>
              <a:t>L’hypothèse nulle doit être possiblement vraie</a:t>
            </a:r>
          </a:p>
          <a:p>
            <a:pPr>
              <a:defRPr/>
            </a:pPr>
            <a:r>
              <a:t>Or, il est impossible que les deux groupes soit parfaitement équivalent à cause de l’erreur d’échantillonnage et de l’erreur de mesure</a:t>
            </a:r>
          </a:p>
          <a:p>
            <a:pPr>
              <a:defRPr/>
            </a:pPr>
            <a:r>
              <a:t>De même du crud factor – tout corrèle avec tout – il est impossible de supposer que des états mentaux (anxiété, attention, intérêt, variables-état) ne soient influencés par rien dans la condition contrôle</a:t>
            </a:r>
          </a:p>
          <a:p>
            <a:pPr>
              <a:defRPr/>
            </a:pPr>
            <a:r>
              <a:t>Donc l’hypothèse nulle – la différence de moyenne est exactement égale à 0 – est forcément fausse</a:t>
            </a:r>
          </a:p>
          <a:p>
            <a:pPr>
              <a:defRPr/>
            </a:pPr>
            <a:r>
              <a:t>Lorsque la taille d’effet est faible, il est impossible de discerner un effet d’un faux positif</a:t>
            </a:r>
          </a:p>
          <a:p>
            <a:pPr>
              <a:defRPr/>
            </a:pPr>
            <a:r>
              <a:t>En moyenne, les tailles d’effet en psychologie sont faible à très faible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2679051"/>
                                        </p:tgtEl>
                                        <p:attrNameLst>
                                          <p:attrName>style.visibility</p:attrName>
                                        </p:attrNameLst>
                                      </p:cBhvr>
                                      <p:to>
                                        <p:strVal val="visible"/>
                                      </p:to>
                                    </p:set>
                                    <p:animEffect transition="in" filter="fade">
                                      <p:cBhvr>
                                        <p:cTn id="7" dur="500"/>
                                        <p:tgtEl>
                                          <p:spTgt spid="632679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2105314" name="Titre 1"/>
          <p:cNvSpPr>
            <a:spLocks noGrp="1"/>
          </p:cNvSpPr>
          <p:nvPr>
            <p:ph type="title"/>
          </p:nvPr>
        </p:nvSpPr>
        <p:spPr bwMode="auto"/>
        <p:txBody>
          <a:bodyPr/>
          <a:lstStyle/>
          <a:p>
            <a:pPr>
              <a:defRPr/>
            </a:pPr>
            <a:endParaRPr/>
          </a:p>
        </p:txBody>
      </p:sp>
      <p:sp>
        <p:nvSpPr>
          <p:cNvPr id="2010253028" name="Espace réservé du contenu 2"/>
          <p:cNvSpPr>
            <a:spLocks noGrp="1"/>
          </p:cNvSpPr>
          <p:nvPr>
            <p:ph idx="1"/>
          </p:nvPr>
        </p:nvSpPr>
        <p:spPr bwMode="auto"/>
        <p:txBody>
          <a:bodyPr/>
          <a:lstStyle/>
          <a:p>
            <a:pPr>
              <a:defRPr/>
            </a:pPr>
            <a:r>
              <a:t>Pour la régression linéaire</a:t>
            </a:r>
          </a:p>
          <a:p>
            <a:pPr lvl="1">
              <a:defRPr/>
            </a:pPr>
            <a:r>
              <a:t>En physique, un effet est trouvé s’il reste significatif quand il est ajusté par un maximum de facteurs, parfois des centaines</a:t>
            </a:r>
          </a:p>
          <a:p>
            <a:pPr lvl="1">
              <a:defRPr/>
            </a:pPr>
            <a:r>
              <a:t>En psychologie, un effet semble important s’il existe « sans avoir besoin » de contrôler pour d’autres facteurs</a:t>
            </a:r>
          </a:p>
          <a:p>
            <a:pPr lvl="2">
              <a:defRPr/>
            </a:pPr>
            <a:r>
              <a:t>A l’inverse, avoir besoin de contrôler des facteurs pour montrer un effet semble curieux, voir même du p-hacking</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0253028"/>
                                        </p:tgtEl>
                                        <p:attrNameLst>
                                          <p:attrName>style.visibility</p:attrName>
                                        </p:attrNameLst>
                                      </p:cBhvr>
                                      <p:to>
                                        <p:strVal val="visible"/>
                                      </p:to>
                                    </p:set>
                                    <p:animEffect transition="in" filter="fade">
                                      <p:cBhvr>
                                        <p:cTn id="7" dur="500"/>
                                        <p:tgtEl>
                                          <p:spTgt spid="2010253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7954616" name="Titre 1"/>
          <p:cNvSpPr>
            <a:spLocks noGrp="1"/>
          </p:cNvSpPr>
          <p:nvPr>
            <p:ph type="title"/>
          </p:nvPr>
        </p:nvSpPr>
        <p:spPr bwMode="auto"/>
        <p:txBody>
          <a:bodyPr/>
          <a:lstStyle/>
          <a:p>
            <a:pPr>
              <a:defRPr/>
            </a:pPr>
            <a:endParaRPr/>
          </a:p>
        </p:txBody>
      </p:sp>
      <p:sp>
        <p:nvSpPr>
          <p:cNvPr id="561573907" name="Espace réservé du contenu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a:bodyPr>
          <a:lstStyle/>
          <a:p>
            <a:pPr>
              <a:defRPr/>
            </a:pPr>
            <a:r>
              <a:rPr lang="fr-FR" sz="2800" b="0" i="1" u="none" strike="noStrike" cap="none" spc="0">
                <a:solidFill>
                  <a:schemeClr val="tx1"/>
                </a:solidFill>
                <a:latin typeface="Arial"/>
                <a:ea typeface="Arial"/>
                <a:cs typeface="Arial"/>
              </a:rPr>
              <a:t>En sciences physiques, l'amélioration de la conception expérimentale, de l'instrumentation ou de la quantité de données numériques a généralement pour effet d'accroître la difficulté de l'« obstacle observationnel » que la théorie physique concernée doit réussir à surmonter ; </a:t>
            </a:r>
            <a:endParaRPr/>
          </a:p>
          <a:p>
            <a:pPr>
              <a:defRPr/>
            </a:pPr>
            <a:r>
              <a:rPr lang="fr-FR" sz="2800" b="0" i="1" u="none" strike="noStrike" cap="none" spc="0">
                <a:solidFill>
                  <a:schemeClr val="tx1"/>
                </a:solidFill>
                <a:latin typeface="Arial"/>
                <a:ea typeface="Arial"/>
                <a:cs typeface="Arial"/>
              </a:rPr>
              <a:t>Alors qu'en psychologie et dans certaines sciences comportementales apparentées, l'effet habituel d'une telle amélioration de la précision expérimentale est de faciliter l'obstacle que la théorie doit surmonter. </a:t>
            </a:r>
            <a:endParaRPr sz="2800" b="0" i="1" u="none" strike="noStrike" cap="none" spc="0">
              <a:solidFill>
                <a:schemeClr val="tx1"/>
              </a:solidFill>
              <a:latin typeface="Arial"/>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17327274" name="Rectangle 1069017974"/>
          <p:cNvSpPr/>
          <p:nvPr/>
        </p:nvSpPr>
        <p:spPr bwMode="auto">
          <a:xfrm>
            <a:off x="924692" y="644769"/>
            <a:ext cx="2461845" cy="1421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Expérimental</a:t>
            </a:r>
          </a:p>
        </p:txBody>
      </p:sp>
      <p:sp>
        <p:nvSpPr>
          <p:cNvPr id="1660126970" name="Rectangle 1519321641"/>
          <p:cNvSpPr/>
          <p:nvPr/>
        </p:nvSpPr>
        <p:spPr bwMode="auto">
          <a:xfrm>
            <a:off x="8345399" y="644769"/>
            <a:ext cx="2461845" cy="1421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t>Controle (ou h0)</a:t>
            </a:r>
          </a:p>
        </p:txBody>
      </p:sp>
      <p:sp>
        <p:nvSpPr>
          <p:cNvPr id="518050221" name="ZoneTexte 831640975"/>
          <p:cNvSpPr txBox="1"/>
          <p:nvPr/>
        </p:nvSpPr>
        <p:spPr bwMode="auto">
          <a:xfrm>
            <a:off x="3855461" y="830106"/>
            <a:ext cx="3810719"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Ma théorie est valide si la valeur dans Expérimental &gt; controle</a:t>
            </a:r>
          </a:p>
        </p:txBody>
      </p:sp>
      <p:sp>
        <p:nvSpPr>
          <p:cNvPr id="489273093" name="Flèche : droite 1212393617"/>
          <p:cNvSpPr/>
          <p:nvPr/>
        </p:nvSpPr>
        <p:spPr bwMode="auto">
          <a:xfrm rot="14501953">
            <a:off x="10317807" y="2344615"/>
            <a:ext cx="849922" cy="263769"/>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1173799011" name="ZoneTexte 1912993833"/>
          <p:cNvSpPr txBox="1"/>
          <p:nvPr/>
        </p:nvSpPr>
        <p:spPr bwMode="auto">
          <a:xfrm>
            <a:off x="10001284" y="2982868"/>
            <a:ext cx="2002435"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Mais H0 est faux</a:t>
            </a:r>
          </a:p>
        </p:txBody>
      </p:sp>
      <p:sp>
        <p:nvSpPr>
          <p:cNvPr id="378013274" name="Flèche : droite 90962316"/>
          <p:cNvSpPr/>
          <p:nvPr/>
        </p:nvSpPr>
        <p:spPr bwMode="auto">
          <a:xfrm rot="18128502">
            <a:off x="1413059" y="2497014"/>
            <a:ext cx="849922" cy="263768"/>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1191969305" name="ZoneTexte 537450988"/>
          <p:cNvSpPr txBox="1"/>
          <p:nvPr/>
        </p:nvSpPr>
        <p:spPr bwMode="auto">
          <a:xfrm>
            <a:off x="275920" y="3135268"/>
            <a:ext cx="2032314" cy="173772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Je fais une expérimentation sur des idées que je crois juste</a:t>
            </a:r>
          </a:p>
          <a:p>
            <a:pPr marL="283879" indent="-283879">
              <a:buFont typeface="Arial"/>
              <a:buChar char="–"/>
              <a:defRPr/>
            </a:pPr>
            <a:r>
              <a:t>vérissimilitude &gt;0</a:t>
            </a:r>
          </a:p>
        </p:txBody>
      </p:sp>
      <p:sp>
        <p:nvSpPr>
          <p:cNvPr id="941017413" name="ZoneTexte 1646203694"/>
          <p:cNvSpPr txBox="1"/>
          <p:nvPr/>
        </p:nvSpPr>
        <p:spPr bwMode="auto">
          <a:xfrm>
            <a:off x="2463346" y="3040603"/>
            <a:ext cx="675296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Mes premières expériences, je vais facilement valider ma théorie</a:t>
            </a:r>
          </a:p>
        </p:txBody>
      </p:sp>
      <p:sp>
        <p:nvSpPr>
          <p:cNvPr id="667628828" name="ZoneTexte 304945164"/>
          <p:cNvSpPr txBox="1"/>
          <p:nvPr/>
        </p:nvSpPr>
        <p:spPr bwMode="auto">
          <a:xfrm>
            <a:off x="2463346" y="3638008"/>
            <a:ext cx="6771323"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Progressivement, de moins en moins</a:t>
            </a:r>
          </a:p>
        </p:txBody>
      </p:sp>
      <p:sp>
        <p:nvSpPr>
          <p:cNvPr id="1650541783" name="ZoneTexte 979871828"/>
          <p:cNvSpPr txBox="1"/>
          <p:nvPr/>
        </p:nvSpPr>
        <p:spPr bwMode="auto">
          <a:xfrm>
            <a:off x="2463346" y="4117774"/>
            <a:ext cx="6799762" cy="64044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La fréquence de succès de mes expérimentation sera TOUJOURS supérieure à 50%</a:t>
            </a:r>
          </a:p>
        </p:txBody>
      </p:sp>
      <p:sp>
        <p:nvSpPr>
          <p:cNvPr id="1698624589" name="ZoneTexte 414541848"/>
          <p:cNvSpPr txBox="1"/>
          <p:nvPr/>
        </p:nvSpPr>
        <p:spPr bwMode="auto">
          <a:xfrm>
            <a:off x="2719337" y="2547072"/>
            <a:ext cx="6771323"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Test psychologique de différence de moyenne avec 0</a:t>
            </a:r>
          </a:p>
        </p:txBody>
      </p:sp>
      <p:sp>
        <p:nvSpPr>
          <p:cNvPr id="1156864858" name="ZoneTexte 1655013837"/>
          <p:cNvSpPr txBox="1"/>
          <p:nvPr/>
        </p:nvSpPr>
        <p:spPr bwMode="auto">
          <a:xfrm>
            <a:off x="275920" y="5340130"/>
            <a:ext cx="6908841" cy="1189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t>En supposant qu’il n’y a aucune connexion entre nos théories et nos conceptions expérimentales, et en ayant une puissance parfaite, nous approchons une limite de 50% de fréquence de résultats significatifs</a:t>
            </a:r>
          </a:p>
        </p:txBody>
      </p:sp>
      <p:sp>
        <p:nvSpPr>
          <p:cNvPr id="1909933154" name="ZoneTexte 1582057053"/>
          <p:cNvSpPr txBox="1"/>
          <p:nvPr/>
        </p:nvSpPr>
        <p:spPr bwMode="auto">
          <a:xfrm>
            <a:off x="6957768" y="5040970"/>
            <a:ext cx="4957786" cy="168507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dirty="0"/>
              <a:t>En </a:t>
            </a:r>
            <a:r>
              <a:rPr dirty="0" err="1"/>
              <a:t>utilisant</a:t>
            </a:r>
            <a:r>
              <a:rPr dirty="0"/>
              <a:t> un test de </a:t>
            </a:r>
            <a:r>
              <a:rPr dirty="0" err="1"/>
              <a:t>différence</a:t>
            </a:r>
            <a:r>
              <a:rPr dirty="0"/>
              <a:t> de </a:t>
            </a:r>
            <a:r>
              <a:rPr dirty="0" err="1"/>
              <a:t>moyenne</a:t>
            </a:r>
            <a:r>
              <a:rPr dirty="0"/>
              <a:t> avec 0 avec la </a:t>
            </a:r>
            <a:r>
              <a:rPr dirty="0" err="1"/>
              <a:t>meilleur</a:t>
            </a:r>
            <a:r>
              <a:rPr dirty="0"/>
              <a:t> rigueur </a:t>
            </a:r>
            <a:r>
              <a:rPr dirty="0" err="1"/>
              <a:t>méthodologique</a:t>
            </a:r>
            <a:endParaRPr lang="fr-FR" dirty="0" err="1"/>
          </a:p>
          <a:p>
            <a:pPr>
              <a:defRPr/>
            </a:pPr>
            <a:r>
              <a:rPr b="1" dirty="0"/>
              <a:t>On doit </a:t>
            </a:r>
            <a:r>
              <a:rPr b="1" dirty="0" err="1"/>
              <a:t>pouvoir</a:t>
            </a:r>
            <a:r>
              <a:rPr b="1" dirty="0"/>
              <a:t> </a:t>
            </a:r>
            <a:r>
              <a:rPr b="1" dirty="0" err="1"/>
              <a:t>valider</a:t>
            </a:r>
            <a:r>
              <a:rPr b="1" dirty="0"/>
              <a:t> 50% de </a:t>
            </a:r>
            <a:r>
              <a:rPr b="1" dirty="0" err="1"/>
              <a:t>nos</a:t>
            </a:r>
            <a:r>
              <a:rPr b="1" dirty="0"/>
              <a:t> </a:t>
            </a:r>
            <a:r>
              <a:rPr b="1" dirty="0" err="1"/>
              <a:t>hypothèses</a:t>
            </a:r>
            <a:r>
              <a:rPr b="1" dirty="0"/>
              <a:t>, </a:t>
            </a:r>
            <a:r>
              <a:rPr b="1" dirty="0" err="1"/>
              <a:t>même</a:t>
            </a:r>
            <a:r>
              <a:rPr b="1" dirty="0"/>
              <a:t> </a:t>
            </a:r>
            <a:r>
              <a:rPr b="1" dirty="0" err="1"/>
              <a:t>quand</a:t>
            </a:r>
            <a:r>
              <a:rPr b="1" dirty="0"/>
              <a:t> la </a:t>
            </a:r>
            <a:r>
              <a:rPr b="1" dirty="0" err="1"/>
              <a:t>théorie</a:t>
            </a:r>
            <a:r>
              <a:rPr b="1" dirty="0"/>
              <a:t> est </a:t>
            </a:r>
            <a:r>
              <a:rPr b="1" dirty="0" err="1"/>
              <a:t>fausse</a:t>
            </a:r>
            <a:endParaRPr b="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8050221"/>
                                        </p:tgtEl>
                                        <p:attrNameLst>
                                          <p:attrName>style.visibility</p:attrName>
                                        </p:attrNameLst>
                                      </p:cBhvr>
                                      <p:to>
                                        <p:strVal val="visible"/>
                                      </p:to>
                                    </p:set>
                                    <p:animEffect transition="in" filter="fade">
                                      <p:cBhvr>
                                        <p:cTn id="7" dur="500"/>
                                        <p:tgtEl>
                                          <p:spTgt spid="5180502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98624589"/>
                                        </p:tgtEl>
                                        <p:attrNameLst>
                                          <p:attrName>style.visibility</p:attrName>
                                        </p:attrNameLst>
                                      </p:cBhvr>
                                      <p:to>
                                        <p:strVal val="visible"/>
                                      </p:to>
                                    </p:set>
                                    <p:animEffect transition="in" filter="fade">
                                      <p:cBhvr>
                                        <p:cTn id="12" dur="500"/>
                                        <p:tgtEl>
                                          <p:spTgt spid="16986245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91969305"/>
                                        </p:tgtEl>
                                        <p:attrNameLst>
                                          <p:attrName>style.visibility</p:attrName>
                                        </p:attrNameLst>
                                      </p:cBhvr>
                                      <p:to>
                                        <p:strVal val="visible"/>
                                      </p:to>
                                    </p:set>
                                    <p:animEffect transition="in" filter="fade">
                                      <p:cBhvr>
                                        <p:cTn id="17" dur="500"/>
                                        <p:tgtEl>
                                          <p:spTgt spid="1191969305"/>
                                        </p:tgtEl>
                                      </p:cBhvr>
                                    </p:animEffect>
                                  </p:childTnLst>
                                </p:cTn>
                              </p:par>
                              <p:par>
                                <p:cTn id="18" presetID="10" presetClass="entr" presetSubtype="0" fill="hold" nodeType="withEffect">
                                  <p:stCondLst>
                                    <p:cond delay="0"/>
                                  </p:stCondLst>
                                  <p:childTnLst>
                                    <p:set>
                                      <p:cBhvr>
                                        <p:cTn id="19" dur="1" fill="hold">
                                          <p:stCondLst>
                                            <p:cond delay="0"/>
                                          </p:stCondLst>
                                        </p:cTn>
                                        <p:tgtEl>
                                          <p:spTgt spid="378013274"/>
                                        </p:tgtEl>
                                        <p:attrNameLst>
                                          <p:attrName>style.visibility</p:attrName>
                                        </p:attrNameLst>
                                      </p:cBhvr>
                                      <p:to>
                                        <p:strVal val="visible"/>
                                      </p:to>
                                    </p:set>
                                    <p:animEffect transition="in" filter="fade">
                                      <p:cBhvr>
                                        <p:cTn id="20" dur="500"/>
                                        <p:tgtEl>
                                          <p:spTgt spid="37801327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73799011"/>
                                        </p:tgtEl>
                                        <p:attrNameLst>
                                          <p:attrName>style.visibility</p:attrName>
                                        </p:attrNameLst>
                                      </p:cBhvr>
                                      <p:to>
                                        <p:strVal val="visible"/>
                                      </p:to>
                                    </p:set>
                                    <p:animEffect transition="in" filter="fade">
                                      <p:cBhvr>
                                        <p:cTn id="25" dur="500"/>
                                        <p:tgtEl>
                                          <p:spTgt spid="1173799011"/>
                                        </p:tgtEl>
                                      </p:cBhvr>
                                    </p:animEffect>
                                  </p:childTnLst>
                                </p:cTn>
                              </p:par>
                              <p:par>
                                <p:cTn id="26" presetID="10" presetClass="entr" presetSubtype="0" fill="hold" nodeType="withEffect">
                                  <p:stCondLst>
                                    <p:cond delay="0"/>
                                  </p:stCondLst>
                                  <p:childTnLst>
                                    <p:set>
                                      <p:cBhvr>
                                        <p:cTn id="27" dur="1" fill="hold">
                                          <p:stCondLst>
                                            <p:cond delay="0"/>
                                          </p:stCondLst>
                                        </p:cTn>
                                        <p:tgtEl>
                                          <p:spTgt spid="489273093"/>
                                        </p:tgtEl>
                                        <p:attrNameLst>
                                          <p:attrName>style.visibility</p:attrName>
                                        </p:attrNameLst>
                                      </p:cBhvr>
                                      <p:to>
                                        <p:strVal val="visible"/>
                                      </p:to>
                                    </p:set>
                                    <p:animEffect transition="in" filter="fade">
                                      <p:cBhvr>
                                        <p:cTn id="28" dur="500"/>
                                        <p:tgtEl>
                                          <p:spTgt spid="48927309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41017413"/>
                                        </p:tgtEl>
                                        <p:attrNameLst>
                                          <p:attrName>style.visibility</p:attrName>
                                        </p:attrNameLst>
                                      </p:cBhvr>
                                      <p:to>
                                        <p:strVal val="visible"/>
                                      </p:to>
                                    </p:set>
                                    <p:animEffect transition="in" filter="fade">
                                      <p:cBhvr>
                                        <p:cTn id="33" dur="500"/>
                                        <p:tgtEl>
                                          <p:spTgt spid="9410174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67628828"/>
                                        </p:tgtEl>
                                        <p:attrNameLst>
                                          <p:attrName>style.visibility</p:attrName>
                                        </p:attrNameLst>
                                      </p:cBhvr>
                                      <p:to>
                                        <p:strVal val="visible"/>
                                      </p:to>
                                    </p:set>
                                    <p:animEffect transition="in" filter="fade">
                                      <p:cBhvr>
                                        <p:cTn id="38" dur="500"/>
                                        <p:tgtEl>
                                          <p:spTgt spid="66762882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650541783"/>
                                        </p:tgtEl>
                                        <p:attrNameLst>
                                          <p:attrName>style.visibility</p:attrName>
                                        </p:attrNameLst>
                                      </p:cBhvr>
                                      <p:to>
                                        <p:strVal val="visible"/>
                                      </p:to>
                                    </p:set>
                                    <p:animEffect transition="in" filter="fade">
                                      <p:cBhvr>
                                        <p:cTn id="43" dur="500"/>
                                        <p:tgtEl>
                                          <p:spTgt spid="165054178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156864858"/>
                                        </p:tgtEl>
                                        <p:attrNameLst>
                                          <p:attrName>style.visibility</p:attrName>
                                        </p:attrNameLst>
                                      </p:cBhvr>
                                      <p:to>
                                        <p:strVal val="visible"/>
                                      </p:to>
                                    </p:set>
                                    <p:animEffect transition="in" filter="fade">
                                      <p:cBhvr>
                                        <p:cTn id="48" dur="500"/>
                                        <p:tgtEl>
                                          <p:spTgt spid="115686485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909933154"/>
                                        </p:tgtEl>
                                        <p:attrNameLst>
                                          <p:attrName>style.visibility</p:attrName>
                                        </p:attrNameLst>
                                      </p:cBhvr>
                                      <p:to>
                                        <p:strVal val="visible"/>
                                      </p:to>
                                    </p:set>
                                    <p:animEffect transition="in" filter="fade">
                                      <p:cBhvr>
                                        <p:cTn id="53" dur="500"/>
                                        <p:tgtEl>
                                          <p:spTgt spid="1909933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95813051" name="Image 12660445"/>
          <p:cNvPicPr>
            <a:picLocks noChangeAspect="1"/>
          </p:cNvPicPr>
          <p:nvPr/>
        </p:nvPicPr>
        <p:blipFill rotWithShape="1">
          <a:blip r:embed="rId3"/>
          <a:stretch/>
        </p:blipFill>
        <p:spPr bwMode="auto">
          <a:xfrm>
            <a:off x="1781174" y="771525"/>
            <a:ext cx="8629650" cy="531494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20413268" name="Titre 1"/>
          <p:cNvSpPr>
            <a:spLocks noGrp="1"/>
          </p:cNvSpPr>
          <p:nvPr>
            <p:ph type="title"/>
          </p:nvPr>
        </p:nvSpPr>
        <p:spPr bwMode="auto">
          <a:xfrm>
            <a:off x="838198" y="365124"/>
            <a:ext cx="10515600" cy="1569182"/>
          </a:xfrm>
        </p:spPr>
        <p:txBody>
          <a:bodyPr/>
          <a:lstStyle/>
          <a:p>
            <a:pPr>
              <a:defRPr/>
            </a:pPr>
            <a:r>
              <a:t>10 problèmes avec la scientificité de la psychologie</a:t>
            </a:r>
          </a:p>
        </p:txBody>
      </p:sp>
      <p:sp>
        <p:nvSpPr>
          <p:cNvPr id="359355725" name="Espace réservé du contenu 2"/>
          <p:cNvSpPr>
            <a:spLocks noGrp="1"/>
          </p:cNvSpPr>
          <p:nvPr>
            <p:ph idx="1"/>
          </p:nvPr>
        </p:nvSpPr>
        <p:spPr bwMode="auto">
          <a:xfrm>
            <a:off x="838198" y="1825624"/>
            <a:ext cx="10515600" cy="929296"/>
          </a:xfrm>
        </p:spPr>
        <p:txBody>
          <a:bodyPr/>
          <a:lstStyle/>
          <a:p>
            <a:pPr>
              <a:defRPr/>
            </a:pPr>
            <a:r>
              <a:rPr i="1"/>
              <a:t>Les théories en psychologie ne meurent jamais, elles s’éteignent peu à peu</a:t>
            </a:r>
            <a:endParaRPr/>
          </a:p>
        </p:txBody>
      </p:sp>
      <p:sp>
        <p:nvSpPr>
          <p:cNvPr id="865991751" name="Espace réservé du contenu 2"/>
          <p:cNvSpPr>
            <a:spLocks noGrp="1"/>
          </p:cNvSpPr>
          <p:nvPr/>
        </p:nvSpPr>
        <p:spPr bwMode="auto">
          <a:xfrm>
            <a:off x="492368" y="2652101"/>
            <a:ext cx="10515600" cy="1412873"/>
          </a:xfrm>
        </p:spPr>
        <p:txBody>
          <a:bodyPr vert="horz" lIns="91440" tIns="45720" rIns="91440" bIns="45720" rtlCol="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sz="2400" i="0"/>
              <a:t>1. La perte de la chaîne de dérivation – entre la théorie et l’expérimentation, il y a des chaînes déductives très faibles (exemple dissonance cognitive).</a:t>
            </a:r>
            <a:endParaRPr sz="2400"/>
          </a:p>
        </p:txBody>
      </p:sp>
      <p:sp>
        <p:nvSpPr>
          <p:cNvPr id="1148682210" name="Espace réservé du contenu 2"/>
          <p:cNvSpPr>
            <a:spLocks noGrp="1"/>
          </p:cNvSpPr>
          <p:nvPr/>
        </p:nvSpPr>
        <p:spPr bwMode="auto">
          <a:xfrm>
            <a:off x="556844" y="3478577"/>
            <a:ext cx="10515600" cy="1708883"/>
          </a:xfrm>
        </p:spPr>
        <p:txBody>
          <a:bodyPr vertOverflow="overflow" horzOverflow="overflow" vert="horz" wrap="square" lIns="91440" tIns="45720" rIns="91440" bIns="45720" numCol="1" spcCol="0" rtlCol="0" fromWordArt="0" anchor="t" anchorCtr="0" forceAA="0" compatLnSpc="0">
            <a:normAutofit fontScale="85000" lnSpcReduction="3000"/>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i="0"/>
              <a:t>2. Dans une expérimentation en psychologie, les théories auxiliaires (sur les participants, sur les échelles de mesures) sont AU MOINS AUSSI importantes que la théorie principale testée</a:t>
            </a:r>
            <a:r>
              <a:t>. Par conséquence, la probabilité jointe qu’elles influencent le résultat est plus importante que celle de la théorie.</a:t>
            </a:r>
          </a:p>
        </p:txBody>
      </p:sp>
      <p:sp>
        <p:nvSpPr>
          <p:cNvPr id="487770160" name="Espace réservé du contenu 2"/>
          <p:cNvSpPr>
            <a:spLocks noGrp="1"/>
          </p:cNvSpPr>
          <p:nvPr/>
        </p:nvSpPr>
        <p:spPr bwMode="auto">
          <a:xfrm>
            <a:off x="615459" y="5187461"/>
            <a:ext cx="10515600" cy="1708882"/>
          </a:xfrm>
        </p:spPr>
        <p:txBody>
          <a:bodyPr vertOverflow="overflow" horzOverflow="overflow" vert="horz" wrap="square" lIns="91440" tIns="45720" rIns="91440" bIns="45720" numCol="1" spcCol="0" rtlCol="0" fromWordArt="0" anchor="t" anchorCtr="0" forceAA="0" compatLnSpc="0">
            <a:normAutofit fontScale="75000" lnSpcReduction="5000"/>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i="0"/>
              <a:t>3. La clause CETERIS PARIBUS est fausse. Ceteris paribus ne signifie pas « toutes choses égales par ailleurs » mais « les différences entre les individus et les conditions n’influencent pas l’effet causal que je teste » Cependant, les réactions des participants à mes conditions expérimentales sont influencées par ces différences individuelles, ce qui amène une complexification des théories auxilaires.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5991751"/>
                                        </p:tgtEl>
                                        <p:attrNameLst>
                                          <p:attrName>style.visibility</p:attrName>
                                        </p:attrNameLst>
                                      </p:cBhvr>
                                      <p:to>
                                        <p:strVal val="visible"/>
                                      </p:to>
                                    </p:set>
                                    <p:animEffect transition="in" filter="fade">
                                      <p:cBhvr>
                                        <p:cTn id="7" dur="500"/>
                                        <p:tgtEl>
                                          <p:spTgt spid="8659917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8682210"/>
                                        </p:tgtEl>
                                        <p:attrNameLst>
                                          <p:attrName>style.visibility</p:attrName>
                                        </p:attrNameLst>
                                      </p:cBhvr>
                                      <p:to>
                                        <p:strVal val="visible"/>
                                      </p:to>
                                    </p:set>
                                    <p:animEffect transition="in" filter="fade">
                                      <p:cBhvr>
                                        <p:cTn id="12" dur="500"/>
                                        <p:tgtEl>
                                          <p:spTgt spid="11486822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7770160"/>
                                        </p:tgtEl>
                                        <p:attrNameLst>
                                          <p:attrName>style.visibility</p:attrName>
                                        </p:attrNameLst>
                                      </p:cBhvr>
                                      <p:to>
                                        <p:strVal val="visible"/>
                                      </p:to>
                                    </p:set>
                                    <p:animEffect transition="in" filter="fade">
                                      <p:cBhvr>
                                        <p:cTn id="17" dur="500"/>
                                        <p:tgtEl>
                                          <p:spTgt spid="487770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57623866" name="Titre 1"/>
          <p:cNvSpPr>
            <a:spLocks noGrp="1"/>
          </p:cNvSpPr>
          <p:nvPr>
            <p:ph type="title"/>
          </p:nvPr>
        </p:nvSpPr>
        <p:spPr bwMode="auto">
          <a:xfrm>
            <a:off x="838198" y="365124"/>
            <a:ext cx="10515600" cy="1569182"/>
          </a:xfrm>
        </p:spPr>
        <p:txBody>
          <a:bodyPr/>
          <a:lstStyle/>
          <a:p>
            <a:pPr>
              <a:defRPr/>
            </a:pPr>
            <a:r>
              <a:t>10 problèmes avec la scientificité de la psychologie</a:t>
            </a:r>
          </a:p>
        </p:txBody>
      </p:sp>
      <p:sp>
        <p:nvSpPr>
          <p:cNvPr id="211090296" name="Espace réservé du contenu 2"/>
          <p:cNvSpPr>
            <a:spLocks noGrp="1"/>
          </p:cNvSpPr>
          <p:nvPr>
            <p:ph idx="1"/>
          </p:nvPr>
        </p:nvSpPr>
        <p:spPr bwMode="auto">
          <a:xfrm>
            <a:off x="838198" y="1825624"/>
            <a:ext cx="10515600" cy="929296"/>
          </a:xfrm>
        </p:spPr>
        <p:txBody>
          <a:bodyPr/>
          <a:lstStyle/>
          <a:p>
            <a:pPr>
              <a:defRPr/>
            </a:pPr>
            <a:r>
              <a:rPr i="1"/>
              <a:t>Les théories en psychologie ne meurent jamais, elles s’éteignent peu à peu</a:t>
            </a:r>
            <a:endParaRPr/>
          </a:p>
        </p:txBody>
      </p:sp>
      <p:sp>
        <p:nvSpPr>
          <p:cNvPr id="2011563309" name="Espace réservé du contenu 2"/>
          <p:cNvSpPr>
            <a:spLocks noGrp="1"/>
          </p:cNvSpPr>
          <p:nvPr/>
        </p:nvSpPr>
        <p:spPr bwMode="auto">
          <a:xfrm>
            <a:off x="492368" y="2652101"/>
            <a:ext cx="10515600" cy="1412873"/>
          </a:xfrm>
        </p:spPr>
        <p:txBody>
          <a:bodyPr vert="horz" lIns="91440" tIns="45720" rIns="91440" bIns="45720" rtlCol="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sz="2400" i="0"/>
              <a:t>4. L’erreur d’expérimenteur – biais de demande expérimentale.</a:t>
            </a:r>
            <a:endParaRPr sz="2400"/>
          </a:p>
        </p:txBody>
      </p:sp>
      <p:sp>
        <p:nvSpPr>
          <p:cNvPr id="2087086832" name="Espace réservé du contenu 2"/>
          <p:cNvSpPr>
            <a:spLocks noGrp="1"/>
          </p:cNvSpPr>
          <p:nvPr/>
        </p:nvSpPr>
        <p:spPr bwMode="auto">
          <a:xfrm>
            <a:off x="492368" y="3141539"/>
            <a:ext cx="10515600" cy="609845"/>
          </a:xfrm>
        </p:spPr>
        <p:txBody>
          <a:bodyPr vertOverflow="overflow" horzOverflow="overflow" vert="horz" wrap="square" lIns="91440" tIns="45720" rIns="91440" bIns="45720" numCol="1" spcCol="0" rtlCol="0" fromWordArt="0" anchor="t" anchorCtr="0" forceAA="0" compatLnSpc="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sz="2400" i="0"/>
              <a:t>5. Problème de puissance statistique.</a:t>
            </a:r>
            <a:endParaRPr sz="2400"/>
          </a:p>
        </p:txBody>
      </p:sp>
      <p:sp>
        <p:nvSpPr>
          <p:cNvPr id="457502415" name="Espace réservé du contenu 2"/>
          <p:cNvSpPr>
            <a:spLocks noGrp="1"/>
          </p:cNvSpPr>
          <p:nvPr/>
        </p:nvSpPr>
        <p:spPr bwMode="auto">
          <a:xfrm>
            <a:off x="492368" y="3590192"/>
            <a:ext cx="10515600" cy="1708882"/>
          </a:xfrm>
        </p:spPr>
        <p:txBody>
          <a:bodyPr vertOverflow="overflow" horzOverflow="overflow" vert="horz" wrap="square" lIns="91440" tIns="45720" rIns="91440" bIns="45720" numCol="1" spcCol="0" rtlCol="0" fromWordArt="0" anchor="t" anchorCtr="0" forceAA="0" compatLnSpc="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sz="2400" i="0"/>
              <a:t>6. Crud factor – si tout est lié à tout, comment créer des théories causales cohérentes ?</a:t>
            </a:r>
            <a:endParaRPr/>
          </a:p>
        </p:txBody>
      </p:sp>
      <p:sp>
        <p:nvSpPr>
          <p:cNvPr id="450711693" name="Espace réservé du contenu 2"/>
          <p:cNvSpPr>
            <a:spLocks noGrp="1"/>
          </p:cNvSpPr>
          <p:nvPr/>
        </p:nvSpPr>
        <p:spPr bwMode="auto">
          <a:xfrm>
            <a:off x="586152" y="4328745"/>
            <a:ext cx="10515600" cy="1708882"/>
          </a:xfrm>
        </p:spPr>
        <p:txBody>
          <a:bodyPr vertOverflow="overflow" horzOverflow="overflow" vert="horz" wrap="square" lIns="91440" tIns="45720" rIns="91440" bIns="45720" numCol="1" spcCol="0" rtlCol="0" fromWordArt="0" anchor="t" anchorCtr="0" forceAA="0" compatLnSpc="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sz="2400" i="0"/>
              <a:t>7. Un manque d’études pilotes – pourquoi faire une étude avec une bonne puissance si elle n’est pas bien calibrée ? Une grande partie des études « avec une forte puissance » sont un gachis d’argent considérable</a:t>
            </a:r>
            <a:r>
              <a:t>.</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1563309"/>
                                        </p:tgtEl>
                                        <p:attrNameLst>
                                          <p:attrName>style.visibility</p:attrName>
                                        </p:attrNameLst>
                                      </p:cBhvr>
                                      <p:to>
                                        <p:strVal val="visible"/>
                                      </p:to>
                                    </p:set>
                                    <p:animEffect transition="in" filter="fade">
                                      <p:cBhvr>
                                        <p:cTn id="7" dur="500"/>
                                        <p:tgtEl>
                                          <p:spTgt spid="20115633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87086832"/>
                                        </p:tgtEl>
                                        <p:attrNameLst>
                                          <p:attrName>style.visibility</p:attrName>
                                        </p:attrNameLst>
                                      </p:cBhvr>
                                      <p:to>
                                        <p:strVal val="visible"/>
                                      </p:to>
                                    </p:set>
                                    <p:animEffect transition="in" filter="fade">
                                      <p:cBhvr>
                                        <p:cTn id="12" dur="500"/>
                                        <p:tgtEl>
                                          <p:spTgt spid="20870868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7502415"/>
                                        </p:tgtEl>
                                        <p:attrNameLst>
                                          <p:attrName>style.visibility</p:attrName>
                                        </p:attrNameLst>
                                      </p:cBhvr>
                                      <p:to>
                                        <p:strVal val="visible"/>
                                      </p:to>
                                    </p:set>
                                    <p:animEffect transition="in" filter="fade">
                                      <p:cBhvr>
                                        <p:cTn id="17" dur="500"/>
                                        <p:tgtEl>
                                          <p:spTgt spid="4575024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0711693"/>
                                        </p:tgtEl>
                                        <p:attrNameLst>
                                          <p:attrName>style.visibility</p:attrName>
                                        </p:attrNameLst>
                                      </p:cBhvr>
                                      <p:to>
                                        <p:strVal val="visible"/>
                                      </p:to>
                                    </p:set>
                                    <p:animEffect transition="in" filter="fade">
                                      <p:cBhvr>
                                        <p:cTn id="22" dur="500"/>
                                        <p:tgtEl>
                                          <p:spTgt spid="450711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8638950" name="Titre 1"/>
          <p:cNvSpPr>
            <a:spLocks noGrp="1"/>
          </p:cNvSpPr>
          <p:nvPr>
            <p:ph type="title"/>
          </p:nvPr>
        </p:nvSpPr>
        <p:spPr bwMode="auto">
          <a:xfrm>
            <a:off x="838198" y="365124"/>
            <a:ext cx="10515600" cy="1569182"/>
          </a:xfrm>
        </p:spPr>
        <p:txBody>
          <a:bodyPr/>
          <a:lstStyle/>
          <a:p>
            <a:pPr>
              <a:defRPr/>
            </a:pPr>
            <a:r>
              <a:t>10 problèmes avec la scientificité de la psychologie</a:t>
            </a:r>
          </a:p>
        </p:txBody>
      </p:sp>
      <p:sp>
        <p:nvSpPr>
          <p:cNvPr id="1444135965" name="Espace réservé du contenu 2"/>
          <p:cNvSpPr>
            <a:spLocks noGrp="1"/>
          </p:cNvSpPr>
          <p:nvPr>
            <p:ph idx="1"/>
          </p:nvPr>
        </p:nvSpPr>
        <p:spPr bwMode="auto">
          <a:xfrm>
            <a:off x="838198" y="1825624"/>
            <a:ext cx="10515600" cy="929296"/>
          </a:xfrm>
        </p:spPr>
        <p:txBody>
          <a:bodyPr/>
          <a:lstStyle/>
          <a:p>
            <a:pPr>
              <a:defRPr/>
            </a:pPr>
            <a:r>
              <a:rPr i="1"/>
              <a:t>Les théories en psychologie ne meurent jamais, elles s’éteignent peu à peu</a:t>
            </a:r>
            <a:endParaRPr/>
          </a:p>
        </p:txBody>
      </p:sp>
      <p:sp>
        <p:nvSpPr>
          <p:cNvPr id="1692871203" name="Espace réservé du contenu 2"/>
          <p:cNvSpPr>
            <a:spLocks noGrp="1"/>
          </p:cNvSpPr>
          <p:nvPr/>
        </p:nvSpPr>
        <p:spPr bwMode="auto">
          <a:xfrm>
            <a:off x="439613" y="2754923"/>
            <a:ext cx="10515600" cy="1708882"/>
          </a:xfrm>
        </p:spPr>
        <p:txBody>
          <a:bodyPr vertOverflow="overflow" horzOverflow="overflow" vert="horz" wrap="square" lIns="91440" tIns="45720" rIns="91440" bIns="45720" numCol="1" spcCol="0" rtlCol="0" fromWordArt="0" anchor="t" anchorCtr="0" forceAA="0" compatLnSpc="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sz="2400" i="0"/>
              <a:t>8. Le file-drawer problem – les chercheurs qui ne soumettent pas leurs résultats</a:t>
            </a:r>
            <a:endParaRPr/>
          </a:p>
        </p:txBody>
      </p:sp>
      <p:sp>
        <p:nvSpPr>
          <p:cNvPr id="1372131619" name="Espace réservé du contenu 2"/>
          <p:cNvSpPr>
            <a:spLocks noGrp="1"/>
          </p:cNvSpPr>
          <p:nvPr/>
        </p:nvSpPr>
        <p:spPr bwMode="auto">
          <a:xfrm>
            <a:off x="439613" y="3609364"/>
            <a:ext cx="10515600" cy="1708882"/>
          </a:xfrm>
        </p:spPr>
        <p:txBody>
          <a:bodyPr vertOverflow="overflow" horzOverflow="overflow" vert="horz" wrap="square" lIns="91440" tIns="45720" rIns="91440" bIns="45720" numCol="1" spcCol="0" rtlCol="0" fromWordArt="0" anchor="t" anchorCtr="0" forceAA="0" compatLnSpc="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sz="2400" i="0"/>
              <a:t>9. Le biais d’édition sélective – les éditeurs qui refusent des articles pas assez ...</a:t>
            </a:r>
            <a:endParaRPr/>
          </a:p>
        </p:txBody>
      </p:sp>
      <p:sp>
        <p:nvSpPr>
          <p:cNvPr id="1827995162" name="Espace réservé du contenu 2"/>
          <p:cNvSpPr>
            <a:spLocks noGrp="1"/>
          </p:cNvSpPr>
          <p:nvPr/>
        </p:nvSpPr>
        <p:spPr bwMode="auto">
          <a:xfrm>
            <a:off x="489436" y="4463805"/>
            <a:ext cx="10515600" cy="1708882"/>
          </a:xfrm>
        </p:spPr>
        <p:txBody>
          <a:bodyPr vertOverflow="overflow" horzOverflow="overflow" vert="horz" wrap="square" lIns="91440" tIns="45720" rIns="91440" bIns="45720" numCol="1" spcCol="0" rtlCol="0" fromWordArt="0" anchor="t" anchorCtr="0" forceAA="0" compatLnSpc="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rPr sz="2400" i="0"/>
              <a:t>10. Revendication de validation détachée des instruments psychométriques – Une échelle de mesure validée dans un contexte ne l’est presque jamais dans un autre. Une échelle de mesure validée chez des étudiants de psychologie ne l’est pas pour des participants sur prolific</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2871203"/>
                                        </p:tgtEl>
                                        <p:attrNameLst>
                                          <p:attrName>style.visibility</p:attrName>
                                        </p:attrNameLst>
                                      </p:cBhvr>
                                      <p:to>
                                        <p:strVal val="visible"/>
                                      </p:to>
                                    </p:set>
                                    <p:animEffect transition="in" filter="fade">
                                      <p:cBhvr>
                                        <p:cTn id="7" dur="500"/>
                                        <p:tgtEl>
                                          <p:spTgt spid="16928712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72131619"/>
                                        </p:tgtEl>
                                        <p:attrNameLst>
                                          <p:attrName>style.visibility</p:attrName>
                                        </p:attrNameLst>
                                      </p:cBhvr>
                                      <p:to>
                                        <p:strVal val="visible"/>
                                      </p:to>
                                    </p:set>
                                    <p:animEffect transition="in" filter="fade">
                                      <p:cBhvr>
                                        <p:cTn id="12" dur="500"/>
                                        <p:tgtEl>
                                          <p:spTgt spid="13721316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27995162"/>
                                        </p:tgtEl>
                                        <p:attrNameLst>
                                          <p:attrName>style.visibility</p:attrName>
                                        </p:attrNameLst>
                                      </p:cBhvr>
                                      <p:to>
                                        <p:strVal val="visible"/>
                                      </p:to>
                                    </p:set>
                                    <p:animEffect transition="in" filter="fade">
                                      <p:cBhvr>
                                        <p:cTn id="17" dur="500"/>
                                        <p:tgtEl>
                                          <p:spTgt spid="1827995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0706482" name="Titre 1"/>
          <p:cNvSpPr>
            <a:spLocks noGrp="1"/>
          </p:cNvSpPr>
          <p:nvPr>
            <p:ph type="title"/>
          </p:nvPr>
        </p:nvSpPr>
        <p:spPr bwMode="auto"/>
        <p:txBody>
          <a:bodyPr/>
          <a:lstStyle/>
          <a:p>
            <a:pPr>
              <a:defRPr/>
            </a:pPr>
            <a:endParaRPr/>
          </a:p>
        </p:txBody>
      </p:sp>
      <p:sp>
        <p:nvSpPr>
          <p:cNvPr id="1621763482" name="Espace réservé du contenu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a:bodyPr>
          <a:lstStyle/>
          <a:p>
            <a:pPr>
              <a:defRPr/>
            </a:pPr>
            <a:r>
              <a:t>Les points 1 à 5 vont avoir tendance à faire croire qu’une bonne théorie est mauvaise</a:t>
            </a:r>
            <a:r>
              <a:rPr lang="fr-FR"/>
              <a:t>.</a:t>
            </a:r>
          </a:p>
          <a:p>
            <a:pPr>
              <a:defRPr/>
            </a:pPr>
            <a:r>
              <a:t>Les points 6 à 9 qu’une mauvaise théorie est bonne</a:t>
            </a:r>
            <a:r>
              <a:rPr lang="fr-FR"/>
              <a:t>.</a:t>
            </a:r>
            <a:endParaRPr/>
          </a:p>
          <a:p>
            <a:pPr>
              <a:defRPr/>
            </a:pPr>
            <a:r>
              <a:t>Le point 10 les deux</a:t>
            </a:r>
            <a:r>
              <a:rPr lang="fr-FR"/>
              <a:t>.</a:t>
            </a:r>
            <a:endParaRPr/>
          </a:p>
        </p:txBody>
      </p:sp>
      <p:sp>
        <p:nvSpPr>
          <p:cNvPr id="1717095220" name="ZoneTexte 1553665712"/>
          <p:cNvSpPr txBox="1"/>
          <p:nvPr/>
        </p:nvSpPr>
        <p:spPr bwMode="auto">
          <a:xfrm>
            <a:off x="941969" y="4080668"/>
            <a:ext cx="10308061" cy="20425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3200"/>
              <a:t>Conclusion : </a:t>
            </a:r>
            <a:r>
              <a:rPr sz="3200" i="1"/>
              <a:t>L’effet épistémique de ces 10 facteurs influençant la production de savoir psychologique est que les revues systématique et les méta-analyses sont presque toutes impossible à interpréter</a:t>
            </a:r>
            <a:r>
              <a:rPr lang="fr-FR" sz="3200" i="1"/>
              <a: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17095220"/>
                                        </p:tgtEl>
                                        <p:attrNameLst>
                                          <p:attrName>style.visibility</p:attrName>
                                        </p:attrNameLst>
                                      </p:cBhvr>
                                      <p:to>
                                        <p:strVal val="visible"/>
                                      </p:to>
                                    </p:set>
                                    <p:animEffect transition="in" filter="fade">
                                      <p:cBhvr>
                                        <p:cTn id="7" dur="500"/>
                                        <p:tgtEl>
                                          <p:spTgt spid="1717095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4081570" name="Espace réservé du contenu 2"/>
          <p:cNvSpPr>
            <a:spLocks noGrp="1"/>
          </p:cNvSpPr>
          <p:nvPr>
            <p:ph idx="1"/>
          </p:nvPr>
        </p:nvSpPr>
        <p:spPr bwMode="auto">
          <a:xfrm>
            <a:off x="758824" y="833437"/>
            <a:ext cx="10515600" cy="4351338"/>
          </a:xfrm>
        </p:spPr>
        <p:txBody>
          <a:bodyPr vertOverflow="overflow" horzOverflow="overflow" vert="horz" wrap="square" lIns="91440" tIns="45720" rIns="91440" bIns="45720" numCol="1" spcCol="0" rtlCol="0" fromWordArt="0" anchor="t" anchorCtr="0" forceAA="0" compatLnSpc="0">
            <a:normAutofit/>
          </a:bodyPr>
          <a:lstStyle/>
          <a:p>
            <a:pPr>
              <a:defRPr/>
            </a:pPr>
            <a:r>
              <a:rPr lang="fr-FR" sz="2800" b="0" i="0" u="none" strike="noStrike" cap="none" spc="0">
                <a:solidFill>
                  <a:schemeClr val="tx1"/>
                </a:solidFill>
                <a:latin typeface="+mn-lt"/>
                <a:ea typeface="+mn-ea"/>
                <a:cs typeface="+mn-cs"/>
              </a:rPr>
              <a:t>Quel pourcentage de la littérature publiée chaque année augmente la vérisimilitude du champs de recherche ?</a:t>
            </a:r>
            <a:endParaRPr sz="2800"/>
          </a:p>
          <a:p>
            <a:pPr marL="0" indent="0">
              <a:buFont typeface="Arial"/>
              <a:buNone/>
              <a:defRPr/>
            </a:pPr>
            <a:endParaRPr/>
          </a:p>
        </p:txBody>
      </p:sp>
      <p:sp>
        <p:nvSpPr>
          <p:cNvPr id="408883015" name="ZoneTexte 915261412"/>
          <p:cNvSpPr txBox="1"/>
          <p:nvPr/>
        </p:nvSpPr>
        <p:spPr bwMode="auto">
          <a:xfrm>
            <a:off x="758824" y="1871027"/>
            <a:ext cx="6245652" cy="75016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394023" marR="0" indent="-394023"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Quel pourcentage la réduit ?</a:t>
            </a:r>
            <a:endParaRPr lang="fr-FR" sz="2800" b="0" i="0" u="none" strike="noStrike" cap="none" spc="0">
              <a:solidFill>
                <a:schemeClr val="tx1"/>
              </a:solidFill>
              <a:latin typeface="Arial"/>
              <a:cs typeface="Arial"/>
            </a:endParaRPr>
          </a:p>
          <a:p>
            <a:pPr marL="0" indent="0" algn="l">
              <a:buFont typeface="Arial"/>
              <a:buNone/>
              <a:defRPr/>
            </a:pPr>
            <a:endParaRPr/>
          </a:p>
        </p:txBody>
      </p:sp>
      <p:sp>
        <p:nvSpPr>
          <p:cNvPr id="372519158" name="ZoneTexte 439599802"/>
          <p:cNvSpPr txBox="1"/>
          <p:nvPr/>
        </p:nvSpPr>
        <p:spPr bwMode="auto">
          <a:xfrm>
            <a:off x="758824" y="2569103"/>
            <a:ext cx="10305302" cy="85989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Est-ce-que notre pratique de la science psychologique améliore la connaissance de la psyché au cours du temps ?</a:t>
            </a:r>
            <a:endParaRPr sz="2800"/>
          </a:p>
        </p:txBody>
      </p:sp>
      <p:sp>
        <p:nvSpPr>
          <p:cNvPr id="205962881" name="ZoneTexte 536128534"/>
          <p:cNvSpPr txBox="1"/>
          <p:nvPr/>
        </p:nvSpPr>
        <p:spPr bwMode="auto">
          <a:xfrm>
            <a:off x="914166" y="3750944"/>
            <a:ext cx="10150681" cy="265212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indent="0" algn="l">
              <a:buFont typeface="Arial"/>
              <a:buNone/>
              <a:defRPr/>
            </a:pPr>
            <a:r>
              <a:rPr sz="2800"/>
              <a:t>« </a:t>
            </a:r>
            <a:r>
              <a:rPr lang="fr-FR" sz="2800" b="0" i="1" u="none" strike="noStrike" cap="none" spc="0">
                <a:solidFill>
                  <a:schemeClr val="tx1"/>
                </a:solidFill>
                <a:latin typeface="Arial"/>
                <a:ea typeface="Arial"/>
                <a:cs typeface="Arial"/>
              </a:rPr>
              <a:t>Nous devrions accepter avec maturité et discernement le fait que certaines théories scientifiques « empiriques » tout à fait légitimes puissent ne pas être facilement vérifiables à un moment donné, et que prétendre le contraire ne constitue ni une bonne stratégie scientifique ni une utilisation légitime de l'argent des contribuables.</a:t>
            </a:r>
            <a:r>
              <a:rPr lang="fr-FR" sz="2800" b="0" i="0" u="none" strike="noStrike" cap="none" spc="0">
                <a:solidFill>
                  <a:schemeClr val="tx1"/>
                </a:solidFill>
                <a:latin typeface="Arial"/>
                <a:ea typeface="Arial"/>
                <a:cs typeface="Arial"/>
              </a:rPr>
              <a:t> »</a:t>
            </a:r>
            <a:endParaRPr sz="28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8883015"/>
                                        </p:tgtEl>
                                        <p:attrNameLst>
                                          <p:attrName>style.visibility</p:attrName>
                                        </p:attrNameLst>
                                      </p:cBhvr>
                                      <p:to>
                                        <p:strVal val="visible"/>
                                      </p:to>
                                    </p:set>
                                    <p:animEffect transition="in" filter="fade">
                                      <p:cBhvr>
                                        <p:cTn id="7" dur="500"/>
                                        <p:tgtEl>
                                          <p:spTgt spid="4088830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2519158"/>
                                        </p:tgtEl>
                                        <p:attrNameLst>
                                          <p:attrName>style.visibility</p:attrName>
                                        </p:attrNameLst>
                                      </p:cBhvr>
                                      <p:to>
                                        <p:strVal val="visible"/>
                                      </p:to>
                                    </p:set>
                                    <p:animEffect transition="in" filter="fade">
                                      <p:cBhvr>
                                        <p:cTn id="12" dur="500"/>
                                        <p:tgtEl>
                                          <p:spTgt spid="3725191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5962881"/>
                                        </p:tgtEl>
                                        <p:attrNameLst>
                                          <p:attrName>style.visibility</p:attrName>
                                        </p:attrNameLst>
                                      </p:cBhvr>
                                      <p:to>
                                        <p:strVal val="visible"/>
                                      </p:to>
                                    </p:set>
                                    <p:animEffect transition="in" filter="fade">
                                      <p:cBhvr>
                                        <p:cTn id="17" dur="500"/>
                                        <p:tgtEl>
                                          <p:spTgt spid="205962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58479507" name="Titre 1"/>
          <p:cNvSpPr>
            <a:spLocks noGrp="1"/>
          </p:cNvSpPr>
          <p:nvPr>
            <p:ph type="title"/>
          </p:nvPr>
        </p:nvSpPr>
        <p:spPr bwMode="auto"/>
        <p:txBody>
          <a:bodyPr/>
          <a:lstStyle/>
          <a:p>
            <a:pPr>
              <a:defRPr/>
            </a:pPr>
            <a:endParaRPr/>
          </a:p>
        </p:txBody>
      </p:sp>
      <p:sp>
        <p:nvSpPr>
          <p:cNvPr id="1648932736" name="Espace réservé du contenu 2"/>
          <p:cNvSpPr>
            <a:spLocks noGrp="1"/>
          </p:cNvSpPr>
          <p:nvPr>
            <p:ph idx="1"/>
          </p:nvPr>
        </p:nvSpPr>
        <p:spPr bwMode="auto"/>
        <p:txBody>
          <a:bodyPr/>
          <a:lstStyle/>
          <a:p>
            <a:pPr>
              <a:defRPr/>
            </a:pPr>
            <a:endParaRPr/>
          </a:p>
        </p:txBody>
      </p:sp>
      <p:pic>
        <p:nvPicPr>
          <p:cNvPr id="500448758" name="Image 2028796530"/>
          <p:cNvPicPr>
            <a:picLocks noChangeAspect="1"/>
          </p:cNvPicPr>
          <p:nvPr/>
        </p:nvPicPr>
        <p:blipFill rotWithShape="1">
          <a:blip r:embed="rId3"/>
          <a:stretch/>
        </p:blipFill>
        <p:spPr bwMode="auto">
          <a:xfrm>
            <a:off x="1400175" y="652462"/>
            <a:ext cx="9391648" cy="555307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519608532" name="Image 1984670634"/>
          <p:cNvPicPr>
            <a:picLocks noChangeAspect="1"/>
          </p:cNvPicPr>
          <p:nvPr/>
        </p:nvPicPr>
        <p:blipFill rotWithShape="1">
          <a:blip r:embed="rId3"/>
          <a:stretch/>
        </p:blipFill>
        <p:spPr bwMode="auto">
          <a:xfrm>
            <a:off x="230036" y="123030"/>
            <a:ext cx="2266569" cy="3135312"/>
          </a:xfrm>
          <a:prstGeom prst="rect">
            <a:avLst/>
          </a:prstGeom>
        </p:spPr>
      </p:pic>
      <p:sp>
        <p:nvSpPr>
          <p:cNvPr id="787125485" name="Cœur 965274454"/>
          <p:cNvSpPr/>
          <p:nvPr/>
        </p:nvSpPr>
        <p:spPr bwMode="auto">
          <a:xfrm>
            <a:off x="8937414" y="365124"/>
            <a:ext cx="3039172" cy="3316164"/>
          </a:xfrm>
          <a:prstGeom prst="heart">
            <a:avLst/>
          </a:prstGeom>
          <a:solidFill>
            <a:srgbClr val="D45BC8"/>
          </a:solidFill>
        </p:spPr>
        <p:style>
          <a:lnRef idx="2">
            <a:schemeClr val="accent1">
              <a:shade val="50000"/>
            </a:schemeClr>
          </a:lnRef>
          <a:fillRef idx="1">
            <a:schemeClr val="accent1"/>
          </a:fillRef>
          <a:effectRef idx="0">
            <a:schemeClr val="accent1"/>
          </a:effectRef>
          <a:fontRef idx="minor">
            <a:schemeClr val="lt1"/>
          </a:fontRef>
        </p:style>
      </p:sp>
      <p:pic>
        <p:nvPicPr>
          <p:cNvPr id="810015826" name="Image 369575126"/>
          <p:cNvPicPr>
            <a:picLocks noChangeAspect="1"/>
          </p:cNvPicPr>
          <p:nvPr/>
        </p:nvPicPr>
        <p:blipFill rotWithShape="1">
          <a:blip r:embed="rId4"/>
          <a:stretch/>
        </p:blipFill>
        <p:spPr bwMode="auto">
          <a:xfrm>
            <a:off x="9661610" y="1027905"/>
            <a:ext cx="1590779" cy="1940751"/>
          </a:xfrm>
          <a:prstGeom prst="rect">
            <a:avLst/>
          </a:prstGeom>
        </p:spPr>
      </p:pic>
      <p:pic>
        <p:nvPicPr>
          <p:cNvPr id="1976598058" name="Image 190357387"/>
          <p:cNvPicPr>
            <a:picLocks noChangeAspect="1"/>
          </p:cNvPicPr>
          <p:nvPr/>
        </p:nvPicPr>
        <p:blipFill rotWithShape="1">
          <a:blip r:embed="rId5"/>
          <a:stretch/>
        </p:blipFill>
        <p:spPr bwMode="auto">
          <a:xfrm>
            <a:off x="2666999" y="0"/>
            <a:ext cx="6858000" cy="6858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path" presetSubtype="0" accel="50000" decel="50000" fill="hold" nodeType="clickEffect">
                                  <p:stCondLst>
                                    <p:cond delay="0"/>
                                  </p:stCondLst>
                                  <p:childTnLst>
                                    <p:animMotion origin="layout" path="M 0 0 c 0.004 -0.008 0.018 -0.016 0.023 -0.016 c 0.031 0 0.063 0.125 0.063 0.25 c 0 -0.063 0.016 -0.125 0.031 -0.125 c 0.016 0 0.031 0.063 0.031 0.125 c 0 -0.031 0.008 -0.063 0.016 -0.063 c 0.008 0 0.016 0.031 0.016 0.063 c 0 -0.016 0.004 -0.031 0.008 -0.031 c 0.004 0 0.008 0.016 0.008 0.031 c 0 -0.008 0.002 -0.016 0.004 -0.016 c 0.001 0 0.004 0.008 0.004 0.016 c 0 -0.004 0.001 -0.008 0.002 -0.008 c 0 0.001 0.002 0.004 0.002 0.008 c 0 -0.002 0 -0.004 0.001 -0.004 c 0 0.001 0.001 0.002 0.001 0.004 c 0 -0.001 0 -0.002 0 -0.003 c 0.001 0 0.001 0.001 0.001 0.002 c 0.001 0 0.001 -0.001 0.001 -0.002 c 0.001 0 0.001 0.001 0.001 0.002 E" pathEditMode="relative" ptsTypes="">
                                      <p:cBhvr>
                                        <p:cTn id="6" dur="2000" fill="hold"/>
                                        <p:tgtEl>
                                          <p:spTgt spid="1519608532"/>
                                        </p:tgtEl>
                                        <p:attrNameLst>
                                          <p:attrName>ppt_x</p:attrName>
                                          <p:attrName>ppt_y</p:attrName>
                                        </p:attrNameLst>
                                      </p:cBhvr>
                                    </p:animMotion>
                                  </p:childTnLst>
                                </p:cTn>
                              </p:par>
                              <p:par>
                                <p:cTn id="7" presetID="41" presetClass="path" presetSubtype="0" accel="50000" decel="50000" fill="hold" nodeType="withEffect">
                                  <p:stCondLst>
                                    <p:cond delay="0"/>
                                  </p:stCondLst>
                                  <p:childTnLst>
                                    <p:animMotion origin="layout" path="M 0 0 c -0.004 -0.008 -0.018 -0.016 -0.023 -0.016 c -0.031 0 -0.063 0.125 -0.063 0.25 c 0 -0.063 -0.016 -0.125 -0.031 -0.125 c -0.016 0 -0.031 0.063 -0.031 0.125 c 0 -0.031 -0.008 -0.063 -0.016 -0.063 c -0.008 0 -0.016 0.031 -0.016 0.063 c 0 -0.016 -0.004 -0.031 -0.008 -0.031 c -0.004 0 -0.008 0.016 -0.008 0.031 c 0 -0.008 -0.002 -0.016 -0.004 -0.016 c -0.001 0 -0.004 0.008 -0.004 0.016 c 0 -0.004 -0.001 -0.008 -0.002 -0.008 c 0 -0.001 -0.002 0.004 -0.002 0.008 c 0 -0.002 0 -0.004 -0.001 -0.004 c 0 0.001 -0.001 0.002 -0.001 0.004 c 0 -0.001 0 -0.002 0 -0.003 c -0.001 0 -0.001 0.001 -0.001 0.002 c -0.001 0 -0.001 -0.001 -0.001 -0.002 c -0.001 0 -0.001 0.001 -0.001 0.002 E" pathEditMode="relative" ptsTypes="">
                                      <p:cBhvr>
                                        <p:cTn id="8" dur="2000" fill="hold"/>
                                        <p:tgtEl>
                                          <p:spTgt spid="810015826"/>
                                        </p:tgtEl>
                                        <p:attrNameLst>
                                          <p:attrName>ppt_x</p:attrName>
                                          <p:attrName>ppt_y</p:attrName>
                                        </p:attrNameLst>
                                      </p:cBhvr>
                                    </p:animMotion>
                                  </p:childTnLst>
                                </p:cTn>
                              </p:par>
                              <p:par>
                                <p:cTn id="9" presetID="41" presetClass="path" presetSubtype="0" accel="50000" decel="50000" fill="hold" nodeType="withEffect">
                                  <p:stCondLst>
                                    <p:cond delay="0"/>
                                  </p:stCondLst>
                                  <p:childTnLst>
                                    <p:animMotion origin="layout" path="M 0 0 c -0.004 -0.008 -0.018 -0.016 -0.023 -0.016 c -0.031 0 -0.063 0.125 -0.063 0.25 c 0 -0.063 -0.016 -0.125 -0.031 -0.125 c -0.016 0 -0.031 0.063 -0.031 0.125 c 0 -0.031 -0.008 -0.063 -0.016 -0.063 c -0.008 0 -0.016 0.031 -0.016 0.063 c 0 -0.016 -0.004 -0.031 -0.008 -0.031 c -0.004 0 -0.008 0.016 -0.008 0.031 c 0 -0.008 -0.002 -0.016 -0.004 -0.016 c -0.001 0 -0.004 0.008 -0.004 0.016 c 0 -0.004 -0.001 -0.008 -0.002 -0.008 c 0 -0.001 -0.002 0.004 -0.002 0.008 c 0 -0.002 0 -0.004 -0.001 -0.004 c 0 0.001 -0.001 0.002 -0.001 0.004 c 0 -0.001 0 -0.002 0 -0.003 c -0.001 0 -0.001 0.001 -0.001 0.002 c -0.001 0 -0.001 -0.001 -0.001 -0.002 c -0.001 0 -0.001 0.001 -0.001 0.002 E" pathEditMode="relative" ptsTypes="">
                                      <p:cBhvr>
                                        <p:cTn id="10" dur="2000" fill="hold"/>
                                        <p:tgtEl>
                                          <p:spTgt spid="78712548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76598058"/>
                                        </p:tgtEl>
                                        <p:attrNameLst>
                                          <p:attrName>style.visibility</p:attrName>
                                        </p:attrNameLst>
                                      </p:cBhvr>
                                      <p:to>
                                        <p:strVal val="visible"/>
                                      </p:to>
                                    </p:set>
                                    <p:animEffect transition="in" filter="fade">
                                      <p:cBhvr>
                                        <p:cTn id="15" dur="500"/>
                                        <p:tgtEl>
                                          <p:spTgt spid="1976598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77773401" name="Titre 1"/>
          <p:cNvSpPr>
            <a:spLocks noGrp="1"/>
          </p:cNvSpPr>
          <p:nvPr>
            <p:ph type="title"/>
          </p:nvPr>
        </p:nvSpPr>
        <p:spPr bwMode="auto"/>
        <p:txBody>
          <a:bodyPr/>
          <a:lstStyle/>
          <a:p>
            <a:pPr>
              <a:defRPr/>
            </a:pPr>
            <a:r>
              <a:t>Une théorie ne peut pas être vraie, ni fausse.</a:t>
            </a:r>
          </a:p>
        </p:txBody>
      </p:sp>
      <p:sp>
        <p:nvSpPr>
          <p:cNvPr id="431183027" name="Espace réservé du contenu 2"/>
          <p:cNvSpPr>
            <a:spLocks noGrp="1"/>
          </p:cNvSpPr>
          <p:nvPr>
            <p:ph idx="1"/>
          </p:nvPr>
        </p:nvSpPr>
        <p:spPr bwMode="auto">
          <a:xfrm>
            <a:off x="723602" y="5883370"/>
            <a:ext cx="10515600" cy="4351338"/>
          </a:xfrm>
        </p:spPr>
        <p:txBody>
          <a:bodyPr vertOverflow="overflow" horzOverflow="overflow" vert="horz" wrap="square" lIns="91440" tIns="45720" rIns="91440" bIns="45720" numCol="1" spcCol="0" rtlCol="0" fromWordArt="0" anchor="t" anchorCtr="0" forceAA="0" compatLnSpc="0">
            <a:normAutofit/>
          </a:bodyPr>
          <a:lstStyle/>
          <a:p>
            <a:pPr marL="457200" lvl="1" indent="0">
              <a:buFont typeface="Arial"/>
              <a:buNone/>
              <a:defRPr/>
            </a:pPr>
            <a:r>
              <a:t>Il faut les deux, sinon on peut mesurer une quantité de manière fiable, mais fausse.</a:t>
            </a:r>
          </a:p>
        </p:txBody>
      </p:sp>
      <p:sp>
        <p:nvSpPr>
          <p:cNvPr id="1004038902" name="Espace réservé du contenu 2"/>
          <p:cNvSpPr>
            <a:spLocks noGrp="1"/>
          </p:cNvSpPr>
          <p:nvPr/>
        </p:nvSpPr>
        <p:spPr bwMode="auto">
          <a:xfrm>
            <a:off x="990598" y="1978023"/>
            <a:ext cx="10515600" cy="628121"/>
          </a:xfrm>
        </p:spPr>
        <p:txBody>
          <a:bodyPr vertOverflow="overflow" horzOverflow="overflow" vert="horz" wrap="square" lIns="91440" tIns="45720" rIns="91440" bIns="45720" numCol="1" spcCol="0" rtlCol="0" fromWordArt="0" anchor="t" anchorCtr="0" forceAA="0" compatLnSpc="0">
            <a:normAutofit/>
          </a:bodyPr>
          <a:lstStyle>
            <a:lvl1pPr marL="228600" indent="-228600" algn="l" defTabSz="914400" rtl="0">
              <a:lnSpc>
                <a:spcPct val="90000"/>
              </a:lnSpc>
              <a:spcBef>
                <a:spcPts val="999"/>
              </a:spcBef>
              <a:buFont typeface="Arial"/>
              <a:buChar char="•"/>
              <a:defRPr sz="2800">
                <a:solidFill>
                  <a:schemeClr val="tx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tx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r>
              <a:t>On doit se contenter d’une théorie « good enough ». Elle l’est si :</a:t>
            </a:r>
          </a:p>
        </p:txBody>
      </p:sp>
      <p:sp>
        <p:nvSpPr>
          <p:cNvPr id="245935046" name="ZoneTexte 1202366895"/>
          <p:cNvSpPr txBox="1"/>
          <p:nvPr/>
        </p:nvSpPr>
        <p:spPr bwMode="auto">
          <a:xfrm>
            <a:off x="527577" y="2606145"/>
            <a:ext cx="4912043" cy="82332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2400"/>
              <a:t>Elle possède de l’argent dans la banque</a:t>
            </a:r>
            <a:endParaRPr/>
          </a:p>
        </p:txBody>
      </p:sp>
      <p:sp>
        <p:nvSpPr>
          <p:cNvPr id="2079192887" name="ZoneTexte 634040203"/>
          <p:cNvSpPr txBox="1"/>
          <p:nvPr/>
        </p:nvSpPr>
        <p:spPr bwMode="auto">
          <a:xfrm>
            <a:off x="5858932" y="2606145"/>
            <a:ext cx="6157303" cy="82332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rPr sz="2400"/>
              <a:t>Elle possède un effet « quelle drôle de coïncidence »</a:t>
            </a:r>
            <a:endParaRPr/>
          </a:p>
        </p:txBody>
      </p:sp>
      <p:sp>
        <p:nvSpPr>
          <p:cNvPr id="536578906" name="ZoneTexte 748026426"/>
          <p:cNvSpPr txBox="1"/>
          <p:nvPr/>
        </p:nvSpPr>
        <p:spPr bwMode="auto">
          <a:xfrm>
            <a:off x="353733" y="4164541"/>
            <a:ext cx="5507358" cy="91476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 Avoir passé suffisamment de réplications réussies </a:t>
            </a:r>
          </a:p>
          <a:p>
            <a:pPr algn="l">
              <a:defRPr/>
            </a:pPr>
            <a:r>
              <a:t>– peu importe le type de réplication -  sans avoir besoin d’ajustement ad-hoc.</a:t>
            </a:r>
          </a:p>
        </p:txBody>
      </p:sp>
      <p:sp>
        <p:nvSpPr>
          <p:cNvPr id="2010617708" name="ZoneTexte 1907560390"/>
          <p:cNvSpPr txBox="1"/>
          <p:nvPr/>
        </p:nvSpPr>
        <p:spPr bwMode="auto">
          <a:xfrm>
            <a:off x="5981402" y="3775254"/>
            <a:ext cx="5814423" cy="146340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lvl="1" algn="l">
              <a:defRPr/>
            </a:pPr>
            <a:r>
              <a:t>La capacité à tomber par coincidence sur une même valeur. Un effet causal qui tombe toujours sur la même valeur (d de cohen) à travers les différentes expérimentations est trop bizarre pour être du hasard.</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935046"/>
                                        </p:tgtEl>
                                        <p:attrNameLst>
                                          <p:attrName>style.visibility</p:attrName>
                                        </p:attrNameLst>
                                      </p:cBhvr>
                                      <p:to>
                                        <p:strVal val="visible"/>
                                      </p:to>
                                    </p:set>
                                    <p:animEffect transition="in" filter="fade">
                                      <p:cBhvr>
                                        <p:cTn id="7" dur="500"/>
                                        <p:tgtEl>
                                          <p:spTgt spid="2459350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79192887"/>
                                        </p:tgtEl>
                                        <p:attrNameLst>
                                          <p:attrName>style.visibility</p:attrName>
                                        </p:attrNameLst>
                                      </p:cBhvr>
                                      <p:to>
                                        <p:strVal val="visible"/>
                                      </p:to>
                                    </p:set>
                                    <p:animEffect transition="in" filter="fade">
                                      <p:cBhvr>
                                        <p:cTn id="12" dur="500"/>
                                        <p:tgtEl>
                                          <p:spTgt spid="207919288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6578906"/>
                                        </p:tgtEl>
                                        <p:attrNameLst>
                                          <p:attrName>style.visibility</p:attrName>
                                        </p:attrNameLst>
                                      </p:cBhvr>
                                      <p:to>
                                        <p:strVal val="visible"/>
                                      </p:to>
                                    </p:set>
                                    <p:animEffect transition="in" filter="fade">
                                      <p:cBhvr>
                                        <p:cTn id="17" dur="500"/>
                                        <p:tgtEl>
                                          <p:spTgt spid="53657890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10617708"/>
                                        </p:tgtEl>
                                        <p:attrNameLst>
                                          <p:attrName>style.visibility</p:attrName>
                                        </p:attrNameLst>
                                      </p:cBhvr>
                                      <p:to>
                                        <p:strVal val="visible"/>
                                      </p:to>
                                    </p:set>
                                    <p:animEffect transition="in" filter="fade">
                                      <p:cBhvr>
                                        <p:cTn id="22" dur="500"/>
                                        <p:tgtEl>
                                          <p:spTgt spid="201061770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1183027"/>
                                        </p:tgtEl>
                                        <p:attrNameLst>
                                          <p:attrName>style.visibility</p:attrName>
                                        </p:attrNameLst>
                                      </p:cBhvr>
                                      <p:to>
                                        <p:strVal val="visible"/>
                                      </p:to>
                                    </p:set>
                                    <p:animEffect transition="in" filter="fade">
                                      <p:cBhvr>
                                        <p:cTn id="27" dur="500"/>
                                        <p:tgtEl>
                                          <p:spTgt spid="431183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25764566" name="Titre 1"/>
          <p:cNvSpPr>
            <a:spLocks noGrp="1"/>
          </p:cNvSpPr>
          <p:nvPr>
            <p:ph type="title"/>
          </p:nvPr>
        </p:nvSpPr>
        <p:spPr bwMode="auto"/>
        <p:txBody>
          <a:bodyPr/>
          <a:lstStyle/>
          <a:p>
            <a:pPr>
              <a:defRPr/>
            </a:pPr>
            <a:r>
              <a:t>La psychologie est-elle une science ?</a:t>
            </a:r>
          </a:p>
        </p:txBody>
      </p:sp>
      <p:sp>
        <p:nvSpPr>
          <p:cNvPr id="438287420" name="Espace réservé du contenu 2"/>
          <p:cNvSpPr>
            <a:spLocks noGrp="1"/>
          </p:cNvSpPr>
          <p:nvPr>
            <p:ph idx="1"/>
          </p:nvPr>
        </p:nvSpPr>
        <p:spPr bwMode="auto">
          <a:xfrm>
            <a:off x="838198" y="1499426"/>
            <a:ext cx="10515600" cy="509956"/>
          </a:xfrm>
        </p:spPr>
        <p:txBody>
          <a:bodyPr vertOverflow="overflow" horzOverflow="overflow" vert="horz" wrap="square" lIns="91440" tIns="45720" rIns="91440" bIns="45720" numCol="1" spcCol="0" rtlCol="0" fromWordArt="0" anchor="t" anchorCtr="0" forceAA="0" compatLnSpc="0">
            <a:normAutofit/>
          </a:bodyPr>
          <a:lstStyle/>
          <a:p>
            <a:pPr>
              <a:defRPr/>
            </a:pPr>
            <a:r>
              <a:t>Selon Popper, probablement pas....</a:t>
            </a:r>
          </a:p>
        </p:txBody>
      </p:sp>
      <p:sp>
        <p:nvSpPr>
          <p:cNvPr id="2110223542" name="ZoneTexte 1153209159"/>
          <p:cNvSpPr txBox="1"/>
          <p:nvPr/>
        </p:nvSpPr>
        <p:spPr bwMode="auto">
          <a:xfrm>
            <a:off x="781193" y="2009383"/>
            <a:ext cx="10102848" cy="85989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Elle n’est pas falsifiable (Croyance ? Emotion ? Représentation sociale ? )</a:t>
            </a:r>
            <a:endParaRPr/>
          </a:p>
        </p:txBody>
      </p:sp>
      <p:sp>
        <p:nvSpPr>
          <p:cNvPr id="164048066" name="ZoneTexte 1553628451"/>
          <p:cNvSpPr txBox="1"/>
          <p:nvPr/>
        </p:nvSpPr>
        <p:spPr bwMode="auto">
          <a:xfrm>
            <a:off x="781193" y="2764131"/>
            <a:ext cx="9215587" cy="85989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Elle ne compare pas les théories entre elles, les théories s’additionnent</a:t>
            </a:r>
            <a:endParaRPr/>
          </a:p>
        </p:txBody>
      </p:sp>
      <p:sp>
        <p:nvSpPr>
          <p:cNvPr id="1915100022" name="ZoneTexte 241977231"/>
          <p:cNvSpPr txBox="1"/>
          <p:nvPr/>
        </p:nvSpPr>
        <p:spPr bwMode="auto">
          <a:xfrm>
            <a:off x="784568" y="3624027"/>
            <a:ext cx="8127793" cy="85989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Elle ne fait presque que de la corroboration, pas de la falsification</a:t>
            </a:r>
            <a:endParaRPr/>
          </a:p>
        </p:txBody>
      </p:sp>
      <p:sp>
        <p:nvSpPr>
          <p:cNvPr id="705316239" name="ZoneTexte 2068578103"/>
          <p:cNvSpPr txBox="1"/>
          <p:nvPr/>
        </p:nvSpPr>
        <p:spPr bwMode="auto">
          <a:xfrm>
            <a:off x="784568" y="4419317"/>
            <a:ext cx="9212213" cy="124394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Elle fait croire que la p-valeur teste une théorie alors qu’elle teste (presque) toujours les hypothèses auxiliaires</a:t>
            </a:r>
            <a:endParaRPr/>
          </a:p>
        </p:txBody>
      </p:sp>
      <p:sp>
        <p:nvSpPr>
          <p:cNvPr id="1850795556" name="ZoneTexte 1402492384"/>
          <p:cNvSpPr txBox="1"/>
          <p:nvPr/>
        </p:nvSpPr>
        <p:spPr bwMode="auto">
          <a:xfrm>
            <a:off x="909767" y="5777421"/>
            <a:ext cx="8447664" cy="47584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Elle ne s’intéresse qu’à des hypothèses faibles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8287420"/>
                                        </p:tgtEl>
                                        <p:attrNameLst>
                                          <p:attrName>style.visibility</p:attrName>
                                        </p:attrNameLst>
                                      </p:cBhvr>
                                      <p:to>
                                        <p:strVal val="visible"/>
                                      </p:to>
                                    </p:set>
                                    <p:animEffect transition="in" filter="fade">
                                      <p:cBhvr>
                                        <p:cTn id="7" dur="500"/>
                                        <p:tgtEl>
                                          <p:spTgt spid="4382874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10223542"/>
                                        </p:tgtEl>
                                        <p:attrNameLst>
                                          <p:attrName>style.visibility</p:attrName>
                                        </p:attrNameLst>
                                      </p:cBhvr>
                                      <p:to>
                                        <p:strVal val="visible"/>
                                      </p:to>
                                    </p:set>
                                    <p:animEffect transition="in" filter="fade">
                                      <p:cBhvr>
                                        <p:cTn id="12" dur="500"/>
                                        <p:tgtEl>
                                          <p:spTgt spid="21102235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4048066"/>
                                        </p:tgtEl>
                                        <p:attrNameLst>
                                          <p:attrName>style.visibility</p:attrName>
                                        </p:attrNameLst>
                                      </p:cBhvr>
                                      <p:to>
                                        <p:strVal val="visible"/>
                                      </p:to>
                                    </p:set>
                                    <p:animEffect transition="in" filter="fade">
                                      <p:cBhvr>
                                        <p:cTn id="17" dur="500"/>
                                        <p:tgtEl>
                                          <p:spTgt spid="16404806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15100022"/>
                                        </p:tgtEl>
                                        <p:attrNameLst>
                                          <p:attrName>style.visibility</p:attrName>
                                        </p:attrNameLst>
                                      </p:cBhvr>
                                      <p:to>
                                        <p:strVal val="visible"/>
                                      </p:to>
                                    </p:set>
                                    <p:animEffect transition="in" filter="fade">
                                      <p:cBhvr>
                                        <p:cTn id="22" dur="500"/>
                                        <p:tgtEl>
                                          <p:spTgt spid="19151000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05316239"/>
                                        </p:tgtEl>
                                        <p:attrNameLst>
                                          <p:attrName>style.visibility</p:attrName>
                                        </p:attrNameLst>
                                      </p:cBhvr>
                                      <p:to>
                                        <p:strVal val="visible"/>
                                      </p:to>
                                    </p:set>
                                    <p:animEffect transition="in" filter="fade">
                                      <p:cBhvr>
                                        <p:cTn id="27" dur="500"/>
                                        <p:tgtEl>
                                          <p:spTgt spid="70531623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50795556"/>
                                        </p:tgtEl>
                                        <p:attrNameLst>
                                          <p:attrName>style.visibility</p:attrName>
                                        </p:attrNameLst>
                                      </p:cBhvr>
                                      <p:to>
                                        <p:strVal val="visible"/>
                                      </p:to>
                                    </p:set>
                                    <p:animEffect transition="in" filter="fade">
                                      <p:cBhvr>
                                        <p:cTn id="32" dur="500"/>
                                        <p:tgtEl>
                                          <p:spTgt spid="1850795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220787" name="Titre 1"/>
          <p:cNvSpPr>
            <a:spLocks noGrp="1"/>
          </p:cNvSpPr>
          <p:nvPr>
            <p:ph type="title"/>
          </p:nvPr>
        </p:nvSpPr>
        <p:spPr bwMode="auto"/>
        <p:txBody>
          <a:bodyPr/>
          <a:lstStyle/>
          <a:p>
            <a:pPr>
              <a:defRPr/>
            </a:pPr>
            <a:r>
              <a:t>La psychologie est-elle une science ?</a:t>
            </a:r>
          </a:p>
        </p:txBody>
      </p:sp>
      <p:sp>
        <p:nvSpPr>
          <p:cNvPr id="126493653" name="Espace réservé du contenu 2"/>
          <p:cNvSpPr>
            <a:spLocks noGrp="1"/>
          </p:cNvSpPr>
          <p:nvPr>
            <p:ph idx="1"/>
          </p:nvPr>
        </p:nvSpPr>
        <p:spPr bwMode="auto">
          <a:xfrm>
            <a:off x="786008" y="1442233"/>
            <a:ext cx="10515600" cy="496909"/>
          </a:xfrm>
        </p:spPr>
        <p:txBody>
          <a:bodyPr vertOverflow="overflow" horzOverflow="overflow" vert="horz" wrap="square" lIns="91440" tIns="45720" rIns="91440" bIns="45720" numCol="1" spcCol="0" rtlCol="0" fromWordArt="0" anchor="t" anchorCtr="0" forceAA="0" compatLnSpc="0">
            <a:norm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Selon </a:t>
            </a:r>
            <a:r>
              <a:t>Popper, probablement pas....</a:t>
            </a:r>
          </a:p>
        </p:txBody>
      </p:sp>
      <p:sp>
        <p:nvSpPr>
          <p:cNvPr id="861472676" name="ZoneTexte 2117404984"/>
          <p:cNvSpPr txBox="1"/>
          <p:nvPr/>
        </p:nvSpPr>
        <p:spPr bwMode="auto">
          <a:xfrm>
            <a:off x="786008" y="1846686"/>
            <a:ext cx="5826815" cy="47584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 Mais elle peut le devenir</a:t>
            </a:r>
            <a:endParaRPr/>
          </a:p>
        </p:txBody>
      </p:sp>
      <p:sp>
        <p:nvSpPr>
          <p:cNvPr id="737232584" name="ZoneTexte 1550643370"/>
          <p:cNvSpPr txBox="1"/>
          <p:nvPr/>
        </p:nvSpPr>
        <p:spPr bwMode="auto">
          <a:xfrm>
            <a:off x="786008" y="2322534"/>
            <a:ext cx="10517399" cy="85989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Si elle s’intéresse à des théories possédant une forte vérisimilitude avant de s’intéresser aux théories</a:t>
            </a:r>
            <a:r>
              <a:t> </a:t>
            </a:r>
            <a:r>
              <a:rPr lang="fr-FR" sz="2800" b="0" i="0" u="none" strike="noStrike" cap="none" spc="0">
                <a:solidFill>
                  <a:schemeClr val="tx1"/>
                </a:solidFill>
                <a:latin typeface="Arial"/>
                <a:ea typeface="Arial"/>
                <a:cs typeface="Arial"/>
              </a:rPr>
              <a:t>faibles</a:t>
            </a:r>
            <a:endParaRPr/>
          </a:p>
        </p:txBody>
      </p:sp>
      <p:sp>
        <p:nvSpPr>
          <p:cNvPr id="1019842316" name="ZoneTexte 1457277829"/>
          <p:cNvSpPr txBox="1"/>
          <p:nvPr/>
        </p:nvSpPr>
        <p:spPr bwMode="auto">
          <a:xfrm>
            <a:off x="838198" y="3258549"/>
            <a:ext cx="9276733" cy="47584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Si elle tente de produire des hypothèses fortes</a:t>
            </a:r>
            <a:endParaRPr/>
          </a:p>
        </p:txBody>
      </p:sp>
      <p:sp>
        <p:nvSpPr>
          <p:cNvPr id="546777116" name="ZoneTexte 114234205"/>
          <p:cNvSpPr txBox="1"/>
          <p:nvPr/>
        </p:nvSpPr>
        <p:spPr bwMode="auto">
          <a:xfrm>
            <a:off x="1172485" y="3734397"/>
            <a:ext cx="8064065" cy="107935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lvl="1" indent="-228600" algn="l">
              <a:lnSpc>
                <a:spcPct val="90000"/>
              </a:lnSpc>
              <a:spcBef>
                <a:spcPts val="999"/>
              </a:spcBef>
              <a:spcAft>
                <a:spcPts val="0"/>
              </a:spcAft>
              <a:buFont typeface="Arial"/>
              <a:buChar char="•"/>
              <a:defRPr/>
            </a:pPr>
            <a:r>
              <a:rPr lang="fr-FR" sz="2400" b="0" i="0" u="none" strike="noStrike" cap="none" spc="0">
                <a:solidFill>
                  <a:schemeClr val="tx1"/>
                </a:solidFill>
                <a:latin typeface="Arial"/>
                <a:ea typeface="Arial"/>
                <a:cs typeface="Arial"/>
              </a:rPr>
              <a:t>Arrêter avec les tests de différence de moyenne versus pas de différence, mais postuler une « force précise de cette différence »</a:t>
            </a:r>
            <a:endParaRPr sz="2400"/>
          </a:p>
        </p:txBody>
      </p:sp>
      <p:sp>
        <p:nvSpPr>
          <p:cNvPr id="1013905379" name="ZoneTexte 1819201777"/>
          <p:cNvSpPr txBox="1"/>
          <p:nvPr/>
        </p:nvSpPr>
        <p:spPr bwMode="auto">
          <a:xfrm>
            <a:off x="1172485" y="4693815"/>
            <a:ext cx="9367348" cy="75016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lvl="1" indent="-228600" algn="l">
              <a:lnSpc>
                <a:spcPct val="90000"/>
              </a:lnSpc>
              <a:spcBef>
                <a:spcPts val="999"/>
              </a:spcBef>
              <a:spcAft>
                <a:spcPts val="0"/>
              </a:spcAft>
              <a:buFont typeface="Arial"/>
              <a:buChar char="•"/>
              <a:defRPr/>
            </a:pPr>
            <a:r>
              <a:rPr lang="fr-FR" sz="2400" b="0" i="0" u="none" strike="noStrike" cap="none" spc="0">
                <a:solidFill>
                  <a:schemeClr val="tx1"/>
                </a:solidFill>
                <a:latin typeface="Arial"/>
                <a:ea typeface="Arial"/>
                <a:cs typeface="Arial"/>
              </a:rPr>
              <a:t>Et tester si la taille d’effet trouvée est plus importante qu’une taille d’effet minimal d’importance (test TOST par exemple)</a:t>
            </a:r>
            <a:endParaRPr/>
          </a:p>
        </p:txBody>
      </p:sp>
      <p:sp>
        <p:nvSpPr>
          <p:cNvPr id="1673449454" name="ZoneTexte 9168150"/>
          <p:cNvSpPr txBox="1"/>
          <p:nvPr/>
        </p:nvSpPr>
        <p:spPr bwMode="auto">
          <a:xfrm>
            <a:off x="838198" y="5556383"/>
            <a:ext cx="7044814" cy="47584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indent="-228600" algn="l">
              <a:lnSpc>
                <a:spcPct val="90000"/>
              </a:lnSpc>
              <a:spcBef>
                <a:spcPts val="999"/>
              </a:spcBef>
              <a:spcAft>
                <a:spcPts val="0"/>
              </a:spcAft>
              <a:buFont typeface="Arial"/>
              <a:buChar char="•"/>
              <a:defRPr/>
            </a:pPr>
            <a:r>
              <a:rPr lang="fr-FR" sz="2800" b="0" i="0" u="none" strike="noStrike" cap="none" spc="0">
                <a:solidFill>
                  <a:schemeClr val="tx1"/>
                </a:solidFill>
                <a:latin typeface="Arial"/>
                <a:ea typeface="Arial"/>
                <a:cs typeface="Arial"/>
              </a:rPr>
              <a:t>Et/ou</a:t>
            </a:r>
            <a:r>
              <a:t> </a:t>
            </a:r>
            <a:r>
              <a:rPr lang="fr-FR" sz="2800" b="0" i="0" u="none" strike="noStrike" cap="none" spc="0">
                <a:solidFill>
                  <a:schemeClr val="tx1"/>
                </a:solidFill>
                <a:latin typeface="Arial"/>
                <a:ea typeface="Arial"/>
                <a:cs typeface="Arial"/>
              </a:rPr>
              <a:t>qu’elle renforce la sévérité du test</a:t>
            </a:r>
            <a:endParaRPr lang="fr-FR" sz="2800" b="0" i="0" u="none" strike="noStrike" cap="none" spc="0">
              <a:solidFill>
                <a:schemeClr val="tx1"/>
              </a:solidFill>
              <a:latin typeface="Arial"/>
              <a:cs typeface="Arial"/>
            </a:endParaRPr>
          </a:p>
        </p:txBody>
      </p:sp>
      <p:sp>
        <p:nvSpPr>
          <p:cNvPr id="43568643" name="ZoneTexte 911804348"/>
          <p:cNvSpPr txBox="1"/>
          <p:nvPr/>
        </p:nvSpPr>
        <p:spPr bwMode="auto">
          <a:xfrm>
            <a:off x="1463797" y="6144488"/>
            <a:ext cx="4580010" cy="42098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228600" marR="0" lvl="1" indent="-228600" algn="l">
              <a:lnSpc>
                <a:spcPct val="90000"/>
              </a:lnSpc>
              <a:spcBef>
                <a:spcPts val="999"/>
              </a:spcBef>
              <a:spcAft>
                <a:spcPts val="0"/>
              </a:spcAft>
              <a:buFont typeface="Arial"/>
              <a:buChar char="•"/>
              <a:defRPr/>
            </a:pPr>
            <a:r>
              <a:rPr lang="fr-FR" sz="2400" b="0" i="0" u="none" strike="noStrike" cap="none" spc="0">
                <a:solidFill>
                  <a:schemeClr val="tx1"/>
                </a:solidFill>
                <a:latin typeface="Arial"/>
                <a:ea typeface="Arial"/>
                <a:cs typeface="Arial"/>
              </a:rPr>
              <a:t>En modifiant la p-valeur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1472676"/>
                                        </p:tgtEl>
                                        <p:attrNameLst>
                                          <p:attrName>style.visibility</p:attrName>
                                        </p:attrNameLst>
                                      </p:cBhvr>
                                      <p:to>
                                        <p:strVal val="visible"/>
                                      </p:to>
                                    </p:set>
                                    <p:animEffect transition="in" filter="fade">
                                      <p:cBhvr>
                                        <p:cTn id="7" dur="500"/>
                                        <p:tgtEl>
                                          <p:spTgt spid="8614726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7232584"/>
                                        </p:tgtEl>
                                        <p:attrNameLst>
                                          <p:attrName>style.visibility</p:attrName>
                                        </p:attrNameLst>
                                      </p:cBhvr>
                                      <p:to>
                                        <p:strVal val="visible"/>
                                      </p:to>
                                    </p:set>
                                    <p:animEffect transition="in" filter="fade">
                                      <p:cBhvr>
                                        <p:cTn id="12" dur="500"/>
                                        <p:tgtEl>
                                          <p:spTgt spid="7372325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9842316"/>
                                        </p:tgtEl>
                                        <p:attrNameLst>
                                          <p:attrName>style.visibility</p:attrName>
                                        </p:attrNameLst>
                                      </p:cBhvr>
                                      <p:to>
                                        <p:strVal val="visible"/>
                                      </p:to>
                                    </p:set>
                                    <p:animEffect transition="in" filter="fade">
                                      <p:cBhvr>
                                        <p:cTn id="17" dur="500"/>
                                        <p:tgtEl>
                                          <p:spTgt spid="10198423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6777116"/>
                                        </p:tgtEl>
                                        <p:attrNameLst>
                                          <p:attrName>style.visibility</p:attrName>
                                        </p:attrNameLst>
                                      </p:cBhvr>
                                      <p:to>
                                        <p:strVal val="visible"/>
                                      </p:to>
                                    </p:set>
                                    <p:animEffect transition="in" filter="fade">
                                      <p:cBhvr>
                                        <p:cTn id="22" dur="500"/>
                                        <p:tgtEl>
                                          <p:spTgt spid="5467771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13905379"/>
                                        </p:tgtEl>
                                        <p:attrNameLst>
                                          <p:attrName>style.visibility</p:attrName>
                                        </p:attrNameLst>
                                      </p:cBhvr>
                                      <p:to>
                                        <p:strVal val="visible"/>
                                      </p:to>
                                    </p:set>
                                    <p:animEffect transition="in" filter="fade">
                                      <p:cBhvr>
                                        <p:cTn id="27" dur="500"/>
                                        <p:tgtEl>
                                          <p:spTgt spid="101390537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73449454"/>
                                        </p:tgtEl>
                                        <p:attrNameLst>
                                          <p:attrName>style.visibility</p:attrName>
                                        </p:attrNameLst>
                                      </p:cBhvr>
                                      <p:to>
                                        <p:strVal val="visible"/>
                                      </p:to>
                                    </p:set>
                                    <p:animEffect transition="in" filter="fade">
                                      <p:cBhvr>
                                        <p:cTn id="32" dur="500"/>
                                        <p:tgtEl>
                                          <p:spTgt spid="167344945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3568643"/>
                                        </p:tgtEl>
                                        <p:attrNameLst>
                                          <p:attrName>style.visibility</p:attrName>
                                        </p:attrNameLst>
                                      </p:cBhvr>
                                      <p:to>
                                        <p:strVal val="visible"/>
                                      </p:to>
                                    </p:set>
                                    <p:animEffect transition="in" filter="fade">
                                      <p:cBhvr>
                                        <p:cTn id="37" dur="500"/>
                                        <p:tgtEl>
                                          <p:spTgt spid="43568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69810229" name="Titre 1"/>
          <p:cNvSpPr>
            <a:spLocks noGrp="1"/>
          </p:cNvSpPr>
          <p:nvPr>
            <p:ph type="title"/>
          </p:nvPr>
        </p:nvSpPr>
        <p:spPr bwMode="auto"/>
        <p:txBody>
          <a:bodyPr/>
          <a:lstStyle/>
          <a:p>
            <a:pPr>
              <a:defRPr/>
            </a:pPr>
            <a:r>
              <a:t>La théorie du goodenough</a:t>
            </a:r>
          </a:p>
        </p:txBody>
      </p:sp>
      <p:sp>
        <p:nvSpPr>
          <p:cNvPr id="266905884" name="Espace réservé du contenu 2"/>
          <p:cNvSpPr>
            <a:spLocks noGrp="1"/>
          </p:cNvSpPr>
          <p:nvPr>
            <p:ph idx="1"/>
          </p:nvPr>
        </p:nvSpPr>
        <p:spPr bwMode="auto">
          <a:xfrm>
            <a:off x="838198" y="1825624"/>
            <a:ext cx="10515600" cy="4603749"/>
          </a:xfrm>
        </p:spPr>
        <p:txBody>
          <a:bodyPr vertOverflow="overflow" horzOverflow="overflow" vert="horz" wrap="square" lIns="91440" tIns="45720" rIns="91440" bIns="45720" numCol="1" spcCol="0" rtlCol="0" fromWordArt="0" anchor="t" anchorCtr="0" forceAA="0" compatLnSpc="0">
            <a:normAutofit fontScale="85000" lnSpcReduction="3000"/>
          </a:bodyPr>
          <a:lstStyle/>
          <a:p>
            <a:pPr>
              <a:defRPr/>
            </a:pPr>
            <a:r>
              <a:t>Une théorie néo-poperrienne</a:t>
            </a:r>
          </a:p>
          <a:p>
            <a:pPr>
              <a:defRPr/>
            </a:pPr>
            <a:r>
              <a:t>Basée sur la corroboration forte, avec une importance minuscule de la falsification</a:t>
            </a:r>
          </a:p>
          <a:p>
            <a:pPr>
              <a:defRPr/>
            </a:pPr>
            <a:r>
              <a:t>La théorie épistémologique de la psychologie</a:t>
            </a:r>
          </a:p>
          <a:p>
            <a:pPr>
              <a:defRPr/>
            </a:pPr>
            <a:r>
              <a:t>Pose la question « est ce que ma théorie a suffisamment de vérisimilitude pour continuer de la tester et l’amender ? »</a:t>
            </a:r>
          </a:p>
          <a:p>
            <a:pPr>
              <a:defRPr/>
            </a:pPr>
            <a:r>
              <a:t>Basée sur des hypothèses de plus en plus risqués (test sévère), des réplications de plus en plus robustes (l’argent dans la banque), et des prédictions de plus en plus précises (</a:t>
            </a:r>
            <a:r>
              <a:rPr lang="fr-FR" sz="2800" b="0" i="0" u="none" strike="noStrike" cap="none" spc="0">
                <a:solidFill>
                  <a:schemeClr val="tx1"/>
                </a:solidFill>
                <a:latin typeface="+mn-lt"/>
                <a:ea typeface="+mn-ea"/>
                <a:cs typeface="+mn-cs"/>
              </a:rPr>
              <a:t>L’effet « quelle drôle de coincidence</a:t>
            </a:r>
            <a:r>
              <a:t> »)</a:t>
            </a:r>
          </a:p>
          <a:p>
            <a:pPr>
              <a:defRPr/>
            </a:pPr>
            <a:r>
              <a:t>Ce sont ces outils qui nous permettent de comprendre la psychologie en tant que science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6E2087F-1B8F-A0E5-1442-E9CA00835AF2}"/>
            </a:ext>
          </a:extLst>
        </p:cNvPr>
        <p:cNvGrpSpPr/>
        <p:nvPr/>
      </p:nvGrpSpPr>
      <p:grpSpPr bwMode="auto">
        <a:xfrm>
          <a:off x="0" y="0"/>
          <a:ext cx="0" cy="0"/>
          <a:chOff x="0" y="0"/>
          <a:chExt cx="0" cy="0"/>
        </a:xfrm>
      </p:grpSpPr>
      <p:sp>
        <p:nvSpPr>
          <p:cNvPr id="2069810229" name="Titre 1">
            <a:extLst>
              <a:ext uri="{FF2B5EF4-FFF2-40B4-BE49-F238E27FC236}">
                <a16:creationId xmlns:a16="http://schemas.microsoft.com/office/drawing/2014/main" id="{E9D5D93A-69BC-2B3C-F013-1647E0446E62}"/>
              </a:ext>
            </a:extLst>
          </p:cNvPr>
          <p:cNvSpPr>
            <a:spLocks noGrp="1"/>
          </p:cNvSpPr>
          <p:nvPr>
            <p:ph type="title"/>
          </p:nvPr>
        </p:nvSpPr>
        <p:spPr bwMode="auto"/>
        <p:txBody>
          <a:bodyPr/>
          <a:lstStyle/>
          <a:p>
            <a:pPr>
              <a:defRPr/>
            </a:pPr>
            <a:r>
              <a:t>La théorie du goodenough</a:t>
            </a:r>
          </a:p>
        </p:txBody>
      </p:sp>
      <p:sp>
        <p:nvSpPr>
          <p:cNvPr id="266905884" name="Espace réservé du contenu 2">
            <a:extLst>
              <a:ext uri="{FF2B5EF4-FFF2-40B4-BE49-F238E27FC236}">
                <a16:creationId xmlns:a16="http://schemas.microsoft.com/office/drawing/2014/main" id="{77C3AD07-CCC0-8C95-DBF1-EA3E6C65133D}"/>
              </a:ext>
            </a:extLst>
          </p:cNvPr>
          <p:cNvSpPr>
            <a:spLocks noGrp="1"/>
          </p:cNvSpPr>
          <p:nvPr>
            <p:ph idx="1"/>
          </p:nvPr>
        </p:nvSpPr>
        <p:spPr bwMode="auto">
          <a:xfrm>
            <a:off x="838198" y="1825624"/>
            <a:ext cx="10515600" cy="4603749"/>
          </a:xfrm>
        </p:spPr>
        <p:txBody>
          <a:bodyPr vertOverflow="overflow" horzOverflow="overflow" vert="horz" wrap="square" lIns="91440" tIns="45720" rIns="91440" bIns="45720" numCol="1" spcCol="0" rtlCol="0" fromWordArt="0" anchor="t" anchorCtr="0" forceAA="0" compatLnSpc="0">
            <a:normAutofit fontScale="85000" lnSpcReduction="3000"/>
          </a:bodyPr>
          <a:lstStyle/>
          <a:p>
            <a:pPr>
              <a:defRPr/>
            </a:pPr>
            <a:r>
              <a:t>Une théorie néo-poperrienne</a:t>
            </a:r>
          </a:p>
          <a:p>
            <a:pPr>
              <a:defRPr/>
            </a:pPr>
            <a:r>
              <a:t>Basée sur la corroboration forte, avec une importance minuscule de la falsification</a:t>
            </a:r>
          </a:p>
          <a:p>
            <a:pPr>
              <a:defRPr/>
            </a:pPr>
            <a:r>
              <a:t>La théorie épistémologique de la psychologie</a:t>
            </a:r>
          </a:p>
          <a:p>
            <a:pPr>
              <a:defRPr/>
            </a:pPr>
            <a:r>
              <a:t>Pose la question « est ce que ma théorie a suffisamment de vérisimilitude pour continuer de la tester et l’amender ? »</a:t>
            </a:r>
          </a:p>
          <a:p>
            <a:pPr>
              <a:defRPr/>
            </a:pPr>
            <a:r>
              <a:t>Basée sur des hypothèses de plus en plus risqués (test sévère), des réplications de plus en plus robustes (l’argent dans la banque), et des prédictions de plus en plus précises (</a:t>
            </a:r>
            <a:r>
              <a:rPr lang="fr-FR" sz="2800" b="0" i="0" u="none" strike="noStrike" cap="none" spc="0">
                <a:solidFill>
                  <a:schemeClr val="tx1"/>
                </a:solidFill>
                <a:latin typeface="+mn-lt"/>
                <a:ea typeface="+mn-ea"/>
                <a:cs typeface="+mn-cs"/>
              </a:rPr>
              <a:t>L’effet « quelle drôle de coincidence</a:t>
            </a:r>
            <a:r>
              <a:t> »)</a:t>
            </a:r>
          </a:p>
          <a:p>
            <a:pPr>
              <a:defRPr/>
            </a:pPr>
            <a:r>
              <a:t>Ce sont ces outils qui nous permettent de comprendre la psychologie en tant que science</a:t>
            </a:r>
          </a:p>
        </p:txBody>
      </p:sp>
      <p:sp>
        <p:nvSpPr>
          <p:cNvPr id="1465556783" name="Cœur 1819042959">
            <a:extLst>
              <a:ext uri="{FF2B5EF4-FFF2-40B4-BE49-F238E27FC236}">
                <a16:creationId xmlns:a16="http://schemas.microsoft.com/office/drawing/2014/main" id="{D801FEDF-794D-6159-0012-143FEE2AAE6E}"/>
              </a:ext>
            </a:extLst>
          </p:cNvPr>
          <p:cNvSpPr/>
          <p:nvPr/>
        </p:nvSpPr>
        <p:spPr bwMode="auto">
          <a:xfrm>
            <a:off x="1993806" y="932951"/>
            <a:ext cx="8009659" cy="5693352"/>
          </a:xfrm>
          <a:prstGeom prst="heart">
            <a:avLst/>
          </a:prstGeom>
          <a:solidFill>
            <a:srgbClr val="D45BC8"/>
          </a:solidFill>
        </p:spPr>
        <p:style>
          <a:lnRef idx="2">
            <a:schemeClr val="accent1">
              <a:shade val="50000"/>
            </a:schemeClr>
          </a:lnRef>
          <a:fillRef idx="1">
            <a:schemeClr val="accent1"/>
          </a:fillRef>
          <a:effectRef idx="0">
            <a:schemeClr val="accent1"/>
          </a:effectRef>
          <a:fontRef idx="minor">
            <a:schemeClr val="lt1"/>
          </a:fontRef>
        </p:style>
      </p:sp>
      <p:pic>
        <p:nvPicPr>
          <p:cNvPr id="2137051226" name="Image 2123689610">
            <a:extLst>
              <a:ext uri="{FF2B5EF4-FFF2-40B4-BE49-F238E27FC236}">
                <a16:creationId xmlns:a16="http://schemas.microsoft.com/office/drawing/2014/main" id="{F068A68B-C33F-C606-3D06-026048D8D251}"/>
              </a:ext>
            </a:extLst>
          </p:cNvPr>
          <p:cNvPicPr>
            <a:picLocks noChangeAspect="1"/>
          </p:cNvPicPr>
          <p:nvPr/>
        </p:nvPicPr>
        <p:blipFill rotWithShape="1">
          <a:blip r:embed="rId3"/>
          <a:stretch/>
        </p:blipFill>
        <p:spPr bwMode="auto">
          <a:xfrm>
            <a:off x="3999770" y="871600"/>
            <a:ext cx="4192457" cy="5114799"/>
          </a:xfrm>
          <a:prstGeom prst="rect">
            <a:avLst/>
          </a:prstGeom>
        </p:spPr>
      </p:pic>
    </p:spTree>
    <p:extLst>
      <p:ext uri="{BB962C8B-B14F-4D97-AF65-F5344CB8AC3E}">
        <p14:creationId xmlns:p14="http://schemas.microsoft.com/office/powerpoint/2010/main" val="36266435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2137051226"/>
                                        </p:tgtEl>
                                        <p:attrNameLst>
                                          <p:attrName>style.visibility</p:attrName>
                                        </p:attrNameLst>
                                      </p:cBhvr>
                                      <p:to>
                                        <p:strVal val="visible"/>
                                      </p:to>
                                    </p:set>
                                    <p:animEffect transition="in" filter="fade">
                                      <p:cBhvr>
                                        <p:cTn id="7" dur="2000"/>
                                        <p:tgtEl>
                                          <p:spTgt spid="2137051226"/>
                                        </p:tgtEl>
                                      </p:cBhvr>
                                    </p:animEffect>
                                    <p:anim calcmode="lin" valueType="num">
                                      <p:cBhvr>
                                        <p:cTn id="8" dur="2000" fill="hold"/>
                                        <p:tgtEl>
                                          <p:spTgt spid="2137051226"/>
                                        </p:tgtEl>
                                        <p:attrNameLst>
                                          <p:attrName>ppt_w</p:attrName>
                                        </p:attrNameLst>
                                      </p:cBhvr>
                                      <p:tavLst>
                                        <p:tav tm="0" fmla="#ppt_w*sin(2.5*pi*$)">
                                          <p:val>
                                            <p:fltVal val="0"/>
                                          </p:val>
                                        </p:tav>
                                        <p:tav tm="100000">
                                          <p:val>
                                            <p:fltVal val="1"/>
                                          </p:val>
                                        </p:tav>
                                      </p:tavLst>
                                    </p:anim>
                                    <p:anim calcmode="lin" valueType="num">
                                      <p:cBhvr>
                                        <p:cTn id="9" dur="2000" fill="hold"/>
                                        <p:tgtEl>
                                          <p:spTgt spid="2137051226"/>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1465556783"/>
                                        </p:tgtEl>
                                        <p:attrNameLst>
                                          <p:attrName>style.visibility</p:attrName>
                                        </p:attrNameLst>
                                      </p:cBhvr>
                                      <p:to>
                                        <p:strVal val="visible"/>
                                      </p:to>
                                    </p:set>
                                    <p:animEffect transition="in" filter="fade">
                                      <p:cBhvr>
                                        <p:cTn id="12" dur="2000"/>
                                        <p:tgtEl>
                                          <p:spTgt spid="1465556783"/>
                                        </p:tgtEl>
                                      </p:cBhvr>
                                    </p:animEffect>
                                    <p:anim calcmode="lin" valueType="num">
                                      <p:cBhvr>
                                        <p:cTn id="13" dur="2000" fill="hold"/>
                                        <p:tgtEl>
                                          <p:spTgt spid="1465556783"/>
                                        </p:tgtEl>
                                        <p:attrNameLst>
                                          <p:attrName>ppt_w</p:attrName>
                                        </p:attrNameLst>
                                      </p:cBhvr>
                                      <p:tavLst>
                                        <p:tav tm="0" fmla="#ppt_w*sin(2.5*pi*$)">
                                          <p:val>
                                            <p:fltVal val="0"/>
                                          </p:val>
                                        </p:tav>
                                        <p:tav tm="100000">
                                          <p:val>
                                            <p:fltVal val="1"/>
                                          </p:val>
                                        </p:tav>
                                      </p:tavLst>
                                    </p:anim>
                                    <p:anim calcmode="lin" valueType="num">
                                      <p:cBhvr>
                                        <p:cTn id="14" dur="2000" fill="hold"/>
                                        <p:tgtEl>
                                          <p:spTgt spid="146555678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2989410" name="Titre 1"/>
          <p:cNvSpPr>
            <a:spLocks noGrp="1"/>
          </p:cNvSpPr>
          <p:nvPr>
            <p:ph type="title"/>
          </p:nvPr>
        </p:nvSpPr>
        <p:spPr bwMode="auto">
          <a:xfrm>
            <a:off x="5657377" y="5012857"/>
            <a:ext cx="5486902" cy="1325562"/>
          </a:xfrm>
        </p:spPr>
        <p:txBody>
          <a:bodyPr/>
          <a:lstStyle/>
          <a:p>
            <a:pPr>
              <a:defRPr/>
            </a:pPr>
            <a:r>
              <a:rPr sz="2500"/>
              <a:t>Daniël Lakens, Mark Rubin, Berna Devezer, Andrew Geldman</a:t>
            </a:r>
            <a:endParaRPr/>
          </a:p>
        </p:txBody>
      </p:sp>
      <p:pic>
        <p:nvPicPr>
          <p:cNvPr id="1845701569" name="Image 617781696"/>
          <p:cNvPicPr>
            <a:picLocks noChangeAspect="1"/>
          </p:cNvPicPr>
          <p:nvPr/>
        </p:nvPicPr>
        <p:blipFill rotWithShape="1">
          <a:blip r:embed="rId3"/>
          <a:stretch/>
        </p:blipFill>
        <p:spPr bwMode="auto">
          <a:xfrm>
            <a:off x="727362" y="782876"/>
            <a:ext cx="3857446" cy="5657589"/>
          </a:xfrm>
          <a:prstGeom prst="rect">
            <a:avLst/>
          </a:prstGeom>
        </p:spPr>
      </p:pic>
      <p:pic>
        <p:nvPicPr>
          <p:cNvPr id="1601137058" name="Image 124153872"/>
          <p:cNvPicPr>
            <a:picLocks noChangeAspect="1"/>
          </p:cNvPicPr>
          <p:nvPr/>
        </p:nvPicPr>
        <p:blipFill rotWithShape="1">
          <a:blip r:embed="rId4"/>
          <a:stretch/>
        </p:blipFill>
        <p:spPr bwMode="auto">
          <a:xfrm>
            <a:off x="8636925" y="274006"/>
            <a:ext cx="2808078" cy="42317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Grand écran</PresentationFormat>
  <Paragraphs>0</Paragraphs>
  <Slides>29</Slides>
  <Notes>29</Notes>
  <HiddenSlides>0</HiddenSlides>
  <MMClips>2</MMClips>
  <ScaleCrop>false</ScaleCrop>
  <HeadingPairs>
    <vt:vector size="4" baseType="variant">
      <vt:variant>
        <vt:lpstr>Thème</vt:lpstr>
      </vt:variant>
      <vt:variant>
        <vt:i4>1</vt:i4>
      </vt:variant>
      <vt:variant>
        <vt:lpstr>Titres des diapositives</vt:lpstr>
      </vt:variant>
      <vt:variant>
        <vt:i4>29</vt:i4>
      </vt:variant>
    </vt:vector>
  </HeadingPairs>
  <TitlesOfParts>
    <vt:vector size="30" baseType="lpstr">
      <vt:lpstr>Office Theme</vt:lpstr>
      <vt:lpstr>Comprendre la psychologie en tant que science</vt:lpstr>
      <vt:lpstr>Présentation PowerPoint</vt:lpstr>
      <vt:lpstr>Positivisme logique</vt:lpstr>
      <vt:lpstr>Positivisme logique</vt:lpstr>
      <vt:lpstr>Programme de recherche (Lakatos, 1970)</vt:lpstr>
      <vt:lpstr>Whatabout la psychologie ?</vt:lpstr>
      <vt:lpstr>Whatabout la psychologie ?</vt:lpstr>
      <vt:lpstr>Whatabout la psychologie ?</vt:lpstr>
      <vt:lpstr>La psychologie fonctionne à l’inverse de la physique</vt:lpstr>
      <vt:lpstr>Présentation PowerPoint</vt:lpstr>
      <vt:lpstr>Présentation PowerPoint</vt:lpstr>
      <vt:lpstr>Problème :</vt:lpstr>
      <vt:lpstr>Présentation PowerPoint</vt:lpstr>
      <vt:lpstr>Présentation PowerPoint</vt:lpstr>
      <vt:lpstr>Présentation PowerPoint</vt:lpstr>
      <vt:lpstr>Présentation PowerPoint</vt:lpstr>
      <vt:lpstr>10 problèmes avec la scientificité de la psychologie</vt:lpstr>
      <vt:lpstr>10 problèmes avec la scientificité de la psychologie</vt:lpstr>
      <vt:lpstr>10 problèmes avec la scientificité de la psychologie</vt:lpstr>
      <vt:lpstr>Présentation PowerPoint</vt:lpstr>
      <vt:lpstr>Présentation PowerPoint</vt:lpstr>
      <vt:lpstr>Présentation PowerPoint</vt:lpstr>
      <vt:lpstr>Présentation PowerPoint</vt:lpstr>
      <vt:lpstr>Une théorie ne peut pas être vraie, ni fausse.</vt:lpstr>
      <vt:lpstr>La psychologie est-elle une science ?</vt:lpstr>
      <vt:lpstr>La psychologie est-elle une science ?</vt:lpstr>
      <vt:lpstr>La théorie du goodenough</vt:lpstr>
      <vt:lpstr>La théorie du goodenough</vt:lpstr>
      <vt:lpstr>Daniël Lakens, Mark Rubin, Berna Devezer, Andrew Geldman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98</cp:revision>
  <dcterms:created xsi:type="dcterms:W3CDTF">2012-12-03T06:56:55Z</dcterms:created>
  <dcterms:modified xsi:type="dcterms:W3CDTF">2026-06-18T15:45:51Z</dcterms:modified>
</cp:coreProperties>
</file>
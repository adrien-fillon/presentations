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2" d="100"/>
          <a:sy n="102" d="100"/>
        </p:scale>
        <p:origin x="954" y="31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974912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80708252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0C49CC0-1E12-4E74-92C8-37245FB00C7F}" type="datetimeFigureOut">
              <a:rPr lang="fr-FR"/>
              <a:t>27/06/2025</a:t>
            </a:fld>
            <a:endParaRPr lang="fr-FR"/>
          </a:p>
        </p:txBody>
      </p:sp>
      <p:sp>
        <p:nvSpPr>
          <p:cNvPr id="306755562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750855521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30338315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95073943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F553839-7A3E-4C77-83E9-6F1563804483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243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655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4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8341FD-C4B6-C423-3BDA-DB5D0A72D1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256376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1097772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 Conspiracy Theories : “claims that the public is being pervasively lied to regarding some aspect of reality, to allow some group(s) to achieve a self-serving agenda”</a:t>
            </a:r>
            <a:endParaRPr lang="fr-FR"/>
          </a:p>
        </p:txBody>
      </p:sp>
      <p:sp>
        <p:nvSpPr>
          <p:cNvPr id="518283105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F553839-7A3E-4C77-83E9-6F1563804483}" type="slidenum">
              <a:rPr lang="fr-FR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388256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714646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 Conspiracy Theories </a:t>
            </a:r>
            <a:r>
              <a:rPr lang="en-US"/>
              <a:t>propencity</a:t>
            </a:r>
            <a:r>
              <a:rPr lang="en-US"/>
              <a:t> : “a continuum ranging from naïve trust in the canonical version of contemporary history to extremely paranoid conspiracy thinking.”</a:t>
            </a:r>
            <a:endParaRPr lang="fr-FR"/>
          </a:p>
        </p:txBody>
      </p:sp>
      <p:sp>
        <p:nvSpPr>
          <p:cNvPr id="8566823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F553839-7A3E-4C77-83E9-6F1563804483}" type="slidenum">
              <a:rPr lang="fr-FR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150151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2468907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 Conspiracy Theories </a:t>
            </a:r>
            <a:r>
              <a:rPr lang="en-US"/>
              <a:t>propencity</a:t>
            </a:r>
            <a:r>
              <a:rPr lang="en-US"/>
              <a:t> : “a continuum ranging from naïve trust in the canonical version of contemporary history to extremely paranoid conspiracy thinking.”</a:t>
            </a:r>
            <a:endParaRPr lang="fr-FR"/>
          </a:p>
        </p:txBody>
      </p:sp>
      <p:sp>
        <p:nvSpPr>
          <p:cNvPr id="1127307361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F553839-7A3E-4C77-83E9-6F1563804483}" type="slidenum">
              <a:rPr lang="fr-FR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203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8847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2175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A5B9CC-518F-34CC-C786-8A40399FC7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5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565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546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74B31B-FC8F-15D2-87B8-DD0CCACD4E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461581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683771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There </a:t>
            </a:r>
            <a:r>
              <a:rPr lang="fr-FR"/>
              <a:t>was</a:t>
            </a:r>
            <a:r>
              <a:rPr lang="fr-FR"/>
              <a:t> a control </a:t>
            </a:r>
            <a:r>
              <a:rPr lang="fr-FR"/>
              <a:t>video</a:t>
            </a:r>
            <a:r>
              <a:rPr lang="fr-FR"/>
              <a:t> on a </a:t>
            </a:r>
            <a:r>
              <a:rPr lang="fr-FR"/>
              <a:t>space</a:t>
            </a:r>
            <a:r>
              <a:rPr lang="fr-FR"/>
              <a:t> </a:t>
            </a:r>
            <a:r>
              <a:rPr lang="fr-FR"/>
              <a:t>shuttle</a:t>
            </a:r>
            <a:endParaRPr lang="fr-FR"/>
          </a:p>
        </p:txBody>
      </p:sp>
      <p:sp>
        <p:nvSpPr>
          <p:cNvPr id="29474903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F553839-7A3E-4C77-83E9-6F1563804483}" type="slidenum">
              <a:rPr lang="fr-FR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399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3402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523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4BA522-2DCD-ED2D-E9A2-8ACA7FD91F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590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598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330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B5755C-3804-1357-9D01-0A8D52E40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359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603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055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8ED99-278D-6C7F-2FA6-7CC70C2CFF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740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5607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586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EB9DA6-ADD5-5146-A4FF-7208CD150F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980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956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497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E9E7C6-E6FF-64FD-FA84-302617D3A8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05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141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62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86818F-BC22-2DFA-C823-91769DD7F8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010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7030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30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25C6DA-CC73-7AFA-80AB-3CC4188F63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402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817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5841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9D5AAA-52E7-F247-DECE-1FA7917050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060470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420577831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50916525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55303336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152398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20954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889994899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52560851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9773097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7426831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726064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96359573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98351569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18703038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6485436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26487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5236715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375364121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63030359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86393063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5472948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782406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40527378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397879486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23978293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491903409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25952438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795700572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08174135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53934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519437105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272815079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23545824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474818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1027678504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06886097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410868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084625445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610581318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371501374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437443727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0824196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754448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11857087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174312310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1035032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170732637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0982832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24869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27580827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38294829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115432756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8709434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2473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405839927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08805621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177633055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6388658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6142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577287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03902800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32E5DF19-68E1-4FA3-BCAF-A5174019CB5F}" type="datetimeFigureOut">
              <a:rPr lang="fr-FR"/>
              <a:t>27/06/2025</a:t>
            </a:fld>
            <a:endParaRPr lang="fr-FR"/>
          </a:p>
        </p:txBody>
      </p:sp>
      <p:sp>
        <p:nvSpPr>
          <p:cNvPr id="1500859176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723803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CADFA142-E05F-44F6-BC69-D8125C2933C0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microsoft.com/office/2007/relationships/media" Target="../media/fN8tgPDDfQk?feature=oembed"/><Relationship Id="rId5" Type="http://schemas.openxmlformats.org/officeDocument/2006/relationships/video" Target="fN8tgPDDfQk?feature=oembed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732004" name="Titre 1"/>
          <p:cNvSpPr>
            <a:spLocks noGrp="1"/>
          </p:cNvSpPr>
          <p:nvPr>
            <p:ph type="ctr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>
                <a:latin typeface="Aptos Display"/>
              </a:rPr>
              <a:t>The use of economics experiments to test conspiracy theories</a:t>
            </a:r>
            <a:endParaRPr lang="fr-FR"/>
          </a:p>
        </p:txBody>
      </p:sp>
      <p:sp>
        <p:nvSpPr>
          <p:cNvPr id="892843193" name="Sous-titr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defRPr/>
            </a:pPr>
            <a:r>
              <a:rPr lang="fr-FR"/>
              <a:t>Adrien Fillon</a:t>
            </a:r>
            <a:endParaRPr lang="fr-FR"/>
          </a:p>
          <a:p>
            <a:pPr>
              <a:defRPr/>
            </a:pPr>
            <a:endParaRPr/>
          </a:p>
          <a:p>
            <a:pPr>
              <a:defRPr/>
            </a:pPr>
            <a:r>
              <a:rPr lang="fr-FR" sz="2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Erika Dömötör, Adrien Fillon, Kenzo Nera,</a:t>
            </a:r>
            <a:endParaRPr lang="fr-FR" sz="22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fr-FR" sz="2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Zacharias Maniadis.</a:t>
            </a:r>
            <a:r>
              <a:rPr lang="fr-FR" sz="24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(2025) Conspiracy Theories and Strategic Sophistication:</a:t>
            </a:r>
            <a:endParaRPr lang="fr-FR" sz="24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an Online Study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20729" name="Espace réservé du contenu 8" descr="Une image contenant silhouette, art, illustration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0" y="0"/>
            <a:ext cx="12192000" cy="6858000"/>
          </a:xfrm>
        </p:spPr>
      </p:pic>
      <p:sp>
        <p:nvSpPr>
          <p:cNvPr id="84905221" name=""/>
          <p:cNvSpPr txBox="1"/>
          <p:nvPr/>
        </p:nvSpPr>
        <p:spPr bwMode="auto">
          <a:xfrm flipH="0" flipV="0">
            <a:off x="188271" y="2717241"/>
            <a:ext cx="4492976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/>
              <a:t>claims that the public is being pervasively lied to regarding some aspect of reality, to allow some group(s) to achieve a self-serving agenda. (Nera et al., 2023)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7512323" name="Espace réservé du contenu 8" descr="Une image contenant silhouette, art, illustration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7117236" y="0"/>
            <a:ext cx="5074763" cy="2854554"/>
          </a:xfrm>
        </p:spPr>
      </p:pic>
      <p:sp>
        <p:nvSpPr>
          <p:cNvPr id="511874543" name="ZoneTexte 1"/>
          <p:cNvSpPr txBox="1"/>
          <p:nvPr/>
        </p:nvSpPr>
        <p:spPr bwMode="auto">
          <a:xfrm>
            <a:off x="678730" y="631596"/>
            <a:ext cx="4201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3200" b="1"/>
              <a:t>Conspiracy</a:t>
            </a:r>
            <a:r>
              <a:rPr lang="fr-FR" sz="3200" b="1"/>
              <a:t> </a:t>
            </a:r>
            <a:r>
              <a:rPr lang="fr-FR" sz="3200" b="1"/>
              <a:t>Theories</a:t>
            </a:r>
            <a:r>
              <a:rPr lang="fr-FR" sz="3200" b="1"/>
              <a:t> :</a:t>
            </a:r>
            <a:endParaRPr/>
          </a:p>
        </p:txBody>
      </p:sp>
      <p:sp>
        <p:nvSpPr>
          <p:cNvPr id="1016149974" name="ZoneTexte 2"/>
          <p:cNvSpPr txBox="1"/>
          <p:nvPr/>
        </p:nvSpPr>
        <p:spPr bwMode="auto">
          <a:xfrm>
            <a:off x="678730" y="1736103"/>
            <a:ext cx="58249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800"/>
              <a:t>Strongly</a:t>
            </a:r>
            <a:r>
              <a:rPr lang="fr-FR" sz="2800"/>
              <a:t> </a:t>
            </a:r>
            <a:r>
              <a:rPr lang="fr-FR" sz="2800"/>
              <a:t>correlated</a:t>
            </a:r>
            <a:r>
              <a:rPr lang="fr-FR" sz="2800"/>
              <a:t> </a:t>
            </a:r>
            <a:r>
              <a:rPr lang="fr-FR" sz="2800"/>
              <a:t>with</a:t>
            </a:r>
            <a:r>
              <a:rPr lang="fr-FR" sz="2800"/>
              <a:t> </a:t>
            </a:r>
            <a:r>
              <a:rPr lang="fr-FR" sz="2800"/>
              <a:t>each</a:t>
            </a:r>
            <a:r>
              <a:rPr lang="fr-FR" sz="2800"/>
              <a:t> </a:t>
            </a:r>
            <a:r>
              <a:rPr lang="fr-FR" sz="2800"/>
              <a:t>others</a:t>
            </a:r>
            <a:r>
              <a:rPr lang="fr-FR" sz="2800"/>
              <a:t> </a:t>
            </a:r>
            <a:endParaRPr/>
          </a:p>
          <a:p>
            <a:pPr>
              <a:defRPr/>
            </a:pPr>
            <a:r>
              <a:rPr lang="fr-FR" sz="2800"/>
              <a:t>(</a:t>
            </a:r>
            <a:r>
              <a:rPr lang="fr-FR" sz="2800"/>
              <a:t>even</a:t>
            </a:r>
            <a:r>
              <a:rPr lang="fr-FR" sz="2800"/>
              <a:t> if </a:t>
            </a:r>
            <a:r>
              <a:rPr lang="fr-FR" sz="2800"/>
              <a:t>there</a:t>
            </a:r>
            <a:r>
              <a:rPr lang="fr-FR" sz="2800"/>
              <a:t> </a:t>
            </a:r>
            <a:r>
              <a:rPr lang="fr-FR" sz="2800"/>
              <a:t>is</a:t>
            </a:r>
            <a:r>
              <a:rPr lang="fr-FR" sz="2800"/>
              <a:t> high </a:t>
            </a:r>
            <a:r>
              <a:rPr lang="fr-FR" sz="2800"/>
              <a:t>heterogeneity</a:t>
            </a:r>
            <a:r>
              <a:rPr lang="fr-FR" sz="2800"/>
              <a:t>)</a:t>
            </a:r>
            <a:endParaRPr/>
          </a:p>
        </p:txBody>
      </p:sp>
      <p:sp>
        <p:nvSpPr>
          <p:cNvPr id="2112464915" name="ZoneTexte 3"/>
          <p:cNvSpPr txBox="1"/>
          <p:nvPr/>
        </p:nvSpPr>
        <p:spPr bwMode="auto">
          <a:xfrm>
            <a:off x="603315" y="2951946"/>
            <a:ext cx="69509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800"/>
              <a:t>Propencity</a:t>
            </a:r>
            <a:r>
              <a:rPr lang="fr-FR" sz="2800"/>
              <a:t> to </a:t>
            </a:r>
            <a:r>
              <a:rPr lang="fr-FR" sz="2800"/>
              <a:t>believe</a:t>
            </a:r>
            <a:r>
              <a:rPr lang="fr-FR" sz="2800"/>
              <a:t> in </a:t>
            </a:r>
            <a:r>
              <a:rPr lang="fr-FR" sz="2800"/>
              <a:t>conspiracy</a:t>
            </a:r>
            <a:r>
              <a:rPr lang="fr-FR" sz="2800"/>
              <a:t> </a:t>
            </a:r>
            <a:r>
              <a:rPr lang="fr-FR" sz="2800"/>
              <a:t>theories</a:t>
            </a:r>
            <a:r>
              <a:rPr lang="fr-FR" sz="2800"/>
              <a:t> </a:t>
            </a:r>
            <a:endParaRPr/>
          </a:p>
          <a:p>
            <a:pPr>
              <a:defRPr/>
            </a:pPr>
            <a:r>
              <a:rPr lang="fr-FR" sz="2800"/>
              <a:t>- or </a:t>
            </a:r>
            <a:r>
              <a:rPr lang="fr-FR" sz="2800"/>
              <a:t>even</a:t>
            </a:r>
            <a:r>
              <a:rPr lang="fr-FR" sz="2800"/>
              <a:t> </a:t>
            </a:r>
            <a:r>
              <a:rPr lang="fr-FR" sz="2800"/>
              <a:t>having</a:t>
            </a:r>
            <a:r>
              <a:rPr lang="fr-FR" sz="2800"/>
              <a:t> a </a:t>
            </a:r>
            <a:r>
              <a:rPr lang="fr-FR" sz="2800"/>
              <a:t>conspiracy</a:t>
            </a:r>
            <a:r>
              <a:rPr lang="fr-FR" sz="2800"/>
              <a:t> </a:t>
            </a:r>
            <a:r>
              <a:rPr lang="fr-FR" sz="2800"/>
              <a:t>mindset</a:t>
            </a:r>
            <a:endParaRPr lang="fr-FR" sz="2800"/>
          </a:p>
        </p:txBody>
      </p:sp>
      <p:sp>
        <p:nvSpPr>
          <p:cNvPr id="1419899644" name="ZoneTexte 4"/>
          <p:cNvSpPr txBox="1"/>
          <p:nvPr/>
        </p:nvSpPr>
        <p:spPr bwMode="auto">
          <a:xfrm>
            <a:off x="678730" y="4235563"/>
            <a:ext cx="9253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800"/>
              <a:t>By </a:t>
            </a:r>
            <a:r>
              <a:rPr lang="fr-FR" sz="2800"/>
              <a:t>definition</a:t>
            </a:r>
            <a:r>
              <a:rPr lang="fr-FR" sz="2800"/>
              <a:t>, </a:t>
            </a:r>
            <a:r>
              <a:rPr lang="fr-FR" sz="2800"/>
              <a:t>related</a:t>
            </a:r>
            <a:r>
              <a:rPr lang="fr-FR" sz="2800"/>
              <a:t> to manipulation and </a:t>
            </a:r>
            <a:r>
              <a:rPr lang="fr-FR" sz="2800"/>
              <a:t>strategic</a:t>
            </a:r>
            <a:r>
              <a:rPr lang="fr-FR" sz="2800"/>
              <a:t> thinking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87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187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14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1614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46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1246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89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41989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494922" name="ZoneTexte 4"/>
          <p:cNvSpPr txBox="1"/>
          <p:nvPr/>
        </p:nvSpPr>
        <p:spPr bwMode="auto">
          <a:xfrm>
            <a:off x="678730" y="1049304"/>
            <a:ext cx="9253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800"/>
              <a:t>By </a:t>
            </a:r>
            <a:r>
              <a:rPr lang="fr-FR" sz="2800"/>
              <a:t>definition</a:t>
            </a:r>
            <a:r>
              <a:rPr lang="fr-FR" sz="2800"/>
              <a:t>, </a:t>
            </a:r>
            <a:r>
              <a:rPr lang="fr-FR" sz="2800"/>
              <a:t>related</a:t>
            </a:r>
            <a:r>
              <a:rPr lang="fr-FR" sz="2800"/>
              <a:t> to manipulation and </a:t>
            </a:r>
            <a:r>
              <a:rPr lang="fr-FR" sz="2800"/>
              <a:t>strategic</a:t>
            </a:r>
            <a:r>
              <a:rPr lang="fr-FR" sz="2800"/>
              <a:t> thinking</a:t>
            </a:r>
            <a:endParaRPr/>
          </a:p>
        </p:txBody>
      </p:sp>
      <p:sp>
        <p:nvSpPr>
          <p:cNvPr id="777212418" name="ZoneTexte 7"/>
          <p:cNvSpPr txBox="1"/>
          <p:nvPr/>
        </p:nvSpPr>
        <p:spPr bwMode="auto">
          <a:xfrm>
            <a:off x="678730" y="2155613"/>
            <a:ext cx="61248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2800"/>
              <a:t>In </a:t>
            </a:r>
            <a:r>
              <a:rPr lang="fr-FR" sz="2800"/>
              <a:t>economics</a:t>
            </a:r>
            <a:r>
              <a:rPr lang="fr-FR" sz="2800"/>
              <a:t>: Strategic Sophistication</a:t>
            </a:r>
            <a:endParaRPr/>
          </a:p>
        </p:txBody>
      </p:sp>
      <p:sp>
        <p:nvSpPr>
          <p:cNvPr id="1357318482" name="ZoneTexte 10"/>
          <p:cNvSpPr txBox="1"/>
          <p:nvPr/>
        </p:nvSpPr>
        <p:spPr bwMode="auto">
          <a:xfrm>
            <a:off x="2981227" y="3261922"/>
            <a:ext cx="60944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800"/>
              <a:t>“</a:t>
            </a:r>
            <a:r>
              <a:rPr lang="en-US" sz="2800"/>
              <a:t>The extent to which players’ behaviour reflects attempts to predict others’ decisions ”</a:t>
            </a:r>
            <a:endParaRPr/>
          </a:p>
        </p:txBody>
      </p:sp>
      <p:sp>
        <p:nvSpPr>
          <p:cNvPr id="1431258867" name="ZoneTexte 12"/>
          <p:cNvSpPr txBox="1"/>
          <p:nvPr/>
        </p:nvSpPr>
        <p:spPr bwMode="auto">
          <a:xfrm>
            <a:off x="5956087" y="599207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fr-FR" sz="1200" i="1"/>
              <a:t>Costa-Gomes, M., Crawford, V.P., </a:t>
            </a:r>
            <a:r>
              <a:rPr lang="fr-FR" sz="1200" i="1"/>
              <a:t>Broseta</a:t>
            </a:r>
            <a:r>
              <a:rPr lang="fr-FR" sz="1200" i="1"/>
              <a:t>, B. (2001). Cognition and </a:t>
            </a:r>
            <a:r>
              <a:rPr lang="fr-FR" sz="1200" i="1"/>
              <a:t>behavior</a:t>
            </a:r>
            <a:r>
              <a:rPr lang="fr-FR" sz="1200" i="1"/>
              <a:t> in</a:t>
            </a:r>
            <a:endParaRPr/>
          </a:p>
          <a:p>
            <a:pPr algn="r">
              <a:defRPr/>
            </a:pPr>
            <a:r>
              <a:rPr lang="fr-FR" sz="1200" i="1"/>
              <a:t>normal-</a:t>
            </a:r>
            <a:r>
              <a:rPr lang="fr-FR" sz="1200" i="1"/>
              <a:t>form</a:t>
            </a:r>
            <a:r>
              <a:rPr lang="fr-FR" sz="1200" i="1"/>
              <a:t> </a:t>
            </a:r>
            <a:r>
              <a:rPr lang="fr-FR" sz="1200" i="1"/>
              <a:t>games</a:t>
            </a:r>
            <a:r>
              <a:rPr lang="fr-FR" sz="1200" i="1"/>
              <a:t>: An </a:t>
            </a:r>
            <a:r>
              <a:rPr lang="fr-FR" sz="1200" i="1"/>
              <a:t>experimental</a:t>
            </a:r>
            <a:r>
              <a:rPr lang="fr-FR" sz="1200" i="1"/>
              <a:t> </a:t>
            </a:r>
            <a:r>
              <a:rPr lang="fr-FR" sz="1200" i="1"/>
              <a:t>study</a:t>
            </a:r>
            <a:r>
              <a:rPr lang="fr-FR" sz="1200" i="1"/>
              <a:t>. </a:t>
            </a:r>
            <a:r>
              <a:rPr lang="fr-FR" sz="1200" i="1"/>
              <a:t>Econometrica</a:t>
            </a:r>
            <a:r>
              <a:rPr lang="fr-FR" sz="1200" i="1"/>
              <a:t>, 69 (5), 1193-1235,</a:t>
            </a:r>
            <a:endParaRPr/>
          </a:p>
          <a:p>
            <a:pPr algn="r">
              <a:defRPr/>
            </a:pPr>
            <a:r>
              <a:rPr lang="fr-FR" sz="1200" i="1"/>
              <a:t>Retrieved</a:t>
            </a:r>
            <a:r>
              <a:rPr lang="fr-FR" sz="1200" i="1"/>
              <a:t> </a:t>
            </a:r>
            <a:r>
              <a:rPr lang="fr-FR" sz="1200" i="1"/>
              <a:t>from</a:t>
            </a:r>
            <a:r>
              <a:rPr lang="fr-FR" sz="1200" i="1"/>
              <a:t> https://escholarship.org/uc/item/0fp8278k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25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3125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7721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3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3573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50290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Balafoutas et al., 2021</a:t>
            </a:r>
            <a:endParaRPr/>
          </a:p>
        </p:txBody>
      </p:sp>
      <p:pic>
        <p:nvPicPr>
          <p:cNvPr id="1310531577" name="Image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10243" y="1690688"/>
            <a:ext cx="5907514" cy="1416230"/>
          </a:xfrm>
          <a:prstGeom prst="rect">
            <a:avLst/>
          </a:prstGeom>
        </p:spPr>
      </p:pic>
      <p:sp>
        <p:nvSpPr>
          <p:cNvPr id="1348731385" name="Rectangle 5"/>
          <p:cNvSpPr/>
          <p:nvPr/>
        </p:nvSpPr>
        <p:spPr bwMode="auto">
          <a:xfrm>
            <a:off x="6896100" y="1581150"/>
            <a:ext cx="2038349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Conspiracy</a:t>
            </a:r>
            <a:r>
              <a:rPr lang="fr-FR"/>
              <a:t> </a:t>
            </a:r>
            <a:r>
              <a:rPr lang="fr-FR"/>
              <a:t>Video</a:t>
            </a:r>
            <a:endParaRPr lang="fr-FR"/>
          </a:p>
        </p:txBody>
      </p:sp>
      <p:sp>
        <p:nvSpPr>
          <p:cNvPr id="710824032" name="Rectangle 6"/>
          <p:cNvSpPr/>
          <p:nvPr/>
        </p:nvSpPr>
        <p:spPr bwMode="auto">
          <a:xfrm>
            <a:off x="9412792" y="1581149"/>
            <a:ext cx="2038349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Control </a:t>
            </a:r>
            <a:r>
              <a:rPr lang="fr-FR"/>
              <a:t>Video</a:t>
            </a:r>
            <a:endParaRPr lang="fr-FR"/>
          </a:p>
        </p:txBody>
      </p:sp>
      <p:cxnSp>
        <p:nvCxnSpPr>
          <p:cNvPr id="627277059" name="Connecteur droit avec flèche 9"/>
          <p:cNvCxnSpPr>
            <a:stCxn id="710824032" idx="2"/>
          </p:cNvCxnSpPr>
          <p:nvPr/>
        </p:nvCxnSpPr>
        <p:spPr bwMode="auto">
          <a:xfrm flipH="1">
            <a:off x="9624767" y="2524124"/>
            <a:ext cx="807200" cy="1001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860983" name="Rectangle 12"/>
          <p:cNvSpPr/>
          <p:nvPr/>
        </p:nvSpPr>
        <p:spPr bwMode="auto">
          <a:xfrm>
            <a:off x="8150681" y="3525625"/>
            <a:ext cx="2038349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Strategic Sophistication Game</a:t>
            </a:r>
            <a:endParaRPr/>
          </a:p>
        </p:txBody>
      </p:sp>
      <p:cxnSp>
        <p:nvCxnSpPr>
          <p:cNvPr id="1386780604" name="Connecteur droit avec flèche 8"/>
          <p:cNvCxnSpPr/>
          <p:nvPr/>
        </p:nvCxnSpPr>
        <p:spPr bwMode="auto">
          <a:xfrm>
            <a:off x="7915274" y="2524123"/>
            <a:ext cx="776237" cy="1001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73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4873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82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082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78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8678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6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086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27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2727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31392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Balafoutas et al., 2021</a:t>
            </a:r>
            <a:endParaRPr/>
          </a:p>
        </p:txBody>
      </p:sp>
      <p:sp>
        <p:nvSpPr>
          <p:cNvPr id="1851475936" name="Rectangle 5"/>
          <p:cNvSpPr/>
          <p:nvPr/>
        </p:nvSpPr>
        <p:spPr bwMode="auto">
          <a:xfrm>
            <a:off x="9364122" y="529960"/>
            <a:ext cx="2038349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Conspiracy</a:t>
            </a:r>
            <a:r>
              <a:rPr lang="fr-FR"/>
              <a:t> </a:t>
            </a:r>
            <a:r>
              <a:rPr lang="fr-FR"/>
              <a:t>Video</a:t>
            </a:r>
            <a:endParaRPr lang="fr-FR"/>
          </a:p>
        </p:txBody>
      </p:sp>
      <p:pic>
        <p:nvPicPr>
          <p:cNvPr id="402945890" name="Média en ligne 2" title="Moon Landing"/>
          <p:cNvPicPr>
            <a:picLocks noChangeAspect="1" noRot="1"/>
          </p:cNvPicPr>
          <p:nvPr>
            <a:videoFile r:link="rId5"/>
          </p:nvPr>
        </p:nvPicPr>
        <p:blipFill>
          <a:blip r:embed="rId3"/>
          <a:stretch/>
        </p:blipFill>
        <p:spPr bwMode="auto">
          <a:xfrm>
            <a:off x="3363372" y="1690688"/>
            <a:ext cx="6000750" cy="45005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29458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0294589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2945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029458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294589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147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Balafoutas et al., 2021</a:t>
            </a:r>
            <a:endParaRPr/>
          </a:p>
        </p:txBody>
      </p:sp>
      <p:sp>
        <p:nvSpPr>
          <p:cNvPr id="339986231" name="Rectangle 5"/>
          <p:cNvSpPr/>
          <p:nvPr/>
        </p:nvSpPr>
        <p:spPr bwMode="auto">
          <a:xfrm>
            <a:off x="6896100" y="1581150"/>
            <a:ext cx="2038349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Conspiracy</a:t>
            </a:r>
            <a:r>
              <a:rPr lang="fr-FR"/>
              <a:t> </a:t>
            </a:r>
            <a:r>
              <a:rPr lang="fr-FR"/>
              <a:t>Video</a:t>
            </a:r>
            <a:endParaRPr lang="fr-FR"/>
          </a:p>
        </p:txBody>
      </p:sp>
      <p:sp>
        <p:nvSpPr>
          <p:cNvPr id="532575876" name="Rectangle 6"/>
          <p:cNvSpPr/>
          <p:nvPr/>
        </p:nvSpPr>
        <p:spPr bwMode="auto">
          <a:xfrm>
            <a:off x="9412792" y="1581149"/>
            <a:ext cx="2038349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Control </a:t>
            </a:r>
            <a:r>
              <a:rPr lang="fr-FR"/>
              <a:t>Video</a:t>
            </a:r>
            <a:endParaRPr lang="fr-FR"/>
          </a:p>
        </p:txBody>
      </p:sp>
      <p:cxnSp>
        <p:nvCxnSpPr>
          <p:cNvPr id="500617288" name="Connecteur droit avec flèche 8"/>
          <p:cNvCxnSpPr>
            <a:stCxn id="339986231" idx="2"/>
          </p:cNvCxnSpPr>
          <p:nvPr/>
        </p:nvCxnSpPr>
        <p:spPr bwMode="auto">
          <a:xfrm>
            <a:off x="7915275" y="2524125"/>
            <a:ext cx="776238" cy="1001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5619185" name="Connecteur droit avec flèche 9"/>
          <p:cNvCxnSpPr>
            <a:stCxn id="532575876" idx="2"/>
          </p:cNvCxnSpPr>
          <p:nvPr/>
        </p:nvCxnSpPr>
        <p:spPr bwMode="auto">
          <a:xfrm flipH="1">
            <a:off x="9624767" y="2524124"/>
            <a:ext cx="807200" cy="1001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278732" name="Rectangle 12"/>
          <p:cNvSpPr/>
          <p:nvPr/>
        </p:nvSpPr>
        <p:spPr bwMode="auto">
          <a:xfrm>
            <a:off x="8150681" y="3525625"/>
            <a:ext cx="2038349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Strategic Sophistication Game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7024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Balafoutas et al., 2021</a:t>
            </a:r>
            <a:endParaRPr/>
          </a:p>
        </p:txBody>
      </p:sp>
      <p:sp>
        <p:nvSpPr>
          <p:cNvPr id="1847983465" name="Rectangle 12"/>
          <p:cNvSpPr/>
          <p:nvPr/>
        </p:nvSpPr>
        <p:spPr bwMode="auto">
          <a:xfrm>
            <a:off x="9046227" y="650450"/>
            <a:ext cx="2038349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Strategic Sophistication Game</a:t>
            </a:r>
            <a:endParaRPr/>
          </a:p>
        </p:txBody>
      </p:sp>
      <p:pic>
        <p:nvPicPr>
          <p:cNvPr id="18911146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91171" y="2420937"/>
            <a:ext cx="7143750" cy="2819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91886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Results</a:t>
            </a:r>
            <a:endParaRPr/>
          </a:p>
        </p:txBody>
      </p:sp>
      <p:pic>
        <p:nvPicPr>
          <p:cNvPr id="3012888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08671" y="1984374"/>
            <a:ext cx="5438774" cy="3819524"/>
          </a:xfrm>
          <a:prstGeom prst="rect">
            <a:avLst/>
          </a:prstGeom>
        </p:spPr>
      </p:pic>
      <p:sp>
        <p:nvSpPr>
          <p:cNvPr id="1936224267" name=""/>
          <p:cNvSpPr/>
          <p:nvPr/>
        </p:nvSpPr>
        <p:spPr bwMode="auto">
          <a:xfrm>
            <a:off x="3894353" y="680958"/>
            <a:ext cx="8018095" cy="4880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300" b="0" i="0" u="none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subjects in the primed group exhibit on average higher levels of strategic sophistication than those in the control group (1.72 vs. 1.28,</a:t>
            </a:r>
            <a:r>
              <a:rPr sz="1300" b="0" i="0" u="none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300" b="0" i="1" u="none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p</a:t>
            </a:r>
            <a:r>
              <a:rPr sz="1300" b="0" i="0" u="none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 &lt; 0.05</a:t>
            </a:r>
            <a:r>
              <a:rPr sz="1300" b="0" i="0" u="none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6218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Goal of our research	</a:t>
            </a:r>
            <a:endParaRPr/>
          </a:p>
        </p:txBody>
      </p:sp>
      <p:sp>
        <p:nvSpPr>
          <p:cNvPr id="161432009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Replication in an online sample</a:t>
            </a:r>
            <a:endParaRPr/>
          </a:p>
          <a:p>
            <a:pPr>
              <a:defRPr/>
            </a:pPr>
            <a:r>
              <a:rPr/>
              <a:t>Explanation for the effect :</a:t>
            </a:r>
            <a:endParaRPr/>
          </a:p>
          <a:p>
            <a:pPr lvl="1">
              <a:defRPr/>
            </a:pPr>
            <a:r>
              <a:rPr/>
              <a:t>Conspiracy Mentality ?</a:t>
            </a:r>
            <a:endParaRPr/>
          </a:p>
          <a:p>
            <a:pPr lvl="1">
              <a:defRPr/>
            </a:pPr>
            <a:r>
              <a:rPr/>
              <a:t>Manipulativeness ?</a:t>
            </a:r>
            <a:endParaRPr/>
          </a:p>
          <a:p>
            <a:pPr lvl="1">
              <a:defRPr/>
            </a:pPr>
            <a:endParaRPr/>
          </a:p>
          <a:p>
            <a:pPr lvl="0">
              <a:defRPr/>
            </a:pPr>
            <a:r>
              <a:rPr/>
              <a:t>A correlational and an experimental study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32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50656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Correlational study</a:t>
            </a:r>
            <a:endParaRPr/>
          </a:p>
        </p:txBody>
      </p:sp>
      <p:sp>
        <p:nvSpPr>
          <p:cNvPr id="1190118756" name="Rectangle 5"/>
          <p:cNvSpPr/>
          <p:nvPr/>
        </p:nvSpPr>
        <p:spPr bwMode="auto">
          <a:xfrm>
            <a:off x="6896099" y="1581149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Conspiracy mindset</a:t>
            </a:r>
            <a:endParaRPr lang="fr-FR"/>
          </a:p>
        </p:txBody>
      </p:sp>
      <p:sp>
        <p:nvSpPr>
          <p:cNvPr id="1777982947" name="Rectangle 6"/>
          <p:cNvSpPr/>
          <p:nvPr/>
        </p:nvSpPr>
        <p:spPr bwMode="auto">
          <a:xfrm>
            <a:off x="9412791" y="1581148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800" b="0" i="0" u="none" strike="noStrike" cap="none" spc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Strategic Sophistication Game</a:t>
            </a:r>
            <a:endParaRPr sz="1800"/>
          </a:p>
        </p:txBody>
      </p:sp>
      <p:cxnSp>
        <p:nvCxnSpPr>
          <p:cNvPr id="1268932898" name="Connecteur droit avec flèche 8"/>
          <p:cNvCxnSpPr>
            <a:endCxn id="1274976201" idx="0"/>
          </p:cNvCxnSpPr>
          <p:nvPr/>
        </p:nvCxnSpPr>
        <p:spPr bwMode="auto">
          <a:xfrm rot="5399976" flipH="0" flipV="0">
            <a:off x="7414524" y="3024874"/>
            <a:ext cx="10014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4976201" name="Rectangle 12"/>
          <p:cNvSpPr/>
          <p:nvPr/>
        </p:nvSpPr>
        <p:spPr bwMode="auto">
          <a:xfrm>
            <a:off x="6896099" y="3525624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Strategic Sophistication Game</a:t>
            </a:r>
            <a:endParaRPr/>
          </a:p>
        </p:txBody>
      </p:sp>
      <p:sp>
        <p:nvSpPr>
          <p:cNvPr id="1074532949" name="Rectangle 5"/>
          <p:cNvSpPr/>
          <p:nvPr/>
        </p:nvSpPr>
        <p:spPr bwMode="auto">
          <a:xfrm>
            <a:off x="9412791" y="3525624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Conspiracy mindset</a:t>
            </a:r>
            <a:endParaRPr lang="fr-FR"/>
          </a:p>
        </p:txBody>
      </p:sp>
      <p:cxnSp>
        <p:nvCxnSpPr>
          <p:cNvPr id="1149997456" name="Connecteur droit avec flèche 8"/>
          <p:cNvCxnSpPr/>
          <p:nvPr/>
        </p:nvCxnSpPr>
        <p:spPr bwMode="auto">
          <a:xfrm rot="5399976" flipH="0" flipV="0">
            <a:off x="9931215" y="3024873"/>
            <a:ext cx="10014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46342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996" y="1438670"/>
            <a:ext cx="5549272" cy="49716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9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779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53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7453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99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4999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3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5463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88208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Results</a:t>
            </a:r>
            <a:endParaRPr/>
          </a:p>
        </p:txBody>
      </p:sp>
      <p:sp>
        <p:nvSpPr>
          <p:cNvPr id="1345611488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Contrary to our main hypothesis, we did not find a significant </a:t>
            </a:r>
            <a:r>
              <a:rPr lang="fr-F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correlation between conspiracy mentality and choice at the strategic sophistication </a:t>
            </a:r>
            <a:r>
              <a:rPr lang="fr-F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game (i.e., level of strategic sophistication), r (95) = -0.04 [-0.24, 0.16], p = 0.69. </a:t>
            </a:r>
            <a:endParaRPr lang="fr-FR" sz="2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fr-F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We </a:t>
            </a:r>
            <a:r>
              <a:rPr lang="fr-F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then performed an exploratory test on the influence of the presentation order and </a:t>
            </a:r>
            <a:r>
              <a:rPr lang="fr-F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found no difference for conspiracy mentality (t(92.92) = 1.35, p = 0.18, d = 0.27 </a:t>
            </a:r>
            <a:r>
              <a:rPr lang="fr-F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[-0.13, 0.67]), and choices in the strategic game (t(94.95) = -0.14, p = 0.89, d = -0.03 </a:t>
            </a:r>
            <a:r>
              <a:rPr lang="fr-FR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[-0.43, 0.37]).</a:t>
            </a:r>
            <a:endParaRPr lang="fr-FR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61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97633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Experimental study</a:t>
            </a:r>
            <a:endParaRPr/>
          </a:p>
        </p:txBody>
      </p:sp>
      <p:sp>
        <p:nvSpPr>
          <p:cNvPr id="108440963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683108" name="Rectangle 5"/>
          <p:cNvSpPr/>
          <p:nvPr/>
        </p:nvSpPr>
        <p:spPr bwMode="auto">
          <a:xfrm>
            <a:off x="6896099" y="579648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Conspiracy</a:t>
            </a:r>
            <a:r>
              <a:rPr lang="fr-FR"/>
              <a:t> </a:t>
            </a:r>
            <a:r>
              <a:rPr lang="fr-FR"/>
              <a:t>Video</a:t>
            </a:r>
            <a:endParaRPr lang="fr-FR"/>
          </a:p>
        </p:txBody>
      </p:sp>
      <p:sp>
        <p:nvSpPr>
          <p:cNvPr id="499275603" name="Rectangle 6"/>
          <p:cNvSpPr/>
          <p:nvPr/>
        </p:nvSpPr>
        <p:spPr bwMode="auto">
          <a:xfrm>
            <a:off x="9412791" y="579647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Control </a:t>
            </a:r>
            <a:r>
              <a:rPr lang="fr-FR"/>
              <a:t>Video</a:t>
            </a:r>
            <a:endParaRPr lang="fr-FR"/>
          </a:p>
        </p:txBody>
      </p:sp>
      <p:cxnSp>
        <p:nvCxnSpPr>
          <p:cNvPr id="1961242690" name="Connecteur droit avec flèche 8"/>
          <p:cNvCxnSpPr/>
          <p:nvPr/>
        </p:nvCxnSpPr>
        <p:spPr bwMode="auto">
          <a:xfrm>
            <a:off x="7915275" y="1522623"/>
            <a:ext cx="776237" cy="1001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578710" name="Connecteur droit avec flèche 9"/>
          <p:cNvCxnSpPr/>
          <p:nvPr/>
        </p:nvCxnSpPr>
        <p:spPr bwMode="auto">
          <a:xfrm flipH="1">
            <a:off x="9624766" y="1522622"/>
            <a:ext cx="807199" cy="1001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3681580" name="Rectangle 12"/>
          <p:cNvSpPr/>
          <p:nvPr/>
        </p:nvSpPr>
        <p:spPr bwMode="auto">
          <a:xfrm>
            <a:off x="8150680" y="2524123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Strategic Sophistication Game</a:t>
            </a:r>
            <a:endParaRPr/>
          </a:p>
        </p:txBody>
      </p:sp>
      <p:cxnSp>
        <p:nvCxnSpPr>
          <p:cNvPr id="1818960670" name="Connecteur droit avec flèche 8"/>
          <p:cNvCxnSpPr>
            <a:stCxn id="1333681580" idx="2"/>
          </p:cNvCxnSpPr>
          <p:nvPr/>
        </p:nvCxnSpPr>
        <p:spPr bwMode="auto">
          <a:xfrm rot="5399976" flipH="0" flipV="0">
            <a:off x="8898672" y="3732807"/>
            <a:ext cx="531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3228519" name="Rectangle 5"/>
          <p:cNvSpPr/>
          <p:nvPr/>
        </p:nvSpPr>
        <p:spPr bwMode="auto">
          <a:xfrm>
            <a:off x="8145206" y="4001293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Manipulativeness</a:t>
            </a:r>
            <a:endParaRPr lang="fr-FR"/>
          </a:p>
        </p:txBody>
      </p:sp>
      <p:sp>
        <p:nvSpPr>
          <p:cNvPr id="669211015" name="Rectangle 5"/>
          <p:cNvSpPr/>
          <p:nvPr/>
        </p:nvSpPr>
        <p:spPr bwMode="auto">
          <a:xfrm>
            <a:off x="8145206" y="5648906"/>
            <a:ext cx="2038348" cy="942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Conspiracy mindset</a:t>
            </a:r>
            <a:endParaRPr lang="fr-FR"/>
          </a:p>
        </p:txBody>
      </p:sp>
      <p:cxnSp>
        <p:nvCxnSpPr>
          <p:cNvPr id="2035793885" name="Connecteur droit avec flèche 8"/>
          <p:cNvCxnSpPr>
            <a:endCxn id="669211015" idx="0"/>
          </p:cNvCxnSpPr>
          <p:nvPr/>
        </p:nvCxnSpPr>
        <p:spPr bwMode="auto">
          <a:xfrm rot="5399976" flipH="0" flipV="0">
            <a:off x="8789022" y="5272179"/>
            <a:ext cx="7534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1894282" name=""/>
          <p:cNvPicPr>
            <a:picLocks noChangeAspect="1"/>
          </p:cNvPicPr>
          <p:nvPr/>
        </p:nvPicPr>
        <p:blipFill>
          <a:blip r:embed="rId3"/>
          <a:srcRect l="0" t="7231" r="0" b="0"/>
          <a:stretch/>
        </p:blipFill>
        <p:spPr bwMode="auto">
          <a:xfrm flipH="0" flipV="0">
            <a:off x="1454083" y="1825624"/>
            <a:ext cx="3227453" cy="47191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89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92857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Results</a:t>
            </a:r>
            <a:endParaRPr/>
          </a:p>
        </p:txBody>
      </p:sp>
      <p:sp>
        <p:nvSpPr>
          <p:cNvPr id="928065684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617787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53359" y="192484"/>
            <a:ext cx="7400925" cy="2733674"/>
          </a:xfrm>
          <a:prstGeom prst="rect">
            <a:avLst/>
          </a:prstGeom>
        </p:spPr>
      </p:pic>
      <p:pic>
        <p:nvPicPr>
          <p:cNvPr id="121409858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299765" y="3651249"/>
            <a:ext cx="9089839" cy="2311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09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81132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Discussion</a:t>
            </a:r>
            <a:endParaRPr/>
          </a:p>
        </p:txBody>
      </p:sp>
      <p:sp>
        <p:nvSpPr>
          <p:cNvPr id="1313349077" name="Espace réservé du contenu 2"/>
          <p:cNvSpPr>
            <a:spLocks noGrp="1"/>
          </p:cNvSpPr>
          <p:nvPr>
            <p:ph idx="1"/>
          </p:nvPr>
        </p:nvSpPr>
        <p:spPr bwMode="auto">
          <a:xfrm flipH="0" flipV="0">
            <a:off x="776748" y="1518366"/>
            <a:ext cx="10515600" cy="4941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We have not replicated the effect of conspiracy -&gt;strategic thinking</a:t>
            </a:r>
            <a:endParaRPr/>
          </a:p>
        </p:txBody>
      </p:sp>
      <p:sp>
        <p:nvSpPr>
          <p:cNvPr id="295172264" name=""/>
          <p:cNvSpPr txBox="1"/>
          <p:nvPr/>
        </p:nvSpPr>
        <p:spPr bwMode="auto">
          <a:xfrm rot="0" flipH="0" flipV="0">
            <a:off x="776748" y="2795187"/>
            <a:ext cx="10864452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28600" marR="0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We have no evidence for a link with conspiracy mindset or manipulativeness</a:t>
            </a:r>
            <a:endParaRPr lang="fr-FR" sz="25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</p:txBody>
      </p:sp>
      <p:sp>
        <p:nvSpPr>
          <p:cNvPr id="341712882" name="Espace réservé du contenu 2"/>
          <p:cNvSpPr>
            <a:spLocks noGrp="1"/>
          </p:cNvSpPr>
          <p:nvPr/>
        </p:nvSpPr>
        <p:spPr bwMode="auto">
          <a:xfrm flipH="0" flipV="0">
            <a:off x="776748" y="2012540"/>
            <a:ext cx="10515600" cy="99772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We have found a difference in the control group but treatment groups seem</a:t>
            </a:r>
            <a:r>
              <a:rPr/>
              <a:t> </a:t>
            </a: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similar</a:t>
            </a:r>
            <a:endParaRPr/>
          </a:p>
        </p:txBody>
      </p:sp>
      <p:sp>
        <p:nvSpPr>
          <p:cNvPr id="1797276208" name=""/>
          <p:cNvSpPr txBox="1"/>
          <p:nvPr/>
        </p:nvSpPr>
        <p:spPr bwMode="auto">
          <a:xfrm rot="0" flipH="0" flipV="0">
            <a:off x="838199" y="3622572"/>
            <a:ext cx="5763029" cy="1224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28600" marR="0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Key differences :</a:t>
            </a:r>
            <a:endParaRPr lang="fr-FR" sz="25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628649" marR="0" lvl="2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Online experiment versus lab. Experiment : </a:t>
            </a:r>
            <a:endParaRPr/>
          </a:p>
        </p:txBody>
      </p:sp>
      <p:sp>
        <p:nvSpPr>
          <p:cNvPr id="568183918" name=""/>
          <p:cNvSpPr txBox="1"/>
          <p:nvPr/>
        </p:nvSpPr>
        <p:spPr bwMode="auto">
          <a:xfrm rot="0" flipH="0" flipV="0">
            <a:off x="838919" y="4847212"/>
            <a:ext cx="5762309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28649" marR="0" lvl="1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Langage/culture (original : German ; replication : UK)</a:t>
            </a:r>
            <a:endParaRPr/>
          </a:p>
        </p:txBody>
      </p:sp>
      <p:sp>
        <p:nvSpPr>
          <p:cNvPr id="78610566" name=""/>
          <p:cNvSpPr txBox="1"/>
          <p:nvPr/>
        </p:nvSpPr>
        <p:spPr bwMode="auto">
          <a:xfrm rot="0" flipH="0" flipV="0">
            <a:off x="776748" y="5609572"/>
            <a:ext cx="5762309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28649" marR="0" lvl="1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Incentives (Higher in the original than in the replication)</a:t>
            </a:r>
            <a:endParaRPr/>
          </a:p>
        </p:txBody>
      </p:sp>
      <p:sp>
        <p:nvSpPr>
          <p:cNvPr id="2141228700" name=""/>
          <p:cNvSpPr txBox="1"/>
          <p:nvPr/>
        </p:nvSpPr>
        <p:spPr bwMode="auto">
          <a:xfrm rot="0" flipH="0" flipV="0">
            <a:off x="6539058" y="4049652"/>
            <a:ext cx="5393287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28649" marR="0" lvl="1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Lack of understanding in filtering/recoding</a:t>
            </a:r>
            <a:endParaRPr lang="fr-FR" sz="25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</p:txBody>
      </p:sp>
      <p:sp>
        <p:nvSpPr>
          <p:cNvPr id="1075040763" name=""/>
          <p:cNvSpPr txBox="1"/>
          <p:nvPr/>
        </p:nvSpPr>
        <p:spPr bwMode="auto">
          <a:xfrm rot="0" flipH="0" flipV="0">
            <a:off x="6424937" y="5027663"/>
            <a:ext cx="5621527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28649" marR="0" lvl="1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5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Problem with the money-request game (sensitive to risk-aversion)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34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71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17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27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18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818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1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2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04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DocSecurity>0</DocSecurity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adrien fillon</dc:creator>
  <cp:keywords/>
  <dc:description/>
  <dc:identifier/>
  <dc:language/>
  <cp:lastModifiedBy>Adrien.FILLON</cp:lastModifiedBy>
  <cp:revision>7</cp:revision>
  <dcterms:created xsi:type="dcterms:W3CDTF">2025-06-19T14:33:39Z</dcterms:created>
  <dcterms:modified xsi:type="dcterms:W3CDTF">2025-09-10T14:59:47Z</dcterms:modified>
  <cp:category/>
  <cp:contentStatus/>
  <cp:version/>
</cp:coreProperties>
</file>
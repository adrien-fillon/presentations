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1" d="100"/>
          <a:sy n="61" d="100"/>
        </p:scale>
        <p:origin x="84" y="354"/>
      </p:cViewPr>
      <p:guideLst>
        <p:guide pos="3840"/>
        <p:guide orient="horz"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741356506"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613908776"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240B4E62-AE22-4600-9CDA-EB41DF2FDCF0}" type="datetimeFigureOut">
              <a:rPr lang="fr-FR"/>
              <a:t>18/06/2026</a:t>
            </a:fld>
            <a:endParaRPr lang="fr-FR"/>
          </a:p>
        </p:txBody>
      </p:sp>
      <p:sp>
        <p:nvSpPr>
          <p:cNvPr id="91144767" name="Espace réservé de l'image des diapositives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2029865817"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862167455"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1409344132"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AACE75F3-9E67-4666-9131-D2928E800B5E}" type="slidenum">
              <a:rP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7A4261D-35C9-5F34-A3CE-7F74014A56D7}"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903DD6-0226-9131-D79C-7B8046CF6EAD}"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36705185" name="Espace réservé de l'image des diapositives 1"/>
          <p:cNvSpPr>
            <a:spLocks noGrp="1" noRot="1" noChangeAspect="1"/>
          </p:cNvSpPr>
          <p:nvPr>
            <p:ph type="sldImg"/>
          </p:nvPr>
        </p:nvSpPr>
        <p:spPr bwMode="auto"/>
      </p:sp>
      <p:sp>
        <p:nvSpPr>
          <p:cNvPr id="153237056" name="Espace réservé des notes 2"/>
          <p:cNvSpPr>
            <a:spLocks noGrp="1"/>
          </p:cNvSpPr>
          <p:nvPr>
            <p:ph type="body" idx="1"/>
          </p:nvPr>
        </p:nvSpPr>
        <p:spPr bwMode="auto"/>
        <p:txBody>
          <a:bodyPr/>
          <a:lstStyle/>
          <a:p>
            <a:pPr>
              <a:defRPr/>
            </a:pPr>
            <a:r>
              <a:rPr lang="en-US">
                <a:ea typeface="Calibri"/>
                <a:cs typeface="Calibri"/>
              </a:rPr>
              <a:t>John bull : oncle sam ou marianne</a:t>
            </a:r>
            <a:endParaRPr/>
          </a:p>
        </p:txBody>
      </p:sp>
      <p:sp>
        <p:nvSpPr>
          <p:cNvPr id="2138772514" name="Espace réservé du numéro de diapositive 3"/>
          <p:cNvSpPr>
            <a:spLocks noGrp="1"/>
          </p:cNvSpPr>
          <p:nvPr>
            <p:ph type="sldNum" sz="quarter" idx="5"/>
          </p:nvPr>
        </p:nvSpPr>
        <p:spPr bwMode="auto"/>
        <p:txBody>
          <a:bodyPr/>
          <a:lstStyle/>
          <a:p>
            <a:pPr>
              <a:defRPr/>
            </a:pPr>
            <a:fld id="{AACE75F3-9E67-4666-9131-D2928E800B5E}" type="slidenum">
              <a:rPr/>
              <a:t>3</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37309096" name="Espace réservé de l'image des diapositives 1"/>
          <p:cNvSpPr>
            <a:spLocks noGrp="1" noRot="1" noChangeAspect="1"/>
          </p:cNvSpPr>
          <p:nvPr>
            <p:ph type="sldImg"/>
          </p:nvPr>
        </p:nvSpPr>
        <p:spPr bwMode="auto"/>
      </p:sp>
      <p:sp>
        <p:nvSpPr>
          <p:cNvPr id="949205982" name="Espace réservé des notes 2"/>
          <p:cNvSpPr>
            <a:spLocks noGrp="1"/>
          </p:cNvSpPr>
          <p:nvPr>
            <p:ph type="body" idx="1"/>
          </p:nvPr>
        </p:nvSpPr>
        <p:spPr bwMode="auto"/>
        <p:txBody>
          <a:bodyPr/>
          <a:lstStyle/>
          <a:p>
            <a:pPr>
              <a:lnSpc>
                <a:spcPct val="90000"/>
              </a:lnSpc>
              <a:spcBef>
                <a:spcPts val="1000"/>
              </a:spcBef>
              <a:defRPr/>
            </a:pPr>
            <a:r>
              <a:rPr lang="fr-FR" sz="1200" b="0" i="0" u="none" strike="noStrike" cap="none" spc="0">
                <a:solidFill>
                  <a:srgbClr val="000000"/>
                </a:solidFill>
                <a:latin typeface="Aptos"/>
                <a:ea typeface="Aptos"/>
                <a:cs typeface="Aptos"/>
              </a:rPr>
              <a:t>L’objectif de la </a:t>
            </a:r>
            <a:r>
              <a:rPr lang="fr-FR" sz="1200" b="0" i="0" u="none" strike="noStrike" cap="none" spc="0">
                <a:solidFill>
                  <a:srgbClr val="000000"/>
                </a:solidFill>
                <a:latin typeface="+mn-lt"/>
                <a:ea typeface="Aptos"/>
                <a:cs typeface="Aptos"/>
              </a:rPr>
              <a:t>première quantification de la chance d'obtenir un effet </a:t>
            </a:r>
            <a:r>
              <a:rPr lang="fr-FR" sz="1200" b="0" i="0" u="none" strike="noStrike" cap="none" spc="0">
                <a:solidFill>
                  <a:srgbClr val="000000"/>
                </a:solidFill>
                <a:latin typeface="Aptos"/>
                <a:ea typeface="Aptos"/>
                <a:cs typeface="Aptos"/>
              </a:rPr>
              <a:t>était pour démontrer le travail de la « Divine Providence » dans la distribution des sexes et dire que la polygamie c'est pas bien.</a:t>
            </a:r>
            <a:endParaRPr lang="fr-FR">
              <a:ea typeface="Calibri"/>
              <a:cs typeface="Calibri"/>
            </a:endParaRPr>
          </a:p>
          <a:p>
            <a:pPr>
              <a:defRPr/>
            </a:pPr>
            <a:endParaRPr lang="en-US">
              <a:ea typeface="Calibri"/>
              <a:cs typeface="Calibri"/>
            </a:endParaRPr>
          </a:p>
        </p:txBody>
      </p:sp>
      <p:sp>
        <p:nvSpPr>
          <p:cNvPr id="20519857" name="Espace réservé du numéro de diapositive 3"/>
          <p:cNvSpPr>
            <a:spLocks noGrp="1"/>
          </p:cNvSpPr>
          <p:nvPr>
            <p:ph type="sldNum" sz="quarter" idx="5"/>
          </p:nvPr>
        </p:nvSpPr>
        <p:spPr bwMode="auto"/>
        <p:txBody>
          <a:bodyPr/>
          <a:lstStyle/>
          <a:p>
            <a:pPr>
              <a:defRPr/>
            </a:pPr>
            <a:fld id="{AACE75F3-9E67-4666-9131-D2928E800B5E}" type="slidenum">
              <a:rPr/>
              <a:t>4</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2BDE9B5-1B89-A5DC-85BF-A521ADEC218D}"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18D079F-9FD3-4A4C-126E-C951C56A156C}"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DA95273-865E-92A2-173F-20A83A738430}"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EDCA50-8757-1136-8C51-FA512862DD4A}"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50907B3-C65D-BA04-8328-976DB8F1FE47}"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40006A-E3FD-5D11-4BE2-28862523DD29}"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844129E-A4AA-75C0-CE09-DD057546D93F}"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2B1334-FFD7-68A9-49E7-FEA523346ACF}"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7B992A5-1F8D-F308-5AE4-58DE2033C2B9}"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80E589-55BC-6DDC-80D3-6FA02D15244F}"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24323372" name="Espace réservé de l'image des diapositives 1"/>
          <p:cNvSpPr>
            <a:spLocks noGrp="1" noRot="1" noChangeAspect="1"/>
          </p:cNvSpPr>
          <p:nvPr>
            <p:ph type="sldImg"/>
          </p:nvPr>
        </p:nvSpPr>
        <p:spPr bwMode="auto"/>
      </p:sp>
      <p:sp>
        <p:nvSpPr>
          <p:cNvPr id="1102962431" name="Espace réservé des notes 2"/>
          <p:cNvSpPr>
            <a:spLocks noGrp="1"/>
          </p:cNvSpPr>
          <p:nvPr>
            <p:ph type="body" idx="1"/>
          </p:nvPr>
        </p:nvSpPr>
        <p:spPr bwMode="auto"/>
        <p:txBody>
          <a:bodyPr/>
          <a:lstStyle/>
          <a:p>
            <a:pPr>
              <a:defRPr/>
            </a:pPr>
            <a:r>
              <a:rPr lang="en-US">
                <a:ea typeface="Calibri"/>
                <a:cs typeface="Calibri"/>
              </a:rPr>
              <a:t>Bonne ambiance.</a:t>
            </a:r>
            <a:endParaRPr/>
          </a:p>
        </p:txBody>
      </p:sp>
      <p:sp>
        <p:nvSpPr>
          <p:cNvPr id="226196469" name="Espace réservé du numéro de diapositive 3"/>
          <p:cNvSpPr>
            <a:spLocks noGrp="1"/>
          </p:cNvSpPr>
          <p:nvPr>
            <p:ph type="sldNum" sz="quarter" idx="5"/>
          </p:nvPr>
        </p:nvSpPr>
        <p:spPr bwMode="auto"/>
        <p:txBody>
          <a:bodyPr/>
          <a:lstStyle/>
          <a:p>
            <a:pPr>
              <a:defRPr/>
            </a:pPr>
            <a:fld id="{AACE75F3-9E67-4666-9131-D2928E800B5E}" type="slidenum">
              <a:rPr lang="fr-FR"/>
              <a:t>15</a:t>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11B81E3-9210-73D9-C774-9E09454402A5}"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6AE5F0A-61EA-AF65-20C3-C0F360A316D1}"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5335892-8C2B-E0B9-0F28-EDCE42C4690A}"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764C988-52B3-8A17-96AA-B2F7FBEA9787}"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EC4D03C-A6F1-4931-BF40-B41249F20D7C}"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8CC1D8-7C8D-C993-B076-D6764BED6C8E}"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ADB37A0-865B-E057-1046-73EF1D337D91}"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8452301" name="Espace réservé de l'image des diapositives 1"/>
          <p:cNvSpPr>
            <a:spLocks noGrp="1" noRot="1" noChangeAspect="1"/>
          </p:cNvSpPr>
          <p:nvPr>
            <p:ph type="sldImg"/>
          </p:nvPr>
        </p:nvSpPr>
        <p:spPr bwMode="auto"/>
      </p:sp>
      <p:sp>
        <p:nvSpPr>
          <p:cNvPr id="1211010162" name="Espace réservé des notes 2"/>
          <p:cNvSpPr>
            <a:spLocks noGrp="1"/>
          </p:cNvSpPr>
          <p:nvPr>
            <p:ph type="body" idx="1"/>
          </p:nvPr>
        </p:nvSpPr>
        <p:spPr bwMode="auto"/>
        <p:txBody>
          <a:bodyPr/>
          <a:lstStyle/>
          <a:p>
            <a:pPr>
              <a:defRPr/>
            </a:pPr>
            <a:r>
              <a:rPr lang="en-US">
                <a:ea typeface="Calibri"/>
                <a:cs typeface="Calibri"/>
              </a:rPr>
              <a:t>La page wikipedia de De Finetti indique qu'il est surtout connu pour avoir étw admiré par Jimmie Savage ce qui n'est pas le meilleur des hommages.</a:t>
            </a:r>
            <a:endParaRPr/>
          </a:p>
          <a:p>
            <a:pPr>
              <a:defRPr/>
            </a:pPr>
            <a:r>
              <a:rPr lang="en-US">
                <a:ea typeface="Calibri"/>
                <a:cs typeface="Calibri"/>
              </a:rPr>
              <a:t>Jeffrey est connu pour avoir dérivé une fonction de vague de l'équation de schrodinger appelé la'approximation wkbj  </a:t>
            </a:r>
            <a:endParaRPr/>
          </a:p>
        </p:txBody>
      </p:sp>
      <p:sp>
        <p:nvSpPr>
          <p:cNvPr id="1033106299" name="Espace réservé du numéro de diapositive 3"/>
          <p:cNvSpPr>
            <a:spLocks noGrp="1"/>
          </p:cNvSpPr>
          <p:nvPr>
            <p:ph type="sldNum" sz="quarter" idx="5"/>
          </p:nvPr>
        </p:nvSpPr>
        <p:spPr bwMode="auto"/>
        <p:txBody>
          <a:bodyPr/>
          <a:lstStyle/>
          <a:p>
            <a:pPr>
              <a:defRPr/>
            </a:pPr>
            <a:fld id="{AACE75F3-9E67-4666-9131-D2928E800B5E}" type="slidenum">
              <a:rPr lang="fr-FR"/>
              <a:t>23</a:t>
            </a:fld>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B652EE8-FF28-CAD7-29E5-9119B17125B0}"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2CBB20D-1705-D8DE-E466-6980B1096DDF}"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B8AE6A-7000-5E92-199B-08B496D79BC6}" type="slidenum">
              <a:rPr/>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Diapositive de titre">
    <p:spTree>
      <p:nvGrpSpPr>
        <p:cNvPr id="1" name=""/>
        <p:cNvGrpSpPr/>
        <p:nvPr/>
      </p:nvGrpSpPr>
      <p:grpSpPr bwMode="auto">
        <a:xfrm>
          <a:off x="0" y="0"/>
          <a:ext cx="0" cy="0"/>
          <a:chOff x="0" y="0"/>
          <a:chExt cx="0" cy="0"/>
        </a:xfrm>
      </p:grpSpPr>
      <p:sp>
        <p:nvSpPr>
          <p:cNvPr id="1141102780" name="Titre 1"/>
          <p:cNvSpPr>
            <a:spLocks noGrp="1"/>
          </p:cNvSpPr>
          <p:nvPr>
            <p:ph type="ctrTitle"/>
          </p:nvPr>
        </p:nvSpPr>
        <p:spPr bwMode="auto">
          <a:xfrm>
            <a:off x="1524000" y="1122363"/>
            <a:ext cx="9144000" cy="2387600"/>
          </a:xfrm>
        </p:spPr>
        <p:txBody>
          <a:bodyPr anchor="b"/>
          <a:lstStyle>
            <a:lvl1pPr algn="ctr">
              <a:defRPr sz="6000"/>
            </a:lvl1pPr>
          </a:lstStyle>
          <a:p>
            <a:pPr>
              <a:defRPr/>
            </a:pPr>
            <a:r>
              <a:rPr lang="fr-FR"/>
              <a:t>Modifiez le style du titre</a:t>
            </a:r>
            <a:endParaRPr/>
          </a:p>
        </p:txBody>
      </p:sp>
      <p:sp>
        <p:nvSpPr>
          <p:cNvPr id="1520219511" name="Sous-titr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2046163271" name="Espace réservé de la date 3"/>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2024978501" name="Espace réservé du pied de page 4"/>
          <p:cNvSpPr>
            <a:spLocks noGrp="1"/>
          </p:cNvSpPr>
          <p:nvPr>
            <p:ph type="ftr" sz="quarter" idx="11"/>
          </p:nvPr>
        </p:nvSpPr>
        <p:spPr bwMode="auto"/>
        <p:txBody>
          <a:bodyPr/>
          <a:lstStyle/>
          <a:p>
            <a:pPr>
              <a:defRPr/>
            </a:pPr>
            <a:endParaRPr lang="fr-FR"/>
          </a:p>
        </p:txBody>
      </p:sp>
      <p:sp>
        <p:nvSpPr>
          <p:cNvPr id="1556480406"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re et contenu">
    <p:spTree>
      <p:nvGrpSpPr>
        <p:cNvPr id="1" name=""/>
        <p:cNvGrpSpPr/>
        <p:nvPr/>
      </p:nvGrpSpPr>
      <p:grpSpPr bwMode="auto">
        <a:xfrm>
          <a:off x="0" y="0"/>
          <a:ext cx="0" cy="0"/>
          <a:chOff x="0" y="0"/>
          <a:chExt cx="0" cy="0"/>
        </a:xfrm>
      </p:grpSpPr>
      <p:sp>
        <p:nvSpPr>
          <p:cNvPr id="319681110" name="Titre 1"/>
          <p:cNvSpPr>
            <a:spLocks noGrp="1"/>
          </p:cNvSpPr>
          <p:nvPr>
            <p:ph type="title"/>
          </p:nvPr>
        </p:nvSpPr>
        <p:spPr bwMode="auto"/>
        <p:txBody>
          <a:bodyPr/>
          <a:lstStyle/>
          <a:p>
            <a:pPr>
              <a:defRPr/>
            </a:pPr>
            <a:r>
              <a:rPr lang="fr-FR"/>
              <a:t>Modifiez le style du titre</a:t>
            </a:r>
            <a:endParaRPr/>
          </a:p>
        </p:txBody>
      </p:sp>
      <p:sp>
        <p:nvSpPr>
          <p:cNvPr id="260846737"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760010895" name="Espace réservé de la date 3"/>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1100879751" name="Espace réservé du pied de page 4"/>
          <p:cNvSpPr>
            <a:spLocks noGrp="1"/>
          </p:cNvSpPr>
          <p:nvPr>
            <p:ph type="ftr" sz="quarter" idx="11"/>
          </p:nvPr>
        </p:nvSpPr>
        <p:spPr bwMode="auto"/>
        <p:txBody>
          <a:bodyPr/>
          <a:lstStyle/>
          <a:p>
            <a:pPr>
              <a:defRPr/>
            </a:pPr>
            <a:endParaRPr lang="fr-FR"/>
          </a:p>
        </p:txBody>
      </p:sp>
      <p:sp>
        <p:nvSpPr>
          <p:cNvPr id="704416484"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Titre de section">
    <p:spTree>
      <p:nvGrpSpPr>
        <p:cNvPr id="1" name=""/>
        <p:cNvGrpSpPr/>
        <p:nvPr/>
      </p:nvGrpSpPr>
      <p:grpSpPr bwMode="auto">
        <a:xfrm>
          <a:off x="0" y="0"/>
          <a:ext cx="0" cy="0"/>
          <a:chOff x="0" y="0"/>
          <a:chExt cx="0" cy="0"/>
        </a:xfrm>
      </p:grpSpPr>
      <p:sp>
        <p:nvSpPr>
          <p:cNvPr id="370508596" name="Titre 1"/>
          <p:cNvSpPr>
            <a:spLocks noGrp="1"/>
          </p:cNvSpPr>
          <p:nvPr>
            <p:ph type="title"/>
          </p:nvPr>
        </p:nvSpPr>
        <p:spPr bwMode="auto">
          <a:xfrm>
            <a:off x="831850" y="1709738"/>
            <a:ext cx="10515600" cy="2852737"/>
          </a:xfrm>
        </p:spPr>
        <p:txBody>
          <a:bodyPr anchor="b"/>
          <a:lstStyle>
            <a:lvl1pPr>
              <a:defRPr sz="6000"/>
            </a:lvl1pPr>
          </a:lstStyle>
          <a:p>
            <a:pPr>
              <a:defRPr/>
            </a:pPr>
            <a:r>
              <a:rPr lang="fr-FR"/>
              <a:t>Modifiez le style du titre</a:t>
            </a:r>
            <a:endParaRPr/>
          </a:p>
        </p:txBody>
      </p:sp>
      <p:sp>
        <p:nvSpPr>
          <p:cNvPr id="897929318" name="Espace réservé du texte 2"/>
          <p:cNvSpPr>
            <a:spLocks noGrp="1"/>
          </p:cNvSpPr>
          <p:nvPr>
            <p:ph type="body" idx="1"/>
          </p:nvPr>
        </p:nvSpPr>
        <p:spPr bwMode="auto">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fr-FR"/>
              <a:t>Modifiez les styles du texte du masque</a:t>
            </a:r>
            <a:endParaRPr/>
          </a:p>
        </p:txBody>
      </p:sp>
      <p:sp>
        <p:nvSpPr>
          <p:cNvPr id="62642233" name="Espace réservé de la date 3"/>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502224218" name="Espace réservé du pied de page 4"/>
          <p:cNvSpPr>
            <a:spLocks noGrp="1"/>
          </p:cNvSpPr>
          <p:nvPr>
            <p:ph type="ftr" sz="quarter" idx="11"/>
          </p:nvPr>
        </p:nvSpPr>
        <p:spPr bwMode="auto"/>
        <p:txBody>
          <a:bodyPr/>
          <a:lstStyle/>
          <a:p>
            <a:pPr>
              <a:defRPr/>
            </a:pPr>
            <a:endParaRPr lang="fr-FR"/>
          </a:p>
        </p:txBody>
      </p:sp>
      <p:sp>
        <p:nvSpPr>
          <p:cNvPr id="1322389167"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1230679803" name="Titre 1"/>
          <p:cNvSpPr>
            <a:spLocks noGrp="1"/>
          </p:cNvSpPr>
          <p:nvPr>
            <p:ph type="title"/>
          </p:nvPr>
        </p:nvSpPr>
        <p:spPr bwMode="auto"/>
        <p:txBody>
          <a:bodyPr/>
          <a:lstStyle/>
          <a:p>
            <a:pPr>
              <a:defRPr/>
            </a:pPr>
            <a:r>
              <a:rPr lang="fr-FR"/>
              <a:t>Modifiez le style du titre</a:t>
            </a:r>
            <a:endParaRPr/>
          </a:p>
        </p:txBody>
      </p:sp>
      <p:sp>
        <p:nvSpPr>
          <p:cNvPr id="1513377055" name="Espace réservé du contenu 2"/>
          <p:cNvSpPr>
            <a:spLocks noGrp="1"/>
          </p:cNvSpPr>
          <p:nvPr>
            <p:ph sz="half" idx="1"/>
          </p:nvPr>
        </p:nvSpPr>
        <p:spPr bwMode="auto">
          <a:xfrm>
            <a:off x="838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446131842" name="Espace réservé du contenu 3"/>
          <p:cNvSpPr>
            <a:spLocks noGrp="1"/>
          </p:cNvSpPr>
          <p:nvPr>
            <p:ph sz="half" idx="2"/>
          </p:nvPr>
        </p:nvSpPr>
        <p:spPr bwMode="auto">
          <a:xfrm>
            <a:off x="6172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93041964" name="Espace réservé de la date 4"/>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1038274324" name="Espace réservé du pied de page 5"/>
          <p:cNvSpPr>
            <a:spLocks noGrp="1"/>
          </p:cNvSpPr>
          <p:nvPr>
            <p:ph type="ftr" sz="quarter" idx="11"/>
          </p:nvPr>
        </p:nvSpPr>
        <p:spPr bwMode="auto"/>
        <p:txBody>
          <a:bodyPr/>
          <a:lstStyle/>
          <a:p>
            <a:pPr>
              <a:defRPr/>
            </a:pPr>
            <a:endParaRPr lang="fr-FR"/>
          </a:p>
        </p:txBody>
      </p:sp>
      <p:sp>
        <p:nvSpPr>
          <p:cNvPr id="1223413783" name="Espace réservé du numéro de diapositive 6"/>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763381782" name="Titre 1"/>
          <p:cNvSpPr>
            <a:spLocks noGrp="1"/>
          </p:cNvSpPr>
          <p:nvPr>
            <p:ph type="title"/>
          </p:nvPr>
        </p:nvSpPr>
        <p:spPr bwMode="auto">
          <a:xfrm>
            <a:off x="839788" y="365125"/>
            <a:ext cx="10515600" cy="1325563"/>
          </a:xfrm>
        </p:spPr>
        <p:txBody>
          <a:bodyPr/>
          <a:lstStyle/>
          <a:p>
            <a:pPr>
              <a:defRPr/>
            </a:pPr>
            <a:r>
              <a:rPr lang="fr-FR"/>
              <a:t>Modifiez le style du titre</a:t>
            </a:r>
            <a:endParaRPr/>
          </a:p>
        </p:txBody>
      </p:sp>
      <p:sp>
        <p:nvSpPr>
          <p:cNvPr id="152219278"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089806856" name="Espace réservé du contenu 3"/>
          <p:cNvSpPr>
            <a:spLocks noGrp="1"/>
          </p:cNvSpPr>
          <p:nvPr>
            <p:ph sz="half" idx="2"/>
          </p:nvPr>
        </p:nvSpPr>
        <p:spPr bwMode="auto">
          <a:xfrm>
            <a:off x="839788" y="2505074"/>
            <a:ext cx="5157787"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42257149"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631415288" name="Espace réservé du contenu 5"/>
          <p:cNvSpPr>
            <a:spLocks noGrp="1"/>
          </p:cNvSpPr>
          <p:nvPr>
            <p:ph sz="quarter" idx="4"/>
          </p:nvPr>
        </p:nvSpPr>
        <p:spPr bwMode="auto">
          <a:xfrm>
            <a:off x="6172200" y="2505074"/>
            <a:ext cx="5183188"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925476094" name="Espace réservé de la date 6"/>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1471910162" name="Espace réservé du pied de page 7"/>
          <p:cNvSpPr>
            <a:spLocks noGrp="1"/>
          </p:cNvSpPr>
          <p:nvPr>
            <p:ph type="ftr" sz="quarter" idx="11"/>
          </p:nvPr>
        </p:nvSpPr>
        <p:spPr bwMode="auto"/>
        <p:txBody>
          <a:bodyPr/>
          <a:lstStyle/>
          <a:p>
            <a:pPr>
              <a:defRPr/>
            </a:pPr>
            <a:endParaRPr lang="fr-FR"/>
          </a:p>
        </p:txBody>
      </p:sp>
      <p:sp>
        <p:nvSpPr>
          <p:cNvPr id="1818138208" name="Espace réservé du numéro de diapositive 8"/>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1708280356" name="Titre 1"/>
          <p:cNvSpPr>
            <a:spLocks noGrp="1"/>
          </p:cNvSpPr>
          <p:nvPr>
            <p:ph type="title"/>
          </p:nvPr>
        </p:nvSpPr>
        <p:spPr bwMode="auto"/>
        <p:txBody>
          <a:bodyPr/>
          <a:lstStyle/>
          <a:p>
            <a:pPr>
              <a:defRPr/>
            </a:pPr>
            <a:r>
              <a:rPr lang="fr-FR"/>
              <a:t>Modifiez le style du titre</a:t>
            </a:r>
            <a:endParaRPr/>
          </a:p>
        </p:txBody>
      </p:sp>
      <p:sp>
        <p:nvSpPr>
          <p:cNvPr id="760247961" name="Espace réservé de la date 2"/>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2050030010" name="Espace réservé du pied de page 3"/>
          <p:cNvSpPr>
            <a:spLocks noGrp="1"/>
          </p:cNvSpPr>
          <p:nvPr>
            <p:ph type="ftr" sz="quarter" idx="11"/>
          </p:nvPr>
        </p:nvSpPr>
        <p:spPr bwMode="auto"/>
        <p:txBody>
          <a:bodyPr/>
          <a:lstStyle/>
          <a:p>
            <a:pPr>
              <a:defRPr/>
            </a:pPr>
            <a:endParaRPr lang="fr-FR"/>
          </a:p>
        </p:txBody>
      </p:sp>
      <p:sp>
        <p:nvSpPr>
          <p:cNvPr id="1829276199" name="Espace réservé du numéro de diapositive 4"/>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Vide">
    <p:spTree>
      <p:nvGrpSpPr>
        <p:cNvPr id="1" name=""/>
        <p:cNvGrpSpPr/>
        <p:nvPr/>
      </p:nvGrpSpPr>
      <p:grpSpPr bwMode="auto">
        <a:xfrm>
          <a:off x="0" y="0"/>
          <a:ext cx="0" cy="0"/>
          <a:chOff x="0" y="0"/>
          <a:chExt cx="0" cy="0"/>
        </a:xfrm>
      </p:grpSpPr>
      <p:sp>
        <p:nvSpPr>
          <p:cNvPr id="397507487" name="Espace réservé de la date 1"/>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1058365215" name="Espace réservé du pied de page 2"/>
          <p:cNvSpPr>
            <a:spLocks noGrp="1"/>
          </p:cNvSpPr>
          <p:nvPr>
            <p:ph type="ftr" sz="quarter" idx="11"/>
          </p:nvPr>
        </p:nvSpPr>
        <p:spPr bwMode="auto"/>
        <p:txBody>
          <a:bodyPr/>
          <a:lstStyle/>
          <a:p>
            <a:pPr>
              <a:defRPr/>
            </a:pPr>
            <a:endParaRPr lang="fr-FR"/>
          </a:p>
        </p:txBody>
      </p:sp>
      <p:sp>
        <p:nvSpPr>
          <p:cNvPr id="2137798242" name="Espace réservé du numéro de diapositive 3"/>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u avec légende">
    <p:spTree>
      <p:nvGrpSpPr>
        <p:cNvPr id="1" name=""/>
        <p:cNvGrpSpPr/>
        <p:nvPr/>
      </p:nvGrpSpPr>
      <p:grpSpPr bwMode="auto">
        <a:xfrm>
          <a:off x="0" y="0"/>
          <a:ext cx="0" cy="0"/>
          <a:chOff x="0" y="0"/>
          <a:chExt cx="0" cy="0"/>
        </a:xfrm>
      </p:grpSpPr>
      <p:sp>
        <p:nvSpPr>
          <p:cNvPr id="573241556"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1298022704" name="Espace réservé du contenu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093264091"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723191771" name="Espace réservé de la date 4"/>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1311346201" name="Espace réservé du pied de page 5"/>
          <p:cNvSpPr>
            <a:spLocks noGrp="1"/>
          </p:cNvSpPr>
          <p:nvPr>
            <p:ph type="ftr" sz="quarter" idx="11"/>
          </p:nvPr>
        </p:nvSpPr>
        <p:spPr bwMode="auto"/>
        <p:txBody>
          <a:bodyPr/>
          <a:lstStyle/>
          <a:p>
            <a:pPr>
              <a:defRPr/>
            </a:pPr>
            <a:endParaRPr lang="fr-FR"/>
          </a:p>
        </p:txBody>
      </p:sp>
      <p:sp>
        <p:nvSpPr>
          <p:cNvPr id="467931913" name="Espace réservé du numéro de diapositive 6"/>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Image avec légende">
    <p:spTree>
      <p:nvGrpSpPr>
        <p:cNvPr id="1" name=""/>
        <p:cNvGrpSpPr/>
        <p:nvPr/>
      </p:nvGrpSpPr>
      <p:grpSpPr bwMode="auto">
        <a:xfrm>
          <a:off x="0" y="0"/>
          <a:ext cx="0" cy="0"/>
          <a:chOff x="0" y="0"/>
          <a:chExt cx="0" cy="0"/>
        </a:xfrm>
      </p:grpSpPr>
      <p:sp>
        <p:nvSpPr>
          <p:cNvPr id="1469136832"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601657832" name="Espace réservé pour une image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fr-FR"/>
          </a:p>
        </p:txBody>
      </p:sp>
      <p:sp>
        <p:nvSpPr>
          <p:cNvPr id="1401985591"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338902215" name="Espace réservé de la date 4"/>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1123240904" name="Espace réservé du pied de page 5"/>
          <p:cNvSpPr>
            <a:spLocks noGrp="1"/>
          </p:cNvSpPr>
          <p:nvPr>
            <p:ph type="ftr" sz="quarter" idx="11"/>
          </p:nvPr>
        </p:nvSpPr>
        <p:spPr bwMode="auto"/>
        <p:txBody>
          <a:bodyPr/>
          <a:lstStyle/>
          <a:p>
            <a:pPr>
              <a:defRPr/>
            </a:pPr>
            <a:endParaRPr lang="fr-FR"/>
          </a:p>
        </p:txBody>
      </p:sp>
      <p:sp>
        <p:nvSpPr>
          <p:cNvPr id="8770529" name="Espace réservé du numéro de diapositive 6"/>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re et texte vertical">
    <p:spTree>
      <p:nvGrpSpPr>
        <p:cNvPr id="1" name=""/>
        <p:cNvGrpSpPr/>
        <p:nvPr/>
      </p:nvGrpSpPr>
      <p:grpSpPr bwMode="auto">
        <a:xfrm>
          <a:off x="0" y="0"/>
          <a:ext cx="0" cy="0"/>
          <a:chOff x="0" y="0"/>
          <a:chExt cx="0" cy="0"/>
        </a:xfrm>
      </p:grpSpPr>
      <p:sp>
        <p:nvSpPr>
          <p:cNvPr id="1935536797" name="Titre 1"/>
          <p:cNvSpPr>
            <a:spLocks noGrp="1"/>
          </p:cNvSpPr>
          <p:nvPr>
            <p:ph type="title"/>
          </p:nvPr>
        </p:nvSpPr>
        <p:spPr bwMode="auto"/>
        <p:txBody>
          <a:bodyPr/>
          <a:lstStyle/>
          <a:p>
            <a:pPr>
              <a:defRPr/>
            </a:pPr>
            <a:r>
              <a:rPr lang="fr-FR"/>
              <a:t>Modifiez le style du titre</a:t>
            </a:r>
            <a:endParaRPr/>
          </a:p>
        </p:txBody>
      </p:sp>
      <p:sp>
        <p:nvSpPr>
          <p:cNvPr id="661038905"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78854414" name="Espace réservé de la date 3"/>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1273999425" name="Espace réservé du pied de page 4"/>
          <p:cNvSpPr>
            <a:spLocks noGrp="1"/>
          </p:cNvSpPr>
          <p:nvPr>
            <p:ph type="ftr" sz="quarter" idx="11"/>
          </p:nvPr>
        </p:nvSpPr>
        <p:spPr bwMode="auto"/>
        <p:txBody>
          <a:bodyPr/>
          <a:lstStyle/>
          <a:p>
            <a:pPr>
              <a:defRPr/>
            </a:pPr>
            <a:endParaRPr lang="fr-FR"/>
          </a:p>
        </p:txBody>
      </p:sp>
      <p:sp>
        <p:nvSpPr>
          <p:cNvPr id="971283464"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Titre vertical et texte">
    <p:spTree>
      <p:nvGrpSpPr>
        <p:cNvPr id="1" name=""/>
        <p:cNvGrpSpPr/>
        <p:nvPr/>
      </p:nvGrpSpPr>
      <p:grpSpPr bwMode="auto">
        <a:xfrm>
          <a:off x="0" y="0"/>
          <a:ext cx="0" cy="0"/>
          <a:chOff x="0" y="0"/>
          <a:chExt cx="0" cy="0"/>
        </a:xfrm>
      </p:grpSpPr>
      <p:sp>
        <p:nvSpPr>
          <p:cNvPr id="901587503" name="Titre vertical 1"/>
          <p:cNvSpPr>
            <a:spLocks noGrp="1"/>
          </p:cNvSpPr>
          <p:nvPr>
            <p:ph type="title" orient="vert"/>
          </p:nvPr>
        </p:nvSpPr>
        <p:spPr bwMode="auto">
          <a:xfrm>
            <a:off x="8724900" y="365125"/>
            <a:ext cx="2628900" cy="5811838"/>
          </a:xfrm>
        </p:spPr>
        <p:txBody>
          <a:bodyPr vert="eaVert"/>
          <a:lstStyle/>
          <a:p>
            <a:pPr>
              <a:defRPr/>
            </a:pPr>
            <a:r>
              <a:rPr lang="fr-FR"/>
              <a:t>Modifiez le style du titre</a:t>
            </a:r>
            <a:endParaRPr/>
          </a:p>
        </p:txBody>
      </p:sp>
      <p:sp>
        <p:nvSpPr>
          <p:cNvPr id="293059705" name="Espace réservé du texte vertical 2"/>
          <p:cNvSpPr>
            <a:spLocks noGrp="1"/>
          </p:cNvSpPr>
          <p:nvPr>
            <p:ph type="body" orient="vert" idx="1"/>
          </p:nvPr>
        </p:nvSpPr>
        <p:spPr bwMode="auto">
          <a:xfrm>
            <a:off x="838200" y="365125"/>
            <a:ext cx="7734300" cy="5811838"/>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90461794" name="Espace réservé de la date 3"/>
          <p:cNvSpPr>
            <a:spLocks noGrp="1"/>
          </p:cNvSpPr>
          <p:nvPr>
            <p:ph type="dt" sz="half" idx="10"/>
          </p:nvPr>
        </p:nvSpPr>
        <p:spPr bwMode="auto"/>
        <p:txBody>
          <a:bodyPr/>
          <a:lstStyle/>
          <a:p>
            <a:pPr>
              <a:defRPr/>
            </a:pPr>
            <a:fld id="{638941B0-F4D5-4460-BCAD-F7E2B41A8257}" type="datetimeFigureOut">
              <a:rPr lang="fr-FR"/>
              <a:t>18/06/2026</a:t>
            </a:fld>
            <a:endParaRPr lang="fr-FR"/>
          </a:p>
        </p:txBody>
      </p:sp>
      <p:sp>
        <p:nvSpPr>
          <p:cNvPr id="977541546" name="Espace réservé du pied de page 4"/>
          <p:cNvSpPr>
            <a:spLocks noGrp="1"/>
          </p:cNvSpPr>
          <p:nvPr>
            <p:ph type="ftr" sz="quarter" idx="11"/>
          </p:nvPr>
        </p:nvSpPr>
        <p:spPr bwMode="auto"/>
        <p:txBody>
          <a:bodyPr/>
          <a:lstStyle/>
          <a:p>
            <a:pPr>
              <a:defRPr/>
            </a:pPr>
            <a:endParaRPr lang="fr-FR"/>
          </a:p>
        </p:txBody>
      </p:sp>
      <p:sp>
        <p:nvSpPr>
          <p:cNvPr id="1118792054"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857469340" name="Espace réservé du titre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344676397" name="Espace réservé du texte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03053195" name="Espace réservé de la date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638941B0-F4D5-4460-BCAD-F7E2B41A8257}" type="datetimeFigureOut">
              <a:rPr lang="fr-FR"/>
              <a:t>18/06/2026</a:t>
            </a:fld>
            <a:endParaRPr lang="fr-FR"/>
          </a:p>
        </p:txBody>
      </p:sp>
      <p:sp>
        <p:nvSpPr>
          <p:cNvPr id="1446316830" name="Espace réservé du pied de page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fr-FR"/>
          </a:p>
        </p:txBody>
      </p:sp>
      <p:sp>
        <p:nvSpPr>
          <p:cNvPr id="558047745" name="Espace réservé du numéro de diapositiv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27C6CCC6-2BE5-4E42-96A4-D1E8E81A3D8E}" type="slidenum">
              <a:rPr lang="fr-F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080/00031305.2018.1537891"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2638339" name="Titre 1"/>
          <p:cNvSpPr>
            <a:spLocks noGrp="1"/>
          </p:cNvSpPr>
          <p:nvPr>
            <p:ph type="ctrTitle"/>
          </p:nvPr>
        </p:nvSpPr>
        <p:spPr bwMode="auto"/>
        <p:txBody>
          <a:bodyPr/>
          <a:lstStyle/>
          <a:p>
            <a:pPr>
              <a:defRPr/>
            </a:pPr>
            <a:r>
              <a:rPr lang="fr-FR"/>
              <a:t>Une p-valeur avant la p-valeur ?</a:t>
            </a:r>
            <a:endParaRPr/>
          </a:p>
        </p:txBody>
      </p:sp>
      <p:sp>
        <p:nvSpPr>
          <p:cNvPr id="548773879" name="Sous-titre 2"/>
          <p:cNvSpPr>
            <a:spLocks noGrp="1"/>
          </p:cNvSpPr>
          <p:nvPr>
            <p:ph type="subTitle" idx="1"/>
          </p:nvPr>
        </p:nvSpPr>
        <p:spPr bwMode="auto"/>
        <p:txBody>
          <a:bodyPr vert="horz" lIns="91440" tIns="45720" rIns="91440" bIns="45720" rtlCol="0" anchor="t">
            <a:normAutofit/>
          </a:bodyPr>
          <a:lstStyle/>
          <a:p>
            <a:pPr>
              <a:defRPr/>
            </a:pPr>
            <a:r>
              <a:rPr lang="fr-FR"/>
              <a:t>Adrien Fillon – Small meetings été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2439938" name="Titre 1"/>
          <p:cNvSpPr>
            <a:spLocks noGrp="1"/>
          </p:cNvSpPr>
          <p:nvPr>
            <p:ph type="title"/>
          </p:nvPr>
        </p:nvSpPr>
        <p:spPr bwMode="auto"/>
        <p:txBody>
          <a:bodyPr/>
          <a:lstStyle/>
          <a:p>
            <a:pPr>
              <a:defRPr/>
            </a:pPr>
            <a:r>
              <a:rPr lang="fr-FR"/>
              <a:t>À quoi sert la p-valeur</a:t>
            </a:r>
          </a:p>
        </p:txBody>
      </p:sp>
      <p:sp>
        <p:nvSpPr>
          <p:cNvPr id="1198453294" name="Espace réservé du contenu 2"/>
          <p:cNvSpPr>
            <a:spLocks noGrp="1"/>
          </p:cNvSpPr>
          <p:nvPr>
            <p:ph idx="1"/>
          </p:nvPr>
        </p:nvSpPr>
        <p:spPr bwMode="auto"/>
        <p:txBody>
          <a:bodyPr vert="horz" lIns="91440" tIns="45720" rIns="91440" bIns="45720" rtlCol="0" anchor="t">
            <a:normAutofit/>
          </a:bodyPr>
          <a:lstStyle/>
          <a:p>
            <a:pPr>
              <a:defRPr/>
            </a:pPr>
            <a:r>
              <a:rPr lang="fr-FR"/>
              <a:t>Quantifier – mettre une valeur numérique sur une probabilité de détecter un effet par rapport à du bruit</a:t>
            </a:r>
            <a:endParaRPr/>
          </a:p>
          <a:p>
            <a:pPr>
              <a:defRPr/>
            </a:pPr>
            <a:r>
              <a:rPr lang="fr-FR"/>
              <a:t>On parle souvent de l'arrivée de la valeur P en 1900 dans un article de Pearson dans Biometrika, ou du livre </a:t>
            </a:r>
            <a:r>
              <a:rPr lang="fr-FR">
                <a:latin typeface="Aptos"/>
                <a:cs typeface="Times New Roman"/>
              </a:rPr>
              <a:t>Statistical Methods for Research Workers de Ronald A. Fisher (1925)</a:t>
            </a:r>
            <a:endParaRPr/>
          </a:p>
          <a:p>
            <a:pPr>
              <a:defRPr/>
            </a:pPr>
            <a:r>
              <a:rPr lang="fr-FR">
                <a:latin typeface="Aptos"/>
                <a:cs typeface="Times New Roman"/>
              </a:rPr>
              <a:t>Ce livre a popularisé la p-valeur chez les chercheurs, au-delà des statisticiens</a:t>
            </a:r>
            <a:endParaRPr/>
          </a:p>
          <a:p>
            <a:pPr>
              <a:defRPr/>
            </a:pPr>
            <a:r>
              <a:rPr lang="fr-FR">
                <a:latin typeface="Aptos"/>
                <a:cs typeface="Times New Roman"/>
              </a:rPr>
              <a:t>Mais on trouve des valeurs de preuve d'effet bien avant</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98453294">
                                            <p:txEl>
                                              <p:pRg st="0" end="0"/>
                                            </p:txEl>
                                          </p:spTgt>
                                        </p:tgtEl>
                                        <p:attrNameLst>
                                          <p:attrName>style.visibility</p:attrName>
                                        </p:attrNameLst>
                                      </p:cBhvr>
                                      <p:to>
                                        <p:strVal val="visible"/>
                                      </p:to>
                                    </p:set>
                                    <p:animEffect transition="in" filter="fade">
                                      <p:cBhvr>
                                        <p:cTn id="7" dur="500"/>
                                        <p:tgtEl>
                                          <p:spTgt spid="11984532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98453294">
                                            <p:txEl>
                                              <p:pRg st="1" end="1"/>
                                            </p:txEl>
                                          </p:spTgt>
                                        </p:tgtEl>
                                        <p:attrNameLst>
                                          <p:attrName>style.visibility</p:attrName>
                                        </p:attrNameLst>
                                      </p:cBhvr>
                                      <p:to>
                                        <p:strVal val="visible"/>
                                      </p:to>
                                    </p:set>
                                    <p:animEffect transition="in" filter="fade">
                                      <p:cBhvr>
                                        <p:cTn id="12" dur="500"/>
                                        <p:tgtEl>
                                          <p:spTgt spid="11984532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98453294">
                                            <p:txEl>
                                              <p:pRg st="2" end="2"/>
                                            </p:txEl>
                                          </p:spTgt>
                                        </p:tgtEl>
                                        <p:attrNameLst>
                                          <p:attrName>style.visibility</p:attrName>
                                        </p:attrNameLst>
                                      </p:cBhvr>
                                      <p:to>
                                        <p:strVal val="visible"/>
                                      </p:to>
                                    </p:set>
                                    <p:animEffect transition="in" filter="fade">
                                      <p:cBhvr>
                                        <p:cTn id="17" dur="500"/>
                                        <p:tgtEl>
                                          <p:spTgt spid="11984532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98453294">
                                            <p:txEl>
                                              <p:pRg st="3" end="3"/>
                                            </p:txEl>
                                          </p:spTgt>
                                        </p:tgtEl>
                                        <p:attrNameLst>
                                          <p:attrName>style.visibility</p:attrName>
                                        </p:attrNameLst>
                                      </p:cBhvr>
                                      <p:to>
                                        <p:strVal val="visible"/>
                                      </p:to>
                                    </p:set>
                                    <p:animEffect transition="in" filter="fade">
                                      <p:cBhvr>
                                        <p:cTn id="22" dur="500"/>
                                        <p:tgtEl>
                                          <p:spTgt spid="11984532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453294"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3394828" name="Titre 1"/>
          <p:cNvSpPr>
            <a:spLocks noGrp="1"/>
          </p:cNvSpPr>
          <p:nvPr>
            <p:ph type="title"/>
          </p:nvPr>
        </p:nvSpPr>
        <p:spPr bwMode="auto">
          <a:xfrm>
            <a:off x="2893595" y="385178"/>
            <a:ext cx="8881311" cy="1325563"/>
          </a:xfrm>
        </p:spPr>
        <p:txBody>
          <a:bodyPr/>
          <a:lstStyle/>
          <a:p>
            <a:pPr>
              <a:defRPr/>
            </a:pPr>
            <a:r>
              <a:rPr lang="fr-FR"/>
              <a:t>John Arbuthnot (1667 – 1735)</a:t>
            </a:r>
            <a:endParaRPr/>
          </a:p>
        </p:txBody>
      </p:sp>
      <p:pic>
        <p:nvPicPr>
          <p:cNvPr id="401709425" name="Espace réservé du contenu 4" descr="Une image contenant Visage humain, portrait, peinture, habits&#10;&#10;Le contenu généré par l’IA peut être incorrect."/>
          <p:cNvPicPr>
            <a:picLocks noGrp="1" noChangeAspect="1"/>
          </p:cNvPicPr>
          <p:nvPr>
            <p:ph idx="1"/>
          </p:nvPr>
        </p:nvPicPr>
        <p:blipFill rotWithShape="1">
          <a:blip r:embed="rId3"/>
          <a:stretch/>
        </p:blipFill>
        <p:spPr bwMode="auto">
          <a:xfrm>
            <a:off x="303296" y="220620"/>
            <a:ext cx="2381250" cy="2828925"/>
          </a:xfrm>
          <a:prstGeom prst="rect">
            <a:avLst/>
          </a:prstGeom>
        </p:spPr>
      </p:pic>
      <p:sp>
        <p:nvSpPr>
          <p:cNvPr id="1128296569" name="ZoneTexte 6"/>
          <p:cNvSpPr txBox="1"/>
          <p:nvPr/>
        </p:nvSpPr>
        <p:spPr bwMode="auto">
          <a:xfrm>
            <a:off x="2765738" y="2020426"/>
            <a:ext cx="872891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fr-FR"/>
              <a:t>Membre du </a:t>
            </a:r>
            <a:r>
              <a:rPr lang="fr"/>
              <a:t>Scriblerus Club</a:t>
            </a:r>
            <a:endParaRPr lang="fr-FR"/>
          </a:p>
          <a:p>
            <a:pPr>
              <a:defRPr/>
            </a:pPr>
            <a:r>
              <a:rPr lang="fr-FR"/>
              <a:t>Avec Jonathan Swift et a inspiré les voyages de Gulliver</a:t>
            </a:r>
          </a:p>
        </p:txBody>
      </p:sp>
      <p:sp>
        <p:nvSpPr>
          <p:cNvPr id="1471381316" name="ZoneTexte 7"/>
          <p:cNvSpPr txBox="1"/>
          <p:nvPr/>
        </p:nvSpPr>
        <p:spPr bwMode="auto">
          <a:xfrm>
            <a:off x="2765738" y="2662110"/>
            <a:ext cx="87289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fr-FR"/>
              <a:t>A inventé le personnage de John Bull</a:t>
            </a:r>
            <a:endParaRPr/>
          </a:p>
        </p:txBody>
      </p:sp>
      <p:pic>
        <p:nvPicPr>
          <p:cNvPr id="1874742513" name="Image 8" descr="Une image contenant texte, habits, sport, homme&#10;&#10;Le contenu généré par l’IA peut être incorrect."/>
          <p:cNvPicPr>
            <a:picLocks noChangeAspect="1"/>
          </p:cNvPicPr>
          <p:nvPr/>
        </p:nvPicPr>
        <p:blipFill rotWithShape="1">
          <a:blip r:embed="rId4"/>
          <a:stretch/>
        </p:blipFill>
        <p:spPr bwMode="auto">
          <a:xfrm>
            <a:off x="9112940" y="1398380"/>
            <a:ext cx="2381250" cy="3619500"/>
          </a:xfrm>
          <a:prstGeom prst="rect">
            <a:avLst/>
          </a:prstGeom>
        </p:spPr>
      </p:pic>
      <p:sp>
        <p:nvSpPr>
          <p:cNvPr id="1387121295" name="ZoneTexte 9"/>
          <p:cNvSpPr txBox="1"/>
          <p:nvPr/>
        </p:nvSpPr>
        <p:spPr bwMode="auto">
          <a:xfrm>
            <a:off x="380346" y="3203241"/>
            <a:ext cx="87289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fr-FR"/>
              <a:t>Médecin de la reine Anne, mathématicien important, et poète</a:t>
            </a:r>
          </a:p>
        </p:txBody>
      </p:sp>
      <p:pic>
        <p:nvPicPr>
          <p:cNvPr id="1616147031" name="Image 10" descr="Une image contenant texte, capture d’écran, Police, document&#10;&#10;Le contenu généré par l’IA peut être incorrect."/>
          <p:cNvPicPr>
            <a:picLocks noChangeAspect="1"/>
          </p:cNvPicPr>
          <p:nvPr/>
        </p:nvPicPr>
        <p:blipFill rotWithShape="1">
          <a:blip r:embed="rId5"/>
          <a:stretch/>
        </p:blipFill>
        <p:spPr bwMode="auto">
          <a:xfrm>
            <a:off x="4960661" y="3515208"/>
            <a:ext cx="4081808" cy="3350454"/>
          </a:xfrm>
          <a:prstGeom prst="rect">
            <a:avLst/>
          </a:prstGeom>
        </p:spPr>
      </p:pic>
      <p:sp>
        <p:nvSpPr>
          <p:cNvPr id="791266286" name="ZoneTexte 11"/>
          <p:cNvSpPr txBox="1"/>
          <p:nvPr/>
        </p:nvSpPr>
        <p:spPr bwMode="auto">
          <a:xfrm>
            <a:off x="4124085" y="4009415"/>
            <a:ext cx="7334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fr-FR"/>
              <a:t>1710</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8296569"/>
                                        </p:tgtEl>
                                        <p:attrNameLst>
                                          <p:attrName>style.visibility</p:attrName>
                                        </p:attrNameLst>
                                      </p:cBhvr>
                                      <p:to>
                                        <p:strVal val="visible"/>
                                      </p:to>
                                    </p:set>
                                    <p:animEffect transition="in" filter="fade">
                                      <p:cBhvr>
                                        <p:cTn id="7" dur="500"/>
                                        <p:tgtEl>
                                          <p:spTgt spid="11282965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71381316"/>
                                        </p:tgtEl>
                                        <p:attrNameLst>
                                          <p:attrName>style.visibility</p:attrName>
                                        </p:attrNameLst>
                                      </p:cBhvr>
                                      <p:to>
                                        <p:strVal val="visible"/>
                                      </p:to>
                                    </p:set>
                                    <p:animEffect transition="in" filter="fade">
                                      <p:cBhvr>
                                        <p:cTn id="12" dur="500"/>
                                        <p:tgtEl>
                                          <p:spTgt spid="14713813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74742513"/>
                                        </p:tgtEl>
                                        <p:attrNameLst>
                                          <p:attrName>style.visibility</p:attrName>
                                        </p:attrNameLst>
                                      </p:cBhvr>
                                      <p:to>
                                        <p:strVal val="visible"/>
                                      </p:to>
                                    </p:set>
                                    <p:animEffect transition="in" filter="fade">
                                      <p:cBhvr>
                                        <p:cTn id="17" dur="500"/>
                                        <p:tgtEl>
                                          <p:spTgt spid="18747425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87121295"/>
                                        </p:tgtEl>
                                        <p:attrNameLst>
                                          <p:attrName>style.visibility</p:attrName>
                                        </p:attrNameLst>
                                      </p:cBhvr>
                                      <p:to>
                                        <p:strVal val="visible"/>
                                      </p:to>
                                    </p:set>
                                    <p:animEffect transition="in" filter="fade">
                                      <p:cBhvr>
                                        <p:cTn id="22" dur="500"/>
                                        <p:tgtEl>
                                          <p:spTgt spid="138712129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91266286"/>
                                        </p:tgtEl>
                                        <p:attrNameLst>
                                          <p:attrName>style.visibility</p:attrName>
                                        </p:attrNameLst>
                                      </p:cBhvr>
                                      <p:to>
                                        <p:strVal val="visible"/>
                                      </p:to>
                                    </p:set>
                                    <p:animEffect transition="in" filter="fade">
                                      <p:cBhvr>
                                        <p:cTn id="27" dur="500"/>
                                        <p:tgtEl>
                                          <p:spTgt spid="79126628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16147031"/>
                                        </p:tgtEl>
                                        <p:attrNameLst>
                                          <p:attrName>style.visibility</p:attrName>
                                        </p:attrNameLst>
                                      </p:cBhvr>
                                      <p:to>
                                        <p:strVal val="visible"/>
                                      </p:to>
                                    </p:set>
                                    <p:animEffect transition="in" filter="fade">
                                      <p:cBhvr>
                                        <p:cTn id="32" dur="500"/>
                                        <p:tgtEl>
                                          <p:spTgt spid="1616147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296569" grpId="0"/>
      <p:bldP spid="1471381316" grpId="0"/>
      <p:bldP spid="1387121295" grpId="0"/>
      <p:bldP spid="791266286"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24824853" name="Espace réservé du contenu 2"/>
          <p:cNvSpPr>
            <a:spLocks noGrp="1"/>
          </p:cNvSpPr>
          <p:nvPr>
            <p:ph idx="1"/>
          </p:nvPr>
        </p:nvSpPr>
        <p:spPr bwMode="auto">
          <a:xfrm>
            <a:off x="838199" y="378390"/>
            <a:ext cx="4915857" cy="3059231"/>
          </a:xfrm>
        </p:spPr>
        <p:txBody>
          <a:bodyPr vertOverflow="overflow" horzOverflow="overflow" vert="horz" wrap="square" lIns="91440" tIns="45720" rIns="91440" bIns="45720" numCol="1" spcCol="0" rtlCol="0" fromWordArt="0" anchor="t" anchorCtr="0" forceAA="0" compatLnSpc="0">
            <a:normAutofit fontScale="70000" lnSpcReduction="6000"/>
          </a:bodyPr>
          <a:lstStyle/>
          <a:p>
            <a:pPr>
              <a:defRPr/>
            </a:pPr>
            <a:r>
              <a:rPr lang="fr-FR">
                <a:latin typeface="Aptos"/>
                <a:cs typeface="Times New Roman"/>
              </a:rPr>
              <a:t>À Londres, le nombre de naissances d’hommes dépassaient celles de femmes pendant 82 années consécutives. </a:t>
            </a:r>
          </a:p>
          <a:p>
            <a:pPr>
              <a:defRPr/>
            </a:pPr>
            <a:r>
              <a:rPr lang="fr-FR">
                <a:latin typeface="Aptos"/>
                <a:cs typeface="Times New Roman"/>
              </a:rPr>
              <a:t>En supposant que la probabilité que les naissances de garçon dépassent les filles en une année soit de 50 %, </a:t>
            </a:r>
            <a:endParaRPr/>
          </a:p>
          <a:p>
            <a:pPr>
              <a:defRPr/>
            </a:pPr>
            <a:r>
              <a:rPr lang="fr-FR">
                <a:latin typeface="Aptos"/>
                <a:cs typeface="Times New Roman"/>
              </a:rPr>
              <a:t>Et qu'une année est indépendante des années précédentes </a:t>
            </a:r>
            <a:endParaRPr/>
          </a:p>
          <a:p>
            <a:pPr>
              <a:defRPr/>
            </a:pPr>
            <a:r>
              <a:rPr lang="fr-FR">
                <a:latin typeface="Aptos"/>
                <a:cs typeface="Times New Roman"/>
              </a:rPr>
              <a:t> Arbuthnott calcule une valeur</a:t>
            </a:r>
            <a:endParaRPr/>
          </a:p>
        </p:txBody>
      </p:sp>
      <p:pic>
        <p:nvPicPr>
          <p:cNvPr id="1035185683" name="Image 3" descr="Une image contenant texte, capture d’écran, Police, nombre&#10;&#10;Le contenu généré par l’IA peut être incorrect."/>
          <p:cNvPicPr>
            <a:picLocks noChangeAspect="1"/>
          </p:cNvPicPr>
          <p:nvPr/>
        </p:nvPicPr>
        <p:blipFill rotWithShape="1">
          <a:blip r:embed="rId3"/>
          <a:stretch/>
        </p:blipFill>
        <p:spPr bwMode="auto">
          <a:xfrm>
            <a:off x="5926538" y="1323974"/>
            <a:ext cx="5991225" cy="4210050"/>
          </a:xfrm>
          <a:prstGeom prst="rect">
            <a:avLst/>
          </a:prstGeom>
        </p:spPr>
      </p:pic>
      <p:sp>
        <p:nvSpPr>
          <p:cNvPr id="943982556" name="Rectangle 4"/>
          <p:cNvSpPr/>
          <p:nvPr/>
        </p:nvSpPr>
        <p:spPr bwMode="auto">
          <a:xfrm>
            <a:off x="6100933" y="3432507"/>
            <a:ext cx="5684977" cy="4063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105870097" name="Rectangle 5"/>
          <p:cNvSpPr/>
          <p:nvPr/>
        </p:nvSpPr>
        <p:spPr bwMode="auto">
          <a:xfrm>
            <a:off x="9011648" y="2277229"/>
            <a:ext cx="2193281" cy="42340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35353081" name="ZoneTexte 6"/>
          <p:cNvSpPr txBox="1"/>
          <p:nvPr/>
        </p:nvSpPr>
        <p:spPr bwMode="auto">
          <a:xfrm>
            <a:off x="413680" y="3564566"/>
            <a:ext cx="5341456" cy="7623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defRPr/>
            </a:pPr>
            <a:r>
              <a:rPr lang="fr-FR" sz="2200">
                <a:solidFill>
                  <a:srgbClr val="000000"/>
                </a:solidFill>
                <a:latin typeface="Aptos"/>
                <a:ea typeface="Aptos"/>
                <a:cs typeface="Aptos"/>
              </a:rPr>
              <a:t>La valeur correspond à une p-valeur de 0,000 avec vingt-quatre 0.</a:t>
            </a:r>
            <a:endParaRPr sz="2200">
              <a:solidFill>
                <a:srgbClr val="000000"/>
              </a:solidFill>
              <a:latin typeface="Aptos"/>
              <a:ea typeface="Aptos"/>
              <a:cs typeface="Aptos"/>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8248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48248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48248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48248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35185683"/>
                                        </p:tgtEl>
                                        <p:attrNameLst>
                                          <p:attrName>style.visibility</p:attrName>
                                        </p:attrNameLst>
                                      </p:cBhvr>
                                      <p:to>
                                        <p:strVal val="visible"/>
                                      </p:to>
                                    </p:set>
                                    <p:animEffect transition="in" filter="fade">
                                      <p:cBhvr>
                                        <p:cTn id="23" dur="500"/>
                                        <p:tgtEl>
                                          <p:spTgt spid="103518568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05870097"/>
                                        </p:tgtEl>
                                        <p:attrNameLst>
                                          <p:attrName>style.visibility</p:attrName>
                                        </p:attrNameLst>
                                      </p:cBhvr>
                                      <p:to>
                                        <p:strVal val="visible"/>
                                      </p:to>
                                    </p:set>
                                    <p:animEffect transition="in" filter="fade">
                                      <p:cBhvr>
                                        <p:cTn id="28" dur="500"/>
                                        <p:tgtEl>
                                          <p:spTgt spid="210587009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43982556"/>
                                        </p:tgtEl>
                                        <p:attrNameLst>
                                          <p:attrName>style.visibility</p:attrName>
                                        </p:attrNameLst>
                                      </p:cBhvr>
                                      <p:to>
                                        <p:strVal val="visible"/>
                                      </p:to>
                                    </p:set>
                                    <p:animEffect transition="in" filter="fade">
                                      <p:cBhvr>
                                        <p:cTn id="33" dur="500"/>
                                        <p:tgtEl>
                                          <p:spTgt spid="94398255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5353081"/>
                                        </p:tgtEl>
                                        <p:attrNameLst>
                                          <p:attrName>style.visibility</p:attrName>
                                        </p:attrNameLst>
                                      </p:cBhvr>
                                      <p:to>
                                        <p:strVal val="visible"/>
                                      </p:to>
                                    </p:set>
                                    <p:animEffect transition="in" filter="fade">
                                      <p:cBhvr>
                                        <p:cTn id="38" dur="500"/>
                                        <p:tgtEl>
                                          <p:spTgt spid="13535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824853" grpId="0" build="p"/>
      <p:bldP spid="943982556" grpId="0" animBg="1"/>
      <p:bldP spid="2105870097" grpId="0" animBg="1"/>
      <p:bldP spid="135353081"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91656173" name="Titre 1"/>
          <p:cNvSpPr>
            <a:spLocks noGrp="1"/>
          </p:cNvSpPr>
          <p:nvPr>
            <p:ph type="title"/>
          </p:nvPr>
        </p:nvSpPr>
        <p:spPr bwMode="auto">
          <a:xfrm>
            <a:off x="2677510" y="277539"/>
            <a:ext cx="8860220" cy="712460"/>
          </a:xfrm>
        </p:spPr>
        <p:txBody>
          <a:bodyPr/>
          <a:lstStyle/>
          <a:p>
            <a:pPr>
              <a:defRPr/>
            </a:pPr>
            <a:r>
              <a:rPr lang="fr-FR"/>
              <a:t>Pierre-Simon de Laplace (1749-1827)</a:t>
            </a:r>
            <a:endParaRPr/>
          </a:p>
        </p:txBody>
      </p:sp>
      <p:pic>
        <p:nvPicPr>
          <p:cNvPr id="79817246" name="Espace réservé du contenu 3" descr="Une image contenant habits, peinture, Visage humain, personne&#10;&#10;Le contenu généré par l’IA peut être incorrect."/>
          <p:cNvPicPr>
            <a:picLocks noGrp="1" noChangeAspect="1"/>
          </p:cNvPicPr>
          <p:nvPr>
            <p:ph idx="1"/>
          </p:nvPr>
        </p:nvPicPr>
        <p:blipFill rotWithShape="1">
          <a:blip r:embed="rId3"/>
          <a:stretch/>
        </p:blipFill>
        <p:spPr bwMode="auto">
          <a:xfrm>
            <a:off x="140685" y="89421"/>
            <a:ext cx="2381250" cy="3076574"/>
          </a:xfrm>
          <a:prstGeom prst="rect">
            <a:avLst/>
          </a:prstGeom>
        </p:spPr>
      </p:pic>
      <p:sp>
        <p:nvSpPr>
          <p:cNvPr id="121718449" name="ZoneTexte 4"/>
          <p:cNvSpPr txBox="1"/>
          <p:nvPr/>
        </p:nvSpPr>
        <p:spPr bwMode="auto">
          <a:xfrm>
            <a:off x="2923509" y="1579827"/>
            <a:ext cx="8480096"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mj-lt"/>
                <a:ea typeface="+mj-ea"/>
                <a:cs typeface="+mj-cs"/>
              </a:rPr>
              <a:t>1827</a:t>
            </a:r>
            <a:endParaRPr lang="fr-FR" sz="2800"/>
          </a:p>
          <a:p>
            <a:pPr marL="571500" indent="-571500">
              <a:buFont typeface="Arial"/>
              <a:buChar char="•"/>
              <a:defRPr/>
            </a:pPr>
            <a:r>
              <a:rPr lang="fr-FR" sz="2800">
                <a:latin typeface="+mj-lt"/>
                <a:ea typeface="+mj-ea"/>
                <a:cs typeface="+mj-cs"/>
              </a:rPr>
              <a:t>Écart entre les astres</a:t>
            </a:r>
          </a:p>
          <a:p>
            <a:pPr marL="571500" indent="-571500">
              <a:buFont typeface="Arial"/>
              <a:buChar char="•"/>
              <a:defRPr/>
            </a:pPr>
            <a:r>
              <a:rPr lang="fr-FR" sz="2800">
                <a:latin typeface="+mj-lt"/>
                <a:ea typeface="+mj-ea"/>
                <a:cs typeface="+mj-cs"/>
              </a:rPr>
              <a:t>P-valeur de 0.01 </a:t>
            </a:r>
          </a:p>
          <a:p>
            <a:pPr marL="571500" indent="-571500">
              <a:buFont typeface="Arial"/>
              <a:buChar char="•"/>
              <a:defRPr/>
            </a:pPr>
            <a:endParaRPr lang="fr-FR" sz="2800">
              <a:latin typeface="+mj-lt"/>
              <a:ea typeface="+mj-ea"/>
              <a:cs typeface="+mj-cs"/>
            </a:endParaRPr>
          </a:p>
          <a:p>
            <a:pPr marL="571500" indent="-571500">
              <a:buFont typeface="Arial"/>
              <a:buChar char="•"/>
              <a:defRPr/>
            </a:pPr>
            <a:r>
              <a:rPr lang="fr-FR" sz="2800">
                <a:latin typeface="+mj-lt"/>
                <a:ea typeface="+mj-ea"/>
                <a:cs typeface="+mj-cs"/>
              </a:rPr>
              <a:t>cela indiquait, avec une forte probabilité, que l'écart entre les mesures n'était donc « pas uniquement dû aux aléas du hasard »</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1718449">
                                            <p:txEl>
                                              <p:pRg st="0" end="0"/>
                                            </p:txEl>
                                          </p:spTgt>
                                        </p:tgtEl>
                                        <p:attrNameLst>
                                          <p:attrName>style.visibility</p:attrName>
                                        </p:attrNameLst>
                                      </p:cBhvr>
                                      <p:to>
                                        <p:strVal val="visible"/>
                                      </p:to>
                                    </p:set>
                                    <p:animEffect transition="in" filter="fade">
                                      <p:cBhvr>
                                        <p:cTn id="7" dur="500"/>
                                        <p:tgtEl>
                                          <p:spTgt spid="1217184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718449">
                                            <p:txEl>
                                              <p:pRg st="1" end="1"/>
                                            </p:txEl>
                                          </p:spTgt>
                                        </p:tgtEl>
                                        <p:attrNameLst>
                                          <p:attrName>style.visibility</p:attrName>
                                        </p:attrNameLst>
                                      </p:cBhvr>
                                      <p:to>
                                        <p:strVal val="visible"/>
                                      </p:to>
                                    </p:set>
                                    <p:animEffect transition="in" filter="fade">
                                      <p:cBhvr>
                                        <p:cTn id="12" dur="500"/>
                                        <p:tgtEl>
                                          <p:spTgt spid="1217184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1718449">
                                            <p:txEl>
                                              <p:pRg st="2" end="2"/>
                                            </p:txEl>
                                          </p:spTgt>
                                        </p:tgtEl>
                                        <p:attrNameLst>
                                          <p:attrName>style.visibility</p:attrName>
                                        </p:attrNameLst>
                                      </p:cBhvr>
                                      <p:to>
                                        <p:strVal val="visible"/>
                                      </p:to>
                                    </p:set>
                                    <p:animEffect transition="in" filter="fade">
                                      <p:cBhvr>
                                        <p:cTn id="17" dur="500"/>
                                        <p:tgtEl>
                                          <p:spTgt spid="1217184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1718449">
                                            <p:txEl>
                                              <p:pRg st="4" end="4"/>
                                            </p:txEl>
                                          </p:spTgt>
                                        </p:tgtEl>
                                        <p:attrNameLst>
                                          <p:attrName>style.visibility</p:attrName>
                                        </p:attrNameLst>
                                      </p:cBhvr>
                                      <p:to>
                                        <p:strVal val="visible"/>
                                      </p:to>
                                    </p:set>
                                    <p:animEffect transition="in" filter="fade">
                                      <p:cBhvr>
                                        <p:cTn id="22" dur="500"/>
                                        <p:tgtEl>
                                          <p:spTgt spid="1217184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718449"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8123717" name="Titre 1"/>
          <p:cNvSpPr>
            <a:spLocks noGrp="1"/>
          </p:cNvSpPr>
          <p:nvPr>
            <p:ph type="title"/>
          </p:nvPr>
        </p:nvSpPr>
        <p:spPr bwMode="auto">
          <a:xfrm>
            <a:off x="2909454" y="365125"/>
            <a:ext cx="8444346" cy="1353272"/>
          </a:xfrm>
        </p:spPr>
        <p:txBody>
          <a:bodyPr/>
          <a:lstStyle/>
          <a:p>
            <a:pPr>
              <a:defRPr/>
            </a:pPr>
            <a:r>
              <a:rPr lang="fr-FR"/>
              <a:t>Siméon Denis Poisson (1781-1840)</a:t>
            </a:r>
            <a:endParaRPr/>
          </a:p>
        </p:txBody>
      </p:sp>
      <p:pic>
        <p:nvPicPr>
          <p:cNvPr id="932982526" name="Espace réservé du contenu 3" descr="Une image contenant Visage humain, croquis, habits, portrait&#10;&#10;Le contenu généré par l’IA peut être incorrect."/>
          <p:cNvPicPr>
            <a:picLocks noGrp="1" noChangeAspect="1"/>
          </p:cNvPicPr>
          <p:nvPr>
            <p:ph idx="1"/>
          </p:nvPr>
        </p:nvPicPr>
        <p:blipFill rotWithShape="1">
          <a:blip r:embed="rId3"/>
          <a:stretch/>
        </p:blipFill>
        <p:spPr bwMode="auto">
          <a:xfrm>
            <a:off x="333375" y="151895"/>
            <a:ext cx="2381250" cy="2143125"/>
          </a:xfrm>
          <a:prstGeom prst="rect">
            <a:avLst/>
          </a:prstGeom>
        </p:spPr>
      </p:pic>
      <p:sp>
        <p:nvSpPr>
          <p:cNvPr id="1708410697" name="ZoneTexte 5"/>
          <p:cNvSpPr txBox="1"/>
          <p:nvPr/>
        </p:nvSpPr>
        <p:spPr bwMode="auto">
          <a:xfrm>
            <a:off x="2923509" y="1579827"/>
            <a:ext cx="8480096"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mj-lt"/>
                <a:ea typeface="+mj-ea"/>
                <a:cs typeface="+mj-cs"/>
              </a:rPr>
              <a:t>1-p-valeur</a:t>
            </a:r>
            <a:endParaRPr/>
          </a:p>
          <a:p>
            <a:pPr marL="571500" indent="-571500">
              <a:buFont typeface="Arial"/>
              <a:buChar char="•"/>
              <a:defRPr/>
            </a:pPr>
            <a:r>
              <a:rPr lang="fr-FR" sz="2800">
                <a:ea typeface="+mn-lt"/>
                <a:cs typeface="+mn-lt"/>
              </a:rPr>
              <a:t>Pour décrire les tendances observées dans les verdicts rendus par les jurys français</a:t>
            </a:r>
            <a:endParaRPr/>
          </a:p>
          <a:p>
            <a:pPr marL="571500" indent="-571500">
              <a:buFont typeface="Arial"/>
              <a:buChar char="•"/>
              <a:defRPr/>
            </a:pPr>
            <a:r>
              <a:rPr lang="fr-FR" sz="2800">
                <a:latin typeface="Aptos"/>
                <a:ea typeface="+mj-ea"/>
                <a:cs typeface="+mj-cs"/>
              </a:rPr>
              <a:t>1837</a:t>
            </a:r>
            <a:endParaRPr/>
          </a:p>
          <a:p>
            <a:pPr marL="571500" indent="-571500">
              <a:buFont typeface="Arial"/>
              <a:buChar char="•"/>
              <a:defRPr/>
            </a:pPr>
            <a:r>
              <a:rPr lang="fr-FR" sz="2800">
                <a:latin typeface="Aptos"/>
                <a:ea typeface="+mj-ea"/>
                <a:cs typeface="+mj-cs"/>
              </a:rPr>
              <a:t>P = 0.0897: </a:t>
            </a:r>
            <a:r>
              <a:rPr lang="fr-FR" sz="2800">
                <a:ea typeface="+mn-lt"/>
                <a:cs typeface="+mn-lt"/>
              </a:rPr>
              <a:t>valeur insuffisante pour lui permettre de conclure à un changement dans les causes</a:t>
            </a:r>
            <a:endParaRPr/>
          </a:p>
          <a:p>
            <a:pPr marL="571500" indent="-571500">
              <a:buFont typeface="Arial"/>
              <a:buChar char="•"/>
              <a:defRPr/>
            </a:pPr>
            <a:r>
              <a:rPr lang="fr-FR" sz="2800">
                <a:latin typeface="Aptos"/>
                <a:ea typeface="+mj-ea"/>
                <a:cs typeface="+mj-cs"/>
              </a:rPr>
              <a:t>P = 0.00468 : </a:t>
            </a:r>
            <a:r>
              <a:rPr lang="fr-FR" sz="2800">
                <a:ea typeface="+mn-lt"/>
                <a:cs typeface="+mn-lt"/>
              </a:rPr>
              <a:t>il existe dans ce cas une "véritable anomalie dans les votes des jurys"</a:t>
            </a:r>
          </a:p>
          <a:p>
            <a:pPr marL="571500" indent="-571500">
              <a:buFont typeface="Arial"/>
              <a:buChar char="•"/>
              <a:defRPr/>
            </a:pPr>
            <a:r>
              <a:rPr lang="fr-FR" sz="2800">
                <a:ea typeface="+mn-lt"/>
                <a:cs typeface="+mn-lt"/>
              </a:rPr>
              <a:t>"Le calcul ne peut nous apprendre de réponse causale"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08410697">
                                            <p:txEl>
                                              <p:pRg st="0" end="0"/>
                                            </p:txEl>
                                          </p:spTgt>
                                        </p:tgtEl>
                                        <p:attrNameLst>
                                          <p:attrName>style.visibility</p:attrName>
                                        </p:attrNameLst>
                                      </p:cBhvr>
                                      <p:to>
                                        <p:strVal val="visible"/>
                                      </p:to>
                                    </p:set>
                                    <p:animEffect transition="in" filter="fade">
                                      <p:cBhvr>
                                        <p:cTn id="7" dur="500"/>
                                        <p:tgtEl>
                                          <p:spTgt spid="17084106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08410697">
                                            <p:txEl>
                                              <p:pRg st="1" end="1"/>
                                            </p:txEl>
                                          </p:spTgt>
                                        </p:tgtEl>
                                        <p:attrNameLst>
                                          <p:attrName>style.visibility</p:attrName>
                                        </p:attrNameLst>
                                      </p:cBhvr>
                                      <p:to>
                                        <p:strVal val="visible"/>
                                      </p:to>
                                    </p:set>
                                    <p:animEffect transition="in" filter="fade">
                                      <p:cBhvr>
                                        <p:cTn id="12" dur="500"/>
                                        <p:tgtEl>
                                          <p:spTgt spid="17084106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08410697">
                                            <p:txEl>
                                              <p:pRg st="2" end="2"/>
                                            </p:txEl>
                                          </p:spTgt>
                                        </p:tgtEl>
                                        <p:attrNameLst>
                                          <p:attrName>style.visibility</p:attrName>
                                        </p:attrNameLst>
                                      </p:cBhvr>
                                      <p:to>
                                        <p:strVal val="visible"/>
                                      </p:to>
                                    </p:set>
                                    <p:animEffect transition="in" filter="fade">
                                      <p:cBhvr>
                                        <p:cTn id="17" dur="500"/>
                                        <p:tgtEl>
                                          <p:spTgt spid="17084106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08410697">
                                            <p:txEl>
                                              <p:pRg st="3" end="3"/>
                                            </p:txEl>
                                          </p:spTgt>
                                        </p:tgtEl>
                                        <p:attrNameLst>
                                          <p:attrName>style.visibility</p:attrName>
                                        </p:attrNameLst>
                                      </p:cBhvr>
                                      <p:to>
                                        <p:strVal val="visible"/>
                                      </p:to>
                                    </p:set>
                                    <p:animEffect transition="in" filter="fade">
                                      <p:cBhvr>
                                        <p:cTn id="22" dur="500"/>
                                        <p:tgtEl>
                                          <p:spTgt spid="170841069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08410697">
                                            <p:txEl>
                                              <p:pRg st="4" end="4"/>
                                            </p:txEl>
                                          </p:spTgt>
                                        </p:tgtEl>
                                        <p:attrNameLst>
                                          <p:attrName>style.visibility</p:attrName>
                                        </p:attrNameLst>
                                      </p:cBhvr>
                                      <p:to>
                                        <p:strVal val="visible"/>
                                      </p:to>
                                    </p:set>
                                    <p:animEffect transition="in" filter="fade">
                                      <p:cBhvr>
                                        <p:cTn id="27" dur="500"/>
                                        <p:tgtEl>
                                          <p:spTgt spid="170841069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08410697">
                                            <p:txEl>
                                              <p:pRg st="5" end="5"/>
                                            </p:txEl>
                                          </p:spTgt>
                                        </p:tgtEl>
                                        <p:attrNameLst>
                                          <p:attrName>style.visibility</p:attrName>
                                        </p:attrNameLst>
                                      </p:cBhvr>
                                      <p:to>
                                        <p:strVal val="visible"/>
                                      </p:to>
                                    </p:set>
                                    <p:animEffect transition="in" filter="fade">
                                      <p:cBhvr>
                                        <p:cTn id="32" dur="500"/>
                                        <p:tgtEl>
                                          <p:spTgt spid="170841069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8410697"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6639762" name="Titre 1"/>
          <p:cNvSpPr>
            <a:spLocks noGrp="1"/>
          </p:cNvSpPr>
          <p:nvPr>
            <p:ph type="title"/>
          </p:nvPr>
        </p:nvSpPr>
        <p:spPr bwMode="auto">
          <a:xfrm>
            <a:off x="3151908" y="365125"/>
            <a:ext cx="8201891" cy="1353272"/>
          </a:xfrm>
        </p:spPr>
        <p:txBody>
          <a:bodyPr/>
          <a:lstStyle/>
          <a:p>
            <a:pPr>
              <a:defRPr/>
            </a:pPr>
            <a:r>
              <a:rPr lang="fr-FR"/>
              <a:t>Antoine-Augustin Cournot (1801-1877)</a:t>
            </a:r>
            <a:endParaRPr/>
          </a:p>
        </p:txBody>
      </p:sp>
      <p:pic>
        <p:nvPicPr>
          <p:cNvPr id="1555600744" name="Espace réservé du contenu 3" descr="Une image contenant Visage humain, portrait, habits, personne&#10;&#10;Le contenu généré par l’IA peut être incorrect."/>
          <p:cNvPicPr>
            <a:picLocks noGrp="1" noChangeAspect="1"/>
          </p:cNvPicPr>
          <p:nvPr>
            <p:ph idx="1"/>
          </p:nvPr>
        </p:nvPicPr>
        <p:blipFill rotWithShape="1">
          <a:blip r:embed="rId3"/>
          <a:stretch/>
        </p:blipFill>
        <p:spPr bwMode="auto">
          <a:xfrm>
            <a:off x="603539" y="135876"/>
            <a:ext cx="2381250" cy="3352800"/>
          </a:xfrm>
          <a:prstGeom prst="rect">
            <a:avLst/>
          </a:prstGeom>
        </p:spPr>
      </p:pic>
      <p:sp>
        <p:nvSpPr>
          <p:cNvPr id="1696952677" name="ZoneTexte 5"/>
          <p:cNvSpPr txBox="1"/>
          <p:nvPr/>
        </p:nvSpPr>
        <p:spPr bwMode="auto">
          <a:xfrm>
            <a:off x="2985854" y="1815354"/>
            <a:ext cx="848009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mj-lt"/>
                <a:ea typeface="+mj-ea"/>
                <a:cs typeface="+mj-cs"/>
              </a:rPr>
              <a:t>Première</a:t>
            </a:r>
            <a:r>
              <a:rPr lang="fr-FR" sz="2800">
                <a:latin typeface="Aptos Display"/>
                <a:ea typeface="+mn-lt"/>
                <a:cs typeface="+mn-lt"/>
              </a:rPr>
              <a:t> définition de la p-valeur</a:t>
            </a:r>
            <a:endParaRPr/>
          </a:p>
          <a:p>
            <a:pPr marL="571500" indent="-571500">
              <a:buFont typeface="Arial,Sans-Serif"/>
              <a:buChar char="•"/>
              <a:defRPr/>
            </a:pPr>
            <a:r>
              <a:rPr lang="fr-FR" sz="2800">
                <a:latin typeface="Aptos Display"/>
              </a:rPr>
              <a:t>1843 : </a:t>
            </a:r>
            <a:r>
              <a:rPr lang="fr-FR" sz="2800">
                <a:latin typeface="Aptos"/>
                <a:ea typeface="+mn-lt"/>
                <a:cs typeface="+mn-lt"/>
              </a:rPr>
              <a:t>«</a:t>
            </a:r>
            <a:r>
              <a:rPr lang="fr-FR" sz="2800">
                <a:latin typeface="Aptos Display"/>
                <a:ea typeface="+mn-lt"/>
                <a:cs typeface="+mn-lt"/>
              </a:rPr>
              <a:t>e</a:t>
            </a:r>
            <a:r>
              <a:rPr lang="fr-FR" sz="2800">
                <a:ea typeface="+mn-lt"/>
                <a:cs typeface="+mn-lt"/>
              </a:rPr>
              <a:t>n tant que mesure de l'importance d'un écart donné, elle combine l'ampleur de l'effet et la taille de l'échantillon»</a:t>
            </a:r>
            <a:endParaRPr/>
          </a:p>
          <a:p>
            <a:pPr marL="571500" indent="-571500">
              <a:buFont typeface="Arial"/>
              <a:buChar char="•"/>
              <a:defRPr/>
            </a:pPr>
            <a:r>
              <a:rPr lang="fr-FR" sz="2800">
                <a:ea typeface="+mn-lt"/>
                <a:cs typeface="+mn-lt"/>
              </a:rPr>
              <a:t>« ne mesure en rien la probabilité de vérité ou d'erreur relative à un jugement donné »</a:t>
            </a:r>
            <a:endParaRPr lang="fr-FR" sz="2800">
              <a:latin typeface="Aptos"/>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96952677">
                                            <p:txEl>
                                              <p:pRg st="0" end="0"/>
                                            </p:txEl>
                                          </p:spTgt>
                                        </p:tgtEl>
                                        <p:attrNameLst>
                                          <p:attrName>style.visibility</p:attrName>
                                        </p:attrNameLst>
                                      </p:cBhvr>
                                      <p:to>
                                        <p:strVal val="visible"/>
                                      </p:to>
                                    </p:set>
                                    <p:animEffect transition="in" filter="fade">
                                      <p:cBhvr>
                                        <p:cTn id="7" dur="500"/>
                                        <p:tgtEl>
                                          <p:spTgt spid="16969526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96952677">
                                            <p:txEl>
                                              <p:pRg st="1" end="1"/>
                                            </p:txEl>
                                          </p:spTgt>
                                        </p:tgtEl>
                                        <p:attrNameLst>
                                          <p:attrName>style.visibility</p:attrName>
                                        </p:attrNameLst>
                                      </p:cBhvr>
                                      <p:to>
                                        <p:strVal val="visible"/>
                                      </p:to>
                                    </p:set>
                                    <p:animEffect transition="in" filter="fade">
                                      <p:cBhvr>
                                        <p:cTn id="12" dur="500"/>
                                        <p:tgtEl>
                                          <p:spTgt spid="16969526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96952677">
                                            <p:txEl>
                                              <p:pRg st="2" end="2"/>
                                            </p:txEl>
                                          </p:spTgt>
                                        </p:tgtEl>
                                        <p:attrNameLst>
                                          <p:attrName>style.visibility</p:attrName>
                                        </p:attrNameLst>
                                      </p:cBhvr>
                                      <p:to>
                                        <p:strVal val="visible"/>
                                      </p:to>
                                    </p:set>
                                    <p:animEffect transition="in" filter="fade">
                                      <p:cBhvr>
                                        <p:cTn id="17" dur="500"/>
                                        <p:tgtEl>
                                          <p:spTgt spid="169695267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695267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62500462" name="Titre 1"/>
          <p:cNvSpPr>
            <a:spLocks noGrp="1"/>
          </p:cNvSpPr>
          <p:nvPr>
            <p:ph type="title"/>
          </p:nvPr>
        </p:nvSpPr>
        <p:spPr bwMode="auto">
          <a:xfrm>
            <a:off x="3782290" y="365125"/>
            <a:ext cx="7571510" cy="1353272"/>
          </a:xfrm>
        </p:spPr>
        <p:txBody>
          <a:bodyPr/>
          <a:lstStyle/>
          <a:p>
            <a:pPr>
              <a:defRPr/>
            </a:pPr>
            <a:r>
              <a:rPr lang="fr-FR">
                <a:ea typeface="+mj-lt"/>
                <a:cs typeface="+mj-lt"/>
              </a:rPr>
              <a:t>Francis Ysidro Edgeworth (1845 - 1926)</a:t>
            </a:r>
            <a:endParaRPr lang="fr-FR"/>
          </a:p>
        </p:txBody>
      </p:sp>
      <p:pic>
        <p:nvPicPr>
          <p:cNvPr id="1723557745" name="Espace réservé du contenu 3" descr="Une image contenant Visage humain, portrait, habits, personne&#10;&#10;Le contenu généré par l’IA peut être incorrect."/>
          <p:cNvPicPr>
            <a:picLocks noGrp="1" noChangeAspect="1"/>
          </p:cNvPicPr>
          <p:nvPr>
            <p:ph idx="1"/>
          </p:nvPr>
        </p:nvPicPr>
        <p:blipFill rotWithShape="1">
          <a:blip r:embed="rId3"/>
          <a:stretch/>
        </p:blipFill>
        <p:spPr bwMode="auto">
          <a:xfrm>
            <a:off x="444211" y="267494"/>
            <a:ext cx="2381250" cy="2895600"/>
          </a:xfrm>
          <a:prstGeom prst="rect">
            <a:avLst/>
          </a:prstGeom>
        </p:spPr>
      </p:pic>
      <p:sp>
        <p:nvSpPr>
          <p:cNvPr id="1909863096" name="ZoneTexte 5"/>
          <p:cNvSpPr txBox="1"/>
          <p:nvPr/>
        </p:nvSpPr>
        <p:spPr bwMode="auto">
          <a:xfrm>
            <a:off x="2985854" y="1815354"/>
            <a:ext cx="8480096"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mj-lt"/>
                <a:ea typeface="+mj-ea"/>
                <a:cs typeface="+mj-cs"/>
              </a:rPr>
              <a:t>Premier</a:t>
            </a:r>
            <a:r>
              <a:rPr lang="fr-FR" sz="2800">
                <a:latin typeface="Aptos Display"/>
                <a:ea typeface="+mn-lt"/>
                <a:cs typeface="+mn-lt"/>
              </a:rPr>
              <a:t> fondement mathématique formel du test de significativité</a:t>
            </a:r>
            <a:endParaRPr/>
          </a:p>
          <a:p>
            <a:pPr marL="571500" indent="-571500">
              <a:buFont typeface="Arial"/>
              <a:buChar char="•"/>
              <a:defRPr/>
            </a:pPr>
            <a:r>
              <a:rPr lang="fr-FR" sz="2800">
                <a:latin typeface="Aptos Display"/>
              </a:rPr>
              <a:t>Illustre par le module, l'écart-type multiplié par la racine carré de 2</a:t>
            </a:r>
            <a:endParaRPr/>
          </a:p>
          <a:p>
            <a:pPr marL="571500" indent="-571500">
              <a:buFont typeface="Arial"/>
              <a:buChar char="•"/>
              <a:defRPr/>
            </a:pPr>
            <a:r>
              <a:rPr lang="fr-FR" sz="2800">
                <a:latin typeface="Aptos Display"/>
              </a:rPr>
              <a:t>1885 – premier test bilatéral moderne avec un seuil de significativité de 0.05</a:t>
            </a:r>
            <a:endParaRPr/>
          </a:p>
          <a:p>
            <a:pPr marL="571500" indent="-571500">
              <a:buFont typeface="Arial"/>
              <a:buChar char="•"/>
              <a:defRPr/>
            </a:pPr>
            <a:r>
              <a:rPr lang="fr-FR" sz="2800">
                <a:latin typeface="Aptos Display"/>
              </a:rPr>
              <a:t>« test relativement exact ». Edgeworth considérait les différences plus faibles comme « dignes d’intérêt, bien qu’il admît que les preuves étaient alors moins solides ».</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09863096">
                                            <p:txEl>
                                              <p:pRg st="0" end="0"/>
                                            </p:txEl>
                                          </p:spTgt>
                                        </p:tgtEl>
                                        <p:attrNameLst>
                                          <p:attrName>style.visibility</p:attrName>
                                        </p:attrNameLst>
                                      </p:cBhvr>
                                      <p:to>
                                        <p:strVal val="visible"/>
                                      </p:to>
                                    </p:set>
                                    <p:animEffect transition="in" filter="fade">
                                      <p:cBhvr>
                                        <p:cTn id="7" dur="500"/>
                                        <p:tgtEl>
                                          <p:spTgt spid="19098630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09863096">
                                            <p:txEl>
                                              <p:pRg st="1" end="1"/>
                                            </p:txEl>
                                          </p:spTgt>
                                        </p:tgtEl>
                                        <p:attrNameLst>
                                          <p:attrName>style.visibility</p:attrName>
                                        </p:attrNameLst>
                                      </p:cBhvr>
                                      <p:to>
                                        <p:strVal val="visible"/>
                                      </p:to>
                                    </p:set>
                                    <p:animEffect transition="in" filter="fade">
                                      <p:cBhvr>
                                        <p:cTn id="12" dur="500"/>
                                        <p:tgtEl>
                                          <p:spTgt spid="19098630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09863096">
                                            <p:txEl>
                                              <p:pRg st="2" end="2"/>
                                            </p:txEl>
                                          </p:spTgt>
                                        </p:tgtEl>
                                        <p:attrNameLst>
                                          <p:attrName>style.visibility</p:attrName>
                                        </p:attrNameLst>
                                      </p:cBhvr>
                                      <p:to>
                                        <p:strVal val="visible"/>
                                      </p:to>
                                    </p:set>
                                    <p:animEffect transition="in" filter="fade">
                                      <p:cBhvr>
                                        <p:cTn id="17" dur="500"/>
                                        <p:tgtEl>
                                          <p:spTgt spid="19098630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09863096">
                                            <p:txEl>
                                              <p:pRg st="3" end="3"/>
                                            </p:txEl>
                                          </p:spTgt>
                                        </p:tgtEl>
                                        <p:attrNameLst>
                                          <p:attrName>style.visibility</p:attrName>
                                        </p:attrNameLst>
                                      </p:cBhvr>
                                      <p:to>
                                        <p:strVal val="visible"/>
                                      </p:to>
                                    </p:set>
                                    <p:animEffect transition="in" filter="fade">
                                      <p:cBhvr>
                                        <p:cTn id="22" dur="500"/>
                                        <p:tgtEl>
                                          <p:spTgt spid="19098630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9863096"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35000166" name="Titre 1"/>
          <p:cNvSpPr>
            <a:spLocks noGrp="1"/>
          </p:cNvSpPr>
          <p:nvPr>
            <p:ph type="title"/>
          </p:nvPr>
        </p:nvSpPr>
        <p:spPr bwMode="auto"/>
        <p:txBody>
          <a:bodyPr/>
          <a:lstStyle/>
          <a:p>
            <a:pPr>
              <a:defRPr/>
            </a:pPr>
            <a:r>
              <a:rPr lang="fr-FR"/>
              <a:t>Qu'a apporté Pearson ?</a:t>
            </a:r>
            <a:endParaRPr/>
          </a:p>
        </p:txBody>
      </p:sp>
      <p:pic>
        <p:nvPicPr>
          <p:cNvPr id="690748067" name="Espace réservé du contenu 3" descr="Une image contenant texte, Police, capture d’écran, document&#10;&#10;Le contenu généré par l’IA peut être incorrect."/>
          <p:cNvPicPr>
            <a:picLocks noGrp="1" noChangeAspect="1"/>
          </p:cNvPicPr>
          <p:nvPr>
            <p:ph idx="1"/>
          </p:nvPr>
        </p:nvPicPr>
        <p:blipFill rotWithShape="1">
          <a:blip r:embed="rId3"/>
          <a:stretch/>
        </p:blipFill>
        <p:spPr bwMode="auto">
          <a:xfrm>
            <a:off x="6510337" y="1523062"/>
            <a:ext cx="5267325" cy="2628900"/>
          </a:xfrm>
          <a:prstGeom prst="rect">
            <a:avLst/>
          </a:prstGeom>
        </p:spPr>
      </p:pic>
      <p:sp>
        <p:nvSpPr>
          <p:cNvPr id="840741720" name="ZoneTexte 5"/>
          <p:cNvSpPr txBox="1"/>
          <p:nvPr/>
        </p:nvSpPr>
        <p:spPr bwMode="auto">
          <a:xfrm>
            <a:off x="450472" y="1690663"/>
            <a:ext cx="6152533"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mj-lt"/>
                <a:ea typeface="+mj-ea"/>
                <a:cs typeface="+mj-cs"/>
              </a:rPr>
              <a:t>Pearson (1900) décrit la distribution du </a:t>
            </a:r>
            <a:r>
              <a:rPr lang="fr-FR" sz="2800">
                <a:ea typeface="+mn-lt"/>
                <a:cs typeface="+mn-lt"/>
              </a:rPr>
              <a:t>χ² et les applications de la statistique χ², notamment son utilisation dans les tests d'indépendance des proportions.</a:t>
            </a:r>
            <a:endParaRPr/>
          </a:p>
          <a:p>
            <a:pPr marL="571500" indent="-571500">
              <a:buFont typeface="Arial"/>
              <a:buChar char="•"/>
              <a:defRPr/>
            </a:pPr>
            <a:r>
              <a:rPr lang="fr-FR" sz="2800">
                <a:ea typeface="+mn-lt"/>
                <a:cs typeface="+mn-lt"/>
              </a:rPr>
              <a:t>P =  les « chances qu'un système d'erreurs présente une fréquence égale ou supérieure à celle indiquée par χ »</a:t>
            </a:r>
            <a:endParaRPr lang="fr-FR" sz="2800"/>
          </a:p>
        </p:txBody>
      </p:sp>
      <p:cxnSp>
        <p:nvCxnSpPr>
          <p:cNvPr id="313535704" name="Connecteur droit avec flèche 6"/>
          <p:cNvCxnSpPr/>
          <p:nvPr/>
        </p:nvCxnSpPr>
        <p:spPr bwMode="auto">
          <a:xfrm flipV="1">
            <a:off x="6267482" y="3547815"/>
            <a:ext cx="617264" cy="38191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961572356" name="Rectangle : coins arrondis 7"/>
          <p:cNvSpPr/>
          <p:nvPr/>
        </p:nvSpPr>
        <p:spPr bwMode="auto">
          <a:xfrm>
            <a:off x="6835127" y="3287312"/>
            <a:ext cx="4453377" cy="917965"/>
          </a:xfrm>
          <a:prstGeom prst="roundRect">
            <a:avLst>
              <a:gd name="adj"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cxnSp>
        <p:nvCxnSpPr>
          <p:cNvPr id="1959805273" name="Connecteur droit avec flèche 8"/>
          <p:cNvCxnSpPr/>
          <p:nvPr/>
        </p:nvCxnSpPr>
        <p:spPr bwMode="auto">
          <a:xfrm flipV="1">
            <a:off x="6537645" y="5556724"/>
            <a:ext cx="575701" cy="91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922502691" name="ZoneTexte 9"/>
          <p:cNvSpPr txBox="1"/>
          <p:nvPr/>
        </p:nvSpPr>
        <p:spPr bwMode="auto">
          <a:xfrm>
            <a:off x="7114507" y="5078099"/>
            <a:ext cx="505109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fr-FR" sz="2800">
                <a:latin typeface="+mj-lt"/>
                <a:ea typeface="+mj-ea"/>
                <a:cs typeface="+mj-cs"/>
              </a:rPr>
              <a:t>Fonde</a:t>
            </a:r>
            <a:r>
              <a:rPr lang="fr-FR" sz="2800">
                <a:latin typeface="Aptos Display"/>
                <a:ea typeface="+mn-lt"/>
                <a:cs typeface="+mn-lt"/>
              </a:rPr>
              <a:t> l'utilisation moderne de l'utilisation de la p-valeur</a:t>
            </a:r>
            <a:endParaRPr lang="fr-F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0741720">
                                            <p:txEl>
                                              <p:pRg st="0" end="0"/>
                                            </p:txEl>
                                          </p:spTgt>
                                        </p:tgtEl>
                                        <p:attrNameLst>
                                          <p:attrName>style.visibility</p:attrName>
                                        </p:attrNameLst>
                                      </p:cBhvr>
                                      <p:to>
                                        <p:strVal val="visible"/>
                                      </p:to>
                                    </p:set>
                                    <p:animEffect transition="in" filter="fade">
                                      <p:cBhvr>
                                        <p:cTn id="7" dur="500"/>
                                        <p:tgtEl>
                                          <p:spTgt spid="8407417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40741720">
                                            <p:txEl>
                                              <p:pRg st="1" end="1"/>
                                            </p:txEl>
                                          </p:spTgt>
                                        </p:tgtEl>
                                        <p:attrNameLst>
                                          <p:attrName>style.visibility</p:attrName>
                                        </p:attrNameLst>
                                      </p:cBhvr>
                                      <p:to>
                                        <p:strVal val="visible"/>
                                      </p:to>
                                    </p:set>
                                    <p:animEffect transition="in" filter="fade">
                                      <p:cBhvr>
                                        <p:cTn id="12" dur="500"/>
                                        <p:tgtEl>
                                          <p:spTgt spid="8407417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3535704"/>
                                        </p:tgtEl>
                                        <p:attrNameLst>
                                          <p:attrName>style.visibility</p:attrName>
                                        </p:attrNameLst>
                                      </p:cBhvr>
                                      <p:to>
                                        <p:strVal val="visible"/>
                                      </p:to>
                                    </p:set>
                                    <p:animEffect transition="in" filter="fade">
                                      <p:cBhvr>
                                        <p:cTn id="17" dur="500"/>
                                        <p:tgtEl>
                                          <p:spTgt spid="31353570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61572356"/>
                                        </p:tgtEl>
                                        <p:attrNameLst>
                                          <p:attrName>style.visibility</p:attrName>
                                        </p:attrNameLst>
                                      </p:cBhvr>
                                      <p:to>
                                        <p:strVal val="visible"/>
                                      </p:to>
                                    </p:set>
                                    <p:animEffect transition="in" filter="fade">
                                      <p:cBhvr>
                                        <p:cTn id="20" dur="500"/>
                                        <p:tgtEl>
                                          <p:spTgt spid="96157235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2250269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59805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41720" grpId="0" build="p"/>
      <p:bldP spid="961572356" grpId="0" animBg="1"/>
      <p:bldP spid="92250269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3844371" name="Titre 1"/>
          <p:cNvSpPr>
            <a:spLocks noGrp="1"/>
          </p:cNvSpPr>
          <p:nvPr>
            <p:ph type="title"/>
          </p:nvPr>
        </p:nvSpPr>
        <p:spPr bwMode="auto"/>
        <p:txBody>
          <a:bodyPr/>
          <a:lstStyle/>
          <a:p>
            <a:pPr>
              <a:defRPr/>
            </a:pPr>
            <a:r>
              <a:rPr lang="fr-FR"/>
              <a:t>Mais comment ?</a:t>
            </a:r>
            <a:endParaRPr/>
          </a:p>
        </p:txBody>
      </p:sp>
      <p:pic>
        <p:nvPicPr>
          <p:cNvPr id="1167943768" name="Espace réservé du contenu 3" descr="Une image contenant texte, Visage humain, habits, portrait&#10;&#10;Le contenu généré par l’IA peut être incorrect."/>
          <p:cNvPicPr>
            <a:picLocks noGrp="1" noChangeAspect="1"/>
          </p:cNvPicPr>
          <p:nvPr>
            <p:ph idx="1"/>
          </p:nvPr>
        </p:nvPicPr>
        <p:blipFill rotWithShape="1">
          <a:blip r:embed="rId3"/>
          <a:srcRect l="433" t="10628" r="-433" b="24879"/>
          <a:stretch/>
        </p:blipFill>
        <p:spPr bwMode="auto">
          <a:xfrm>
            <a:off x="9341428" y="288709"/>
            <a:ext cx="2459183" cy="2839624"/>
          </a:xfrm>
          <a:prstGeom prst="rect">
            <a:avLst/>
          </a:prstGeom>
        </p:spPr>
      </p:pic>
      <p:sp>
        <p:nvSpPr>
          <p:cNvPr id="689918990" name="ZoneTexte 5"/>
          <p:cNvSpPr txBox="1"/>
          <p:nvPr/>
        </p:nvSpPr>
        <p:spPr bwMode="auto">
          <a:xfrm>
            <a:off x="838200" y="1503218"/>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a:t>William Palin Elderton (1877-1962)</a:t>
            </a:r>
            <a:endParaRPr lang="fr-FR"/>
          </a:p>
        </p:txBody>
      </p:sp>
      <p:sp>
        <p:nvSpPr>
          <p:cNvPr id="32673116" name="ZoneTexte 6"/>
          <p:cNvSpPr txBox="1"/>
          <p:nvPr/>
        </p:nvSpPr>
        <p:spPr bwMode="auto">
          <a:xfrm>
            <a:off x="838198" y="1946563"/>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a:t>A fait les tableaux pour TOUTES les distributions de chi-carrés (1902)</a:t>
            </a:r>
            <a:endParaRPr lang="fr-FR"/>
          </a:p>
        </p:txBody>
      </p:sp>
      <p:sp>
        <p:nvSpPr>
          <p:cNvPr id="788339467" name="ZoneTexte 8"/>
          <p:cNvSpPr txBox="1"/>
          <p:nvPr/>
        </p:nvSpPr>
        <p:spPr bwMode="auto">
          <a:xfrm>
            <a:off x="838198" y="2590799"/>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a:t>Grâce à ces tableaux, Pearson va pouvoir enseigner l'usage de la p-valeur à ses étudiants et va obliger les auteurs qui souhaitent publier dans Biometrika l'utilisation de la p-valeur.</a:t>
            </a:r>
            <a:endParaRPr lang="fr-FR"/>
          </a:p>
        </p:txBody>
      </p:sp>
      <p:sp>
        <p:nvSpPr>
          <p:cNvPr id="1285725306" name="ZoneTexte 10"/>
          <p:cNvSpPr txBox="1"/>
          <p:nvPr/>
        </p:nvSpPr>
        <p:spPr bwMode="auto">
          <a:xfrm>
            <a:off x="838198" y="3872344"/>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a:t>La règle : trois erreurs probables – ou deux erreurs-types - représentent une signification certaine</a:t>
            </a:r>
            <a:endParaRPr lang="fr-F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99189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79437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6731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83394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85725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918990" grpId="0"/>
      <p:bldP spid="32673116" grpId="0"/>
      <p:bldP spid="788339467" grpId="0"/>
      <p:bldP spid="1285725306"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3083359" name="Titre 1"/>
          <p:cNvSpPr>
            <a:spLocks noGrp="1"/>
          </p:cNvSpPr>
          <p:nvPr>
            <p:ph type="title"/>
          </p:nvPr>
        </p:nvSpPr>
        <p:spPr bwMode="auto"/>
        <p:txBody>
          <a:bodyPr/>
          <a:lstStyle/>
          <a:p>
            <a:pPr>
              <a:defRPr/>
            </a:pPr>
            <a:r>
              <a:rPr lang="fr-FR"/>
              <a:t>Ronald Fischer</a:t>
            </a:r>
            <a:endParaRPr/>
          </a:p>
        </p:txBody>
      </p:sp>
      <p:pic>
        <p:nvPicPr>
          <p:cNvPr id="781067234" name="Image 3" descr="Une image contenant Visage humain, portrait, habits, Barbe humaine&#10;&#10;Le contenu généré par l’IA peut être incorrect."/>
          <p:cNvPicPr>
            <a:picLocks noChangeAspect="1"/>
          </p:cNvPicPr>
          <p:nvPr/>
        </p:nvPicPr>
        <p:blipFill rotWithShape="1">
          <a:blip r:embed="rId3"/>
          <a:stretch/>
        </p:blipFill>
        <p:spPr bwMode="auto">
          <a:xfrm>
            <a:off x="9983932" y="364548"/>
            <a:ext cx="1915391" cy="2422814"/>
          </a:xfrm>
          <a:prstGeom prst="rect">
            <a:avLst/>
          </a:prstGeom>
        </p:spPr>
      </p:pic>
      <p:sp>
        <p:nvSpPr>
          <p:cNvPr id="891370509" name="ZoneTexte 6"/>
          <p:cNvSpPr txBox="1"/>
          <p:nvPr/>
        </p:nvSpPr>
        <p:spPr bwMode="auto">
          <a:xfrm>
            <a:off x="326113" y="1434353"/>
            <a:ext cx="615253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mj-lt"/>
                <a:ea typeface="+mj-ea"/>
                <a:cs typeface="+mj-cs"/>
              </a:rPr>
              <a:t>1922</a:t>
            </a:r>
            <a:r>
              <a:rPr lang="fr-FR" sz="2800">
                <a:latin typeface="Aptos Display"/>
                <a:ea typeface="+mn-lt"/>
                <a:cs typeface="+mn-lt"/>
              </a:rPr>
              <a:t> - développe 3 articles d'utilisation de la p-valeur dans d'autres domaines que le chi-2 : les régressions, les t-tests, les ANOVA </a:t>
            </a:r>
            <a:endParaRPr lang="fr-FR"/>
          </a:p>
        </p:txBody>
      </p:sp>
      <p:sp>
        <p:nvSpPr>
          <p:cNvPr id="1292205529" name="ZoneTexte 7"/>
          <p:cNvSpPr txBox="1"/>
          <p:nvPr/>
        </p:nvSpPr>
        <p:spPr bwMode="auto">
          <a:xfrm>
            <a:off x="326113" y="3588545"/>
            <a:ext cx="1051671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mj-lt"/>
                <a:ea typeface="+mj-ea"/>
                <a:cs typeface="+mj-cs"/>
              </a:rPr>
              <a:t>1925</a:t>
            </a:r>
            <a:r>
              <a:rPr lang="fr-FR" sz="2800">
                <a:latin typeface="Aptos Display"/>
                <a:ea typeface="+mn-lt"/>
                <a:cs typeface="+mn-lt"/>
              </a:rPr>
              <a:t> - écrit un livre sur l'utilisation des statistiques par des non-statisticiens : </a:t>
            </a:r>
            <a:r>
              <a:rPr lang="fr-FR" sz="2800" i="1">
                <a:latin typeface="Aptos Display"/>
                <a:ea typeface="+mn-lt"/>
                <a:cs typeface="+mn-lt"/>
              </a:rPr>
              <a:t>Statistical Methods for Research Workers</a:t>
            </a:r>
            <a:endParaRPr lang="fr-FR" i="1">
              <a:latin typeface="Aptos"/>
            </a:endParaRPr>
          </a:p>
        </p:txBody>
      </p:sp>
      <p:sp>
        <p:nvSpPr>
          <p:cNvPr id="1918816163" name="ZoneTexte 8"/>
          <p:cNvSpPr txBox="1"/>
          <p:nvPr/>
        </p:nvSpPr>
        <p:spPr bwMode="auto">
          <a:xfrm>
            <a:off x="326113" y="4652925"/>
            <a:ext cx="10516714"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ea typeface="+mn-lt"/>
                <a:cs typeface="+mn-lt"/>
              </a:rPr>
              <a:t>« à mettre entre les mains des chercheurs, et en particulier des biologistes, les moyens d’appliquer avec précision des tests statistiques à des données numériques »</a:t>
            </a:r>
            <a:endParaRPr lang="fr-FR" i="1">
              <a:latin typeface="Aptos"/>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13705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922055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18816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370509" grpId="0"/>
      <p:bldP spid="1292205529" grpId="0"/>
      <p:bldP spid="191881616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17213769" name="Titre 1"/>
          <p:cNvSpPr>
            <a:spLocks noGrp="1"/>
          </p:cNvSpPr>
          <p:nvPr>
            <p:ph type="title"/>
          </p:nvPr>
        </p:nvSpPr>
        <p:spPr bwMode="auto"/>
        <p:txBody>
          <a:bodyPr>
            <a:normAutofit/>
          </a:bodyPr>
          <a:lstStyle/>
          <a:p>
            <a:pPr marL="571500" indent="-571500">
              <a:lnSpc>
                <a:spcPct val="100000"/>
              </a:lnSpc>
              <a:spcBef>
                <a:spcPts val="0"/>
              </a:spcBef>
              <a:defRPr/>
            </a:pPr>
            <a:r>
              <a:rPr lang="fr-FR" sz="2800" i="1"/>
              <a:t>Statistical Methods for Research Workers</a:t>
            </a:r>
            <a:endParaRPr lang="fr-FR" sz="2800"/>
          </a:p>
        </p:txBody>
      </p:sp>
      <p:pic>
        <p:nvPicPr>
          <p:cNvPr id="2053327177" name="Espace réservé du contenu 3" descr="Une image contenant texte, livre, papier, lettre&#10;&#10;Le contenu généré par l’IA peut être incorrect."/>
          <p:cNvPicPr>
            <a:picLocks noGrp="1" noChangeAspect="1"/>
          </p:cNvPicPr>
          <p:nvPr>
            <p:ph idx="1"/>
          </p:nvPr>
        </p:nvPicPr>
        <p:blipFill rotWithShape="1">
          <a:blip r:embed="rId3"/>
          <a:stretch/>
        </p:blipFill>
        <p:spPr bwMode="auto">
          <a:xfrm>
            <a:off x="9210242" y="184367"/>
            <a:ext cx="2610716" cy="4114800"/>
          </a:xfrm>
          <a:prstGeom prst="rect">
            <a:avLst/>
          </a:prstGeom>
        </p:spPr>
      </p:pic>
      <p:sp>
        <p:nvSpPr>
          <p:cNvPr id="1091442175" name="ZoneTexte 5"/>
          <p:cNvSpPr txBox="1"/>
          <p:nvPr/>
        </p:nvSpPr>
        <p:spPr bwMode="auto">
          <a:xfrm>
            <a:off x="616727" y="1413572"/>
            <a:ext cx="8126805"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400" i="1">
                <a:latin typeface="Liberation Serif"/>
                <a:ea typeface="+mj-ea"/>
                <a:cs typeface="+mj-cs"/>
              </a:rPr>
              <a:t>La</a:t>
            </a:r>
            <a:r>
              <a:rPr lang="fr-FR" sz="2400" i="1">
                <a:latin typeface="Liberation Serif"/>
                <a:ea typeface="+mn-lt"/>
                <a:cs typeface="+mn-lt"/>
              </a:rPr>
              <a:t> valeur pour laquelle P = 0,05, soit 1 sur 20, est de 1,96, soit près de 2 ; il est pratique de prendre ce seuil comme limite pour déterminer si un écart doit être considéré comme significatif ou non. </a:t>
            </a:r>
            <a:endParaRPr lang="fr-FR"/>
          </a:p>
          <a:p>
            <a:pPr marL="571500" indent="-571500">
              <a:buFont typeface="Arial"/>
              <a:buChar char="•"/>
              <a:defRPr/>
            </a:pPr>
            <a:r>
              <a:rPr lang="fr-FR" sz="2400" i="1">
                <a:latin typeface="Liberation Serif"/>
                <a:ea typeface="+mn-lt"/>
                <a:cs typeface="+mn-lt"/>
              </a:rPr>
              <a:t>Les écarts dépassant le double de l'écart-type sont donc formellement considérés comme significatifs. </a:t>
            </a:r>
            <a:r>
              <a:rPr lang="fr-FR" sz="2400" b="1" i="1">
                <a:latin typeface="Liberation Serif"/>
                <a:ea typeface="+mn-lt"/>
                <a:cs typeface="+mn-lt"/>
              </a:rPr>
              <a:t>En utilisant ce critère, nous ne devrions donner suite à un résultat négatif qu'une fois sur 22 essais</a:t>
            </a:r>
            <a:r>
              <a:rPr lang="fr-FR" sz="2400" i="1">
                <a:latin typeface="Liberation Serif"/>
                <a:ea typeface="+mn-lt"/>
                <a:cs typeface="+mn-lt"/>
              </a:rPr>
              <a:t>, même si les statistiques sont le seul guide disponible. Les effets mineurs passeraient toujours inaperçus si les données étaient insuffisamment nombreuses pour les mettre en évidence, mais aucun abaissement du seuil de signification ne permettrait de résoudre cette difficulté.</a:t>
            </a:r>
            <a:endParaRPr lang="fr-F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14421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14421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1442175"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2229258" name="Titre 1"/>
          <p:cNvSpPr>
            <a:spLocks noGrp="1"/>
          </p:cNvSpPr>
          <p:nvPr>
            <p:ph type="title"/>
          </p:nvPr>
        </p:nvSpPr>
        <p:spPr bwMode="auto"/>
        <p:txBody>
          <a:bodyPr/>
          <a:lstStyle/>
          <a:p>
            <a:pPr>
              <a:defRPr/>
            </a:pPr>
            <a:r>
              <a:rPr lang="fr-FR"/>
              <a:t>La p-valeur</a:t>
            </a:r>
          </a:p>
        </p:txBody>
      </p:sp>
      <p:sp>
        <p:nvSpPr>
          <p:cNvPr id="1681355844" name="Espace réservé du contenu 2"/>
          <p:cNvSpPr>
            <a:spLocks noGrp="1"/>
          </p:cNvSpPr>
          <p:nvPr>
            <p:ph idx="1"/>
          </p:nvPr>
        </p:nvSpPr>
        <p:spPr bwMode="auto"/>
        <p:txBody>
          <a:bodyPr vert="horz" lIns="91440" tIns="45720" rIns="91440" bIns="45720" rtlCol="0" anchor="t">
            <a:normAutofit lnSpcReduction="10000"/>
          </a:bodyPr>
          <a:lstStyle/>
          <a:p>
            <a:pPr>
              <a:defRPr/>
            </a:pPr>
            <a:r>
              <a:rPr lang="fr-FR">
                <a:ea typeface="+mn-lt"/>
                <a:cs typeface="+mn-lt"/>
              </a:rPr>
              <a:t>Il s'agit de la probabilité d'obtenir un résultat aussi extrême, voire plus extrême, que le résultat observé, en supposant que l'hypothèse nulle soit vraie.</a:t>
            </a:r>
            <a:endParaRPr lang="fr-FR"/>
          </a:p>
          <a:p>
            <a:pPr>
              <a:defRPr/>
            </a:pPr>
            <a:r>
              <a:rPr lang="fr-FR">
                <a:ea typeface="+mn-lt"/>
                <a:cs typeface="+mn-lt"/>
              </a:rPr>
              <a:t>Cela explique pourquoi 0,05 est un seuil pratique : il correspond approximativement à la probabilité de se situer à plus de deux écarts-types de la moyenne d'une variable aléatoire normalement distribuée. </a:t>
            </a:r>
            <a:endParaRPr lang="fr-FR"/>
          </a:p>
          <a:p>
            <a:pPr>
              <a:defRPr/>
            </a:pPr>
            <a:r>
              <a:rPr lang="fr-FR">
                <a:ea typeface="+mn-lt"/>
                <a:cs typeface="+mn-lt"/>
              </a:rPr>
              <a:t> 0,05 n'est pas un seuil arbitraire. C'est une valeur résultant de la nécessité de faciliter les calculs à une époque où les ordinateurs n'avaient pas encore rendu les tables et les approximations largement obsolètes. </a:t>
            </a:r>
            <a:endParaRPr lang="fr-F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81355844">
                                            <p:txEl>
                                              <p:pRg st="0" end="0"/>
                                            </p:txEl>
                                          </p:spTgt>
                                        </p:tgtEl>
                                        <p:attrNameLst>
                                          <p:attrName>style.visibility</p:attrName>
                                        </p:attrNameLst>
                                      </p:cBhvr>
                                      <p:to>
                                        <p:strVal val="visible"/>
                                      </p:to>
                                    </p:set>
                                    <p:animEffect transition="in" filter="fade">
                                      <p:cBhvr>
                                        <p:cTn id="7" dur="500"/>
                                        <p:tgtEl>
                                          <p:spTgt spid="16813558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81355844">
                                            <p:txEl>
                                              <p:pRg st="1" end="1"/>
                                            </p:txEl>
                                          </p:spTgt>
                                        </p:tgtEl>
                                        <p:attrNameLst>
                                          <p:attrName>style.visibility</p:attrName>
                                        </p:attrNameLst>
                                      </p:cBhvr>
                                      <p:to>
                                        <p:strVal val="visible"/>
                                      </p:to>
                                    </p:set>
                                    <p:animEffect transition="in" filter="fade">
                                      <p:cBhvr>
                                        <p:cTn id="12" dur="500"/>
                                        <p:tgtEl>
                                          <p:spTgt spid="16813558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81355844">
                                            <p:txEl>
                                              <p:pRg st="2" end="2"/>
                                            </p:txEl>
                                          </p:spTgt>
                                        </p:tgtEl>
                                        <p:attrNameLst>
                                          <p:attrName>style.visibility</p:attrName>
                                        </p:attrNameLst>
                                      </p:cBhvr>
                                      <p:to>
                                        <p:strVal val="visible"/>
                                      </p:to>
                                    </p:set>
                                    <p:animEffect transition="in" filter="fade">
                                      <p:cBhvr>
                                        <p:cTn id="17" dur="500"/>
                                        <p:tgtEl>
                                          <p:spTgt spid="16813558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1355844"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83801769" name="Titre 1"/>
          <p:cNvSpPr>
            <a:spLocks noGrp="1"/>
          </p:cNvSpPr>
          <p:nvPr>
            <p:ph type="title"/>
          </p:nvPr>
        </p:nvSpPr>
        <p:spPr bwMode="auto"/>
        <p:txBody>
          <a:bodyPr/>
          <a:lstStyle/>
          <a:p>
            <a:pPr>
              <a:defRPr/>
            </a:pPr>
            <a:r>
              <a:rPr lang="fr-FR"/>
              <a:t>Pourquoi la p-valeur</a:t>
            </a:r>
            <a:endParaRPr/>
          </a:p>
        </p:txBody>
      </p:sp>
      <p:sp>
        <p:nvSpPr>
          <p:cNvPr id="2023490888" name="Espace réservé du contenu 2"/>
          <p:cNvSpPr>
            <a:spLocks noGrp="1"/>
          </p:cNvSpPr>
          <p:nvPr>
            <p:ph idx="1"/>
          </p:nvPr>
        </p:nvSpPr>
        <p:spPr bwMode="auto"/>
        <p:txBody>
          <a:bodyPr vert="horz" lIns="91440" tIns="45720" rIns="91440" bIns="45720" rtlCol="0" anchor="t">
            <a:normAutofit/>
          </a:bodyPr>
          <a:lstStyle/>
          <a:p>
            <a:pPr>
              <a:defRPr/>
            </a:pPr>
            <a:r>
              <a:rPr lang="fr-FR"/>
              <a:t>Parce que renseigne sur le "risque" de se tromper</a:t>
            </a:r>
          </a:p>
          <a:p>
            <a:pPr>
              <a:defRPr/>
            </a:pPr>
            <a:r>
              <a:rPr lang="fr-FR"/>
              <a:t>Parce que facile à calculer</a:t>
            </a:r>
            <a:endParaRPr/>
          </a:p>
          <a:p>
            <a:pPr>
              <a:defRPr/>
            </a:pPr>
            <a:r>
              <a:rPr lang="fr-FR"/>
              <a:t>Parce que lié à un seuil qui le rend facile à comprendre</a:t>
            </a:r>
          </a:p>
          <a:p>
            <a:pPr>
              <a:defRPr/>
            </a:pPr>
            <a:r>
              <a:rPr lang="fr-FR"/>
              <a:t>Parce que rendu ultra accessible par des livres</a:t>
            </a:r>
            <a:endParaRPr/>
          </a:p>
          <a:p>
            <a:pPr>
              <a:defRPr/>
            </a:pPr>
            <a:endParaRPr lang="fr-FR"/>
          </a:p>
          <a:p>
            <a:pPr>
              <a:defRPr/>
            </a:pPr>
            <a:r>
              <a:rPr lang="fr-FR"/>
              <a:t>Mais alors pourquoi avoir besoin de tableaux pour chaque valeur p au lieu de seulement la valeur de 0.05?</a:t>
            </a:r>
          </a:p>
          <a:p>
            <a:pPr>
              <a:defRPr/>
            </a:pPr>
            <a:r>
              <a:rPr lang="fr-FR"/>
              <a:t>Parce que, pour Fischer, la valeur de 0.05 n'est pas si importante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3490888">
                                            <p:txEl>
                                              <p:pRg st="0" end="0"/>
                                            </p:txEl>
                                          </p:spTgt>
                                        </p:tgtEl>
                                        <p:attrNameLst>
                                          <p:attrName>style.visibility</p:attrName>
                                        </p:attrNameLst>
                                      </p:cBhvr>
                                      <p:to>
                                        <p:strVal val="visible"/>
                                      </p:to>
                                    </p:set>
                                    <p:animEffect transition="in" filter="fade">
                                      <p:cBhvr>
                                        <p:cTn id="7" dur="500"/>
                                        <p:tgtEl>
                                          <p:spTgt spid="20234908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23490888">
                                            <p:txEl>
                                              <p:pRg st="1" end="1"/>
                                            </p:txEl>
                                          </p:spTgt>
                                        </p:tgtEl>
                                        <p:attrNameLst>
                                          <p:attrName>style.visibility</p:attrName>
                                        </p:attrNameLst>
                                      </p:cBhvr>
                                      <p:to>
                                        <p:strVal val="visible"/>
                                      </p:to>
                                    </p:set>
                                    <p:animEffect transition="in" filter="fade">
                                      <p:cBhvr>
                                        <p:cTn id="12" dur="500"/>
                                        <p:tgtEl>
                                          <p:spTgt spid="20234908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23490888">
                                            <p:txEl>
                                              <p:pRg st="2" end="2"/>
                                            </p:txEl>
                                          </p:spTgt>
                                        </p:tgtEl>
                                        <p:attrNameLst>
                                          <p:attrName>style.visibility</p:attrName>
                                        </p:attrNameLst>
                                      </p:cBhvr>
                                      <p:to>
                                        <p:strVal val="visible"/>
                                      </p:to>
                                    </p:set>
                                    <p:animEffect transition="in" filter="fade">
                                      <p:cBhvr>
                                        <p:cTn id="17" dur="500"/>
                                        <p:tgtEl>
                                          <p:spTgt spid="20234908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23490888">
                                            <p:txEl>
                                              <p:pRg st="3" end="3"/>
                                            </p:txEl>
                                          </p:spTgt>
                                        </p:tgtEl>
                                        <p:attrNameLst>
                                          <p:attrName>style.visibility</p:attrName>
                                        </p:attrNameLst>
                                      </p:cBhvr>
                                      <p:to>
                                        <p:strVal val="visible"/>
                                      </p:to>
                                    </p:set>
                                    <p:animEffect transition="in" filter="fade">
                                      <p:cBhvr>
                                        <p:cTn id="22" dur="500"/>
                                        <p:tgtEl>
                                          <p:spTgt spid="202349088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23490888">
                                            <p:txEl>
                                              <p:pRg st="5" end="5"/>
                                            </p:txEl>
                                          </p:spTgt>
                                        </p:tgtEl>
                                        <p:attrNameLst>
                                          <p:attrName>style.visibility</p:attrName>
                                        </p:attrNameLst>
                                      </p:cBhvr>
                                      <p:to>
                                        <p:strVal val="visible"/>
                                      </p:to>
                                    </p:set>
                                    <p:animEffect transition="in" filter="fade">
                                      <p:cBhvr>
                                        <p:cTn id="27" dur="500"/>
                                        <p:tgtEl>
                                          <p:spTgt spid="202349088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23490888">
                                            <p:txEl>
                                              <p:pRg st="6" end="6"/>
                                            </p:txEl>
                                          </p:spTgt>
                                        </p:tgtEl>
                                        <p:attrNameLst>
                                          <p:attrName>style.visibility</p:attrName>
                                        </p:attrNameLst>
                                      </p:cBhvr>
                                      <p:to>
                                        <p:strVal val="visible"/>
                                      </p:to>
                                    </p:set>
                                    <p:animEffect transition="in" filter="fade">
                                      <p:cBhvr>
                                        <p:cTn id="32" dur="500"/>
                                        <p:tgtEl>
                                          <p:spTgt spid="202349088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3490888"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53112294" name="Titre 1"/>
          <p:cNvSpPr>
            <a:spLocks noGrp="1"/>
          </p:cNvSpPr>
          <p:nvPr>
            <p:ph type="title"/>
          </p:nvPr>
        </p:nvSpPr>
        <p:spPr bwMode="auto"/>
        <p:txBody>
          <a:bodyPr>
            <a:normAutofit/>
          </a:bodyPr>
          <a:lstStyle/>
          <a:p>
            <a:pPr marL="571500" indent="-571500">
              <a:lnSpc>
                <a:spcPct val="100000"/>
              </a:lnSpc>
              <a:spcBef>
                <a:spcPts val="0"/>
              </a:spcBef>
              <a:defRPr/>
            </a:pPr>
            <a:r>
              <a:rPr lang="fr-FR" sz="2800" i="1"/>
              <a:t>Statistical Methods for Research Workers</a:t>
            </a:r>
            <a:endParaRPr lang="fr-FR" sz="2800"/>
          </a:p>
        </p:txBody>
      </p:sp>
      <p:pic>
        <p:nvPicPr>
          <p:cNvPr id="2123899773" name="Espace réservé du contenu 3" descr="Une image contenant texte, livre, papier, lettre&#10;&#10;Le contenu généré par l’IA peut être incorrect."/>
          <p:cNvPicPr>
            <a:picLocks noGrp="1" noChangeAspect="1"/>
          </p:cNvPicPr>
          <p:nvPr>
            <p:ph idx="1"/>
          </p:nvPr>
        </p:nvPicPr>
        <p:blipFill rotWithShape="1">
          <a:blip r:embed="rId3"/>
          <a:stretch/>
        </p:blipFill>
        <p:spPr bwMode="auto">
          <a:xfrm>
            <a:off x="9210242" y="184367"/>
            <a:ext cx="2610716" cy="4114800"/>
          </a:xfrm>
          <a:prstGeom prst="rect">
            <a:avLst/>
          </a:prstGeom>
        </p:spPr>
      </p:pic>
      <p:sp>
        <p:nvSpPr>
          <p:cNvPr id="392563892" name="ZoneTexte 5"/>
          <p:cNvSpPr txBox="1"/>
          <p:nvPr/>
        </p:nvSpPr>
        <p:spPr bwMode="auto">
          <a:xfrm>
            <a:off x="616727" y="1413572"/>
            <a:ext cx="8126805"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Aptos"/>
              </a:rPr>
              <a:t>Fischer va retravailler la table de p-valeur de Pearson sur le</a:t>
            </a:r>
            <a:r>
              <a:rPr lang="fr-FR" sz="2400">
                <a:latin typeface="Liberation Serif"/>
              </a:rPr>
              <a:t> </a:t>
            </a:r>
            <a:r>
              <a:rPr lang="fr-FR" sz="2800">
                <a:latin typeface="Aptos"/>
              </a:rPr>
              <a:t>χ²</a:t>
            </a:r>
            <a:endParaRPr lang="fr-FR"/>
          </a:p>
          <a:p>
            <a:pPr marL="571500" indent="-571500">
              <a:buFont typeface="Arial"/>
              <a:buChar char="•"/>
              <a:defRPr/>
            </a:pPr>
            <a:r>
              <a:rPr lang="fr-FR" sz="2800">
                <a:latin typeface="Aptos"/>
              </a:rPr>
              <a:t>Parce que Pearson lui a refusé les droits</a:t>
            </a:r>
            <a:endParaRPr lang="fr-FR"/>
          </a:p>
          <a:p>
            <a:pPr marL="571500" indent="-571500">
              <a:buFont typeface="Arial"/>
              <a:buChar char="•"/>
              <a:defRPr/>
            </a:pPr>
            <a:endParaRPr lang="fr-FR" sz="2800">
              <a:latin typeface="Aptos"/>
            </a:endParaRPr>
          </a:p>
          <a:p>
            <a:pPr marL="571500" indent="-571500">
              <a:buFont typeface="Arial"/>
              <a:buChar char="•"/>
              <a:defRPr/>
            </a:pPr>
            <a:r>
              <a:rPr lang="fr-FR" sz="2800">
                <a:latin typeface="Aptos"/>
              </a:rPr>
              <a:t>Il va refaire le tableau de t-test qui avait déjà été produit par William Gosset (student).</a:t>
            </a:r>
            <a:endParaRPr/>
          </a:p>
          <a:p>
            <a:pPr marL="571500" indent="-571500">
              <a:buFont typeface="Arial"/>
              <a:buChar char="•"/>
              <a:defRPr/>
            </a:pPr>
            <a:r>
              <a:rPr lang="fr-FR" sz="2800">
                <a:latin typeface="Aptos"/>
              </a:rPr>
              <a:t>Parce qu'il voulait pas le citer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2563892">
                                            <p:txEl>
                                              <p:pRg st="0" end="0"/>
                                            </p:txEl>
                                          </p:spTgt>
                                        </p:tgtEl>
                                        <p:attrNameLst>
                                          <p:attrName>style.visibility</p:attrName>
                                        </p:attrNameLst>
                                      </p:cBhvr>
                                      <p:to>
                                        <p:strVal val="visible"/>
                                      </p:to>
                                    </p:set>
                                    <p:animEffect transition="in" filter="fade">
                                      <p:cBhvr>
                                        <p:cTn id="7" dur="500"/>
                                        <p:tgtEl>
                                          <p:spTgt spid="3925638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2563892">
                                            <p:txEl>
                                              <p:pRg st="1" end="1"/>
                                            </p:txEl>
                                          </p:spTgt>
                                        </p:tgtEl>
                                        <p:attrNameLst>
                                          <p:attrName>style.visibility</p:attrName>
                                        </p:attrNameLst>
                                      </p:cBhvr>
                                      <p:to>
                                        <p:strVal val="visible"/>
                                      </p:to>
                                    </p:set>
                                    <p:animEffect transition="in" filter="fade">
                                      <p:cBhvr>
                                        <p:cTn id="12" dur="500"/>
                                        <p:tgtEl>
                                          <p:spTgt spid="3925638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2563892">
                                            <p:txEl>
                                              <p:pRg st="3" end="3"/>
                                            </p:txEl>
                                          </p:spTgt>
                                        </p:tgtEl>
                                        <p:attrNameLst>
                                          <p:attrName>style.visibility</p:attrName>
                                        </p:attrNameLst>
                                      </p:cBhvr>
                                      <p:to>
                                        <p:strVal val="visible"/>
                                      </p:to>
                                    </p:set>
                                    <p:animEffect transition="in" filter="fade">
                                      <p:cBhvr>
                                        <p:cTn id="17" dur="500"/>
                                        <p:tgtEl>
                                          <p:spTgt spid="39256389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2563892">
                                            <p:txEl>
                                              <p:pRg st="4" end="4"/>
                                            </p:txEl>
                                          </p:spTgt>
                                        </p:tgtEl>
                                        <p:attrNameLst>
                                          <p:attrName>style.visibility</p:attrName>
                                        </p:attrNameLst>
                                      </p:cBhvr>
                                      <p:to>
                                        <p:strVal val="visible"/>
                                      </p:to>
                                    </p:set>
                                    <p:animEffect transition="in" filter="fade">
                                      <p:cBhvr>
                                        <p:cTn id="22" dur="500"/>
                                        <p:tgtEl>
                                          <p:spTgt spid="39256389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563892"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63969681" name="Espace réservé du contenu 3" descr="Une image contenant Visage humain, homme, portrait, Front&#10;&#10;Le contenu généré par l’IA peut être incorrect."/>
          <p:cNvPicPr>
            <a:picLocks noGrp="1" noChangeAspect="1"/>
          </p:cNvPicPr>
          <p:nvPr>
            <p:ph idx="1"/>
          </p:nvPr>
        </p:nvPicPr>
        <p:blipFill rotWithShape="1">
          <a:blip r:embed="rId3"/>
          <a:stretch/>
        </p:blipFill>
        <p:spPr bwMode="auto">
          <a:xfrm>
            <a:off x="8969375" y="493685"/>
            <a:ext cx="2381250" cy="2933699"/>
          </a:xfrm>
          <a:prstGeom prst="rect">
            <a:avLst/>
          </a:prstGeom>
        </p:spPr>
      </p:pic>
      <p:sp>
        <p:nvSpPr>
          <p:cNvPr id="785566572" name="Espace réservé du contenu 2"/>
          <p:cNvSpPr txBox="1"/>
          <p:nvPr/>
        </p:nvSpPr>
        <p:spPr bwMode="auto">
          <a:xfrm>
            <a:off x="838200" y="494314"/>
            <a:ext cx="7984359" cy="2932442"/>
          </a:xfrm>
          <a:prstGeom prst="rect">
            <a:avLst/>
          </a:prstGeom>
        </p:spPr>
        <p:txBody>
          <a:bodyPr vert="horz" lIns="91440" tIns="45720" rIns="91440" bIns="45720" rtlCol="0" anchor="t">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fr-FR" sz="2400"/>
              <a:t>Harold Hotelling (1895-1973)</a:t>
            </a:r>
          </a:p>
          <a:p>
            <a:pPr>
              <a:defRPr/>
            </a:pPr>
            <a:r>
              <a:rPr lang="fr-FR" sz="2400"/>
              <a:t>Professeur de statistiques à Stanford</a:t>
            </a:r>
          </a:p>
          <a:p>
            <a:pPr>
              <a:defRPr/>
            </a:pPr>
            <a:r>
              <a:rPr lang="fr-FR" sz="2400"/>
              <a:t>Créateur de l'analyse en composante principale</a:t>
            </a:r>
          </a:p>
          <a:p>
            <a:pPr>
              <a:defRPr/>
            </a:pPr>
            <a:r>
              <a:rPr lang="fr-FR" sz="2400"/>
              <a:t>Personnage principal de la dissémination des idées de Fischer aux USA</a:t>
            </a:r>
          </a:p>
          <a:p>
            <a:pPr>
              <a:defRPr/>
            </a:pPr>
            <a:r>
              <a:rPr lang="fr-FR" sz="2400"/>
              <a:t>Le livre de </a:t>
            </a:r>
            <a:r>
              <a:rPr lang="fr-FR" sz="2400">
                <a:latin typeface="Aptos"/>
              </a:rPr>
              <a:t>Fischer est « indispensables pour le chercheur travaillant avec des échantillons de taille moyenne »</a:t>
            </a:r>
            <a:endParaRPr/>
          </a:p>
        </p:txBody>
      </p:sp>
      <p:pic>
        <p:nvPicPr>
          <p:cNvPr id="363133551" name="Image 6" descr="Une image contenant habits, noir et blanc, meubles, table&#10;&#10;Le contenu généré par l’IA peut être incorrect."/>
          <p:cNvPicPr>
            <a:picLocks noChangeAspect="1"/>
          </p:cNvPicPr>
          <p:nvPr/>
        </p:nvPicPr>
        <p:blipFill rotWithShape="1">
          <a:blip r:embed="rId4"/>
          <a:stretch/>
        </p:blipFill>
        <p:spPr bwMode="auto">
          <a:xfrm>
            <a:off x="8969375" y="3676541"/>
            <a:ext cx="2381250" cy="2990850"/>
          </a:xfrm>
          <a:prstGeom prst="rect">
            <a:avLst/>
          </a:prstGeom>
        </p:spPr>
      </p:pic>
      <p:sp>
        <p:nvSpPr>
          <p:cNvPr id="946677271" name="Espace réservé du contenu 2"/>
          <p:cNvSpPr txBox="1"/>
          <p:nvPr/>
        </p:nvSpPr>
        <p:spPr bwMode="auto">
          <a:xfrm>
            <a:off x="838198" y="3699968"/>
            <a:ext cx="7984359" cy="2932442"/>
          </a:xfrm>
          <a:prstGeom prst="rect">
            <a:avLst/>
          </a:prstGeom>
        </p:spPr>
        <p:txBody>
          <a:bodyPr vert="horz" lIns="91440" tIns="45720" rIns="91440" bIns="45720" rtlCol="0" anchor="t">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fr-FR" sz="2400"/>
              <a:t>George Snedecor (1881-1974)</a:t>
            </a:r>
          </a:p>
          <a:p>
            <a:pPr>
              <a:defRPr/>
            </a:pPr>
            <a:r>
              <a:rPr lang="fr-FR" sz="2400"/>
              <a:t>Professeur de statistiques à l'université d'Iowa</a:t>
            </a:r>
          </a:p>
          <a:p>
            <a:pPr>
              <a:defRPr/>
            </a:pPr>
            <a:r>
              <a:rPr lang="fr-FR" sz="2400"/>
              <a:t>Créateur du F-test (ANOVA)</a:t>
            </a:r>
            <a:endParaRPr/>
          </a:p>
          <a:p>
            <a:pPr>
              <a:defRPr/>
            </a:pPr>
            <a:r>
              <a:rPr lang="fr-FR" sz="2400">
                <a:latin typeface="Aptos"/>
              </a:rPr>
              <a:t>Forma les sociologues, politologues et économistes à la p-valeur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5566572">
                                            <p:txEl>
                                              <p:pRg st="0" end="0"/>
                                            </p:txEl>
                                          </p:spTgt>
                                        </p:tgtEl>
                                        <p:attrNameLst>
                                          <p:attrName>style.visibility</p:attrName>
                                        </p:attrNameLst>
                                      </p:cBhvr>
                                      <p:to>
                                        <p:strVal val="visible"/>
                                      </p:to>
                                    </p:set>
                                    <p:anim calcmode="lin" valueType="num">
                                      <p:cBhvr additive="base">
                                        <p:cTn id="7" dur="500" fill="hold"/>
                                        <p:tgtEl>
                                          <p:spTgt spid="7855665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55665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5566572">
                                            <p:txEl>
                                              <p:pRg st="1" end="1"/>
                                            </p:txEl>
                                          </p:spTgt>
                                        </p:tgtEl>
                                        <p:attrNameLst>
                                          <p:attrName>style.visibility</p:attrName>
                                        </p:attrNameLst>
                                      </p:cBhvr>
                                      <p:to>
                                        <p:strVal val="visible"/>
                                      </p:to>
                                    </p:set>
                                    <p:anim calcmode="lin" valueType="num">
                                      <p:cBhvr additive="base">
                                        <p:cTn id="13" dur="500" fill="hold"/>
                                        <p:tgtEl>
                                          <p:spTgt spid="78556657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855665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85566572">
                                            <p:txEl>
                                              <p:pRg st="2" end="2"/>
                                            </p:txEl>
                                          </p:spTgt>
                                        </p:tgtEl>
                                        <p:attrNameLst>
                                          <p:attrName>style.visibility</p:attrName>
                                        </p:attrNameLst>
                                      </p:cBhvr>
                                      <p:to>
                                        <p:strVal val="visible"/>
                                      </p:to>
                                    </p:set>
                                    <p:anim calcmode="lin" valueType="num">
                                      <p:cBhvr additive="base">
                                        <p:cTn id="19" dur="500" fill="hold"/>
                                        <p:tgtEl>
                                          <p:spTgt spid="78556657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855665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85566572">
                                            <p:txEl>
                                              <p:pRg st="3" end="3"/>
                                            </p:txEl>
                                          </p:spTgt>
                                        </p:tgtEl>
                                        <p:attrNameLst>
                                          <p:attrName>style.visibility</p:attrName>
                                        </p:attrNameLst>
                                      </p:cBhvr>
                                      <p:to>
                                        <p:strVal val="visible"/>
                                      </p:to>
                                    </p:set>
                                    <p:anim calcmode="lin" valueType="num">
                                      <p:cBhvr additive="base">
                                        <p:cTn id="25" dur="500" fill="hold"/>
                                        <p:tgtEl>
                                          <p:spTgt spid="78556657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8556657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85566572">
                                            <p:txEl>
                                              <p:pRg st="4" end="4"/>
                                            </p:txEl>
                                          </p:spTgt>
                                        </p:tgtEl>
                                        <p:attrNameLst>
                                          <p:attrName>style.visibility</p:attrName>
                                        </p:attrNameLst>
                                      </p:cBhvr>
                                      <p:to>
                                        <p:strVal val="visible"/>
                                      </p:to>
                                    </p:set>
                                    <p:anim calcmode="lin" valueType="num">
                                      <p:cBhvr additive="base">
                                        <p:cTn id="31" dur="500" fill="hold"/>
                                        <p:tgtEl>
                                          <p:spTgt spid="78556657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8556657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3133551"/>
                                        </p:tgtEl>
                                        <p:attrNameLst>
                                          <p:attrName>style.visibility</p:attrName>
                                        </p:attrNameLst>
                                      </p:cBhvr>
                                      <p:to>
                                        <p:strVal val="visible"/>
                                      </p:to>
                                    </p:set>
                                    <p:animEffect transition="in" filter="fade">
                                      <p:cBhvr>
                                        <p:cTn id="37" dur="500"/>
                                        <p:tgtEl>
                                          <p:spTgt spid="36313355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46677271">
                                            <p:txEl>
                                              <p:pRg st="0" end="0"/>
                                            </p:txEl>
                                          </p:spTgt>
                                        </p:tgtEl>
                                        <p:attrNameLst>
                                          <p:attrName>style.visibility</p:attrName>
                                        </p:attrNameLst>
                                      </p:cBhvr>
                                      <p:to>
                                        <p:strVal val="visible"/>
                                      </p:to>
                                    </p:set>
                                    <p:animEffect transition="in" filter="fade">
                                      <p:cBhvr>
                                        <p:cTn id="42" dur="500"/>
                                        <p:tgtEl>
                                          <p:spTgt spid="94667727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46677271">
                                            <p:txEl>
                                              <p:pRg st="1" end="1"/>
                                            </p:txEl>
                                          </p:spTgt>
                                        </p:tgtEl>
                                        <p:attrNameLst>
                                          <p:attrName>style.visibility</p:attrName>
                                        </p:attrNameLst>
                                      </p:cBhvr>
                                      <p:to>
                                        <p:strVal val="visible"/>
                                      </p:to>
                                    </p:set>
                                    <p:animEffect transition="in" filter="fade">
                                      <p:cBhvr>
                                        <p:cTn id="47" dur="500"/>
                                        <p:tgtEl>
                                          <p:spTgt spid="946677271">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46677271">
                                            <p:txEl>
                                              <p:pRg st="2" end="2"/>
                                            </p:txEl>
                                          </p:spTgt>
                                        </p:tgtEl>
                                        <p:attrNameLst>
                                          <p:attrName>style.visibility</p:attrName>
                                        </p:attrNameLst>
                                      </p:cBhvr>
                                      <p:to>
                                        <p:strVal val="visible"/>
                                      </p:to>
                                    </p:set>
                                    <p:animEffect transition="in" filter="fade">
                                      <p:cBhvr>
                                        <p:cTn id="52" dur="500"/>
                                        <p:tgtEl>
                                          <p:spTgt spid="946677271">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946677271">
                                            <p:txEl>
                                              <p:pRg st="3" end="3"/>
                                            </p:txEl>
                                          </p:spTgt>
                                        </p:tgtEl>
                                        <p:attrNameLst>
                                          <p:attrName>style.visibility</p:attrName>
                                        </p:attrNameLst>
                                      </p:cBhvr>
                                      <p:to>
                                        <p:strVal val="visible"/>
                                      </p:to>
                                    </p:set>
                                    <p:animEffect transition="in" filter="fade">
                                      <p:cBhvr>
                                        <p:cTn id="57" dur="500"/>
                                        <p:tgtEl>
                                          <p:spTgt spid="9466772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566572" grpId="0" build="p"/>
      <p:bldP spid="946677271"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73068636" name="Titre 1"/>
          <p:cNvSpPr>
            <a:spLocks noGrp="1"/>
          </p:cNvSpPr>
          <p:nvPr>
            <p:ph type="title"/>
          </p:nvPr>
        </p:nvSpPr>
        <p:spPr bwMode="auto"/>
        <p:txBody>
          <a:bodyPr/>
          <a:lstStyle/>
          <a:p>
            <a:pPr>
              <a:defRPr/>
            </a:pPr>
            <a:r>
              <a:rPr lang="fr-FR"/>
              <a:t>Le débat de la valeur 0.05</a:t>
            </a:r>
            <a:endParaRPr/>
          </a:p>
        </p:txBody>
      </p:sp>
      <p:sp>
        <p:nvSpPr>
          <p:cNvPr id="1019451544" name="Espace réservé du contenu 2"/>
          <p:cNvSpPr>
            <a:spLocks noGrp="1"/>
          </p:cNvSpPr>
          <p:nvPr>
            <p:ph idx="1"/>
          </p:nvPr>
        </p:nvSpPr>
        <p:spPr bwMode="auto">
          <a:xfrm>
            <a:off x="838200" y="1424140"/>
            <a:ext cx="8244721" cy="2169248"/>
          </a:xfrm>
        </p:spPr>
        <p:txBody>
          <a:bodyPr vert="horz" lIns="91440" tIns="45720" rIns="91440" bIns="45720" rtlCol="0" anchor="t">
            <a:normAutofit/>
          </a:bodyPr>
          <a:lstStyle/>
          <a:p>
            <a:pPr>
              <a:defRPr/>
            </a:pPr>
            <a:r>
              <a:rPr lang="fr-FR" sz="2400"/>
              <a:t>Est aussi vieille que la p-valeur elle-même</a:t>
            </a:r>
            <a:endParaRPr/>
          </a:p>
          <a:p>
            <a:pPr>
              <a:defRPr/>
            </a:pPr>
            <a:r>
              <a:rPr lang="fr-FR" sz="2400"/>
              <a:t>Tippett (1931), élève de Fischer</a:t>
            </a:r>
            <a:endParaRPr/>
          </a:p>
          <a:p>
            <a:pPr>
              <a:defRPr/>
            </a:pPr>
            <a:r>
              <a:rPr lang="fr-FR" sz="2400" i="1">
                <a:ea typeface="+mn-lt"/>
                <a:cs typeface="+mn-lt"/>
              </a:rPr>
              <a:t>The Method of Statistics</a:t>
            </a:r>
            <a:endParaRPr lang="fr-FR" sz="2400">
              <a:ea typeface="+mn-lt"/>
              <a:cs typeface="+mn-lt"/>
            </a:endParaRPr>
          </a:p>
          <a:p>
            <a:pPr>
              <a:defRPr/>
            </a:pPr>
            <a:r>
              <a:rPr lang="fr-FR" sz="2400">
                <a:ea typeface="+mn-lt"/>
                <a:cs typeface="+mn-lt"/>
              </a:rPr>
              <a:t>le seuil de 0,05 était « tout à fait arbitraire » mais « d'usage courant »</a:t>
            </a:r>
            <a:endParaRPr/>
          </a:p>
        </p:txBody>
      </p:sp>
      <p:pic>
        <p:nvPicPr>
          <p:cNvPr id="1494244110" name="Image 3" descr="Une image contenant Visage humain, portrait, personne, habits&#10;&#10;Le contenu généré par l’IA peut être incorrect."/>
          <p:cNvPicPr>
            <a:picLocks noChangeAspect="1"/>
          </p:cNvPicPr>
          <p:nvPr/>
        </p:nvPicPr>
        <p:blipFill rotWithShape="1">
          <a:blip r:embed="rId3"/>
          <a:stretch/>
        </p:blipFill>
        <p:spPr bwMode="auto">
          <a:xfrm>
            <a:off x="9078861" y="1346405"/>
            <a:ext cx="1752599" cy="2247900"/>
          </a:xfrm>
          <a:prstGeom prst="rect">
            <a:avLst/>
          </a:prstGeom>
        </p:spPr>
      </p:pic>
      <p:pic>
        <p:nvPicPr>
          <p:cNvPr id="1885871740" name="Image 4" descr="Une image contenant Visage humain, personne, portrait, habits&#10;&#10;Le contenu généré par l’IA peut être incorrect."/>
          <p:cNvPicPr>
            <a:picLocks noChangeAspect="1"/>
          </p:cNvPicPr>
          <p:nvPr/>
        </p:nvPicPr>
        <p:blipFill rotWithShape="1">
          <a:blip r:embed="rId4"/>
          <a:stretch/>
        </p:blipFill>
        <p:spPr bwMode="auto">
          <a:xfrm>
            <a:off x="9081472" y="3768008"/>
            <a:ext cx="1747376" cy="2255274"/>
          </a:xfrm>
          <a:prstGeom prst="rect">
            <a:avLst/>
          </a:prstGeom>
        </p:spPr>
      </p:pic>
      <p:sp>
        <p:nvSpPr>
          <p:cNvPr id="1362493277" name="ZoneTexte 1362493276"/>
          <p:cNvSpPr txBox="1"/>
          <p:nvPr/>
        </p:nvSpPr>
        <p:spPr bwMode="auto">
          <a:xfrm>
            <a:off x="716249" y="3846634"/>
            <a:ext cx="7767978" cy="219390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lvl="0" indent="-228600" algn="l" rtl="0">
              <a:lnSpc>
                <a:spcPct val="90000"/>
              </a:lnSpc>
              <a:spcBef>
                <a:spcPts val="999"/>
              </a:spcBef>
              <a:spcAft>
                <a:spcPts val="0"/>
              </a:spcAft>
              <a:buFont typeface="Arial"/>
              <a:buChar char="•"/>
              <a:defRPr/>
            </a:pPr>
            <a:r>
              <a:rPr lang="fr-FR" sz="2400" b="0" i="0" u="none" strike="noStrike" cap="none" spc="0">
                <a:solidFill>
                  <a:schemeClr val="tx1"/>
                </a:solidFill>
                <a:latin typeface="Aptos"/>
                <a:ea typeface="Aptos"/>
                <a:cs typeface="Aptos"/>
              </a:rPr>
              <a:t>Hogben (1957)​</a:t>
            </a:r>
            <a:endParaRPr lang="fr-FR" sz="2400" b="0" i="0" u="none" strike="noStrike" cap="none" spc="0">
              <a:solidFill>
                <a:schemeClr val="tx1"/>
              </a:solidFill>
              <a:latin typeface="Aptos"/>
              <a:cs typeface="Aptos"/>
            </a:endParaRPr>
          </a:p>
          <a:p>
            <a:pPr marL="228600" marR="0" lvl="0" indent="-228600" algn="l" rtl="0">
              <a:lnSpc>
                <a:spcPct val="90000"/>
              </a:lnSpc>
              <a:spcBef>
                <a:spcPts val="999"/>
              </a:spcBef>
              <a:spcAft>
                <a:spcPts val="0"/>
              </a:spcAft>
              <a:buFont typeface="Arial"/>
              <a:buChar char="•"/>
              <a:defRPr/>
            </a:pPr>
            <a:r>
              <a:rPr lang="fr-FR" sz="2400" b="0" i="0" u="none" strike="noStrike" cap="none" spc="0">
                <a:solidFill>
                  <a:schemeClr val="tx1"/>
                </a:solidFill>
                <a:latin typeface="Aptos"/>
                <a:ea typeface="Aptos"/>
                <a:cs typeface="Aptos"/>
              </a:rPr>
              <a:t>« l’affirmation de Fisher selon laquelle ce seuil était une pratique courante n’est vraie que pour ceux qui s’appuient sur les nombreux manuels de règles empiriques exposant les prescriptions de Fisher en matière de tests ». </a:t>
            </a:r>
            <a:endParaRPr sz="1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9451544">
                                            <p:txEl>
                                              <p:pRg st="0" end="0"/>
                                            </p:txEl>
                                          </p:spTgt>
                                        </p:tgtEl>
                                        <p:attrNameLst>
                                          <p:attrName>style.visibility</p:attrName>
                                        </p:attrNameLst>
                                      </p:cBhvr>
                                      <p:to>
                                        <p:strVal val="visible"/>
                                      </p:to>
                                    </p:set>
                                    <p:animEffect transition="in" filter="fade">
                                      <p:cBhvr>
                                        <p:cTn id="7" dur="500"/>
                                        <p:tgtEl>
                                          <p:spTgt spid="10194515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942441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19451544">
                                            <p:txEl>
                                              <p:pRg st="1" end="1"/>
                                            </p:txEl>
                                          </p:spTgt>
                                        </p:tgtEl>
                                        <p:attrNameLst>
                                          <p:attrName>style.visibility</p:attrName>
                                        </p:attrNameLst>
                                      </p:cBhvr>
                                      <p:to>
                                        <p:strVal val="visible"/>
                                      </p:to>
                                    </p:set>
                                    <p:animEffect transition="in" filter="fade">
                                      <p:cBhvr>
                                        <p:cTn id="16" dur="500"/>
                                        <p:tgtEl>
                                          <p:spTgt spid="101945154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19451544">
                                            <p:txEl>
                                              <p:pRg st="2" end="2"/>
                                            </p:txEl>
                                          </p:spTgt>
                                        </p:tgtEl>
                                        <p:attrNameLst>
                                          <p:attrName>style.visibility</p:attrName>
                                        </p:attrNameLst>
                                      </p:cBhvr>
                                      <p:to>
                                        <p:strVal val="visible"/>
                                      </p:to>
                                    </p:set>
                                    <p:animEffect transition="in" filter="fade">
                                      <p:cBhvr>
                                        <p:cTn id="21" dur="500"/>
                                        <p:tgtEl>
                                          <p:spTgt spid="101945154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19451544">
                                            <p:txEl>
                                              <p:pRg st="3" end="3"/>
                                            </p:txEl>
                                          </p:spTgt>
                                        </p:tgtEl>
                                        <p:attrNameLst>
                                          <p:attrName>style.visibility</p:attrName>
                                        </p:attrNameLst>
                                      </p:cBhvr>
                                      <p:to>
                                        <p:strVal val="visible"/>
                                      </p:to>
                                    </p:set>
                                    <p:animEffect transition="in" filter="fade">
                                      <p:cBhvr>
                                        <p:cTn id="26" dur="500"/>
                                        <p:tgtEl>
                                          <p:spTgt spid="1019451544">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885871740"/>
                                        </p:tgtEl>
                                        <p:attrNameLst>
                                          <p:attrName>style.visibility</p:attrName>
                                        </p:attrNameLst>
                                      </p:cBhvr>
                                      <p:to>
                                        <p:strVal val="visible"/>
                                      </p:to>
                                    </p:set>
                                    <p:animEffect transition="in" filter="fade">
                                      <p:cBhvr>
                                        <p:cTn id="31" dur="500"/>
                                        <p:tgtEl>
                                          <p:spTgt spid="188587174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62493277"/>
                                        </p:tgtEl>
                                        <p:attrNameLst>
                                          <p:attrName>style.visibility</p:attrName>
                                        </p:attrNameLst>
                                      </p:cBhvr>
                                      <p:to>
                                        <p:strVal val="visible"/>
                                      </p:to>
                                    </p:set>
                                    <p:animEffect transition="in" filter="fade">
                                      <p:cBhvr>
                                        <p:cTn id="36" dur="500"/>
                                        <p:tgtEl>
                                          <p:spTgt spid="1362493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451544"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9697174" name="Titre 1"/>
          <p:cNvSpPr>
            <a:spLocks noGrp="1"/>
          </p:cNvSpPr>
          <p:nvPr>
            <p:ph type="title"/>
          </p:nvPr>
        </p:nvSpPr>
        <p:spPr bwMode="auto"/>
        <p:txBody>
          <a:bodyPr/>
          <a:lstStyle/>
          <a:p>
            <a:pPr>
              <a:defRPr/>
            </a:pPr>
            <a:r>
              <a:rPr lang="fr-FR"/>
              <a:t>Il n'existe pas une p-valeur, mais deux</a:t>
            </a:r>
            <a:endParaRPr/>
          </a:p>
        </p:txBody>
      </p:sp>
      <p:sp>
        <p:nvSpPr>
          <p:cNvPr id="1047294833" name="Espace réservé du contenu 2"/>
          <p:cNvSpPr>
            <a:spLocks noGrp="1"/>
          </p:cNvSpPr>
          <p:nvPr>
            <p:ph idx="1"/>
          </p:nvPr>
        </p:nvSpPr>
        <p:spPr bwMode="auto"/>
        <p:txBody>
          <a:bodyPr vert="horz" lIns="91440" tIns="45720" rIns="91440" bIns="45720" rtlCol="0" anchor="t">
            <a:normAutofit/>
          </a:bodyPr>
          <a:lstStyle/>
          <a:p>
            <a:pPr>
              <a:defRPr/>
            </a:pPr>
            <a:r>
              <a:rPr lang="fr-FR"/>
              <a:t>Fischer :</a:t>
            </a:r>
            <a:endParaRPr/>
          </a:p>
          <a:p>
            <a:pPr>
              <a:defRPr/>
            </a:pPr>
            <a:r>
              <a:rPr lang="fr-FR"/>
              <a:t>Une expérimentation sans théorie ni hypothèses auxiliaires</a:t>
            </a:r>
            <a:endParaRPr/>
          </a:p>
          <a:p>
            <a:pPr>
              <a:defRPr/>
            </a:pPr>
            <a:r>
              <a:rPr lang="fr-FR"/>
              <a:t>Puissance statistique et précision de mesure maximale</a:t>
            </a:r>
          </a:p>
          <a:p>
            <a:pPr>
              <a:defRPr/>
            </a:pPr>
            <a:r>
              <a:rPr lang="fr-FR"/>
              <a:t>La p-valeur renseigne sur la capacité de l'expérimentation à produire des résultats AU MOINS aussi extrêmes que ceux trouvés</a:t>
            </a:r>
            <a:endParaRPr/>
          </a:p>
          <a:p>
            <a:pPr>
              <a:defRPr/>
            </a:pPr>
            <a:endParaRPr lang="fr-FR"/>
          </a:p>
          <a:p>
            <a:pPr>
              <a:defRPr/>
            </a:pPr>
            <a:r>
              <a:rPr lang="fr-FR"/>
              <a:t>Ne correspond à presque aucune science</a:t>
            </a:r>
            <a:endParaRPr/>
          </a:p>
          <a:p>
            <a:pPr>
              <a:defRPr/>
            </a:pPr>
            <a:r>
              <a:rPr lang="fr-FR"/>
              <a:t>Objectif de décider si on continue un programme de recherche ou non</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7294833">
                                            <p:txEl>
                                              <p:pRg st="0" end="0"/>
                                            </p:txEl>
                                          </p:spTgt>
                                        </p:tgtEl>
                                        <p:attrNameLst>
                                          <p:attrName>style.visibility</p:attrName>
                                        </p:attrNameLst>
                                      </p:cBhvr>
                                      <p:to>
                                        <p:strVal val="visible"/>
                                      </p:to>
                                    </p:set>
                                    <p:animEffect transition="in" filter="fade">
                                      <p:cBhvr>
                                        <p:cTn id="7" dur="500"/>
                                        <p:tgtEl>
                                          <p:spTgt spid="10472948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7294833">
                                            <p:txEl>
                                              <p:pRg st="1" end="1"/>
                                            </p:txEl>
                                          </p:spTgt>
                                        </p:tgtEl>
                                        <p:attrNameLst>
                                          <p:attrName>style.visibility</p:attrName>
                                        </p:attrNameLst>
                                      </p:cBhvr>
                                      <p:to>
                                        <p:strVal val="visible"/>
                                      </p:to>
                                    </p:set>
                                    <p:animEffect transition="in" filter="fade">
                                      <p:cBhvr>
                                        <p:cTn id="12" dur="500"/>
                                        <p:tgtEl>
                                          <p:spTgt spid="10472948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7294833">
                                            <p:txEl>
                                              <p:pRg st="2" end="2"/>
                                            </p:txEl>
                                          </p:spTgt>
                                        </p:tgtEl>
                                        <p:attrNameLst>
                                          <p:attrName>style.visibility</p:attrName>
                                        </p:attrNameLst>
                                      </p:cBhvr>
                                      <p:to>
                                        <p:strVal val="visible"/>
                                      </p:to>
                                    </p:set>
                                    <p:animEffect transition="in" filter="fade">
                                      <p:cBhvr>
                                        <p:cTn id="17" dur="500"/>
                                        <p:tgtEl>
                                          <p:spTgt spid="10472948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7294833">
                                            <p:txEl>
                                              <p:pRg st="3" end="3"/>
                                            </p:txEl>
                                          </p:spTgt>
                                        </p:tgtEl>
                                        <p:attrNameLst>
                                          <p:attrName>style.visibility</p:attrName>
                                        </p:attrNameLst>
                                      </p:cBhvr>
                                      <p:to>
                                        <p:strVal val="visible"/>
                                      </p:to>
                                    </p:set>
                                    <p:animEffect transition="in" filter="fade">
                                      <p:cBhvr>
                                        <p:cTn id="22" dur="500"/>
                                        <p:tgtEl>
                                          <p:spTgt spid="104729483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47294833">
                                            <p:txEl>
                                              <p:pRg st="5" end="5"/>
                                            </p:txEl>
                                          </p:spTgt>
                                        </p:tgtEl>
                                        <p:attrNameLst>
                                          <p:attrName>style.visibility</p:attrName>
                                        </p:attrNameLst>
                                      </p:cBhvr>
                                      <p:to>
                                        <p:strVal val="visible"/>
                                      </p:to>
                                    </p:set>
                                    <p:animEffect transition="in" filter="fade">
                                      <p:cBhvr>
                                        <p:cTn id="27" dur="500"/>
                                        <p:tgtEl>
                                          <p:spTgt spid="104729483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47294833">
                                            <p:txEl>
                                              <p:pRg st="6" end="6"/>
                                            </p:txEl>
                                          </p:spTgt>
                                        </p:tgtEl>
                                        <p:attrNameLst>
                                          <p:attrName>style.visibility</p:attrName>
                                        </p:attrNameLst>
                                      </p:cBhvr>
                                      <p:to>
                                        <p:strVal val="visible"/>
                                      </p:to>
                                    </p:set>
                                    <p:animEffect transition="in" filter="fade">
                                      <p:cBhvr>
                                        <p:cTn id="32" dur="500"/>
                                        <p:tgtEl>
                                          <p:spTgt spid="104729483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7294833"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9729595" name="Titre 1"/>
          <p:cNvSpPr>
            <a:spLocks noGrp="1"/>
          </p:cNvSpPr>
          <p:nvPr>
            <p:ph type="title"/>
          </p:nvPr>
        </p:nvSpPr>
        <p:spPr bwMode="auto">
          <a:xfrm>
            <a:off x="838200" y="365125"/>
            <a:ext cx="8409859" cy="1358337"/>
          </a:xfrm>
        </p:spPr>
        <p:txBody>
          <a:bodyPr/>
          <a:lstStyle/>
          <a:p>
            <a:pPr>
              <a:defRPr/>
            </a:pPr>
            <a:r>
              <a:rPr lang="fr-FR"/>
              <a:t>Neyman et Pearson (1933)</a:t>
            </a:r>
            <a:endParaRPr/>
          </a:p>
        </p:txBody>
      </p:sp>
      <p:pic>
        <p:nvPicPr>
          <p:cNvPr id="1286533311" name="Espace réservé du contenu 3" descr="Une image contenant habits, personne, plein air, chaussures&#10;&#10;Le contenu généré par l’IA peut être incorrect."/>
          <p:cNvPicPr>
            <a:picLocks noGrp="1" noChangeAspect="1"/>
          </p:cNvPicPr>
          <p:nvPr>
            <p:ph idx="1"/>
          </p:nvPr>
        </p:nvPicPr>
        <p:blipFill rotWithShape="1">
          <a:blip r:embed="rId3"/>
          <a:stretch/>
        </p:blipFill>
        <p:spPr bwMode="auto">
          <a:xfrm>
            <a:off x="9546816" y="132147"/>
            <a:ext cx="2324303" cy="3756229"/>
          </a:xfrm>
          <a:prstGeom prst="rect">
            <a:avLst/>
          </a:prstGeom>
        </p:spPr>
      </p:pic>
      <p:sp>
        <p:nvSpPr>
          <p:cNvPr id="726713652" name="ZoneTexte 5"/>
          <p:cNvSpPr txBox="1"/>
          <p:nvPr/>
        </p:nvSpPr>
        <p:spPr bwMode="auto">
          <a:xfrm>
            <a:off x="616727" y="1413572"/>
            <a:ext cx="8126805"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defRPr/>
            </a:pPr>
            <a:r>
              <a:rPr lang="fr-FR" sz="2800">
                <a:latin typeface="Aptos"/>
              </a:rPr>
              <a:t>La p-valeur ne teste plus une hypothèse nulle: Compatibilité de H0 avec les données, mais deux hypothèses concurrentes, H0 versus H1</a:t>
            </a:r>
            <a:endParaRPr/>
          </a:p>
          <a:p>
            <a:pPr marL="571500" indent="-571500">
              <a:buFont typeface="Arial"/>
              <a:buChar char="•"/>
              <a:defRPr/>
            </a:pPr>
            <a:r>
              <a:rPr lang="fr-FR" sz="2800">
                <a:latin typeface="Aptos"/>
              </a:rPr>
              <a:t>Verisimilitude : laquelle correspond le plus aux données</a:t>
            </a:r>
            <a:endParaRPr/>
          </a:p>
          <a:p>
            <a:pPr marL="571500" indent="-571500">
              <a:buFont typeface="Arial"/>
              <a:buChar char="•"/>
              <a:defRPr/>
            </a:pPr>
            <a:r>
              <a:rPr lang="fr-FR" sz="2800">
                <a:latin typeface="Aptos"/>
              </a:rPr>
              <a:t>Risque de se tromper : faux positifs et faux négatifs</a:t>
            </a:r>
            <a:endParaRPr/>
          </a:p>
          <a:p>
            <a:pPr marL="571500" indent="-571500">
              <a:buFont typeface="Arial"/>
              <a:buChar char="•"/>
              <a:defRPr/>
            </a:pPr>
            <a:r>
              <a:rPr lang="fr-FR" sz="2800">
                <a:latin typeface="Aptos"/>
              </a:rPr>
              <a:t>Le seuil de 0.05 devient alors le seuil </a:t>
            </a:r>
            <a:r>
              <a:rPr lang="fr-FR" sz="2800">
                <a:ea typeface="+mn-lt"/>
                <a:cs typeface="+mn-lt"/>
              </a:rPr>
              <a:t>α : le risque d'avoir des faux négatifs, tandis que la puissance correspond au seuil β. La décision d'accepter H1 dépend deux deux seuils</a:t>
            </a:r>
            <a:endParaRPr lang="fr-FR" sz="2800">
              <a:latin typeface="Aptos"/>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6713652">
                                            <p:txEl>
                                              <p:pRg st="0" end="0"/>
                                            </p:txEl>
                                          </p:spTgt>
                                        </p:tgtEl>
                                        <p:attrNameLst>
                                          <p:attrName>style.visibility</p:attrName>
                                        </p:attrNameLst>
                                      </p:cBhvr>
                                      <p:to>
                                        <p:strVal val="visible"/>
                                      </p:to>
                                    </p:set>
                                    <p:animEffect transition="in" filter="fade">
                                      <p:cBhvr>
                                        <p:cTn id="7" dur="500"/>
                                        <p:tgtEl>
                                          <p:spTgt spid="7267136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6713652">
                                            <p:txEl>
                                              <p:pRg st="1" end="1"/>
                                            </p:txEl>
                                          </p:spTgt>
                                        </p:tgtEl>
                                        <p:attrNameLst>
                                          <p:attrName>style.visibility</p:attrName>
                                        </p:attrNameLst>
                                      </p:cBhvr>
                                      <p:to>
                                        <p:strVal val="visible"/>
                                      </p:to>
                                    </p:set>
                                    <p:animEffect transition="in" filter="fade">
                                      <p:cBhvr>
                                        <p:cTn id="12" dur="500"/>
                                        <p:tgtEl>
                                          <p:spTgt spid="7267136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26713652">
                                            <p:txEl>
                                              <p:pRg st="2" end="2"/>
                                            </p:txEl>
                                          </p:spTgt>
                                        </p:tgtEl>
                                        <p:attrNameLst>
                                          <p:attrName>style.visibility</p:attrName>
                                        </p:attrNameLst>
                                      </p:cBhvr>
                                      <p:to>
                                        <p:strVal val="visible"/>
                                      </p:to>
                                    </p:set>
                                    <p:animEffect transition="in" filter="fade">
                                      <p:cBhvr>
                                        <p:cTn id="17" dur="500"/>
                                        <p:tgtEl>
                                          <p:spTgt spid="7267136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26713652">
                                            <p:txEl>
                                              <p:pRg st="3" end="3"/>
                                            </p:txEl>
                                          </p:spTgt>
                                        </p:tgtEl>
                                        <p:attrNameLst>
                                          <p:attrName>style.visibility</p:attrName>
                                        </p:attrNameLst>
                                      </p:cBhvr>
                                      <p:to>
                                        <p:strVal val="visible"/>
                                      </p:to>
                                    </p:set>
                                    <p:animEffect transition="in" filter="fade">
                                      <p:cBhvr>
                                        <p:cTn id="22" dur="500"/>
                                        <p:tgtEl>
                                          <p:spTgt spid="7267136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713652"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08545050" name="Titre 1"/>
          <p:cNvSpPr>
            <a:spLocks noGrp="1"/>
          </p:cNvSpPr>
          <p:nvPr>
            <p:ph type="title"/>
          </p:nvPr>
        </p:nvSpPr>
        <p:spPr bwMode="auto"/>
        <p:txBody>
          <a:bodyPr/>
          <a:lstStyle/>
          <a:p>
            <a:pPr>
              <a:defRPr/>
            </a:pPr>
            <a:r>
              <a:rPr lang="fr-FR"/>
              <a:t>À quoi servent les statistiques ?</a:t>
            </a:r>
          </a:p>
        </p:txBody>
      </p:sp>
      <p:sp>
        <p:nvSpPr>
          <p:cNvPr id="1650597978" name="Espace réservé du contenu 2"/>
          <p:cNvSpPr>
            <a:spLocks noGrp="1"/>
          </p:cNvSpPr>
          <p:nvPr>
            <p:ph idx="1"/>
          </p:nvPr>
        </p:nvSpPr>
        <p:spPr bwMode="auto">
          <a:xfrm>
            <a:off x="838199" y="1690687"/>
            <a:ext cx="10515600" cy="4486275"/>
          </a:xfrm>
        </p:spPr>
        <p:txBody>
          <a:bodyPr vertOverflow="overflow" horzOverflow="overflow" vert="horz" wrap="square" lIns="91440" tIns="45720" rIns="91440" bIns="45720" numCol="1" spcCol="0" rtlCol="0" fromWordArt="0" anchor="t" anchorCtr="0" forceAA="0" compatLnSpc="0">
            <a:normAutofit fontScale="80000" lnSpcReduction="4000"/>
          </a:bodyPr>
          <a:lstStyle/>
          <a:p>
            <a:pPr>
              <a:defRPr/>
            </a:pPr>
            <a:r>
              <a:rPr lang="fr-FR"/>
              <a:t>Est-ce que le test statistique seul permet de valider une  théorie ?</a:t>
            </a:r>
            <a:endParaRPr/>
          </a:p>
          <a:p>
            <a:pPr>
              <a:defRPr/>
            </a:pPr>
            <a:r>
              <a:rPr lang="fr-FR"/>
              <a:t>Sinon, de quoi avons-nous besoin d'autre ?</a:t>
            </a:r>
            <a:endParaRPr/>
          </a:p>
          <a:p>
            <a:pPr>
              <a:defRPr/>
            </a:pPr>
            <a:r>
              <a:rPr lang="fr-FR"/>
              <a:t>Et comment faire pour avoir une mesure "objective" de la théorie ?</a:t>
            </a:r>
          </a:p>
          <a:p>
            <a:pPr>
              <a:defRPr/>
            </a:pPr>
            <a:endParaRPr lang="fr-FR"/>
          </a:p>
          <a:p>
            <a:pPr>
              <a:defRPr/>
            </a:pPr>
            <a:r>
              <a:rPr lang="fr-FR"/>
              <a:t>Fischer : La valeur p est un élément de preuve dans le processus scientifique, </a:t>
            </a:r>
            <a:r>
              <a:rPr lang="fr-FR">
                <a:ea typeface="+mn-lt"/>
                <a:cs typeface="+mn-lt"/>
              </a:rPr>
              <a:t>un élément qui, selon lui, « repose sur un fait communicable à d’autres esprits rationnels et vérifiable par eux ».</a:t>
            </a:r>
            <a:endParaRPr/>
          </a:p>
          <a:p>
            <a:pPr>
              <a:defRPr/>
            </a:pPr>
            <a:endParaRPr lang="fr-FR"/>
          </a:p>
          <a:p>
            <a:pPr>
              <a:defRPr/>
            </a:pPr>
            <a:r>
              <a:rPr lang="fr-FR">
                <a:ea typeface="+mn-lt"/>
                <a:cs typeface="+mn-lt"/>
              </a:rPr>
              <a:t>Pour Neyman et Pearson, en revanche, accepter une hypothèse signifie « agir comme si elle était vraie » ; les hypothèses et les probabilités d'erreur doivent donc être choisies à la lumière des conséquences de l'une ou l'autre décision.</a:t>
            </a:r>
            <a:endParaRPr lang="fr-F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50597978">
                                            <p:txEl>
                                              <p:pRg st="0" end="0"/>
                                            </p:txEl>
                                          </p:spTgt>
                                        </p:tgtEl>
                                        <p:attrNameLst>
                                          <p:attrName>style.visibility</p:attrName>
                                        </p:attrNameLst>
                                      </p:cBhvr>
                                      <p:to>
                                        <p:strVal val="visible"/>
                                      </p:to>
                                    </p:set>
                                    <p:animEffect transition="in" filter="fade">
                                      <p:cBhvr>
                                        <p:cTn id="7" dur="500"/>
                                        <p:tgtEl>
                                          <p:spTgt spid="16505979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50597978">
                                            <p:txEl>
                                              <p:pRg st="1" end="1"/>
                                            </p:txEl>
                                          </p:spTgt>
                                        </p:tgtEl>
                                        <p:attrNameLst>
                                          <p:attrName>style.visibility</p:attrName>
                                        </p:attrNameLst>
                                      </p:cBhvr>
                                      <p:to>
                                        <p:strVal val="visible"/>
                                      </p:to>
                                    </p:set>
                                    <p:animEffect transition="in" filter="fade">
                                      <p:cBhvr>
                                        <p:cTn id="12" dur="500"/>
                                        <p:tgtEl>
                                          <p:spTgt spid="16505979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50597978">
                                            <p:txEl>
                                              <p:pRg st="2" end="2"/>
                                            </p:txEl>
                                          </p:spTgt>
                                        </p:tgtEl>
                                        <p:attrNameLst>
                                          <p:attrName>style.visibility</p:attrName>
                                        </p:attrNameLst>
                                      </p:cBhvr>
                                      <p:to>
                                        <p:strVal val="visible"/>
                                      </p:to>
                                    </p:set>
                                    <p:animEffect transition="in" filter="fade">
                                      <p:cBhvr>
                                        <p:cTn id="17" dur="500"/>
                                        <p:tgtEl>
                                          <p:spTgt spid="16505979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50597978">
                                            <p:txEl>
                                              <p:pRg st="4" end="4"/>
                                            </p:txEl>
                                          </p:spTgt>
                                        </p:tgtEl>
                                        <p:attrNameLst>
                                          <p:attrName>style.visibility</p:attrName>
                                        </p:attrNameLst>
                                      </p:cBhvr>
                                      <p:to>
                                        <p:strVal val="visible"/>
                                      </p:to>
                                    </p:set>
                                    <p:animEffect transition="in" filter="fade">
                                      <p:cBhvr>
                                        <p:cTn id="22" dur="500"/>
                                        <p:tgtEl>
                                          <p:spTgt spid="165059797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50597978">
                                            <p:txEl>
                                              <p:pRg st="6" end="6"/>
                                            </p:txEl>
                                          </p:spTgt>
                                        </p:tgtEl>
                                        <p:attrNameLst>
                                          <p:attrName>style.visibility</p:attrName>
                                        </p:attrNameLst>
                                      </p:cBhvr>
                                      <p:to>
                                        <p:strVal val="visible"/>
                                      </p:to>
                                    </p:set>
                                    <p:animEffect transition="in" filter="fade">
                                      <p:cBhvr>
                                        <p:cTn id="27" dur="500"/>
                                        <p:tgtEl>
                                          <p:spTgt spid="16505979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0597978"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21861803" name="Titre 1"/>
          <p:cNvSpPr>
            <a:spLocks noGrp="1"/>
          </p:cNvSpPr>
          <p:nvPr>
            <p:ph type="title"/>
          </p:nvPr>
        </p:nvSpPr>
        <p:spPr bwMode="auto"/>
        <p:txBody>
          <a:bodyPr/>
          <a:lstStyle/>
          <a:p>
            <a:pPr>
              <a:defRPr/>
            </a:pPr>
            <a:r>
              <a:rPr lang="fr-FR"/>
              <a:t>Un hybride dégénéré</a:t>
            </a:r>
            <a:endParaRPr/>
          </a:p>
        </p:txBody>
      </p:sp>
      <p:sp>
        <p:nvSpPr>
          <p:cNvPr id="987140437" name="Espace réservé du contenu 2"/>
          <p:cNvSpPr>
            <a:spLocks noGrp="1"/>
          </p:cNvSpPr>
          <p:nvPr>
            <p:ph idx="1"/>
          </p:nvPr>
        </p:nvSpPr>
        <p:spPr bwMode="auto"/>
        <p:txBody>
          <a:bodyPr vert="horz" lIns="91440" tIns="45720" rIns="91440" bIns="45720" rtlCol="0" anchor="t">
            <a:normAutofit fontScale="92500" lnSpcReduction="10000"/>
          </a:bodyPr>
          <a:lstStyle/>
          <a:p>
            <a:pPr>
              <a:defRPr/>
            </a:pPr>
            <a:r>
              <a:rPr lang="fr-FR"/>
              <a:t>Les chercheurs veulent en même temps que la valeur p nous renseigne sur la capacité de notre expérimentation à trouver un effet</a:t>
            </a:r>
            <a:endParaRPr/>
          </a:p>
          <a:p>
            <a:pPr>
              <a:defRPr/>
            </a:pPr>
            <a:r>
              <a:rPr lang="fr-FR"/>
              <a:t>Et en même temps éviter de se tromper en faisant des analyses de puissances et un seuil fixe qui renseigne la théorie</a:t>
            </a:r>
          </a:p>
          <a:p>
            <a:pPr>
              <a:defRPr/>
            </a:pPr>
            <a:endParaRPr lang="fr-FR"/>
          </a:p>
          <a:p>
            <a:pPr>
              <a:defRPr/>
            </a:pPr>
            <a:r>
              <a:rPr lang="fr-FR">
                <a:ea typeface="+mn-lt"/>
                <a:cs typeface="+mn-lt"/>
              </a:rPr>
              <a:t>Souvent, la présentation des résultats inclut une comparaison de la valeur p à un seuil (par exemple, 0,05) pour affirmer l’existence d’un effet, la mention de la valeur p elle-même, ainsi que des termes relatifs à la mesure de la preuve tels que « hautement significatif », « marginalement significatif » et « presque significatif ». Cela conduit à ce que Hubbard (2004, p. 297) appelle une « confusion entre les p et les α »</a:t>
            </a:r>
            <a:endParaRPr lang="fr-F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87140437">
                                            <p:txEl>
                                              <p:pRg st="0" end="0"/>
                                            </p:txEl>
                                          </p:spTgt>
                                        </p:tgtEl>
                                        <p:attrNameLst>
                                          <p:attrName>style.visibility</p:attrName>
                                        </p:attrNameLst>
                                      </p:cBhvr>
                                      <p:to>
                                        <p:strVal val="visible"/>
                                      </p:to>
                                    </p:set>
                                    <p:animEffect transition="in" filter="fade">
                                      <p:cBhvr>
                                        <p:cTn id="7" dur="500"/>
                                        <p:tgtEl>
                                          <p:spTgt spid="9871404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87140437">
                                            <p:txEl>
                                              <p:pRg st="1" end="1"/>
                                            </p:txEl>
                                          </p:spTgt>
                                        </p:tgtEl>
                                        <p:attrNameLst>
                                          <p:attrName>style.visibility</p:attrName>
                                        </p:attrNameLst>
                                      </p:cBhvr>
                                      <p:to>
                                        <p:strVal val="visible"/>
                                      </p:to>
                                    </p:set>
                                    <p:animEffect transition="in" filter="fade">
                                      <p:cBhvr>
                                        <p:cTn id="12" dur="500"/>
                                        <p:tgtEl>
                                          <p:spTgt spid="9871404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87140437">
                                            <p:txEl>
                                              <p:pRg st="3" end="3"/>
                                            </p:txEl>
                                          </p:spTgt>
                                        </p:tgtEl>
                                        <p:attrNameLst>
                                          <p:attrName>style.visibility</p:attrName>
                                        </p:attrNameLst>
                                      </p:cBhvr>
                                      <p:to>
                                        <p:strVal val="visible"/>
                                      </p:to>
                                    </p:set>
                                    <p:animEffect transition="in" filter="fade">
                                      <p:cBhvr>
                                        <p:cTn id="17" dur="500"/>
                                        <p:tgtEl>
                                          <p:spTgt spid="9871404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140437"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2535971" name="Espace réservé du contenu 2"/>
          <p:cNvSpPr>
            <a:spLocks noGrp="1"/>
          </p:cNvSpPr>
          <p:nvPr>
            <p:ph idx="1"/>
          </p:nvPr>
        </p:nvSpPr>
        <p:spPr bwMode="auto">
          <a:xfrm>
            <a:off x="838200" y="890444"/>
            <a:ext cx="10515600" cy="5286519"/>
          </a:xfrm>
        </p:spPr>
        <p:txBody>
          <a:bodyPr vert="horz" lIns="91440" tIns="45720" rIns="91440" bIns="45720" rtlCol="0" anchor="t">
            <a:normAutofit fontScale="92500" lnSpcReduction="20000"/>
          </a:bodyPr>
          <a:lstStyle/>
          <a:p>
            <a:pPr>
              <a:defRPr/>
            </a:pPr>
            <a:r>
              <a:rPr lang="fr-FR"/>
              <a:t>Contrairement à Fischer qui voyait la p-valeur comme constitutif d'un programme de recherche, mais en lien avec Neyman-Pearson, on va utiliser un seuil de 0.05 dans une seule expérimentation pour lier une expérimentation et une théorie</a:t>
            </a:r>
            <a:endParaRPr/>
          </a:p>
          <a:p>
            <a:pPr>
              <a:defRPr/>
            </a:pPr>
            <a:endParaRPr lang="fr-FR"/>
          </a:p>
          <a:p>
            <a:pPr>
              <a:defRPr/>
            </a:pPr>
            <a:r>
              <a:rPr lang="fr-FR"/>
              <a:t>Contrairement à Neyman-Pearson et en lien avec Fischer on va utiliser le terme "marginalement significatif" ou "très significatif" qui rabaisse la valeur du seuil alpha à une valeur particulière parmi d'autres possibles.</a:t>
            </a:r>
            <a:endParaRPr/>
          </a:p>
          <a:p>
            <a:pPr>
              <a:defRPr/>
            </a:pPr>
            <a:endParaRPr lang="fr-FR"/>
          </a:p>
          <a:p>
            <a:pPr>
              <a:defRPr/>
            </a:pPr>
            <a:r>
              <a:rPr lang="fr-FR"/>
              <a:t>Fischer : p-valeur = continuum de chance de répliquer</a:t>
            </a:r>
          </a:p>
          <a:p>
            <a:pPr>
              <a:defRPr/>
            </a:pPr>
            <a:r>
              <a:rPr lang="fr-FR"/>
              <a:t>Neyman-Pearson alpha = seuil fixe permettant d'accepter H1</a:t>
            </a:r>
          </a:p>
          <a:p>
            <a:pPr>
              <a:defRPr/>
            </a:pPr>
            <a:endParaRPr lang="fr-FR"/>
          </a:p>
          <a:p>
            <a:pPr>
              <a:defRPr/>
            </a:pPr>
            <a:r>
              <a:rPr lang="fr-FR"/>
              <a:t>Ni Fischer, Ni Neyman, Ni Pearson n'accepterait l'utilisation de la p-valeur actuelle qui est pourtant généralisée à toutes les sciences.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62535971">
                                            <p:txEl>
                                              <p:pRg st="0" end="0"/>
                                            </p:txEl>
                                          </p:spTgt>
                                        </p:tgtEl>
                                        <p:attrNameLst>
                                          <p:attrName>style.visibility</p:attrName>
                                        </p:attrNameLst>
                                      </p:cBhvr>
                                      <p:to>
                                        <p:strVal val="visible"/>
                                      </p:to>
                                    </p:set>
                                    <p:animEffect transition="in" filter="fade">
                                      <p:cBhvr>
                                        <p:cTn id="7" dur="500"/>
                                        <p:tgtEl>
                                          <p:spTgt spid="1362535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62535971">
                                            <p:txEl>
                                              <p:pRg st="2" end="2"/>
                                            </p:txEl>
                                          </p:spTgt>
                                        </p:tgtEl>
                                        <p:attrNameLst>
                                          <p:attrName>style.visibility</p:attrName>
                                        </p:attrNameLst>
                                      </p:cBhvr>
                                      <p:to>
                                        <p:strVal val="visible"/>
                                      </p:to>
                                    </p:set>
                                    <p:animEffect transition="in" filter="fade">
                                      <p:cBhvr>
                                        <p:cTn id="12" dur="500"/>
                                        <p:tgtEl>
                                          <p:spTgt spid="13625359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62535971">
                                            <p:txEl>
                                              <p:pRg st="4" end="4"/>
                                            </p:txEl>
                                          </p:spTgt>
                                        </p:tgtEl>
                                        <p:attrNameLst>
                                          <p:attrName>style.visibility</p:attrName>
                                        </p:attrNameLst>
                                      </p:cBhvr>
                                      <p:to>
                                        <p:strVal val="visible"/>
                                      </p:to>
                                    </p:set>
                                    <p:animEffect transition="in" filter="fade">
                                      <p:cBhvr>
                                        <p:cTn id="17" dur="500"/>
                                        <p:tgtEl>
                                          <p:spTgt spid="136253597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62535971">
                                            <p:txEl>
                                              <p:pRg st="5" end="5"/>
                                            </p:txEl>
                                          </p:spTgt>
                                        </p:tgtEl>
                                        <p:attrNameLst>
                                          <p:attrName>style.visibility</p:attrName>
                                        </p:attrNameLst>
                                      </p:cBhvr>
                                      <p:to>
                                        <p:strVal val="visible"/>
                                      </p:to>
                                    </p:set>
                                    <p:animEffect transition="in" filter="fade">
                                      <p:cBhvr>
                                        <p:cTn id="22" dur="500"/>
                                        <p:tgtEl>
                                          <p:spTgt spid="136253597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62535971">
                                            <p:txEl>
                                              <p:pRg st="7" end="7"/>
                                            </p:txEl>
                                          </p:spTgt>
                                        </p:tgtEl>
                                        <p:attrNameLst>
                                          <p:attrName>style.visibility</p:attrName>
                                        </p:attrNameLst>
                                      </p:cBhvr>
                                      <p:to>
                                        <p:strVal val="visible"/>
                                      </p:to>
                                    </p:set>
                                    <p:animEffect transition="in" filter="fade">
                                      <p:cBhvr>
                                        <p:cTn id="27" dur="500"/>
                                        <p:tgtEl>
                                          <p:spTgt spid="13625359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535971"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207714" name="Titre 1"/>
          <p:cNvSpPr>
            <a:spLocks noGrp="1"/>
          </p:cNvSpPr>
          <p:nvPr>
            <p:ph type="title"/>
          </p:nvPr>
        </p:nvSpPr>
        <p:spPr bwMode="auto"/>
        <p:txBody>
          <a:bodyPr/>
          <a:lstStyle/>
          <a:p>
            <a:pPr>
              <a:defRPr/>
            </a:pPr>
            <a:r>
              <a:rPr lang="fr-FR"/>
              <a:t>Le bayésien</a:t>
            </a:r>
            <a:endParaRPr/>
          </a:p>
        </p:txBody>
      </p:sp>
      <p:sp>
        <p:nvSpPr>
          <p:cNvPr id="2085358285" name="Espace réservé du contenu 2"/>
          <p:cNvSpPr>
            <a:spLocks noGrp="1"/>
          </p:cNvSpPr>
          <p:nvPr>
            <p:ph idx="1"/>
          </p:nvPr>
        </p:nvSpPr>
        <p:spPr bwMode="auto">
          <a:xfrm>
            <a:off x="838200" y="1520825"/>
            <a:ext cx="10515600" cy="1441883"/>
          </a:xfrm>
        </p:spPr>
        <p:txBody>
          <a:bodyPr vert="horz" lIns="91440" tIns="45720" rIns="91440" bIns="45720" rtlCol="0" anchor="t">
            <a:normAutofit/>
          </a:bodyPr>
          <a:lstStyle/>
          <a:p>
            <a:pPr>
              <a:defRPr/>
            </a:pPr>
            <a:r>
              <a:rPr lang="fr-FR"/>
              <a:t>N'est pas plus utilisé aujourd'hui pour une raison :</a:t>
            </a:r>
            <a:endParaRPr/>
          </a:p>
          <a:p>
            <a:pPr>
              <a:defRPr/>
            </a:pPr>
            <a:r>
              <a:rPr lang="fr-FR"/>
              <a:t>Fischer ayant (mal) lu le livre de Bayes, Il croyait avoir vu une erreur et ne l'a jamais considéré comme une alternative viable.</a:t>
            </a:r>
          </a:p>
          <a:p>
            <a:pPr marL="0" indent="0">
              <a:buNone/>
              <a:defRPr/>
            </a:pPr>
            <a:endParaRPr lang="fr-FR"/>
          </a:p>
          <a:p>
            <a:pPr marL="0" indent="0">
              <a:buNone/>
              <a:defRPr/>
            </a:pPr>
            <a:endParaRPr lang="fr-FR"/>
          </a:p>
        </p:txBody>
      </p:sp>
      <p:pic>
        <p:nvPicPr>
          <p:cNvPr id="1757705748" name="Image 3" descr="Une image contenant noir et blanc, Visage humain, personne, lunettes&#10;&#10;Le contenu généré par l’IA peut être incorrect."/>
          <p:cNvPicPr>
            <a:picLocks noChangeAspect="1"/>
          </p:cNvPicPr>
          <p:nvPr/>
        </p:nvPicPr>
        <p:blipFill rotWithShape="1">
          <a:blip r:embed="rId3"/>
          <a:stretch/>
        </p:blipFill>
        <p:spPr bwMode="auto">
          <a:xfrm>
            <a:off x="9553142" y="3355831"/>
            <a:ext cx="1800225" cy="2543175"/>
          </a:xfrm>
          <a:prstGeom prst="rect">
            <a:avLst/>
          </a:prstGeom>
        </p:spPr>
      </p:pic>
      <p:sp>
        <p:nvSpPr>
          <p:cNvPr id="507983507" name="Espace réservé du contenu 2"/>
          <p:cNvSpPr txBox="1"/>
          <p:nvPr/>
        </p:nvSpPr>
        <p:spPr bwMode="auto">
          <a:xfrm>
            <a:off x="914400" y="3640571"/>
            <a:ext cx="10515600" cy="2002993"/>
          </a:xfrm>
          <a:prstGeom prst="rect">
            <a:avLst/>
          </a:prstGeom>
        </p:spPr>
        <p:txBody>
          <a:bodyPr vert="horz" lIns="91440" tIns="45720" rIns="91440" bIns="45720" rtlCol="0" anchor="t">
            <a:normAutofit fontScale="92500" lnSpcReduction="20000"/>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fr-FR"/>
              <a:t>Jimmie Savage</a:t>
            </a:r>
            <a:endParaRPr/>
          </a:p>
          <a:p>
            <a:pPr>
              <a:defRPr/>
            </a:pPr>
            <a:r>
              <a:rPr lang="fr-FR"/>
              <a:t>The fondations of Statistics (1954)</a:t>
            </a:r>
            <a:endParaRPr/>
          </a:p>
          <a:p>
            <a:pPr>
              <a:defRPr/>
            </a:pPr>
            <a:r>
              <a:rPr lang="fr-FR"/>
              <a:t>Propose une alternative à la p-valeur</a:t>
            </a:r>
          </a:p>
          <a:p>
            <a:pPr>
              <a:defRPr/>
            </a:pPr>
            <a:r>
              <a:rPr lang="fr-FR"/>
              <a:t>Basé sur les travaux de Bruno de Finetti (1937) </a:t>
            </a:r>
            <a:br>
              <a:rPr lang="fr-FR"/>
            </a:br>
            <a:r>
              <a:rPr lang="fr-FR"/>
              <a:t>et </a:t>
            </a:r>
            <a:r>
              <a:rPr lang="fr-FR">
                <a:ea typeface="+mn-lt"/>
                <a:cs typeface="+mn-lt"/>
              </a:rPr>
              <a:t>Harold Jeffreys (1939)</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85358285">
                                            <p:txEl>
                                              <p:pRg st="0" end="0"/>
                                            </p:txEl>
                                          </p:spTgt>
                                        </p:tgtEl>
                                        <p:attrNameLst>
                                          <p:attrName>style.visibility</p:attrName>
                                        </p:attrNameLst>
                                      </p:cBhvr>
                                      <p:to>
                                        <p:strVal val="visible"/>
                                      </p:to>
                                    </p:set>
                                    <p:animEffect transition="in" filter="fade">
                                      <p:cBhvr>
                                        <p:cTn id="7" dur="500"/>
                                        <p:tgtEl>
                                          <p:spTgt spid="20853582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85358285">
                                            <p:txEl>
                                              <p:pRg st="1" end="1"/>
                                            </p:txEl>
                                          </p:spTgt>
                                        </p:tgtEl>
                                        <p:attrNameLst>
                                          <p:attrName>style.visibility</p:attrName>
                                        </p:attrNameLst>
                                      </p:cBhvr>
                                      <p:to>
                                        <p:strVal val="visible"/>
                                      </p:to>
                                    </p:set>
                                    <p:animEffect transition="in" filter="fade">
                                      <p:cBhvr>
                                        <p:cTn id="12" dur="500"/>
                                        <p:tgtEl>
                                          <p:spTgt spid="20853582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57705748"/>
                                        </p:tgtEl>
                                        <p:attrNameLst>
                                          <p:attrName>style.visibility</p:attrName>
                                        </p:attrNameLst>
                                      </p:cBhvr>
                                      <p:to>
                                        <p:strVal val="visible"/>
                                      </p:to>
                                    </p:set>
                                    <p:animEffect transition="in" filter="fade">
                                      <p:cBhvr>
                                        <p:cTn id="17" dur="500"/>
                                        <p:tgtEl>
                                          <p:spTgt spid="175770574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7983507">
                                            <p:txEl>
                                              <p:pRg st="0" end="0"/>
                                            </p:txEl>
                                          </p:spTgt>
                                        </p:tgtEl>
                                        <p:attrNameLst>
                                          <p:attrName>style.visibility</p:attrName>
                                        </p:attrNameLst>
                                      </p:cBhvr>
                                      <p:to>
                                        <p:strVal val="visible"/>
                                      </p:to>
                                    </p:set>
                                    <p:animEffect transition="in" filter="fade">
                                      <p:cBhvr>
                                        <p:cTn id="22" dur="500"/>
                                        <p:tgtEl>
                                          <p:spTgt spid="50798350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7983507">
                                            <p:txEl>
                                              <p:pRg st="1" end="1"/>
                                            </p:txEl>
                                          </p:spTgt>
                                        </p:tgtEl>
                                        <p:attrNameLst>
                                          <p:attrName>style.visibility</p:attrName>
                                        </p:attrNameLst>
                                      </p:cBhvr>
                                      <p:to>
                                        <p:strVal val="visible"/>
                                      </p:to>
                                    </p:set>
                                    <p:animEffect transition="in" filter="fade">
                                      <p:cBhvr>
                                        <p:cTn id="27" dur="500"/>
                                        <p:tgtEl>
                                          <p:spTgt spid="50798350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7983507">
                                            <p:txEl>
                                              <p:pRg st="2" end="2"/>
                                            </p:txEl>
                                          </p:spTgt>
                                        </p:tgtEl>
                                        <p:attrNameLst>
                                          <p:attrName>style.visibility</p:attrName>
                                        </p:attrNameLst>
                                      </p:cBhvr>
                                      <p:to>
                                        <p:strVal val="visible"/>
                                      </p:to>
                                    </p:set>
                                    <p:animEffect transition="in" filter="fade">
                                      <p:cBhvr>
                                        <p:cTn id="32" dur="500"/>
                                        <p:tgtEl>
                                          <p:spTgt spid="50798350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7983507">
                                            <p:txEl>
                                              <p:pRg st="3" end="3"/>
                                            </p:txEl>
                                          </p:spTgt>
                                        </p:tgtEl>
                                        <p:attrNameLst>
                                          <p:attrName>style.visibility</p:attrName>
                                        </p:attrNameLst>
                                      </p:cBhvr>
                                      <p:to>
                                        <p:strVal val="visible"/>
                                      </p:to>
                                    </p:set>
                                    <p:animEffect transition="in" filter="fade">
                                      <p:cBhvr>
                                        <p:cTn id="37" dur="500"/>
                                        <p:tgtEl>
                                          <p:spTgt spid="507983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5358285" grpId="0" build="p"/>
      <p:bldP spid="507983507"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72442013" name="Titre 1"/>
          <p:cNvSpPr>
            <a:spLocks noGrp="1"/>
          </p:cNvSpPr>
          <p:nvPr>
            <p:ph type="title"/>
          </p:nvPr>
        </p:nvSpPr>
        <p:spPr bwMode="auto"/>
        <p:txBody>
          <a:bodyPr/>
          <a:lstStyle/>
          <a:p>
            <a:pPr>
              <a:defRPr/>
            </a:pPr>
            <a:r>
              <a:rPr lang="fr-FR"/>
              <a:t>Autres problèmes</a:t>
            </a:r>
            <a:endParaRPr/>
          </a:p>
        </p:txBody>
      </p:sp>
      <p:sp>
        <p:nvSpPr>
          <p:cNvPr id="1184005584" name="Espace réservé du contenu 2"/>
          <p:cNvSpPr>
            <a:spLocks noGrp="1"/>
          </p:cNvSpPr>
          <p:nvPr>
            <p:ph idx="1"/>
          </p:nvPr>
        </p:nvSpPr>
        <p:spPr bwMode="auto">
          <a:xfrm>
            <a:off x="838200" y="1607018"/>
            <a:ext cx="10515600" cy="4351338"/>
          </a:xfrm>
        </p:spPr>
        <p:txBody>
          <a:bodyPr vert="horz" lIns="91440" tIns="45720" rIns="91440" bIns="45720" rtlCol="0" anchor="t">
            <a:normAutofit/>
          </a:bodyPr>
          <a:lstStyle/>
          <a:p>
            <a:pPr>
              <a:defRPr/>
            </a:pPr>
            <a:r>
              <a:rPr lang="fr-FR"/>
              <a:t>La p-valeur ne dépend pas (que) de la taille d'effet</a:t>
            </a:r>
            <a:endParaRPr/>
          </a:p>
          <a:p>
            <a:pPr>
              <a:defRPr/>
            </a:pPr>
            <a:r>
              <a:rPr lang="fr-FR"/>
              <a:t>Fischer dira qu'il faut </a:t>
            </a:r>
            <a:r>
              <a:rPr lang="fr-FR">
                <a:ea typeface="+mn-lt"/>
                <a:cs typeface="+mn-lt"/>
              </a:rPr>
              <a:t>organiser les expériences « de manière à ce que la corrélation soit aussi élevée que possible »</a:t>
            </a:r>
            <a:endParaRPr/>
          </a:p>
          <a:p>
            <a:pPr>
              <a:defRPr/>
            </a:pPr>
            <a:r>
              <a:rPr lang="fr-FR"/>
              <a:t>Contrairement à ce qu'il écrit dans son livre en 1925, il dira en 1956 </a:t>
            </a:r>
            <a:r>
              <a:rPr lang="fr-FR">
                <a:ea typeface="+mn-lt"/>
                <a:cs typeface="+mn-lt"/>
              </a:rPr>
              <a:t>« </a:t>
            </a:r>
            <a:r>
              <a:rPr lang="fr-FR" i="1">
                <a:ea typeface="+mn-lt"/>
                <a:cs typeface="+mn-lt"/>
              </a:rPr>
              <a:t>aucun chercheur scientifique n’a de niveau de signification fixe à partir duquel, d’année en année et en toutes circonstances, il rejette des hypothèses</a:t>
            </a:r>
            <a:r>
              <a:rPr lang="fr-FR">
                <a:ea typeface="+mn-lt"/>
                <a:cs typeface="+mn-lt"/>
              </a:rPr>
              <a:t> »</a:t>
            </a:r>
            <a:endParaRPr/>
          </a:p>
          <a:p>
            <a:pPr>
              <a:defRPr/>
            </a:pPr>
            <a:r>
              <a:rPr lang="fr-FR"/>
              <a:t>Le psychologue Rozeboom dira en 1960 « </a:t>
            </a:r>
            <a:r>
              <a:rPr lang="fr-FR">
                <a:latin typeface="Aptos"/>
              </a:rPr>
              <a:t>les tests de signification peuvent exercer leur propre forme involontaire de tyrannie sur d’autres modes de pensée »</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4005584">
                                            <p:txEl>
                                              <p:pRg st="0" end="0"/>
                                            </p:txEl>
                                          </p:spTgt>
                                        </p:tgtEl>
                                        <p:attrNameLst>
                                          <p:attrName>style.visibility</p:attrName>
                                        </p:attrNameLst>
                                      </p:cBhvr>
                                      <p:to>
                                        <p:strVal val="visible"/>
                                      </p:to>
                                    </p:set>
                                    <p:animEffect transition="in" filter="fade">
                                      <p:cBhvr>
                                        <p:cTn id="7" dur="500"/>
                                        <p:tgtEl>
                                          <p:spTgt spid="11840055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84005584">
                                            <p:txEl>
                                              <p:pRg st="1" end="1"/>
                                            </p:txEl>
                                          </p:spTgt>
                                        </p:tgtEl>
                                        <p:attrNameLst>
                                          <p:attrName>style.visibility</p:attrName>
                                        </p:attrNameLst>
                                      </p:cBhvr>
                                      <p:to>
                                        <p:strVal val="visible"/>
                                      </p:to>
                                    </p:set>
                                    <p:animEffect transition="in" filter="fade">
                                      <p:cBhvr>
                                        <p:cTn id="12" dur="500"/>
                                        <p:tgtEl>
                                          <p:spTgt spid="11840055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84005584">
                                            <p:txEl>
                                              <p:pRg st="2" end="2"/>
                                            </p:txEl>
                                          </p:spTgt>
                                        </p:tgtEl>
                                        <p:attrNameLst>
                                          <p:attrName>style.visibility</p:attrName>
                                        </p:attrNameLst>
                                      </p:cBhvr>
                                      <p:to>
                                        <p:strVal val="visible"/>
                                      </p:to>
                                    </p:set>
                                    <p:animEffect transition="in" filter="fade">
                                      <p:cBhvr>
                                        <p:cTn id="17" dur="500"/>
                                        <p:tgtEl>
                                          <p:spTgt spid="11840055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84005584">
                                            <p:txEl>
                                              <p:pRg st="3" end="3"/>
                                            </p:txEl>
                                          </p:spTgt>
                                        </p:tgtEl>
                                        <p:attrNameLst>
                                          <p:attrName>style.visibility</p:attrName>
                                        </p:attrNameLst>
                                      </p:cBhvr>
                                      <p:to>
                                        <p:strVal val="visible"/>
                                      </p:to>
                                    </p:set>
                                    <p:animEffect transition="in" filter="fade">
                                      <p:cBhvr>
                                        <p:cTn id="22" dur="500"/>
                                        <p:tgtEl>
                                          <p:spTgt spid="11840055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4005584"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6131670" name="Titre 1"/>
          <p:cNvSpPr>
            <a:spLocks noGrp="1"/>
          </p:cNvSpPr>
          <p:nvPr>
            <p:ph type="title"/>
          </p:nvPr>
        </p:nvSpPr>
        <p:spPr bwMode="auto"/>
        <p:txBody>
          <a:bodyPr/>
          <a:lstStyle/>
          <a:p>
            <a:pPr>
              <a:defRPr/>
            </a:pPr>
            <a:r>
              <a:rPr lang="fr-FR"/>
              <a:t>Que retenir ?</a:t>
            </a:r>
            <a:endParaRPr/>
          </a:p>
        </p:txBody>
      </p:sp>
      <p:sp>
        <p:nvSpPr>
          <p:cNvPr id="1390230884" name="Espace réservé du contenu 2"/>
          <p:cNvSpPr>
            <a:spLocks noGrp="1"/>
          </p:cNvSpPr>
          <p:nvPr>
            <p:ph idx="1"/>
          </p:nvPr>
        </p:nvSpPr>
        <p:spPr bwMode="auto">
          <a:xfrm>
            <a:off x="838200" y="1631390"/>
            <a:ext cx="10515600" cy="4545573"/>
          </a:xfrm>
        </p:spPr>
        <p:txBody>
          <a:bodyPr vert="horz" lIns="91440" tIns="45720" rIns="91440" bIns="45720" rtlCol="0" anchor="t">
            <a:normAutofit lnSpcReduction="10000"/>
          </a:bodyPr>
          <a:lstStyle/>
          <a:p>
            <a:pPr>
              <a:defRPr/>
            </a:pPr>
            <a:r>
              <a:rPr lang="fr-FR"/>
              <a:t>La p-valeur date de bien avant Fischer. Nous avons besoin d'une valeur objectivable permettant de distinguer le bruit d'un effet</a:t>
            </a:r>
            <a:r>
              <a:t>.</a:t>
            </a:r>
          </a:p>
          <a:p>
            <a:pPr>
              <a:defRPr/>
            </a:pPr>
            <a:r>
              <a:rPr lang="fr-FR"/>
              <a:t>Elle s'est démocratisée par rapport à d'autres outils parce qu'elle était simple d'accès à une époque sans ordinateur, et uniquement pour ça</a:t>
            </a:r>
            <a:endParaRPr/>
          </a:p>
          <a:p>
            <a:pPr>
              <a:defRPr/>
            </a:pPr>
            <a:r>
              <a:rPr lang="fr-FR"/>
              <a:t>Malgré de graves problèmes évidents et de fortes critiques dès sa démocratisation</a:t>
            </a:r>
            <a:endParaRPr/>
          </a:p>
          <a:p>
            <a:pPr>
              <a:defRPr/>
            </a:pPr>
            <a:r>
              <a:rPr lang="fr-FR"/>
              <a:t>Le débat p-valeur versus bayésien est presque aussi vieux que la p-valeur elle-même</a:t>
            </a:r>
            <a:endParaRPr/>
          </a:p>
          <a:p>
            <a:pPr>
              <a:defRPr/>
            </a:pPr>
            <a:r>
              <a:rPr lang="fr-FR"/>
              <a:t>Pourtant, la p-valeur se retrouve aujourd'hui dans une forme hybride, très éloignée de la conception de ses auteurs.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90230884">
                                            <p:txEl>
                                              <p:pRg st="0" end="0"/>
                                            </p:txEl>
                                          </p:spTgt>
                                        </p:tgtEl>
                                        <p:attrNameLst>
                                          <p:attrName>style.visibility</p:attrName>
                                        </p:attrNameLst>
                                      </p:cBhvr>
                                      <p:to>
                                        <p:strVal val="visible"/>
                                      </p:to>
                                    </p:set>
                                    <p:animEffect transition="in" filter="fade">
                                      <p:cBhvr>
                                        <p:cTn id="7" dur="500"/>
                                        <p:tgtEl>
                                          <p:spTgt spid="13902308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90230884">
                                            <p:txEl>
                                              <p:pRg st="1" end="1"/>
                                            </p:txEl>
                                          </p:spTgt>
                                        </p:tgtEl>
                                        <p:attrNameLst>
                                          <p:attrName>style.visibility</p:attrName>
                                        </p:attrNameLst>
                                      </p:cBhvr>
                                      <p:to>
                                        <p:strVal val="visible"/>
                                      </p:to>
                                    </p:set>
                                    <p:animEffect transition="in" filter="fade">
                                      <p:cBhvr>
                                        <p:cTn id="12" dur="500"/>
                                        <p:tgtEl>
                                          <p:spTgt spid="13902308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90230884">
                                            <p:txEl>
                                              <p:pRg st="2" end="2"/>
                                            </p:txEl>
                                          </p:spTgt>
                                        </p:tgtEl>
                                        <p:attrNameLst>
                                          <p:attrName>style.visibility</p:attrName>
                                        </p:attrNameLst>
                                      </p:cBhvr>
                                      <p:to>
                                        <p:strVal val="visible"/>
                                      </p:to>
                                    </p:set>
                                    <p:animEffect transition="in" filter="fade">
                                      <p:cBhvr>
                                        <p:cTn id="17" dur="500"/>
                                        <p:tgtEl>
                                          <p:spTgt spid="13902308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90230884">
                                            <p:txEl>
                                              <p:pRg st="3" end="3"/>
                                            </p:txEl>
                                          </p:spTgt>
                                        </p:tgtEl>
                                        <p:attrNameLst>
                                          <p:attrName>style.visibility</p:attrName>
                                        </p:attrNameLst>
                                      </p:cBhvr>
                                      <p:to>
                                        <p:strVal val="visible"/>
                                      </p:to>
                                    </p:set>
                                    <p:animEffect transition="in" filter="fade">
                                      <p:cBhvr>
                                        <p:cTn id="22" dur="500"/>
                                        <p:tgtEl>
                                          <p:spTgt spid="139023088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90230884">
                                            <p:txEl>
                                              <p:pRg st="4" end="4"/>
                                            </p:txEl>
                                          </p:spTgt>
                                        </p:tgtEl>
                                        <p:attrNameLst>
                                          <p:attrName>style.visibility</p:attrName>
                                        </p:attrNameLst>
                                      </p:cBhvr>
                                      <p:to>
                                        <p:strVal val="visible"/>
                                      </p:to>
                                    </p:set>
                                    <p:animEffect transition="in" filter="fade">
                                      <p:cBhvr>
                                        <p:cTn id="27" dur="500"/>
                                        <p:tgtEl>
                                          <p:spTgt spid="139023088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0230884"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6300175" name="Espace réservé du contenu 2"/>
          <p:cNvSpPr>
            <a:spLocks noGrp="1"/>
          </p:cNvSpPr>
          <p:nvPr>
            <p:ph idx="1"/>
          </p:nvPr>
        </p:nvSpPr>
        <p:spPr bwMode="auto">
          <a:xfrm>
            <a:off x="838200" y="726346"/>
            <a:ext cx="10515600" cy="5762912"/>
          </a:xfrm>
        </p:spPr>
        <p:txBody>
          <a:bodyPr vert="horz" lIns="91440" tIns="45720" rIns="91440" bIns="45720" rtlCol="0" anchor="t">
            <a:normAutofit fontScale="92500"/>
          </a:bodyPr>
          <a:lstStyle/>
          <a:p>
            <a:pPr>
              <a:defRPr/>
            </a:pPr>
            <a:r>
              <a:rPr lang="fr-FR"/>
              <a:t>Nous avons besoin des tests statistiques dans nos pratiques</a:t>
            </a:r>
            <a:endParaRPr/>
          </a:p>
          <a:p>
            <a:pPr>
              <a:defRPr/>
            </a:pPr>
            <a:r>
              <a:rPr lang="fr-FR"/>
              <a:t>Pourtant nos pratiques ne sont pas acceptés par les statisticiens</a:t>
            </a:r>
          </a:p>
          <a:p>
            <a:pPr lvl="1">
              <a:buFont typeface="Courier New"/>
              <a:buChar char="o"/>
              <a:defRPr/>
            </a:pPr>
            <a:r>
              <a:rPr lang="fr-FR"/>
              <a:t>"Le fait que les statisticiens n'acceptent pas comme vrai de ce que les scientifiques apprennent régulièrement comme des vérités incontestables pourraient en choquer beaucoup" Goodman, 2016.</a:t>
            </a:r>
            <a:endParaRPr/>
          </a:p>
          <a:p>
            <a:pPr>
              <a:defRPr/>
            </a:pPr>
            <a:r>
              <a:rPr lang="fr-FR"/>
              <a:t>Il est nécessaire de comprendre que la p-valeur n'est pas un objectif indépassable et n'est pas la seule manière de faire de la science.</a:t>
            </a:r>
          </a:p>
          <a:p>
            <a:pPr>
              <a:defRPr/>
            </a:pPr>
            <a:r>
              <a:rPr lang="fr-FR"/>
              <a:t>Qu'elle est l'objet de débats depuis plus d'une centaine d'année.</a:t>
            </a:r>
          </a:p>
          <a:p>
            <a:pPr>
              <a:defRPr/>
            </a:pPr>
            <a:r>
              <a:rPr lang="fr-FR"/>
              <a:t>Et qu'elle est très certainement caduque dans un environnement ou les capacités computationnelles sont plus importantes.</a:t>
            </a:r>
          </a:p>
          <a:p>
            <a:pPr>
              <a:defRPr/>
            </a:pPr>
            <a:r>
              <a:rPr lang="fr-FR">
                <a:ea typeface="+mn-lt"/>
                <a:cs typeface="+mn-lt"/>
              </a:rPr>
              <a:t>Kennedy-Shaffer, L. (2019). Before p &lt; 0.05 to Beyond p &lt; 0.05: Using History to Contextualize p-Values and Significance Testing. The American Statistician, 73(sup1), 82–90. </a:t>
            </a:r>
            <a:r>
              <a:rPr lang="fr-FR" u="sng">
                <a:ea typeface="+mn-lt"/>
                <a:cs typeface="+mn-lt"/>
                <a:hlinkClick r:id="rId3"/>
              </a:rPr>
              <a:t>https://doi.org/10.1080/00031305.2018.1537891</a:t>
            </a:r>
            <a:endParaRPr lang="fr-F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86300175">
                                            <p:txEl>
                                              <p:pRg st="0" end="0"/>
                                            </p:txEl>
                                          </p:spTgt>
                                        </p:tgtEl>
                                        <p:attrNameLst>
                                          <p:attrName>style.visibility</p:attrName>
                                        </p:attrNameLst>
                                      </p:cBhvr>
                                      <p:to>
                                        <p:strVal val="visible"/>
                                      </p:to>
                                    </p:set>
                                    <p:animEffect transition="in" filter="fade">
                                      <p:cBhvr>
                                        <p:cTn id="7" dur="500"/>
                                        <p:tgtEl>
                                          <p:spTgt spid="12863001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86300175">
                                            <p:txEl>
                                              <p:pRg st="1" end="1"/>
                                            </p:txEl>
                                          </p:spTgt>
                                        </p:tgtEl>
                                        <p:attrNameLst>
                                          <p:attrName>style.visibility</p:attrName>
                                        </p:attrNameLst>
                                      </p:cBhvr>
                                      <p:to>
                                        <p:strVal val="visible"/>
                                      </p:to>
                                    </p:set>
                                    <p:animEffect transition="in" filter="fade">
                                      <p:cBhvr>
                                        <p:cTn id="12" dur="500"/>
                                        <p:tgtEl>
                                          <p:spTgt spid="128630017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86300175">
                                            <p:txEl>
                                              <p:pRg st="2" end="2"/>
                                            </p:txEl>
                                          </p:spTgt>
                                        </p:tgtEl>
                                        <p:attrNameLst>
                                          <p:attrName>style.visibility</p:attrName>
                                        </p:attrNameLst>
                                      </p:cBhvr>
                                      <p:to>
                                        <p:strVal val="visible"/>
                                      </p:to>
                                    </p:set>
                                    <p:animEffect transition="in" filter="fade">
                                      <p:cBhvr>
                                        <p:cTn id="15" dur="500"/>
                                        <p:tgtEl>
                                          <p:spTgt spid="128630017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86300175">
                                            <p:txEl>
                                              <p:pRg st="3" end="3"/>
                                            </p:txEl>
                                          </p:spTgt>
                                        </p:tgtEl>
                                        <p:attrNameLst>
                                          <p:attrName>style.visibility</p:attrName>
                                        </p:attrNameLst>
                                      </p:cBhvr>
                                      <p:to>
                                        <p:strVal val="visible"/>
                                      </p:to>
                                    </p:set>
                                    <p:animEffect transition="in" filter="fade">
                                      <p:cBhvr>
                                        <p:cTn id="20" dur="500"/>
                                        <p:tgtEl>
                                          <p:spTgt spid="128630017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86300175">
                                            <p:txEl>
                                              <p:pRg st="4" end="4"/>
                                            </p:txEl>
                                          </p:spTgt>
                                        </p:tgtEl>
                                        <p:attrNameLst>
                                          <p:attrName>style.visibility</p:attrName>
                                        </p:attrNameLst>
                                      </p:cBhvr>
                                      <p:to>
                                        <p:strVal val="visible"/>
                                      </p:to>
                                    </p:set>
                                    <p:animEffect transition="in" filter="fade">
                                      <p:cBhvr>
                                        <p:cTn id="25" dur="500"/>
                                        <p:tgtEl>
                                          <p:spTgt spid="128630017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86300175">
                                            <p:txEl>
                                              <p:pRg st="5" end="5"/>
                                            </p:txEl>
                                          </p:spTgt>
                                        </p:tgtEl>
                                        <p:attrNameLst>
                                          <p:attrName>style.visibility</p:attrName>
                                        </p:attrNameLst>
                                      </p:cBhvr>
                                      <p:to>
                                        <p:strVal val="visible"/>
                                      </p:to>
                                    </p:set>
                                    <p:animEffect transition="in" filter="fade">
                                      <p:cBhvr>
                                        <p:cTn id="30" dur="500"/>
                                        <p:tgtEl>
                                          <p:spTgt spid="128630017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86300175">
                                            <p:txEl>
                                              <p:pRg st="6" end="6"/>
                                            </p:txEl>
                                          </p:spTgt>
                                        </p:tgtEl>
                                        <p:attrNameLst>
                                          <p:attrName>style.visibility</p:attrName>
                                        </p:attrNameLst>
                                      </p:cBhvr>
                                      <p:to>
                                        <p:strVal val="visible"/>
                                      </p:to>
                                    </p:set>
                                    <p:animEffect transition="in" filter="fade">
                                      <p:cBhvr>
                                        <p:cTn id="35" dur="500"/>
                                        <p:tgtEl>
                                          <p:spTgt spid="12863001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6300175" grpId="0" build="p"/>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26</Slides>
  <Notes>26</Notes>
  <HiddenSlides>0</HiddenSlides>
  <MMClips>2</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Thème Office</vt:lpstr>
      <vt:lpstr>Une p-valeur avant la p-valeur ?</vt:lpstr>
      <vt:lpstr>À quoi sert la p-valeur</vt:lpstr>
      <vt:lpstr>John Arbuthnot (1667 – 1735)</vt:lpstr>
      <vt:lpstr>Présentation PowerPoint</vt:lpstr>
      <vt:lpstr>Pierre-Simon de Laplace (1749-1827)</vt:lpstr>
      <vt:lpstr>Siméon Denis Poisson (1781-1840)</vt:lpstr>
      <vt:lpstr>Antoine-Augustin Cournot (1801-1877)</vt:lpstr>
      <vt:lpstr>Francis Ysidro Edgeworth (1845 - 1926)</vt:lpstr>
      <vt:lpstr>Qu'a apporté Pearson ?</vt:lpstr>
      <vt:lpstr>Mais comment ?</vt:lpstr>
      <vt:lpstr>Ronald Fischer</vt:lpstr>
      <vt:lpstr>Statistical Methods for Research Workers</vt:lpstr>
      <vt:lpstr>La p-valeur</vt:lpstr>
      <vt:lpstr>Pourquoi la p-valeur</vt:lpstr>
      <vt:lpstr>Statistical Methods for Research Workers</vt:lpstr>
      <vt:lpstr>Présentation PowerPoint</vt:lpstr>
      <vt:lpstr>Le débat de la valeur 0.05</vt:lpstr>
      <vt:lpstr>Il n'existe pas une p-valeur, mais deux</vt:lpstr>
      <vt:lpstr>Neyman et Pearson (1933)</vt:lpstr>
      <vt:lpstr>À quoi servent les statistiques ?</vt:lpstr>
      <vt:lpstr>Un hybride dégénéré</vt:lpstr>
      <vt:lpstr>Présentation PowerPoint</vt:lpstr>
      <vt:lpstr>Le bayésien</vt:lpstr>
      <vt:lpstr>Autres problèmes</vt:lpstr>
      <vt:lpstr>Que retenir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687</cp:revision>
  <dcterms:created xsi:type="dcterms:W3CDTF">2026-06-04T20:14:29Z</dcterms:created>
  <dcterms:modified xsi:type="dcterms:W3CDTF">2026-06-18T15:47:40Z</dcterms:modified>
</cp:coreProperties>
</file>
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94" d="100"/>
          <a:sy n="94" d="100"/>
        </p:scale>
        <p:origin x="132" y="33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645782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09682986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0CE6A8-01AC-462C-B63C-12EC9E589110}" type="datetimeFigureOut">
              <a:rPr lang="fr-FR"/>
              <a:t>09/07/2025</a:t>
            </a:fld>
            <a:endParaRPr lang="fr-FR"/>
          </a:p>
        </p:txBody>
      </p:sp>
      <p:sp>
        <p:nvSpPr>
          <p:cNvPr id="158177469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2026450985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78202109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6638730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69D9EBF-85D1-40D6-B4F2-526FC931D0DA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www.eurocris.org/" TargetMode="Externa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412074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2972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3822156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69D9EBF-85D1-40D6-B4F2-526FC931D0DA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173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7923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530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102317-8271-3AA9-C4F2-A3CD225CAD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1787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247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886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419316-6356-9076-62D6-F77E93FFB5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008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440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540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DFC62-197C-423B-EF89-6DBB545FD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280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970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76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2395A0-3EC0-B575-04D9-1F5DA93F26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982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2499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530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6F55B3-0081-3CCF-DFFA-A5C3B8C6E3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029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353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576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82936-537E-8C33-DF72-0725673063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595347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6524783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Et je vais vous prouver que Elsevier n’est définitivement pas un éditeur scientifique.</a:t>
            </a:r>
            <a:endParaRPr/>
          </a:p>
        </p:txBody>
      </p:sp>
      <p:sp>
        <p:nvSpPr>
          <p:cNvPr id="204326619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C7EEFD9-4785-4EFA-A683-4939F3EA1834}" type="slidenum">
              <a:rPr lang="fr-FR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243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050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40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6EF2B-B590-3975-BED5-C58E4AF8D7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921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329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008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84CA4F-61BF-93A4-679D-438F19DACA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274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096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541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FCD8F5-401D-8F50-75F2-24710DAC5D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965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155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332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08BC10-B3FB-CC61-96BD-0EC47B9EDC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25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437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548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EF2279-BEB3-BEBF-F566-AFB27813C0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651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883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063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39F0D7-0EEE-0CC6-D959-C1F45B25B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339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029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748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2681A8-8B90-F158-D262-B393604515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580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6529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4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60500C-F13A-8AD0-FA6A-03BB4C33F3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89324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83273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>
                <a:solidFill>
                  <a:schemeClr val="tx1"/>
                </a:solidFill>
                <a:latin typeface="Aptos"/>
                <a:ea typeface="Arial"/>
                <a:cs typeface="Arial"/>
              </a:rPr>
              <a:t>(CRIS) emerged in Europe in the 1990s, expanding primarily at the institutional level, within universities. The </a:t>
            </a:r>
            <a:r>
              <a:rPr lang="en-US" sz="1200" b="0" i="0" u="sng">
                <a:solidFill>
                  <a:schemeClr val="tx1"/>
                </a:solidFill>
                <a:latin typeface="Aptos"/>
                <a:ea typeface="Arial"/>
                <a:cs typeface="Arial"/>
                <a:hlinkClick r:id="rId3" tooltip="https://www.eurocris.org/"/>
              </a:rPr>
              <a:t>European Organization for International Research Information</a:t>
            </a:r>
            <a:r>
              <a:rPr lang="en-US" sz="1200" b="0" i="0">
                <a:solidFill>
                  <a:schemeClr val="tx1"/>
                </a:solidFill>
                <a:latin typeface="Aptos"/>
                <a:ea typeface="Arial"/>
                <a:cs typeface="Arial"/>
              </a:rPr>
              <a:t> (</a:t>
            </a:r>
            <a:r>
              <a:rPr lang="en-US" sz="1200" b="0" i="0">
                <a:solidFill>
                  <a:schemeClr val="tx1"/>
                </a:solidFill>
                <a:latin typeface="Aptos"/>
                <a:ea typeface="Arial"/>
                <a:cs typeface="Arial"/>
              </a:rPr>
              <a:t>EuroCRIS</a:t>
            </a:r>
            <a:r>
              <a:rPr lang="en-US" sz="1200" b="0" i="0">
                <a:solidFill>
                  <a:schemeClr val="tx1"/>
                </a:solidFill>
                <a:latin typeface="Aptos"/>
                <a:ea typeface="Arial"/>
                <a:cs typeface="Arial"/>
              </a:rPr>
              <a:t>) was founded in 2002,</a:t>
            </a:r>
            <a:endParaRPr lang="fr-FR"/>
          </a:p>
        </p:txBody>
      </p:sp>
      <p:sp>
        <p:nvSpPr>
          <p:cNvPr id="1981447073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69D9EBF-85D1-40D6-B4F2-526FC931D0DA}" type="slidenum">
              <a:rPr lang="fr-FR"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441072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080413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768129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69D9EBF-85D1-40D6-B4F2-526FC931D0DA}" type="slidenum">
              <a:rPr lang="fr-FR"/>
              <a:t>22</a:t>
            </a:fld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220451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121315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10040187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69D9EBF-85D1-40D6-B4F2-526FC931D0DA}" type="slidenum">
              <a:rPr lang="fr-FR"/>
              <a:t>23</a:t>
            </a:fld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041034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560941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61839849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69D9EBF-85D1-40D6-B4F2-526FC931D0DA}" type="slidenum">
              <a:rPr lang="fr-FR"/>
              <a:t>24</a:t>
            </a:fld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33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98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799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3A9802-6B98-CB05-C560-A0D72B0F6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00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291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599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FA4BD1-6B1B-237E-753E-54B4766CDE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511792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403976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Most </a:t>
            </a:r>
            <a:r>
              <a:rPr lang="fr-FR"/>
              <a:t>take-away</a:t>
            </a:r>
            <a:r>
              <a:rPr lang="fr-FR"/>
              <a:t> messages are « </a:t>
            </a:r>
            <a:r>
              <a:rPr lang="fr-FR"/>
              <a:t>publish</a:t>
            </a:r>
            <a:r>
              <a:rPr lang="fr-FR"/>
              <a:t> </a:t>
            </a:r>
            <a:r>
              <a:rPr lang="fr-FR"/>
              <a:t>less</a:t>
            </a:r>
            <a:r>
              <a:rPr lang="fr-FR"/>
              <a:t> – </a:t>
            </a:r>
            <a:r>
              <a:rPr lang="fr-FR"/>
              <a:t>publish</a:t>
            </a:r>
            <a:r>
              <a:rPr lang="fr-FR"/>
              <a:t> </a:t>
            </a:r>
            <a:r>
              <a:rPr lang="fr-FR"/>
              <a:t>better</a:t>
            </a:r>
            <a:r>
              <a:rPr lang="fr-FR"/>
              <a:t> » but man I </a:t>
            </a:r>
            <a:r>
              <a:rPr lang="fr-FR"/>
              <a:t>am</a:t>
            </a:r>
            <a:r>
              <a:rPr lang="fr-FR"/>
              <a:t> a postdoc, i </a:t>
            </a:r>
            <a:r>
              <a:rPr lang="fr-FR"/>
              <a:t>need</a:t>
            </a:r>
            <a:r>
              <a:rPr lang="fr-FR"/>
              <a:t> to follow </a:t>
            </a:r>
            <a:r>
              <a:rPr lang="fr-FR"/>
              <a:t>indicators</a:t>
            </a:r>
            <a:r>
              <a:rPr lang="fr-FR"/>
              <a:t> </a:t>
            </a:r>
            <a:r>
              <a:rPr lang="fr-FR"/>
              <a:t>just</a:t>
            </a:r>
            <a:r>
              <a:rPr lang="fr-FR"/>
              <a:t> to survive and </a:t>
            </a:r>
            <a:r>
              <a:rPr lang="fr-FR"/>
              <a:t>hope</a:t>
            </a:r>
            <a:r>
              <a:rPr lang="fr-FR"/>
              <a:t> to </a:t>
            </a:r>
            <a:r>
              <a:rPr lang="fr-FR"/>
              <a:t>secure</a:t>
            </a:r>
            <a:r>
              <a:rPr lang="fr-FR"/>
              <a:t> a position.</a:t>
            </a:r>
            <a:endParaRPr/>
          </a:p>
        </p:txBody>
      </p:sp>
      <p:sp>
        <p:nvSpPr>
          <p:cNvPr id="96325508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69D9EBF-85D1-40D6-B4F2-526FC931D0DA}" type="slidenum">
              <a:rPr lang="fr-FR"/>
              <a:t>27</a:t>
            </a:fld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810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3640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838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4E626F-A2CE-F44F-158D-36FC76D92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45388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64922195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04170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3538951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13953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624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969185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920879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3316086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68981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43274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84342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1030616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87948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07263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623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1159557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4609188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8038365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14773750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97868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286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9625342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577053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7499149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1164909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0503653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14589010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6096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550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02186433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3302298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4088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86776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1525350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583161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9626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08752029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8025788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0338060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20251696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30784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7005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58825813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112158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484770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8410206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31882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1654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65355948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5837638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17548234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2986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766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9980718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7468630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9201675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04488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7314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1571601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79706171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9/10/2025</a:t>
            </a:fld>
            <a:endParaRPr lang="en-US"/>
          </a:p>
        </p:txBody>
      </p:sp>
      <p:sp>
        <p:nvSpPr>
          <p:cNvPr id="5600316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46205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24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doi.org/10.48550/arXiv.2309.15884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i.org/10.48550/arXiv.2309.15884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48550/arXiv.2309.15884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48550/arXiv.2309.15884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hyperlink" Target="https://www.lobbyfacts.eu/datacard/relx?rid=338398611148-62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4.png"/><Relationship Id="rId7" Type="http://schemas.openxmlformats.org/officeDocument/2006/relationships/image" Target="../media/image3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8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185426" name="TextBox 11"/>
          <p:cNvSpPr txBox="1"/>
          <p:nvPr/>
        </p:nvSpPr>
        <p:spPr bwMode="auto">
          <a:xfrm>
            <a:off x="1028700" y="1359076"/>
            <a:ext cx="2512675" cy="26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3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Now"/>
              </a:rPr>
              <a:t>Adrien Fillon</a:t>
            </a:r>
            <a:endParaRPr/>
          </a:p>
        </p:txBody>
      </p:sp>
      <p:sp>
        <p:nvSpPr>
          <p:cNvPr id="985462553" name="TextBox 12"/>
          <p:cNvSpPr txBox="1"/>
          <p:nvPr/>
        </p:nvSpPr>
        <p:spPr bwMode="auto">
          <a:xfrm>
            <a:off x="1028700" y="9005123"/>
            <a:ext cx="2512675" cy="26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3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Now"/>
              </a:rPr>
              <a:t>University of Cyprus</a:t>
            </a:r>
            <a:endParaRPr/>
          </a:p>
        </p:txBody>
      </p:sp>
      <p:sp>
        <p:nvSpPr>
          <p:cNvPr id="1406572363" name="TextBox 14"/>
          <p:cNvSpPr txBox="1"/>
          <p:nvPr/>
        </p:nvSpPr>
        <p:spPr bwMode="auto">
          <a:xfrm>
            <a:off x="14746624" y="1377645"/>
            <a:ext cx="2514834" cy="26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23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Now"/>
              </a:rPr>
              <a:t>09/10/2025</a:t>
            </a:r>
            <a:endParaRPr/>
          </a:p>
        </p:txBody>
      </p:sp>
      <p:sp>
        <p:nvSpPr>
          <p:cNvPr id="867037158" name="TextBox 16"/>
          <p:cNvSpPr txBox="1"/>
          <p:nvPr/>
        </p:nvSpPr>
        <p:spPr bwMode="auto">
          <a:xfrm>
            <a:off x="15041623" y="8601903"/>
            <a:ext cx="2408177" cy="53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23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Now"/>
              </a:rPr>
              <a:t>TWIN4MERIT,</a:t>
            </a:r>
            <a:endParaRPr/>
          </a:p>
          <a:p>
            <a:pPr algn="r">
              <a:lnSpc>
                <a:spcPts val="2123"/>
              </a:lnSpc>
              <a:defRPr/>
            </a:pPr>
            <a:r>
              <a:rPr lang="en-US" sz="1750" b="1">
                <a:solidFill>
                  <a:srgbClr val="000000"/>
                </a:solidFill>
                <a:latin typeface="Now"/>
              </a:rPr>
              <a:t>University of Cyprus</a:t>
            </a:r>
            <a:endParaRPr/>
          </a:p>
        </p:txBody>
      </p:sp>
      <p:pic>
        <p:nvPicPr>
          <p:cNvPr id="1755475119" name="Picture 2" descr="undefined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815138" y="38100"/>
            <a:ext cx="4657725" cy="5486994"/>
          </a:xfrm>
          <a:prstGeom prst="rect">
            <a:avLst/>
          </a:prstGeom>
          <a:noFill/>
        </p:spPr>
      </p:pic>
      <p:sp>
        <p:nvSpPr>
          <p:cNvPr id="187609913" name="TextBox 8"/>
          <p:cNvSpPr txBox="1"/>
          <p:nvPr/>
        </p:nvSpPr>
        <p:spPr bwMode="auto">
          <a:xfrm>
            <a:off x="2380737" y="4976628"/>
            <a:ext cx="13526526" cy="360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34"/>
              </a:lnSpc>
              <a:defRPr/>
            </a:pPr>
            <a:r>
              <a:rPr lang="en-US" sz="10250" spc="286">
                <a:solidFill>
                  <a:srgbClr val="404040"/>
                </a:solidFill>
                <a:latin typeface="Now Bold"/>
              </a:rPr>
              <a:t>Should we be wary of open science? </a:t>
            </a:r>
            <a:endParaRPr/>
          </a:p>
        </p:txBody>
      </p:sp>
      <p:pic>
        <p:nvPicPr>
          <p:cNvPr id="377556319" name="Image 18" descr="Une image contenant texte, capture d’écran, Graphique, Police&#10;&#10;Description générée automatiquement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38200" y="6984923"/>
            <a:ext cx="1999358" cy="1999358"/>
          </a:xfrm>
          <a:prstGeom prst="rect">
            <a:avLst/>
          </a:prstGeom>
        </p:spPr>
      </p:pic>
      <p:pic>
        <p:nvPicPr>
          <p:cNvPr id="481564760" name="Picture 4" descr="252,200+ Wary Stock Illustrations, Royalty-Free Vector Graphics &amp; Clip Art  - iStock | Wary woman, Be wary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/>
        </p:blipFill>
        <p:spPr bwMode="auto">
          <a:xfrm>
            <a:off x="9786938" y="-590253"/>
            <a:ext cx="3371850" cy="33718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523100" name="Image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78831"/>
            <a:ext cx="12284564" cy="7765878"/>
          </a:xfrm>
          <a:prstGeom prst="rect">
            <a:avLst/>
          </a:prstGeom>
        </p:spPr>
      </p:pic>
      <p:sp>
        <p:nvSpPr>
          <p:cNvPr id="688902112" name="ZoneTexte 7"/>
          <p:cNvSpPr txBox="1"/>
          <p:nvPr/>
        </p:nvSpPr>
        <p:spPr bwMode="auto">
          <a:xfrm>
            <a:off x="9144000" y="8736157"/>
            <a:ext cx="9144000" cy="81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74370">
              <a:lnSpc>
                <a:spcPct val="150000"/>
              </a:lnSpc>
              <a:spcAft>
                <a:spcPts val="1200"/>
              </a:spcAft>
              <a:defRPr/>
            </a:pPr>
            <a:r>
              <a:rPr lang="en-GB" sz="1650">
                <a:latin typeface="Avenir LT Std 45 Book"/>
                <a:ea typeface="Calibri"/>
                <a:cs typeface="Times New Roman"/>
              </a:rPr>
              <a:t>Hanson, M. A., Barreiro, P. G.,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Crosetto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, P., &amp; Brockington, D. (2023). </a:t>
            </a:r>
            <a:r>
              <a:rPr lang="en-GB" sz="1650" i="1">
                <a:latin typeface="Avenir LT Std 45 Book"/>
                <a:ea typeface="Calibri"/>
                <a:cs typeface="Times New Roman"/>
              </a:rPr>
              <a:t>The strain on scientific publishing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 (arXiv:2309.15884).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arXiv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. </a:t>
            </a:r>
            <a:r>
              <a:rPr lang="en-GB" sz="1650" u="sng">
                <a:solidFill>
                  <a:srgbClr val="0563C1"/>
                </a:solidFill>
                <a:latin typeface="Avenir LT Std 45 Book"/>
                <a:ea typeface="Calibri"/>
                <a:cs typeface="Times New Roman"/>
                <a:hlinkClick r:id="rId4" tooltip="https://doi.org/10.48550/arXiv.2309.15884"/>
              </a:rPr>
              <a:t>https://doi.org/10.48550/arXiv.2309.15884</a:t>
            </a:r>
            <a:endParaRPr lang="fr-FR" sz="1650">
              <a:latin typeface="Avenir LT Std 45 Book"/>
              <a:ea typeface="Calibri"/>
              <a:cs typeface="Times New Roman"/>
            </a:endParaRPr>
          </a:p>
        </p:txBody>
      </p:sp>
      <p:cxnSp>
        <p:nvCxnSpPr>
          <p:cNvPr id="1563556547" name="Connecteur droit avec flèche 15"/>
          <p:cNvCxnSpPr/>
          <p:nvPr/>
        </p:nvCxnSpPr>
        <p:spPr bwMode="auto">
          <a:xfrm flipH="1">
            <a:off x="14682365" y="4200107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9318802" name="ZoneTexte 16"/>
          <p:cNvSpPr txBox="1"/>
          <p:nvPr/>
        </p:nvSpPr>
        <p:spPr bwMode="auto">
          <a:xfrm>
            <a:off x="15544800" y="3923108"/>
            <a:ext cx="130356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700"/>
              <a:t>+1080%</a:t>
            </a:r>
            <a:endParaRPr/>
          </a:p>
        </p:txBody>
      </p:sp>
      <p:cxnSp>
        <p:nvCxnSpPr>
          <p:cNvPr id="1094430581" name="Connecteur droit avec flèche 17"/>
          <p:cNvCxnSpPr/>
          <p:nvPr/>
        </p:nvCxnSpPr>
        <p:spPr bwMode="auto">
          <a:xfrm flipH="1">
            <a:off x="14682364" y="5817965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799739" name="ZoneTexte 18"/>
          <p:cNvSpPr txBox="1"/>
          <p:nvPr/>
        </p:nvSpPr>
        <p:spPr bwMode="auto">
          <a:xfrm>
            <a:off x="15544800" y="5540966"/>
            <a:ext cx="112883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700"/>
              <a:t>+675%</a:t>
            </a:r>
            <a:endParaRPr/>
          </a:p>
        </p:txBody>
      </p:sp>
      <p:sp>
        <p:nvSpPr>
          <p:cNvPr id="341920898" name="ZoneTexte 19"/>
          <p:cNvSpPr txBox="1"/>
          <p:nvPr/>
        </p:nvSpPr>
        <p:spPr bwMode="auto">
          <a:xfrm>
            <a:off x="15621000" y="7666657"/>
            <a:ext cx="151323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700"/>
              <a:t>In 3 Years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55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355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3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93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43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9443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9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179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92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192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318802" grpId="0"/>
      <p:bldP spid="441799739" grpId="0"/>
      <p:bldP spid="34192089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870127" name="ZoneTexte 7"/>
          <p:cNvSpPr txBox="1"/>
          <p:nvPr/>
        </p:nvSpPr>
        <p:spPr bwMode="auto">
          <a:xfrm>
            <a:off x="9144000" y="8736157"/>
            <a:ext cx="9144000" cy="81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74370">
              <a:lnSpc>
                <a:spcPct val="150000"/>
              </a:lnSpc>
              <a:spcAft>
                <a:spcPts val="1200"/>
              </a:spcAft>
              <a:defRPr/>
            </a:pPr>
            <a:r>
              <a:rPr lang="en-GB" sz="1650">
                <a:latin typeface="Avenir LT Std 45 Book"/>
                <a:ea typeface="Calibri"/>
                <a:cs typeface="Times New Roman"/>
              </a:rPr>
              <a:t>Hanson, M. A., Barreiro, P. G.,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Crosetto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, P., &amp; Brockington, D. (2023). </a:t>
            </a:r>
            <a:r>
              <a:rPr lang="en-GB" sz="1650" i="1">
                <a:latin typeface="Avenir LT Std 45 Book"/>
                <a:ea typeface="Calibri"/>
                <a:cs typeface="Times New Roman"/>
              </a:rPr>
              <a:t>The strain on scientific publishing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 (arXiv:2309.15884).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arXiv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. </a:t>
            </a:r>
            <a:r>
              <a:rPr lang="en-GB" sz="1650" u="sng">
                <a:solidFill>
                  <a:srgbClr val="0563C1"/>
                </a:solidFill>
                <a:latin typeface="Avenir LT Std 45 Book"/>
                <a:ea typeface="Calibri"/>
                <a:cs typeface="Times New Roman"/>
                <a:hlinkClick r:id="rId3" tooltip="https://doi.org/10.48550/arXiv.2309.15884"/>
              </a:rPr>
              <a:t>https://doi.org/10.48550/arXiv.2309.15884</a:t>
            </a:r>
            <a:endParaRPr lang="fr-FR" sz="1650">
              <a:latin typeface="Avenir LT Std 45 Book"/>
              <a:ea typeface="Calibri"/>
              <a:cs typeface="Times New Roman"/>
            </a:endParaRPr>
          </a:p>
        </p:txBody>
      </p:sp>
      <p:pic>
        <p:nvPicPr>
          <p:cNvPr id="1931519839" name="Image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61934" y="342900"/>
            <a:ext cx="13164132" cy="769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881111" name="ZoneTexte 7"/>
          <p:cNvSpPr txBox="1"/>
          <p:nvPr/>
        </p:nvSpPr>
        <p:spPr bwMode="auto">
          <a:xfrm>
            <a:off x="9144000" y="8736157"/>
            <a:ext cx="9144000" cy="81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74370">
              <a:lnSpc>
                <a:spcPct val="150000"/>
              </a:lnSpc>
              <a:spcAft>
                <a:spcPts val="1200"/>
              </a:spcAft>
              <a:defRPr/>
            </a:pPr>
            <a:r>
              <a:rPr lang="en-GB" sz="1650">
                <a:latin typeface="Avenir LT Std 45 Book"/>
                <a:ea typeface="Calibri"/>
                <a:cs typeface="Times New Roman"/>
              </a:rPr>
              <a:t>Hanson, M. A., Barreiro, P. G.,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Crosetto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, P., &amp; Brockington, D. (2023). </a:t>
            </a:r>
            <a:r>
              <a:rPr lang="en-GB" sz="1650" i="1">
                <a:latin typeface="Avenir LT Std 45 Book"/>
                <a:ea typeface="Calibri"/>
                <a:cs typeface="Times New Roman"/>
              </a:rPr>
              <a:t>The strain on scientific publishing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 (arXiv:2309.15884).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arXiv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. </a:t>
            </a:r>
            <a:r>
              <a:rPr lang="en-GB" sz="1650" u="sng">
                <a:solidFill>
                  <a:srgbClr val="0563C1"/>
                </a:solidFill>
                <a:latin typeface="Avenir LT Std 45 Book"/>
                <a:ea typeface="Calibri"/>
                <a:cs typeface="Times New Roman"/>
                <a:hlinkClick r:id="rId3" tooltip="https://doi.org/10.48550/arXiv.2309.15884"/>
              </a:rPr>
              <a:t>https://doi.org/10.48550/arXiv.2309.15884</a:t>
            </a:r>
            <a:endParaRPr lang="fr-FR" sz="1650">
              <a:latin typeface="Avenir LT Std 45 Book"/>
              <a:ea typeface="Calibri"/>
              <a:cs typeface="Times New Roman"/>
            </a:endParaRPr>
          </a:p>
        </p:txBody>
      </p:sp>
      <p:pic>
        <p:nvPicPr>
          <p:cNvPr id="549938442" name="Image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48000" y="571500"/>
            <a:ext cx="11322532" cy="7315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993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483563" name="ZoneTexte 7"/>
          <p:cNvSpPr txBox="1"/>
          <p:nvPr/>
        </p:nvSpPr>
        <p:spPr bwMode="auto">
          <a:xfrm>
            <a:off x="9144000" y="8736157"/>
            <a:ext cx="9144000" cy="81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74370">
              <a:lnSpc>
                <a:spcPct val="150000"/>
              </a:lnSpc>
              <a:spcAft>
                <a:spcPts val="1200"/>
              </a:spcAft>
              <a:defRPr/>
            </a:pPr>
            <a:r>
              <a:rPr lang="en-GB" sz="1650">
                <a:latin typeface="Avenir LT Std 45 Book"/>
                <a:ea typeface="Calibri"/>
                <a:cs typeface="Times New Roman"/>
              </a:rPr>
              <a:t>Hanson, M. A., Barreiro, P. G.,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Crosetto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, P., &amp; Brockington, D. (2023). </a:t>
            </a:r>
            <a:r>
              <a:rPr lang="en-GB" sz="1650" i="1">
                <a:latin typeface="Avenir LT Std 45 Book"/>
                <a:ea typeface="Calibri"/>
                <a:cs typeface="Times New Roman"/>
              </a:rPr>
              <a:t>The strain on scientific publishing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 (arXiv:2309.15884). 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arXiv</a:t>
            </a:r>
            <a:r>
              <a:rPr lang="en-GB" sz="1650">
                <a:latin typeface="Avenir LT Std 45 Book"/>
                <a:ea typeface="Calibri"/>
                <a:cs typeface="Times New Roman"/>
              </a:rPr>
              <a:t>. </a:t>
            </a:r>
            <a:r>
              <a:rPr lang="en-GB" sz="1650" u="sng">
                <a:solidFill>
                  <a:srgbClr val="0563C1"/>
                </a:solidFill>
                <a:latin typeface="Avenir LT Std 45 Book"/>
                <a:ea typeface="Calibri"/>
                <a:cs typeface="Times New Roman"/>
                <a:hlinkClick r:id="rId3" tooltip="https://doi.org/10.48550/arXiv.2309.15884"/>
              </a:rPr>
              <a:t>https://doi.org/10.48550/arXiv.2309.15884</a:t>
            </a:r>
            <a:endParaRPr lang="fr-FR" sz="1650">
              <a:latin typeface="Avenir LT Std 45 Book"/>
              <a:ea typeface="Calibri"/>
              <a:cs typeface="Times New Roman"/>
            </a:endParaRPr>
          </a:p>
        </p:txBody>
      </p:sp>
      <p:pic>
        <p:nvPicPr>
          <p:cNvPr id="1910495009" name="Image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84159" y="700608"/>
            <a:ext cx="11932041" cy="7431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49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049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795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Springer</a:t>
            </a:r>
            <a:endParaRPr/>
          </a:p>
        </p:txBody>
      </p:sp>
      <p:sp>
        <p:nvSpPr>
          <p:cNvPr id="11221378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731 Million € first semester 2025</a:t>
            </a:r>
            <a:endParaRPr/>
          </a:p>
          <a:p>
            <a:pPr>
              <a:defRPr/>
            </a:pPr>
            <a:r>
              <a:rPr/>
              <a:t>+7%</a:t>
            </a:r>
            <a:endParaRPr/>
          </a:p>
          <a:p>
            <a:pPr>
              <a:defRPr/>
            </a:pPr>
            <a:r>
              <a:rPr/>
              <a:t>+25% from open access publications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1" u="none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HALF-YEAR  FINANCIAL  REPORT </a:t>
            </a:r>
            <a:r>
              <a:rPr sz="1200" i="1">
                <a:latin typeface="Caladea"/>
                <a:ea typeface="Caladea"/>
                <a:cs typeface="Caladea"/>
              </a:rPr>
              <a:t>, Springer Nature, 2025</a:t>
            </a:r>
            <a:endParaRPr/>
          </a:p>
        </p:txBody>
      </p:sp>
      <p:sp>
        <p:nvSpPr>
          <p:cNvPr id="739035476" name="Title 1"/>
          <p:cNvSpPr>
            <a:spLocks noGrp="1"/>
          </p:cNvSpPr>
          <p:nvPr/>
        </p:nvSpPr>
        <p:spPr bwMode="auto">
          <a:xfrm>
            <a:off x="9524404" y="42703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Taylor and Françis</a:t>
            </a:r>
            <a:endParaRPr/>
          </a:p>
        </p:txBody>
      </p:sp>
      <p:sp>
        <p:nvSpPr>
          <p:cNvPr id="676042473" name="Content Placeholder 2"/>
          <p:cNvSpPr>
            <a:spLocks noGrp="1"/>
          </p:cNvSpPr>
          <p:nvPr/>
        </p:nvSpPr>
        <p:spPr bwMode="auto">
          <a:xfrm>
            <a:off x="9524404" y="1752599"/>
            <a:ext cx="8229600" cy="452596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/>
              <a:t>+11,9% – mostly from open access publications</a:t>
            </a:r>
            <a:endParaRPr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Informa PLC 2025 Half Year Results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38346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1035430487" name="Image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3731" y="547688"/>
            <a:ext cx="5125803" cy="4303593"/>
          </a:xfrm>
          <a:prstGeom prst="rect">
            <a:avLst/>
          </a:prstGeom>
        </p:spPr>
      </p:pic>
      <p:pic>
        <p:nvPicPr>
          <p:cNvPr id="1135247586" name="Image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9617" y="5143500"/>
            <a:ext cx="7232118" cy="4056714"/>
          </a:xfrm>
          <a:prstGeom prst="rect">
            <a:avLst/>
          </a:prstGeom>
        </p:spPr>
      </p:pic>
      <p:pic>
        <p:nvPicPr>
          <p:cNvPr id="1430648714" name="Image 11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1075525" y="274637"/>
            <a:ext cx="6679061" cy="4907873"/>
          </a:xfrm>
          <a:prstGeom prst="rect">
            <a:avLst/>
          </a:prstGeom>
        </p:spPr>
      </p:pic>
      <p:pic>
        <p:nvPicPr>
          <p:cNvPr id="162908703" name="Encre 2"/>
          <p:cNvPicPr/>
          <p:nvPr/>
        </p:nvPicPr>
        <p:blipFill>
          <a:blip r:embed="rId6"/>
          <a:stretch/>
        </p:blipFill>
        <p:spPr bwMode="auto">
          <a:xfrm>
            <a:off x="10163160" y="7963200"/>
            <a:ext cx="266760" cy="647640"/>
          </a:xfrm>
          <a:prstGeom prst="rect">
            <a:avLst/>
          </a:prstGeom>
        </p:spPr>
      </p:pic>
      <p:pic>
        <p:nvPicPr>
          <p:cNvPr id="1152146518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4243124" y="5436248"/>
            <a:ext cx="7239262" cy="3711467"/>
          </a:xfrm>
          <a:prstGeom prst="rect">
            <a:avLst/>
          </a:prstGeom>
        </p:spPr>
      </p:pic>
      <p:pic>
        <p:nvPicPr>
          <p:cNvPr id="1612166559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1712773" y="5238749"/>
            <a:ext cx="6448424" cy="4552949"/>
          </a:xfrm>
          <a:prstGeom prst="rect">
            <a:avLst/>
          </a:prstGeom>
        </p:spPr>
      </p:pic>
      <p:pic>
        <p:nvPicPr>
          <p:cNvPr id="769077342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2753319" y="3289101"/>
            <a:ext cx="6715125" cy="5153024"/>
          </a:xfrm>
          <a:prstGeom prst="rect">
            <a:avLst/>
          </a:prstGeom>
        </p:spPr>
      </p:pic>
      <p:pic>
        <p:nvPicPr>
          <p:cNvPr id="183708819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5889533" y="163710"/>
            <a:ext cx="6543675" cy="5867399"/>
          </a:xfrm>
          <a:prstGeom prst="rect">
            <a:avLst/>
          </a:prstGeom>
        </p:spPr>
      </p:pic>
      <p:pic>
        <p:nvPicPr>
          <p:cNvPr id="1087497579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1845468" y="699491"/>
            <a:ext cx="6562724" cy="4676774"/>
          </a:xfrm>
          <a:prstGeom prst="rect">
            <a:avLst/>
          </a:prstGeom>
        </p:spPr>
      </p:pic>
      <p:pic>
        <p:nvPicPr>
          <p:cNvPr id="1096221168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8840390" y="2604492"/>
            <a:ext cx="6734174" cy="6095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24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64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43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543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14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5214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16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1216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7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08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3708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8749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2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9622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946075" name="Espace réservé du contenu 4" descr="Une image contenant affiche, art, Police, Graphique&#10;&#10;Description générée automatiquement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7393781" y="3451428"/>
            <a:ext cx="3500438" cy="3857625"/>
          </a:xfrm>
        </p:spPr>
      </p:pic>
      <p:sp>
        <p:nvSpPr>
          <p:cNvPr id="177093484" name="ZoneTexte 5"/>
          <p:cNvSpPr txBox="1"/>
          <p:nvPr/>
        </p:nvSpPr>
        <p:spPr bwMode="auto">
          <a:xfrm>
            <a:off x="1021405" y="963040"/>
            <a:ext cx="161031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700"/>
              <a:t>Paper Mill</a:t>
            </a:r>
            <a:endParaRPr/>
          </a:p>
        </p:txBody>
      </p:sp>
      <p:pic>
        <p:nvPicPr>
          <p:cNvPr id="1209551320" name="Image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85936" y="1517037"/>
            <a:ext cx="4676294" cy="4133292"/>
          </a:xfrm>
          <a:prstGeom prst="rect">
            <a:avLst/>
          </a:prstGeom>
        </p:spPr>
      </p:pic>
      <p:pic>
        <p:nvPicPr>
          <p:cNvPr id="2055484274" name="Image 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695482" y="979489"/>
            <a:ext cx="9060576" cy="3093641"/>
          </a:xfrm>
          <a:prstGeom prst="rect">
            <a:avLst/>
          </a:prstGeom>
        </p:spPr>
      </p:pic>
      <p:sp>
        <p:nvSpPr>
          <p:cNvPr id="889056655" name="ZoneTexte 10"/>
          <p:cNvSpPr txBox="1"/>
          <p:nvPr/>
        </p:nvSpPr>
        <p:spPr bwMode="auto">
          <a:xfrm>
            <a:off x="8925126" y="425491"/>
            <a:ext cx="27657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700"/>
              <a:t>Sponsored</a:t>
            </a:r>
            <a:r>
              <a:rPr lang="fr-FR" sz="2700"/>
              <a:t> articles</a:t>
            </a:r>
            <a:endParaRPr/>
          </a:p>
        </p:txBody>
      </p:sp>
      <p:pic>
        <p:nvPicPr>
          <p:cNvPr id="2017423436" name="Image 12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42026" y="6815651"/>
            <a:ext cx="4526285" cy="3209015"/>
          </a:xfrm>
          <a:prstGeom prst="rect">
            <a:avLst/>
          </a:prstGeom>
        </p:spPr>
      </p:pic>
      <p:sp>
        <p:nvSpPr>
          <p:cNvPr id="1535369331" name="ZoneTexte 13"/>
          <p:cNvSpPr txBox="1"/>
          <p:nvPr/>
        </p:nvSpPr>
        <p:spPr bwMode="auto">
          <a:xfrm>
            <a:off x="1146946" y="6204328"/>
            <a:ext cx="38629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700"/>
              <a:t>Incredible publication rate</a:t>
            </a:r>
            <a:endParaRPr/>
          </a:p>
        </p:txBody>
      </p:sp>
      <p:pic>
        <p:nvPicPr>
          <p:cNvPr id="762946281" name="Image 15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689106" y="6595395"/>
            <a:ext cx="7272068" cy="3266115"/>
          </a:xfrm>
          <a:prstGeom prst="rect">
            <a:avLst/>
          </a:prstGeom>
        </p:spPr>
      </p:pic>
      <p:pic>
        <p:nvPicPr>
          <p:cNvPr id="913630492" name="Image 2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5717263" y="5408183"/>
            <a:ext cx="4480948" cy="438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9460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589460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55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0955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9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709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05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8905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8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5548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36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536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1742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3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1363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94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294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093484" grpId="0"/>
      <p:bldP spid="889056655" grpId="0"/>
      <p:bldP spid="15353693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0586680" name="Imag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79732" y="4290995"/>
            <a:ext cx="12067839" cy="4360242"/>
          </a:xfrm>
          <a:prstGeom prst="rect">
            <a:avLst/>
          </a:prstGeom>
        </p:spPr>
      </p:pic>
      <p:pic>
        <p:nvPicPr>
          <p:cNvPr id="137734582" name="Image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16552" y="1256178"/>
            <a:ext cx="8497100" cy="2559708"/>
          </a:xfrm>
          <a:prstGeom prst="rect">
            <a:avLst/>
          </a:prstGeom>
        </p:spPr>
      </p:pic>
      <p:sp>
        <p:nvSpPr>
          <p:cNvPr id="1524491897" name="ZoneTexte 8"/>
          <p:cNvSpPr txBox="1"/>
          <p:nvPr/>
        </p:nvSpPr>
        <p:spPr bwMode="auto">
          <a:xfrm>
            <a:off x="10991039" y="8986706"/>
            <a:ext cx="9141567" cy="81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74370">
              <a:lnSpc>
                <a:spcPct val="150000"/>
              </a:lnSpc>
              <a:spcAft>
                <a:spcPts val="1200"/>
              </a:spcAft>
              <a:defRPr/>
            </a:pPr>
            <a:r>
              <a:rPr lang="fr-FR" sz="1650">
                <a:latin typeface="Avenir LT Std 45 Book"/>
                <a:ea typeface="Avenir LT Std 45 Book"/>
                <a:cs typeface="Avenir LT Std 45 Book"/>
              </a:rPr>
              <a:t>LobbyFacts.eu. (2023). </a:t>
            </a:r>
            <a:r>
              <a:rPr lang="fr-FR" sz="1650" i="1">
                <a:latin typeface="Avenir LT Std 45 Book"/>
                <a:ea typeface="Avenir LT Std 45 Book"/>
                <a:cs typeface="Avenir LT Std 45 Book"/>
              </a:rPr>
              <a:t>RELX</a:t>
            </a:r>
            <a:r>
              <a:rPr lang="fr-FR" sz="1650">
                <a:latin typeface="Avenir LT Std 45 Book"/>
                <a:ea typeface="Avenir LT Std 45 Book"/>
                <a:cs typeface="Avenir LT Std 45 Book"/>
              </a:rPr>
              <a:t>. </a:t>
            </a:r>
            <a:r>
              <a:rPr lang="en-GB" sz="1650">
                <a:latin typeface="Avenir LT Std 45 Book"/>
                <a:ea typeface="Avenir LT Std 45 Book"/>
                <a:cs typeface="Avenir LT Std 45 Book"/>
              </a:rPr>
              <a:t>Consulted October 12, 2023, at </a:t>
            </a:r>
            <a:r>
              <a:rPr lang="en-GB" sz="1650" u="sng">
                <a:solidFill>
                  <a:srgbClr val="0563C1"/>
                </a:solidFill>
                <a:latin typeface="Avenir LT Std 45 Book"/>
                <a:ea typeface="Avenir LT Std 45 Book"/>
                <a:cs typeface="Avenir LT Std 45 Book"/>
                <a:hlinkClick r:id="rId5" tooltip="https://www.lobbyfacts.eu/datacard/relx?rid=338398611148-62"/>
              </a:rPr>
              <a:t>https://www.lobbyfacts.eu/datacard/relx?rid=338398611148-62</a:t>
            </a:r>
            <a:endParaRPr lang="fr-FR" sz="1650">
              <a:latin typeface="Avenir LT Std 45 Book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83764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0122521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1232402302" name="Imag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1147" y="96718"/>
            <a:ext cx="13465707" cy="10093565"/>
          </a:xfrm>
          <a:prstGeom prst="rect">
            <a:avLst/>
          </a:prstGeom>
        </p:spPr>
      </p:pic>
      <p:cxnSp>
        <p:nvCxnSpPr>
          <p:cNvPr id="28307439" name="Connecteur droit 6"/>
          <p:cNvCxnSpPr/>
          <p:nvPr/>
        </p:nvCxnSpPr>
        <p:spPr bwMode="auto">
          <a:xfrm>
            <a:off x="3226377" y="5252604"/>
            <a:ext cx="866601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60863689" name="Connecteur droit 8"/>
          <p:cNvCxnSpPr/>
          <p:nvPr/>
        </p:nvCxnSpPr>
        <p:spPr bwMode="auto">
          <a:xfrm>
            <a:off x="3226378" y="5481204"/>
            <a:ext cx="738793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34706754" name="Connecteur droit 11"/>
          <p:cNvCxnSpPr/>
          <p:nvPr/>
        </p:nvCxnSpPr>
        <p:spPr bwMode="auto">
          <a:xfrm>
            <a:off x="3595255" y="8078931"/>
            <a:ext cx="574097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81842670" name="Connecteur droit 13"/>
          <p:cNvCxnSpPr/>
          <p:nvPr/>
        </p:nvCxnSpPr>
        <p:spPr bwMode="auto">
          <a:xfrm>
            <a:off x="8390660" y="8712777"/>
            <a:ext cx="574097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74294453" name="Connecteur droit 14"/>
          <p:cNvCxnSpPr/>
          <p:nvPr/>
        </p:nvCxnSpPr>
        <p:spPr bwMode="auto">
          <a:xfrm>
            <a:off x="7232074" y="9003723"/>
            <a:ext cx="4130387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86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70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29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2214841" name="Group 8"/>
          <p:cNvGrpSpPr/>
          <p:nvPr/>
        </p:nvGrpSpPr>
        <p:grpSpPr bwMode="auto">
          <a:xfrm>
            <a:off x="825500" y="3693793"/>
            <a:ext cx="1453670" cy="428324"/>
            <a:chOff x="0" y="0"/>
            <a:chExt cx="952367" cy="280615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952367" cy="280615"/>
            </a:xfrm>
            <a:custGeom>
              <a:avLst/>
              <a:gdLst/>
              <a:ahLst/>
              <a:cxnLst/>
              <a:rect l="l" t="t" r="r" b="b"/>
              <a:pathLst>
                <a:path w="952367" h="280615" fill="norm" stroke="1" extrusionOk="0">
                  <a:moveTo>
                    <a:pt x="140308" y="0"/>
                  </a:moveTo>
                  <a:lnTo>
                    <a:pt x="812059" y="0"/>
                  </a:lnTo>
                  <a:cubicBezTo>
                    <a:pt x="889549" y="0"/>
                    <a:pt x="952367" y="62818"/>
                    <a:pt x="952367" y="140308"/>
                  </a:cubicBezTo>
                  <a:lnTo>
                    <a:pt x="952367" y="140308"/>
                  </a:lnTo>
                  <a:cubicBezTo>
                    <a:pt x="952367" y="177519"/>
                    <a:pt x="937585" y="213207"/>
                    <a:pt x="911272" y="239520"/>
                  </a:cubicBezTo>
                  <a:cubicBezTo>
                    <a:pt x="884959" y="265833"/>
                    <a:pt x="849271" y="280615"/>
                    <a:pt x="812059" y="280615"/>
                  </a:cubicBezTo>
                  <a:lnTo>
                    <a:pt x="140308" y="280615"/>
                  </a:lnTo>
                  <a:cubicBezTo>
                    <a:pt x="62818" y="280615"/>
                    <a:pt x="0" y="217797"/>
                    <a:pt x="0" y="140308"/>
                  </a:cubicBezTo>
                  <a:lnTo>
                    <a:pt x="0" y="140308"/>
                  </a:lnTo>
                  <a:cubicBezTo>
                    <a:pt x="0" y="62818"/>
                    <a:pt x="62818" y="0"/>
                    <a:pt x="140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0" y="-28575"/>
              <a:ext cx="952367" cy="309190"/>
            </a:xfrm>
            <a:prstGeom prst="rect">
              <a:avLst/>
            </a:prstGeom>
            <a:grpFill/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  <a:defRPr/>
              </a:pPr>
              <a:endParaRPr/>
            </a:p>
          </p:txBody>
        </p:sp>
      </p:grpSp>
      <p:sp>
        <p:nvSpPr>
          <p:cNvPr id="1693675003" name="AutoShape 11"/>
          <p:cNvSpPr/>
          <p:nvPr/>
        </p:nvSpPr>
        <p:spPr bwMode="auto">
          <a:xfrm>
            <a:off x="1195298" y="3907955"/>
            <a:ext cx="714075" cy="0"/>
          </a:xfrm>
          <a:prstGeom prst="line">
            <a:avLst/>
          </a:prstGeom>
          <a:ln w="19050" cap="flat">
            <a:solidFill>
              <a:srgbClr val="000000">
                <a:alpha val="70980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47481249" name="TextBox 12"/>
          <p:cNvSpPr txBox="1"/>
          <p:nvPr/>
        </p:nvSpPr>
        <p:spPr bwMode="auto">
          <a:xfrm>
            <a:off x="838200" y="1003281"/>
            <a:ext cx="8763000" cy="1634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798"/>
              </a:lnSpc>
              <a:spcBef>
                <a:spcPts val="0"/>
              </a:spcBef>
              <a:defRPr/>
            </a:pPr>
            <a:r>
              <a:rPr lang="en-US" sz="10500">
                <a:solidFill>
                  <a:srgbClr val="404040"/>
                </a:solidFill>
                <a:latin typeface="Now Bold"/>
              </a:rPr>
              <a:t>Resignation</a:t>
            </a:r>
            <a:endParaRPr/>
          </a:p>
        </p:txBody>
      </p:sp>
      <p:sp>
        <p:nvSpPr>
          <p:cNvPr id="2034658048" name="TextBox 13"/>
          <p:cNvSpPr txBox="1"/>
          <p:nvPr/>
        </p:nvSpPr>
        <p:spPr bwMode="auto">
          <a:xfrm>
            <a:off x="2971800" y="3743295"/>
            <a:ext cx="6752046" cy="32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56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ow"/>
              </a:rPr>
              <a:t>NeuroImage</a:t>
            </a:r>
            <a:r>
              <a:rPr lang="en-US" sz="2100">
                <a:solidFill>
                  <a:srgbClr val="000000"/>
                </a:solidFill>
                <a:latin typeface="Now"/>
              </a:rPr>
              <a:t> – March 2023</a:t>
            </a:r>
            <a:endParaRPr/>
          </a:p>
        </p:txBody>
      </p:sp>
      <p:grpSp>
        <p:nvGrpSpPr>
          <p:cNvPr id="1358643226" name="Group 8"/>
          <p:cNvGrpSpPr/>
          <p:nvPr/>
        </p:nvGrpSpPr>
        <p:grpSpPr bwMode="auto">
          <a:xfrm>
            <a:off x="825500" y="5596952"/>
            <a:ext cx="1453670" cy="428324"/>
            <a:chOff x="0" y="0"/>
            <a:chExt cx="952367" cy="280615"/>
          </a:xfrm>
        </p:grpSpPr>
        <p:sp>
          <p:nvSpPr>
            <p:cNvPr id="17" name="Freeform 9"/>
            <p:cNvSpPr/>
            <p:nvPr/>
          </p:nvSpPr>
          <p:spPr bwMode="auto">
            <a:xfrm>
              <a:off x="0" y="0"/>
              <a:ext cx="952367" cy="280615"/>
            </a:xfrm>
            <a:custGeom>
              <a:avLst/>
              <a:gdLst/>
              <a:ahLst/>
              <a:cxnLst/>
              <a:rect l="l" t="t" r="r" b="b"/>
              <a:pathLst>
                <a:path w="952367" h="280615" fill="norm" stroke="1" extrusionOk="0">
                  <a:moveTo>
                    <a:pt x="140308" y="0"/>
                  </a:moveTo>
                  <a:lnTo>
                    <a:pt x="812059" y="0"/>
                  </a:lnTo>
                  <a:cubicBezTo>
                    <a:pt x="889549" y="0"/>
                    <a:pt x="952367" y="62818"/>
                    <a:pt x="952367" y="140308"/>
                  </a:cubicBezTo>
                  <a:lnTo>
                    <a:pt x="952367" y="140308"/>
                  </a:lnTo>
                  <a:cubicBezTo>
                    <a:pt x="952367" y="177519"/>
                    <a:pt x="937585" y="213207"/>
                    <a:pt x="911272" y="239520"/>
                  </a:cubicBezTo>
                  <a:cubicBezTo>
                    <a:pt x="884959" y="265833"/>
                    <a:pt x="849271" y="280615"/>
                    <a:pt x="812059" y="280615"/>
                  </a:cubicBezTo>
                  <a:lnTo>
                    <a:pt x="140308" y="280615"/>
                  </a:lnTo>
                  <a:cubicBezTo>
                    <a:pt x="62818" y="280615"/>
                    <a:pt x="0" y="217797"/>
                    <a:pt x="0" y="140308"/>
                  </a:cubicBezTo>
                  <a:lnTo>
                    <a:pt x="0" y="140308"/>
                  </a:lnTo>
                  <a:cubicBezTo>
                    <a:pt x="0" y="62818"/>
                    <a:pt x="62818" y="0"/>
                    <a:pt x="140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8" name="TextBox 10"/>
            <p:cNvSpPr txBox="1"/>
            <p:nvPr/>
          </p:nvSpPr>
          <p:spPr bwMode="auto">
            <a:xfrm>
              <a:off x="0" y="-28575"/>
              <a:ext cx="952367" cy="309190"/>
            </a:xfrm>
            <a:prstGeom prst="rect">
              <a:avLst/>
            </a:prstGeom>
            <a:grpFill/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  <a:defRPr/>
              </a:pPr>
              <a:endParaRPr/>
            </a:p>
          </p:txBody>
        </p:sp>
      </p:grpSp>
      <p:sp>
        <p:nvSpPr>
          <p:cNvPr id="1350303554" name="AutoShape 11"/>
          <p:cNvSpPr/>
          <p:nvPr/>
        </p:nvSpPr>
        <p:spPr bwMode="auto">
          <a:xfrm>
            <a:off x="1195298" y="5811114"/>
            <a:ext cx="714075" cy="0"/>
          </a:xfrm>
          <a:prstGeom prst="line">
            <a:avLst/>
          </a:prstGeom>
          <a:ln w="19050" cap="flat">
            <a:solidFill>
              <a:srgbClr val="000000">
                <a:alpha val="70980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grpSp>
        <p:nvGrpSpPr>
          <p:cNvPr id="893426312" name="Group 8"/>
          <p:cNvGrpSpPr/>
          <p:nvPr/>
        </p:nvGrpSpPr>
        <p:grpSpPr bwMode="auto">
          <a:xfrm>
            <a:off x="825500" y="7233418"/>
            <a:ext cx="1453670" cy="428324"/>
            <a:chOff x="0" y="0"/>
            <a:chExt cx="952367" cy="280615"/>
          </a:xfrm>
        </p:grpSpPr>
        <p:sp>
          <p:nvSpPr>
            <p:cNvPr id="21" name="Freeform 9"/>
            <p:cNvSpPr/>
            <p:nvPr/>
          </p:nvSpPr>
          <p:spPr bwMode="auto">
            <a:xfrm>
              <a:off x="0" y="0"/>
              <a:ext cx="952367" cy="280615"/>
            </a:xfrm>
            <a:custGeom>
              <a:avLst/>
              <a:gdLst/>
              <a:ahLst/>
              <a:cxnLst/>
              <a:rect l="l" t="t" r="r" b="b"/>
              <a:pathLst>
                <a:path w="952367" h="280615" fill="norm" stroke="1" extrusionOk="0">
                  <a:moveTo>
                    <a:pt x="140308" y="0"/>
                  </a:moveTo>
                  <a:lnTo>
                    <a:pt x="812059" y="0"/>
                  </a:lnTo>
                  <a:cubicBezTo>
                    <a:pt x="889549" y="0"/>
                    <a:pt x="952367" y="62818"/>
                    <a:pt x="952367" y="140308"/>
                  </a:cubicBezTo>
                  <a:lnTo>
                    <a:pt x="952367" y="140308"/>
                  </a:lnTo>
                  <a:cubicBezTo>
                    <a:pt x="952367" y="177519"/>
                    <a:pt x="937585" y="213207"/>
                    <a:pt x="911272" y="239520"/>
                  </a:cubicBezTo>
                  <a:cubicBezTo>
                    <a:pt x="884959" y="265833"/>
                    <a:pt x="849271" y="280615"/>
                    <a:pt x="812059" y="280615"/>
                  </a:cubicBezTo>
                  <a:lnTo>
                    <a:pt x="140308" y="280615"/>
                  </a:lnTo>
                  <a:cubicBezTo>
                    <a:pt x="62818" y="280615"/>
                    <a:pt x="0" y="217797"/>
                    <a:pt x="0" y="140308"/>
                  </a:cubicBezTo>
                  <a:lnTo>
                    <a:pt x="0" y="140308"/>
                  </a:lnTo>
                  <a:cubicBezTo>
                    <a:pt x="0" y="62818"/>
                    <a:pt x="62818" y="0"/>
                    <a:pt x="140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2" name="TextBox 10"/>
            <p:cNvSpPr txBox="1"/>
            <p:nvPr/>
          </p:nvSpPr>
          <p:spPr bwMode="auto">
            <a:xfrm>
              <a:off x="0" y="-28575"/>
              <a:ext cx="952367" cy="309190"/>
            </a:xfrm>
            <a:prstGeom prst="rect">
              <a:avLst/>
            </a:prstGeom>
            <a:grpFill/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  <a:defRPr/>
              </a:pPr>
              <a:endParaRPr/>
            </a:p>
          </p:txBody>
        </p:sp>
      </p:grpSp>
      <p:sp>
        <p:nvSpPr>
          <p:cNvPr id="1223246665" name="AutoShape 11"/>
          <p:cNvSpPr/>
          <p:nvPr/>
        </p:nvSpPr>
        <p:spPr bwMode="auto">
          <a:xfrm>
            <a:off x="1195298" y="7447580"/>
            <a:ext cx="714075" cy="0"/>
          </a:xfrm>
          <a:prstGeom prst="line">
            <a:avLst/>
          </a:prstGeom>
          <a:ln w="19050" cap="flat">
            <a:solidFill>
              <a:srgbClr val="000000">
                <a:alpha val="70980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44263720" name="TextBox 13"/>
          <p:cNvSpPr txBox="1"/>
          <p:nvPr/>
        </p:nvSpPr>
        <p:spPr bwMode="auto">
          <a:xfrm>
            <a:off x="2758528" y="5646454"/>
            <a:ext cx="6752046" cy="32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56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ow"/>
              </a:rPr>
              <a:t>BMC Pregnancy and Childbirth – February 2024</a:t>
            </a:r>
            <a:endParaRPr/>
          </a:p>
        </p:txBody>
      </p:sp>
      <p:grpSp>
        <p:nvGrpSpPr>
          <p:cNvPr id="1498462561" name="Group 8"/>
          <p:cNvGrpSpPr/>
          <p:nvPr/>
        </p:nvGrpSpPr>
        <p:grpSpPr bwMode="auto">
          <a:xfrm>
            <a:off x="825500" y="6397447"/>
            <a:ext cx="1453670" cy="428324"/>
            <a:chOff x="0" y="0"/>
            <a:chExt cx="952367" cy="280615"/>
          </a:xfrm>
        </p:grpSpPr>
        <p:sp>
          <p:nvSpPr>
            <p:cNvPr id="26" name="Freeform 9"/>
            <p:cNvSpPr/>
            <p:nvPr/>
          </p:nvSpPr>
          <p:spPr bwMode="auto">
            <a:xfrm>
              <a:off x="0" y="0"/>
              <a:ext cx="952367" cy="280615"/>
            </a:xfrm>
            <a:custGeom>
              <a:avLst/>
              <a:gdLst/>
              <a:ahLst/>
              <a:cxnLst/>
              <a:rect l="l" t="t" r="r" b="b"/>
              <a:pathLst>
                <a:path w="952367" h="280615" fill="norm" stroke="1" extrusionOk="0">
                  <a:moveTo>
                    <a:pt x="140308" y="0"/>
                  </a:moveTo>
                  <a:lnTo>
                    <a:pt x="812059" y="0"/>
                  </a:lnTo>
                  <a:cubicBezTo>
                    <a:pt x="889549" y="0"/>
                    <a:pt x="952367" y="62818"/>
                    <a:pt x="952367" y="140308"/>
                  </a:cubicBezTo>
                  <a:lnTo>
                    <a:pt x="952367" y="140308"/>
                  </a:lnTo>
                  <a:cubicBezTo>
                    <a:pt x="952367" y="177519"/>
                    <a:pt x="937585" y="213207"/>
                    <a:pt x="911272" y="239520"/>
                  </a:cubicBezTo>
                  <a:cubicBezTo>
                    <a:pt x="884959" y="265833"/>
                    <a:pt x="849271" y="280615"/>
                    <a:pt x="812059" y="280615"/>
                  </a:cubicBezTo>
                  <a:lnTo>
                    <a:pt x="140308" y="280615"/>
                  </a:lnTo>
                  <a:cubicBezTo>
                    <a:pt x="62818" y="280615"/>
                    <a:pt x="0" y="217797"/>
                    <a:pt x="0" y="140308"/>
                  </a:cubicBezTo>
                  <a:lnTo>
                    <a:pt x="0" y="140308"/>
                  </a:lnTo>
                  <a:cubicBezTo>
                    <a:pt x="0" y="62818"/>
                    <a:pt x="62818" y="0"/>
                    <a:pt x="140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7" name="TextBox 10"/>
            <p:cNvSpPr txBox="1"/>
            <p:nvPr/>
          </p:nvSpPr>
          <p:spPr bwMode="auto">
            <a:xfrm>
              <a:off x="0" y="-28575"/>
              <a:ext cx="952367" cy="309190"/>
            </a:xfrm>
            <a:prstGeom prst="rect">
              <a:avLst/>
            </a:prstGeom>
            <a:grpFill/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  <a:defRPr/>
              </a:pPr>
              <a:endParaRPr/>
            </a:p>
          </p:txBody>
        </p:sp>
      </p:grpSp>
      <p:sp>
        <p:nvSpPr>
          <p:cNvPr id="502559455" name="AutoShape 11"/>
          <p:cNvSpPr/>
          <p:nvPr/>
        </p:nvSpPr>
        <p:spPr bwMode="auto">
          <a:xfrm>
            <a:off x="1195298" y="6611609"/>
            <a:ext cx="714075" cy="0"/>
          </a:xfrm>
          <a:prstGeom prst="line">
            <a:avLst/>
          </a:prstGeom>
          <a:ln w="19050" cap="flat">
            <a:solidFill>
              <a:srgbClr val="000000">
                <a:alpha val="70980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82503210" name="TextBox 13"/>
          <p:cNvSpPr txBox="1"/>
          <p:nvPr/>
        </p:nvSpPr>
        <p:spPr bwMode="auto">
          <a:xfrm>
            <a:off x="2758528" y="6446949"/>
            <a:ext cx="6752046" cy="32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56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ow"/>
              </a:rPr>
              <a:t>BMC Women’s Health – February 2024</a:t>
            </a:r>
            <a:endParaRPr/>
          </a:p>
        </p:txBody>
      </p:sp>
      <p:sp>
        <p:nvSpPr>
          <p:cNvPr id="1918223649" name="TextBox 13"/>
          <p:cNvSpPr txBox="1"/>
          <p:nvPr/>
        </p:nvSpPr>
        <p:spPr bwMode="auto">
          <a:xfrm>
            <a:off x="2758528" y="7282920"/>
            <a:ext cx="6752046" cy="32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56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ow"/>
              </a:rPr>
              <a:t>Syntax – March 2024</a:t>
            </a:r>
            <a:endParaRPr/>
          </a:p>
        </p:txBody>
      </p:sp>
      <p:grpSp>
        <p:nvGrpSpPr>
          <p:cNvPr id="915372538" name="Group 8"/>
          <p:cNvGrpSpPr/>
          <p:nvPr/>
        </p:nvGrpSpPr>
        <p:grpSpPr bwMode="auto">
          <a:xfrm>
            <a:off x="825500" y="4644990"/>
            <a:ext cx="1453670" cy="428324"/>
            <a:chOff x="0" y="0"/>
            <a:chExt cx="952367" cy="280615"/>
          </a:xfrm>
        </p:grpSpPr>
        <p:sp>
          <p:nvSpPr>
            <p:cNvPr id="32" name="Freeform 9"/>
            <p:cNvSpPr/>
            <p:nvPr/>
          </p:nvSpPr>
          <p:spPr bwMode="auto">
            <a:xfrm>
              <a:off x="0" y="0"/>
              <a:ext cx="952367" cy="280615"/>
            </a:xfrm>
            <a:custGeom>
              <a:avLst/>
              <a:gdLst/>
              <a:ahLst/>
              <a:cxnLst/>
              <a:rect l="l" t="t" r="r" b="b"/>
              <a:pathLst>
                <a:path w="952367" h="280615" fill="norm" stroke="1" extrusionOk="0">
                  <a:moveTo>
                    <a:pt x="140308" y="0"/>
                  </a:moveTo>
                  <a:lnTo>
                    <a:pt x="812059" y="0"/>
                  </a:lnTo>
                  <a:cubicBezTo>
                    <a:pt x="889549" y="0"/>
                    <a:pt x="952367" y="62818"/>
                    <a:pt x="952367" y="140308"/>
                  </a:cubicBezTo>
                  <a:lnTo>
                    <a:pt x="952367" y="140308"/>
                  </a:lnTo>
                  <a:cubicBezTo>
                    <a:pt x="952367" y="177519"/>
                    <a:pt x="937585" y="213207"/>
                    <a:pt x="911272" y="239520"/>
                  </a:cubicBezTo>
                  <a:cubicBezTo>
                    <a:pt x="884959" y="265833"/>
                    <a:pt x="849271" y="280615"/>
                    <a:pt x="812059" y="280615"/>
                  </a:cubicBezTo>
                  <a:lnTo>
                    <a:pt x="140308" y="280615"/>
                  </a:lnTo>
                  <a:cubicBezTo>
                    <a:pt x="62818" y="280615"/>
                    <a:pt x="0" y="217797"/>
                    <a:pt x="0" y="140308"/>
                  </a:cubicBezTo>
                  <a:lnTo>
                    <a:pt x="0" y="140308"/>
                  </a:lnTo>
                  <a:cubicBezTo>
                    <a:pt x="0" y="62818"/>
                    <a:pt x="62818" y="0"/>
                    <a:pt x="140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33" name="TextBox 10"/>
            <p:cNvSpPr txBox="1"/>
            <p:nvPr/>
          </p:nvSpPr>
          <p:spPr bwMode="auto">
            <a:xfrm>
              <a:off x="0" y="-28575"/>
              <a:ext cx="952367" cy="309190"/>
            </a:xfrm>
            <a:prstGeom prst="rect">
              <a:avLst/>
            </a:prstGeom>
            <a:grpFill/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  <a:defRPr/>
              </a:pPr>
              <a:endParaRPr/>
            </a:p>
          </p:txBody>
        </p:sp>
      </p:grpSp>
      <p:sp>
        <p:nvSpPr>
          <p:cNvPr id="601147607" name="AutoShape 11"/>
          <p:cNvSpPr/>
          <p:nvPr/>
        </p:nvSpPr>
        <p:spPr bwMode="auto">
          <a:xfrm>
            <a:off x="1195298" y="4859152"/>
            <a:ext cx="714075" cy="0"/>
          </a:xfrm>
          <a:prstGeom prst="line">
            <a:avLst/>
          </a:prstGeom>
          <a:ln w="19050" cap="flat">
            <a:solidFill>
              <a:srgbClr val="000000">
                <a:alpha val="70980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50312704" name="TextBox 13"/>
          <p:cNvSpPr txBox="1"/>
          <p:nvPr/>
        </p:nvSpPr>
        <p:spPr bwMode="auto">
          <a:xfrm>
            <a:off x="2744986" y="4694492"/>
            <a:ext cx="6752046" cy="32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56"/>
              </a:lnSpc>
              <a:defRPr/>
            </a:pPr>
            <a:r>
              <a:rPr lang="en-US" sz="2100">
                <a:solidFill>
                  <a:srgbClr val="000000"/>
                </a:solidFill>
                <a:latin typeface="Now"/>
              </a:rPr>
              <a:t>Critical Public Health – July 2023</a:t>
            </a:r>
            <a:endParaRPr/>
          </a:p>
        </p:txBody>
      </p:sp>
      <p:sp>
        <p:nvSpPr>
          <p:cNvPr id="362156495" name="ZoneTexte 36"/>
          <p:cNvSpPr txBox="1"/>
          <p:nvPr/>
        </p:nvSpPr>
        <p:spPr bwMode="auto">
          <a:xfrm>
            <a:off x="8458200" y="3666495"/>
            <a:ext cx="9144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0" i="1">
                <a:solidFill>
                  <a:srgbClr val="222222"/>
                </a:solidFill>
                <a:latin typeface="Harding"/>
              </a:rPr>
              <a:t>“It wasn’t that we were opposed to the principle of open access,” she says. Instead, the editors were deeply opposed to the article-processing-charge model, in which authors are charged fees to publish their papers open access. The team decided to resign only after a year of discussions with the publisher about alternative models failed to produce a compromise</a:t>
            </a:r>
            <a:r>
              <a:rPr lang="en-US" sz="2200" i="1">
                <a:solidFill>
                  <a:srgbClr val="222222"/>
                </a:solidFill>
                <a:latin typeface="Harding"/>
              </a:rPr>
              <a:t>”</a:t>
            </a:r>
            <a:endParaRPr lang="fr-FR" sz="2200" i="1"/>
          </a:p>
        </p:txBody>
      </p:sp>
      <p:cxnSp>
        <p:nvCxnSpPr>
          <p:cNvPr id="1141273239" name="Connecteur droit avec flèche 38"/>
          <p:cNvCxnSpPr/>
          <p:nvPr/>
        </p:nvCxnSpPr>
        <p:spPr bwMode="auto">
          <a:xfrm flipV="1">
            <a:off x="7315200" y="4601374"/>
            <a:ext cx="914400" cy="2359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34638089" name="Image 4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287000" y="5787404"/>
            <a:ext cx="6121312" cy="4178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37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537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4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114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31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5031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64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5864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30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5030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6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4426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46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9846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255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50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8250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24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324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4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342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22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1822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27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5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63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0303554" grpId="0" animBg="1"/>
      <p:bldP spid="1223246665" grpId="0" animBg="1"/>
      <p:bldP spid="1644263720" grpId="0"/>
      <p:bldP spid="502559455" grpId="0" animBg="1"/>
      <p:bldP spid="1282503210" grpId="0"/>
      <p:bldP spid="1918223649" grpId="0"/>
      <p:bldP spid="601147607" grpId="0" animBg="1"/>
      <p:bldP spid="1150312704" grpId="0"/>
      <p:bldP spid="3621564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267301" name="Imag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43000" y="1028700"/>
            <a:ext cx="7369179" cy="4854361"/>
          </a:xfrm>
          <a:prstGeom prst="rect">
            <a:avLst/>
          </a:prstGeom>
        </p:spPr>
      </p:pic>
      <p:pic>
        <p:nvPicPr>
          <p:cNvPr id="245477636" name="Image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39427" y="6286500"/>
            <a:ext cx="10874924" cy="266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9539617" name="Imag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9600" y="114300"/>
            <a:ext cx="4717657" cy="3543922"/>
          </a:xfrm>
          <a:prstGeom prst="rect">
            <a:avLst/>
          </a:prstGeom>
        </p:spPr>
      </p:pic>
      <p:pic>
        <p:nvPicPr>
          <p:cNvPr id="354353259" name="Image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23371" y="1426598"/>
            <a:ext cx="9292565" cy="7373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9448716" name="Imag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9571" y="7610334"/>
            <a:ext cx="4816257" cy="2674852"/>
          </a:xfrm>
          <a:prstGeom prst="rect">
            <a:avLst/>
          </a:prstGeom>
        </p:spPr>
      </p:pic>
      <p:pic>
        <p:nvPicPr>
          <p:cNvPr id="196441065" name="Image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28600" y="419101"/>
            <a:ext cx="8467271" cy="3962400"/>
          </a:xfrm>
          <a:prstGeom prst="rect">
            <a:avLst/>
          </a:prstGeom>
        </p:spPr>
      </p:pic>
      <p:pic>
        <p:nvPicPr>
          <p:cNvPr id="872634104" name="Image 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865306" y="714649"/>
            <a:ext cx="9223123" cy="9153251"/>
          </a:xfrm>
          <a:prstGeom prst="rect">
            <a:avLst/>
          </a:prstGeom>
        </p:spPr>
      </p:pic>
      <p:pic>
        <p:nvPicPr>
          <p:cNvPr id="1075700507" name="Image 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001718" y="1638300"/>
            <a:ext cx="12284564" cy="7765878"/>
          </a:xfrm>
          <a:prstGeom prst="rect">
            <a:avLst/>
          </a:prstGeom>
        </p:spPr>
      </p:pic>
      <p:sp>
        <p:nvSpPr>
          <p:cNvPr id="1423886561" name="Rectangle 7"/>
          <p:cNvSpPr/>
          <p:nvPr/>
        </p:nvSpPr>
        <p:spPr bwMode="auto">
          <a:xfrm>
            <a:off x="6477000" y="2705100"/>
            <a:ext cx="2388305" cy="6019800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1957307246" name="Image 8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744200" y="2579331"/>
            <a:ext cx="6350909" cy="6368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63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263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0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7570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8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2388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3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5730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8865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320940" name="TextBox 12"/>
          <p:cNvSpPr txBox="1"/>
          <p:nvPr/>
        </p:nvSpPr>
        <p:spPr bwMode="auto">
          <a:xfrm>
            <a:off x="838200" y="1003281"/>
            <a:ext cx="16154400" cy="1634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798"/>
              </a:lnSpc>
              <a:spcBef>
                <a:spcPts val="0"/>
              </a:spcBef>
              <a:defRPr/>
            </a:pPr>
            <a:r>
              <a:rPr lang="en-US" sz="10500">
                <a:solidFill>
                  <a:srgbClr val="404040"/>
                </a:solidFill>
                <a:latin typeface="Now Bold"/>
              </a:rPr>
              <a:t>PART 1 CONCLUSION</a:t>
            </a:r>
            <a:endParaRPr/>
          </a:p>
        </p:txBody>
      </p:sp>
      <p:sp>
        <p:nvSpPr>
          <p:cNvPr id="1779930517" name="TextBox 6"/>
          <p:cNvSpPr txBox="1"/>
          <p:nvPr/>
        </p:nvSpPr>
        <p:spPr bwMode="auto">
          <a:xfrm>
            <a:off x="496742" y="2857500"/>
            <a:ext cx="6871779" cy="317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9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ow"/>
              </a:rPr>
              <a:t>All publishers are predatory, their own way</a:t>
            </a:r>
            <a:endParaRPr/>
          </a:p>
        </p:txBody>
      </p:sp>
      <p:sp>
        <p:nvSpPr>
          <p:cNvPr id="1089176713" name="TextBox 6"/>
          <p:cNvSpPr txBox="1"/>
          <p:nvPr/>
        </p:nvSpPr>
        <p:spPr bwMode="auto">
          <a:xfrm>
            <a:off x="496740" y="3685685"/>
            <a:ext cx="14024757" cy="635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ow"/>
              </a:rPr>
              <a:t>It’s terribly hard to correct science, because of publishers' unwillingness to protect publication process  from bad papers and withdraw papers promptly.</a:t>
            </a:r>
            <a:endParaRPr/>
          </a:p>
        </p:txBody>
      </p:sp>
      <p:sp>
        <p:nvSpPr>
          <p:cNvPr id="1585321714" name="TextBox 6"/>
          <p:cNvSpPr txBox="1"/>
          <p:nvPr/>
        </p:nvSpPr>
        <p:spPr bwMode="auto">
          <a:xfrm>
            <a:off x="496742" y="5662662"/>
            <a:ext cx="15290801" cy="638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ow"/>
              </a:rPr>
              <a:t>Publishers gets a lot of money from APCs (more than 1,06 billion </a:t>
            </a:r>
            <a:r>
              <a:rPr lang="en-US" sz="2050" b="1" u="sng">
                <a:solidFill>
                  <a:srgbClr val="000000"/>
                </a:solidFill>
                <a:latin typeface="Now"/>
              </a:rPr>
              <a:t>before</a:t>
            </a:r>
            <a:r>
              <a:rPr lang="en-US" sz="2050">
                <a:solidFill>
                  <a:srgbClr val="000000"/>
                </a:solidFill>
                <a:latin typeface="Now"/>
              </a:rPr>
              <a:t> the 2019 exponential), and don’t care about the editing process leading to </a:t>
            </a:r>
            <a:r>
              <a:rPr lang="en-US" sz="2050">
                <a:solidFill>
                  <a:srgbClr val="000000"/>
                </a:solidFill>
                <a:latin typeface="Now"/>
              </a:rPr>
              <a:t>en</a:t>
            </a:r>
            <a:r>
              <a:rPr lang="en-US" sz="2050">
                <a:solidFill>
                  <a:srgbClr val="000000"/>
                </a:solidFill>
                <a:latin typeface="Now"/>
              </a:rPr>
              <a:t>-masse resignations</a:t>
            </a:r>
            <a:endParaRPr/>
          </a:p>
        </p:txBody>
      </p:sp>
      <p:sp>
        <p:nvSpPr>
          <p:cNvPr id="2058654697" name="TextBox 6"/>
          <p:cNvSpPr txBox="1"/>
          <p:nvPr/>
        </p:nvSpPr>
        <p:spPr bwMode="auto">
          <a:xfrm>
            <a:off x="496742" y="6811452"/>
            <a:ext cx="14884401" cy="317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ow"/>
              </a:rPr>
              <a:t>Publishers love Open Science, but mostly because they benefits from APCs and data selling (directly or indirectly)</a:t>
            </a:r>
            <a:endParaRPr/>
          </a:p>
        </p:txBody>
      </p:sp>
      <p:sp>
        <p:nvSpPr>
          <p:cNvPr id="1455354898" name="TextBox 6"/>
          <p:cNvSpPr txBox="1"/>
          <p:nvPr/>
        </p:nvSpPr>
        <p:spPr bwMode="auto">
          <a:xfrm>
            <a:off x="496741" y="4834474"/>
            <a:ext cx="17704161" cy="317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99"/>
              </a:lnSpc>
              <a:defRPr/>
            </a:pPr>
            <a:r>
              <a:rPr lang="en-US" sz="2050">
                <a:solidFill>
                  <a:srgbClr val="000000"/>
                </a:solidFill>
                <a:latin typeface="Now"/>
              </a:rPr>
              <a:t>The publishing market is broken, as there is an oligopoly by 5 publishers, far too big to fail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93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993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17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917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35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535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32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532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5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865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9930517" grpId="0"/>
      <p:bldP spid="1089176713" grpId="0"/>
      <p:bldP spid="1585321714" grpId="0"/>
      <p:bldP spid="2058654697" grpId="0"/>
      <p:bldP spid="14553548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4F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680117" name="TextBox 8"/>
          <p:cNvSpPr txBox="1"/>
          <p:nvPr/>
        </p:nvSpPr>
        <p:spPr bwMode="auto">
          <a:xfrm>
            <a:off x="2380737" y="3341949"/>
            <a:ext cx="13526526" cy="360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34"/>
              </a:lnSpc>
              <a:defRPr/>
            </a:pPr>
            <a:r>
              <a:rPr lang="en-US" sz="10250" spc="286">
                <a:solidFill>
                  <a:srgbClr val="404040"/>
                </a:solidFill>
                <a:latin typeface="Now Bold"/>
              </a:rPr>
              <a:t>What can we do about it?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cover dir="l"/>
      </p:transition>
    </mc:Choice>
    <mc:Fallback>
      <p:transition spd="med" advClick="1">
        <p:cover dir="l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022021" name="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17297400" cy="1143000"/>
          </a:xfrm>
        </p:spPr>
        <p:txBody>
          <a:bodyPr/>
          <a:lstStyle/>
          <a:p>
            <a:pPr>
              <a:defRPr/>
            </a:pPr>
            <a:r>
              <a:rPr lang="fr-FR" b="1">
                <a:latin typeface="Now"/>
              </a:rPr>
              <a:t>Example of South America </a:t>
            </a:r>
            <a:endParaRPr/>
          </a:p>
        </p:txBody>
      </p:sp>
      <p:sp>
        <p:nvSpPr>
          <p:cNvPr id="19764842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17297400" cy="7734300"/>
          </a:xfrm>
        </p:spPr>
        <p:txBody>
          <a:bodyPr/>
          <a:lstStyle/>
          <a:p>
            <a:pPr>
              <a:defRPr/>
            </a:pPr>
            <a:r>
              <a:rPr lang="en-US">
                <a:latin typeface="Now"/>
              </a:rPr>
              <a:t>Current Research Information Systems (CRIS)</a:t>
            </a:r>
            <a:endParaRPr/>
          </a:p>
          <a:p>
            <a:pPr>
              <a:defRPr/>
            </a:pPr>
            <a:r>
              <a:rPr lang="en-US">
                <a:latin typeface="Now"/>
              </a:rPr>
              <a:t>Latindex</a:t>
            </a:r>
            <a:r>
              <a:rPr lang="en-US">
                <a:latin typeface="Now"/>
              </a:rPr>
              <a:t> (Spanish and </a:t>
            </a:r>
            <a:r>
              <a:rPr lang="en-US">
                <a:latin typeface="Now"/>
              </a:rPr>
              <a:t>protuguese</a:t>
            </a:r>
            <a:r>
              <a:rPr lang="en-US">
                <a:latin typeface="Now"/>
              </a:rPr>
              <a:t> </a:t>
            </a:r>
            <a:r>
              <a:rPr lang="en-US">
                <a:latin typeface="Now"/>
              </a:rPr>
              <a:t>langages</a:t>
            </a:r>
            <a:r>
              <a:rPr lang="en-US">
                <a:latin typeface="Now"/>
              </a:rPr>
              <a:t>)</a:t>
            </a:r>
            <a:endParaRPr/>
          </a:p>
          <a:p>
            <a:pPr>
              <a:defRPr/>
            </a:pPr>
            <a:r>
              <a:rPr lang="en-US">
                <a:latin typeface="Now"/>
              </a:rPr>
              <a:t>SciELO</a:t>
            </a:r>
            <a:endParaRPr lang="en-US">
              <a:latin typeface="Now"/>
            </a:endParaRPr>
          </a:p>
          <a:p>
            <a:pPr>
              <a:defRPr/>
            </a:pPr>
            <a:r>
              <a:rPr lang="en-US">
                <a:latin typeface="Now"/>
              </a:rPr>
              <a:t>Redalyc</a:t>
            </a:r>
            <a:endParaRPr lang="en-US">
              <a:latin typeface="Now"/>
            </a:endParaRPr>
          </a:p>
          <a:p>
            <a:pPr>
              <a:defRPr/>
            </a:pPr>
            <a:r>
              <a:rPr lang="en-US">
                <a:latin typeface="Now"/>
              </a:rPr>
              <a:t>BrCris</a:t>
            </a:r>
            <a:r>
              <a:rPr lang="en-US">
                <a:latin typeface="Now"/>
              </a:rPr>
              <a:t> (Brazil)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PerúCRIS</a:t>
            </a:r>
            <a:endParaRPr lang="fr-FR">
              <a:latin typeface="Now"/>
            </a:endParaRPr>
          </a:p>
          <a:p>
            <a:pPr>
              <a:defRPr/>
            </a:pPr>
            <a:r>
              <a:rPr lang="fr-FR">
                <a:latin typeface="Now"/>
              </a:rPr>
              <a:t>Europe : </a:t>
            </a:r>
            <a:r>
              <a:rPr lang="fr-FR">
                <a:latin typeface="Now"/>
              </a:rPr>
              <a:t>Institutional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level</a:t>
            </a:r>
            <a:r>
              <a:rPr lang="fr-FR">
                <a:latin typeface="Now"/>
              </a:rPr>
              <a:t> (</a:t>
            </a:r>
            <a:r>
              <a:rPr lang="fr-FR">
                <a:latin typeface="Now"/>
              </a:rPr>
              <a:t>university</a:t>
            </a:r>
            <a:r>
              <a:rPr lang="fr-FR">
                <a:latin typeface="Now"/>
              </a:rPr>
              <a:t>)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South America : National </a:t>
            </a:r>
            <a:r>
              <a:rPr lang="fr-FR">
                <a:latin typeface="Now"/>
              </a:rPr>
              <a:t>level</a:t>
            </a:r>
            <a:r>
              <a:rPr lang="fr-FR">
                <a:latin typeface="Now"/>
              </a:rPr>
              <a:t> (</a:t>
            </a:r>
            <a:r>
              <a:rPr lang="fr-FR">
                <a:latin typeface="Now"/>
              </a:rPr>
              <a:t>with</a:t>
            </a:r>
            <a:r>
              <a:rPr lang="fr-FR">
                <a:latin typeface="Now"/>
              </a:rPr>
              <a:t> collaboration </a:t>
            </a:r>
            <a:r>
              <a:rPr lang="fr-FR">
                <a:latin typeface="Now"/>
              </a:rPr>
              <a:t>across</a:t>
            </a:r>
            <a:r>
              <a:rPr lang="fr-FR">
                <a:latin typeface="Now"/>
              </a:rPr>
              <a:t> countries </a:t>
            </a:r>
            <a:r>
              <a:rPr lang="fr-FR">
                <a:latin typeface="Now"/>
              </a:rPr>
              <a:t>within</a:t>
            </a:r>
            <a:r>
              <a:rPr lang="fr-FR">
                <a:latin typeface="Now"/>
              </a:rPr>
              <a:t> the </a:t>
            </a:r>
            <a:r>
              <a:rPr lang="fr-FR">
                <a:latin typeface="Now"/>
              </a:rPr>
              <a:t>region</a:t>
            </a:r>
            <a:r>
              <a:rPr lang="fr-FR">
                <a:latin typeface="Now"/>
              </a:rPr>
              <a:t>)</a:t>
            </a:r>
            <a:endParaRPr/>
          </a:p>
        </p:txBody>
      </p:sp>
      <p:pic>
        <p:nvPicPr>
          <p:cNvPr id="1320990421" name="Imag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06000" y="1417638"/>
            <a:ext cx="7011155" cy="3184644"/>
          </a:xfrm>
          <a:prstGeom prst="rect">
            <a:avLst/>
          </a:prstGeom>
        </p:spPr>
      </p:pic>
      <p:pic>
        <p:nvPicPr>
          <p:cNvPr id="362429145" name="Image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43000" y="6667500"/>
            <a:ext cx="7764692" cy="3124053"/>
          </a:xfrm>
          <a:prstGeom prst="rect">
            <a:avLst/>
          </a:prstGeom>
        </p:spPr>
      </p:pic>
      <p:sp>
        <p:nvSpPr>
          <p:cNvPr id="1364670460" name="ZoneTexte 7"/>
          <p:cNvSpPr txBox="1"/>
          <p:nvPr/>
        </p:nvSpPr>
        <p:spPr bwMode="auto">
          <a:xfrm>
            <a:off x="10439400" y="7321585"/>
            <a:ext cx="7158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2800"/>
              <a:t>Most of the </a:t>
            </a:r>
            <a:r>
              <a:rPr lang="fr-FR" sz="2800"/>
              <a:t>journals</a:t>
            </a:r>
            <a:r>
              <a:rPr lang="fr-FR" sz="2800"/>
              <a:t> do not have impact factor</a:t>
            </a:r>
            <a:endParaRPr/>
          </a:p>
          <a:p>
            <a:pPr>
              <a:defRPr/>
            </a:pPr>
            <a:endParaRPr lang="fr-FR" sz="2800"/>
          </a:p>
          <a:p>
            <a:pPr>
              <a:defRPr/>
            </a:pPr>
            <a:r>
              <a:rPr lang="fr-FR" sz="2800"/>
              <a:t>Out of 1619 </a:t>
            </a:r>
            <a:r>
              <a:rPr lang="fr-FR" sz="2800"/>
              <a:t>journals</a:t>
            </a:r>
            <a:r>
              <a:rPr lang="fr-FR" sz="2800"/>
              <a:t> </a:t>
            </a:r>
            <a:r>
              <a:rPr lang="fr-FR" sz="2800"/>
              <a:t>from</a:t>
            </a:r>
            <a:r>
              <a:rPr lang="fr-FR" sz="2800"/>
              <a:t> </a:t>
            </a:r>
            <a:r>
              <a:rPr lang="fr-FR" sz="2800"/>
              <a:t>SciELO</a:t>
            </a:r>
            <a:r>
              <a:rPr lang="fr-FR" sz="2800"/>
              <a:t> – 1048 are not </a:t>
            </a:r>
            <a:r>
              <a:rPr lang="fr-FR" sz="2800"/>
              <a:t>even</a:t>
            </a:r>
            <a:r>
              <a:rPr lang="fr-FR" sz="2800"/>
              <a:t> </a:t>
            </a:r>
            <a:r>
              <a:rPr lang="fr-FR" sz="2800"/>
              <a:t>listed</a:t>
            </a:r>
            <a:r>
              <a:rPr lang="fr-FR" sz="2800"/>
              <a:t> in DOAJ</a:t>
            </a:r>
            <a:endParaRPr/>
          </a:p>
        </p:txBody>
      </p:sp>
      <p:sp>
        <p:nvSpPr>
          <p:cNvPr id="755999697" name="ZoneTexte 9"/>
          <p:cNvSpPr txBox="1"/>
          <p:nvPr/>
        </p:nvSpPr>
        <p:spPr bwMode="auto">
          <a:xfrm>
            <a:off x="9606744" y="962125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/>
              <a:t>Bosman, J., </a:t>
            </a:r>
            <a:r>
              <a:rPr lang="fr-FR"/>
              <a:t>Frantsvåg</a:t>
            </a:r>
            <a:r>
              <a:rPr lang="fr-FR"/>
              <a:t>, J. E., Kramer, B., Langlais, P.-C., &amp; </a:t>
            </a:r>
            <a:r>
              <a:rPr lang="fr-FR"/>
              <a:t>Proudman</a:t>
            </a:r>
            <a:r>
              <a:rPr lang="fr-FR"/>
              <a:t>, V. (2021). OA Diamond </a:t>
            </a:r>
            <a:r>
              <a:rPr lang="fr-FR"/>
              <a:t>Journals</a:t>
            </a:r>
            <a:r>
              <a:rPr lang="fr-FR"/>
              <a:t> </a:t>
            </a:r>
            <a:r>
              <a:rPr lang="fr-FR"/>
              <a:t>Study</a:t>
            </a:r>
            <a:r>
              <a:rPr lang="fr-FR"/>
              <a:t>. Part 1: </a:t>
            </a:r>
            <a:r>
              <a:rPr lang="fr-FR"/>
              <a:t>Findings</a:t>
            </a:r>
            <a:r>
              <a:rPr lang="fr-FR"/>
              <a:t>. </a:t>
            </a:r>
            <a:r>
              <a:rPr lang="fr-FR"/>
              <a:t>Zenodo</a:t>
            </a:r>
            <a:r>
              <a:rPr lang="fr-FR"/>
              <a:t>. https://doi.org/10.5281/ZENODO.4558704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2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242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99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7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951347" name="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17297400" cy="1143000"/>
          </a:xfrm>
        </p:spPr>
        <p:txBody>
          <a:bodyPr/>
          <a:lstStyle/>
          <a:p>
            <a:pPr>
              <a:defRPr/>
            </a:pPr>
            <a:r>
              <a:rPr lang="fr-FR" b="1">
                <a:latin typeface="Now"/>
              </a:rPr>
              <a:t>Historical</a:t>
            </a:r>
            <a:r>
              <a:rPr lang="fr-FR" b="1">
                <a:latin typeface="Now"/>
              </a:rPr>
              <a:t> alternative</a:t>
            </a:r>
            <a:endParaRPr/>
          </a:p>
        </p:txBody>
      </p:sp>
      <p:pic>
        <p:nvPicPr>
          <p:cNvPr id="284455882" name="Image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944600" y="1458130"/>
            <a:ext cx="2562583" cy="971686"/>
          </a:xfrm>
          <a:prstGeom prst="rect">
            <a:avLst/>
          </a:prstGeom>
        </p:spPr>
      </p:pic>
      <p:pic>
        <p:nvPicPr>
          <p:cNvPr id="682011153" name="Picture 2" descr="A new look for Nature | Research Communities by Springer Nature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2133600" y="959734"/>
            <a:ext cx="1962149" cy="1968479"/>
          </a:xfrm>
          <a:prstGeom prst="rect">
            <a:avLst/>
          </a:prstGeom>
          <a:noFill/>
        </p:spPr>
      </p:pic>
      <p:cxnSp>
        <p:nvCxnSpPr>
          <p:cNvPr id="1368846111" name="Connecteur droit avec flèche 12"/>
          <p:cNvCxnSpPr>
            <a:stCxn id="682011153" idx="2"/>
          </p:cNvCxnSpPr>
          <p:nvPr/>
        </p:nvCxnSpPr>
        <p:spPr bwMode="auto">
          <a:xfrm flipH="1">
            <a:off x="3114674" y="2928213"/>
            <a:ext cx="1" cy="6150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42790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1219200" y="3621592"/>
            <a:ext cx="4267199" cy="678566"/>
          </a:xfrm>
        </p:spPr>
        <p:txBody>
          <a:bodyPr/>
          <a:lstStyle/>
          <a:p>
            <a:pPr>
              <a:defRPr/>
            </a:pPr>
            <a:r>
              <a:rPr lang="fr-FR">
                <a:latin typeface="Now"/>
              </a:rPr>
              <a:t>Springer nature</a:t>
            </a:r>
            <a:endParaRPr/>
          </a:p>
        </p:txBody>
      </p:sp>
      <p:cxnSp>
        <p:nvCxnSpPr>
          <p:cNvPr id="927458008" name="Connecteur droit avec flèche 14"/>
          <p:cNvCxnSpPr/>
          <p:nvPr/>
        </p:nvCxnSpPr>
        <p:spPr bwMode="auto">
          <a:xfrm flipH="1">
            <a:off x="15225891" y="2620669"/>
            <a:ext cx="1" cy="6150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9226596" name="Espace réservé du contenu 2"/>
          <p:cNvSpPr txBox="1"/>
          <p:nvPr/>
        </p:nvSpPr>
        <p:spPr bwMode="auto">
          <a:xfrm>
            <a:off x="13092291" y="3426609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fr-FR">
              <a:latin typeface="Now"/>
            </a:endParaRPr>
          </a:p>
        </p:txBody>
      </p:sp>
      <p:sp>
        <p:nvSpPr>
          <p:cNvPr id="1899896584" name="ZoneTexte 17"/>
          <p:cNvSpPr txBox="1"/>
          <p:nvPr/>
        </p:nvSpPr>
        <p:spPr bwMode="auto">
          <a:xfrm>
            <a:off x="12901789" y="3418326"/>
            <a:ext cx="4648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 sz="3200">
                <a:latin typeface="Now"/>
              </a:rPr>
              <a:t>American Association for the Advancement of Science</a:t>
            </a:r>
            <a:endParaRPr lang="fr-FR" sz="3200">
              <a:latin typeface="Now"/>
            </a:endParaRPr>
          </a:p>
        </p:txBody>
      </p:sp>
      <p:cxnSp>
        <p:nvCxnSpPr>
          <p:cNvPr id="566827497" name="Connecteur droit avec flèche 18"/>
          <p:cNvCxnSpPr/>
          <p:nvPr/>
        </p:nvCxnSpPr>
        <p:spPr bwMode="auto">
          <a:xfrm flipH="0" flipV="0">
            <a:off x="15175991" y="5205904"/>
            <a:ext cx="49898" cy="9556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8075184" name="ZoneTexte 19"/>
          <p:cNvSpPr txBox="1"/>
          <p:nvPr/>
        </p:nvSpPr>
        <p:spPr bwMode="auto">
          <a:xfrm>
            <a:off x="13030200" y="6240594"/>
            <a:ext cx="4648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 sz="3200">
                <a:latin typeface="Now"/>
              </a:rPr>
              <a:t>Revenue, 2022 </a:t>
            </a:r>
            <a:r>
              <a:rPr lang="en-US" sz="3200">
                <a:latin typeface="Calibri"/>
              </a:rPr>
              <a:t>$</a:t>
            </a:r>
            <a:r>
              <a:rPr lang="en-US" sz="3200">
                <a:latin typeface="Now"/>
              </a:rPr>
              <a:t>119,582</a:t>
            </a:r>
            <a:endParaRPr lang="fr-FR" sz="3200">
              <a:latin typeface="Now"/>
            </a:endParaRPr>
          </a:p>
        </p:txBody>
      </p:sp>
      <p:cxnSp>
        <p:nvCxnSpPr>
          <p:cNvPr id="1505014206" name="Connecteur droit avec flèche 20"/>
          <p:cNvCxnSpPr/>
          <p:nvPr/>
        </p:nvCxnSpPr>
        <p:spPr bwMode="auto">
          <a:xfrm flipH="1">
            <a:off x="3067019" y="4396672"/>
            <a:ext cx="1" cy="6150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214658" name="ZoneTexte 21"/>
          <p:cNvSpPr txBox="1"/>
          <p:nvPr/>
        </p:nvSpPr>
        <p:spPr bwMode="auto">
          <a:xfrm>
            <a:off x="871329" y="5084298"/>
            <a:ext cx="4648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 sz="3200">
                <a:latin typeface="Now"/>
              </a:rPr>
              <a:t>Revenue, 2022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 sz="3200">
                <a:latin typeface="Calibri"/>
              </a:rPr>
              <a:t>$</a:t>
            </a:r>
            <a:r>
              <a:rPr lang="en-US" sz="3200">
                <a:latin typeface="Now"/>
              </a:rPr>
              <a:t>2,1 billion</a:t>
            </a:r>
            <a:endParaRPr lang="fr-FR" sz="3200">
              <a:latin typeface="Now"/>
            </a:endParaRPr>
          </a:p>
        </p:txBody>
      </p:sp>
      <p:pic>
        <p:nvPicPr>
          <p:cNvPr id="744778230" name="Image 2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105899" y="7485035"/>
            <a:ext cx="8444089" cy="1411549"/>
          </a:xfrm>
          <a:prstGeom prst="rect">
            <a:avLst/>
          </a:prstGeom>
        </p:spPr>
      </p:pic>
      <p:pic>
        <p:nvPicPr>
          <p:cNvPr id="250730743" name="Image 2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199" y="7486414"/>
            <a:ext cx="7838885" cy="1410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1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8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2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01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21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07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5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445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5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89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82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07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77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4477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031099" name="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17297400" cy="1143000"/>
          </a:xfrm>
        </p:spPr>
        <p:txBody>
          <a:bodyPr/>
          <a:lstStyle/>
          <a:p>
            <a:pPr>
              <a:defRPr/>
            </a:pPr>
            <a:r>
              <a:rPr lang="fr-FR" b="1">
                <a:latin typeface="Now"/>
              </a:rPr>
              <a:t>Economics</a:t>
            </a:r>
            <a:endParaRPr/>
          </a:p>
        </p:txBody>
      </p:sp>
      <p:sp>
        <p:nvSpPr>
          <p:cNvPr id="1278005294" name="Espace réservé du contenu 2"/>
          <p:cNvSpPr txBox="1"/>
          <p:nvPr/>
        </p:nvSpPr>
        <p:spPr bwMode="auto">
          <a:xfrm>
            <a:off x="13092291" y="3426609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fr-FR">
              <a:latin typeface="Now"/>
            </a:endParaRPr>
          </a:p>
        </p:txBody>
      </p:sp>
      <p:sp>
        <p:nvSpPr>
          <p:cNvPr id="1250332373" name="Titre 1"/>
          <p:cNvSpPr txBox="1"/>
          <p:nvPr/>
        </p:nvSpPr>
        <p:spPr bwMode="auto">
          <a:xfrm>
            <a:off x="838200" y="1638300"/>
            <a:ext cx="53227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b="1">
                <a:latin typeface="Now"/>
              </a:rPr>
              <a:t>Researchers</a:t>
            </a:r>
            <a:r>
              <a:rPr lang="fr-FR" b="1">
                <a:latin typeface="Now"/>
              </a:rPr>
              <a:t> association</a:t>
            </a:r>
            <a:endParaRPr/>
          </a:p>
        </p:txBody>
      </p:sp>
      <p:sp>
        <p:nvSpPr>
          <p:cNvPr id="212128654" name="Titre 1"/>
          <p:cNvSpPr txBox="1"/>
          <p:nvPr/>
        </p:nvSpPr>
        <p:spPr bwMode="auto">
          <a:xfrm>
            <a:off x="12564535" y="1638300"/>
            <a:ext cx="53227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b="1">
                <a:latin typeface="Now"/>
              </a:rPr>
              <a:t>For profit </a:t>
            </a:r>
            <a:r>
              <a:rPr lang="fr-FR" b="1">
                <a:latin typeface="Now"/>
              </a:rPr>
              <a:t>journals</a:t>
            </a:r>
            <a:endParaRPr lang="fr-FR" b="1">
              <a:latin typeface="Now"/>
            </a:endParaRPr>
          </a:p>
        </p:txBody>
      </p:sp>
      <p:pic>
        <p:nvPicPr>
          <p:cNvPr id="1303508625" name="Image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4800" y="3765892"/>
            <a:ext cx="2419688" cy="2857899"/>
          </a:xfrm>
          <a:prstGeom prst="rect">
            <a:avLst/>
          </a:prstGeom>
        </p:spPr>
      </p:pic>
      <p:sp>
        <p:nvSpPr>
          <p:cNvPr id="204074900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12725400" y="2802377"/>
            <a:ext cx="4267199" cy="678566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>
                <a:latin typeface="Now"/>
              </a:rPr>
              <a:t>Journal of </a:t>
            </a:r>
            <a:r>
              <a:rPr lang="fr-FR">
                <a:latin typeface="Now"/>
              </a:rPr>
              <a:t>econometrics</a:t>
            </a:r>
            <a:r>
              <a:rPr lang="fr-FR">
                <a:latin typeface="Now"/>
              </a:rPr>
              <a:t> (Elsevier)</a:t>
            </a:r>
            <a:endParaRPr/>
          </a:p>
        </p:txBody>
      </p:sp>
      <p:pic>
        <p:nvPicPr>
          <p:cNvPr id="1702917569" name="Image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19400" y="3908201"/>
            <a:ext cx="6401363" cy="2657170"/>
          </a:xfrm>
          <a:prstGeom prst="rect">
            <a:avLst/>
          </a:prstGeom>
        </p:spPr>
      </p:pic>
      <p:sp>
        <p:nvSpPr>
          <p:cNvPr id="183633984" name="Espace réservé du contenu 2"/>
          <p:cNvSpPr txBox="1"/>
          <p:nvPr/>
        </p:nvSpPr>
        <p:spPr bwMode="auto">
          <a:xfrm>
            <a:off x="1000250" y="6779427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The </a:t>
            </a:r>
            <a:r>
              <a:rPr lang="fr-FR"/>
              <a:t>Econometric</a:t>
            </a:r>
            <a:r>
              <a:rPr lang="fr-FR"/>
              <a:t> Society</a:t>
            </a:r>
            <a:endParaRPr lang="fr-FR">
              <a:latin typeface="Now"/>
            </a:endParaRPr>
          </a:p>
        </p:txBody>
      </p:sp>
      <p:pic>
        <p:nvPicPr>
          <p:cNvPr id="777611472" name="Image 2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11548" y="8127907"/>
            <a:ext cx="8794352" cy="1567237"/>
          </a:xfrm>
          <a:prstGeom prst="rect">
            <a:avLst/>
          </a:prstGeom>
        </p:spPr>
      </p:pic>
      <p:pic>
        <p:nvPicPr>
          <p:cNvPr id="1417609596" name="Image 2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09600" y="7283187"/>
            <a:ext cx="7802989" cy="777724"/>
          </a:xfrm>
          <a:prstGeom prst="rect">
            <a:avLst/>
          </a:prstGeom>
        </p:spPr>
      </p:pic>
      <p:sp>
        <p:nvSpPr>
          <p:cNvPr id="1356720724" name="Espace réservé du contenu 2"/>
          <p:cNvSpPr txBox="1"/>
          <p:nvPr/>
        </p:nvSpPr>
        <p:spPr bwMode="auto">
          <a:xfrm>
            <a:off x="1518355" y="2956560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American </a:t>
            </a:r>
            <a:r>
              <a:rPr lang="fr-FR">
                <a:latin typeface="Now"/>
              </a:rPr>
              <a:t>Economic</a:t>
            </a:r>
            <a:r>
              <a:rPr lang="fr-FR">
                <a:latin typeface="Now"/>
              </a:rPr>
              <a:t> Association</a:t>
            </a:r>
            <a:endParaRPr/>
          </a:p>
        </p:txBody>
      </p:sp>
      <p:pic>
        <p:nvPicPr>
          <p:cNvPr id="1006214659" name="Image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2439242" y="3464709"/>
            <a:ext cx="4839514" cy="1186155"/>
          </a:xfrm>
          <a:prstGeom prst="rect">
            <a:avLst/>
          </a:prstGeom>
        </p:spPr>
      </p:pic>
      <p:sp>
        <p:nvSpPr>
          <p:cNvPr id="794683270" name="Espace réservé du contenu 2"/>
          <p:cNvSpPr txBox="1"/>
          <p:nvPr/>
        </p:nvSpPr>
        <p:spPr bwMode="auto">
          <a:xfrm>
            <a:off x="12725400" y="4788584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Journal of </a:t>
            </a:r>
            <a:r>
              <a:rPr lang="fr-FR">
                <a:latin typeface="Now"/>
              </a:rPr>
              <a:t>economics</a:t>
            </a:r>
            <a:r>
              <a:rPr lang="fr-FR">
                <a:latin typeface="Now"/>
              </a:rPr>
              <a:t> (Springer)</a:t>
            </a:r>
            <a:endParaRPr/>
          </a:p>
        </p:txBody>
      </p:sp>
      <p:pic>
        <p:nvPicPr>
          <p:cNvPr id="678219653" name="Image 1024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2392748" y="5552861"/>
            <a:ext cx="4932502" cy="1612807"/>
          </a:xfrm>
          <a:prstGeom prst="rect">
            <a:avLst/>
          </a:prstGeom>
        </p:spPr>
      </p:pic>
      <p:sp>
        <p:nvSpPr>
          <p:cNvPr id="297717730" name="Espace réservé du contenu 2"/>
          <p:cNvSpPr txBox="1"/>
          <p:nvPr/>
        </p:nvSpPr>
        <p:spPr bwMode="auto">
          <a:xfrm>
            <a:off x="12449181" y="7226533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Journal of </a:t>
            </a:r>
            <a:r>
              <a:rPr lang="fr-FR">
                <a:latin typeface="Now"/>
              </a:rPr>
              <a:t>Economic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Surveys</a:t>
            </a:r>
            <a:r>
              <a:rPr lang="fr-FR">
                <a:latin typeface="Now"/>
              </a:rPr>
              <a:t> (</a:t>
            </a:r>
            <a:r>
              <a:rPr lang="fr-FR">
                <a:latin typeface="Now"/>
              </a:rPr>
              <a:t>Wiley</a:t>
            </a:r>
            <a:r>
              <a:rPr lang="fr-FR">
                <a:latin typeface="Now"/>
              </a:rPr>
              <a:t>)</a:t>
            </a:r>
            <a:endParaRPr/>
          </a:p>
        </p:txBody>
      </p:sp>
      <p:pic>
        <p:nvPicPr>
          <p:cNvPr id="1824352134" name="Image 1028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11496249" y="8233561"/>
            <a:ext cx="6173061" cy="1105054"/>
          </a:xfrm>
          <a:prstGeom prst="rect">
            <a:avLst/>
          </a:prstGeom>
        </p:spPr>
      </p:pic>
      <p:pic>
        <p:nvPicPr>
          <p:cNvPr id="1018026233" name="Image 1030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0793625" y="7023509"/>
            <a:ext cx="1405248" cy="934558"/>
          </a:xfrm>
          <a:prstGeom prst="rect">
            <a:avLst/>
          </a:prstGeom>
        </p:spPr>
      </p:pic>
      <p:pic>
        <p:nvPicPr>
          <p:cNvPr id="1124845032" name="Image 1032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15992474" y="7283187"/>
            <a:ext cx="1119301" cy="726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72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0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0350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91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0291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3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363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60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1760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61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7761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2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212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74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074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1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621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8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9468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21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821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71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35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2435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02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1802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84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2484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279008" name="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17297400" cy="1143000"/>
          </a:xfrm>
        </p:spPr>
        <p:txBody>
          <a:bodyPr/>
          <a:lstStyle/>
          <a:p>
            <a:pPr>
              <a:defRPr/>
            </a:pPr>
            <a:r>
              <a:rPr lang="fr-FR" b="1">
                <a:latin typeface="Now"/>
              </a:rPr>
              <a:t>Psychology</a:t>
            </a:r>
            <a:endParaRPr/>
          </a:p>
        </p:txBody>
      </p:sp>
      <p:sp>
        <p:nvSpPr>
          <p:cNvPr id="1937059315" name="Titre 1"/>
          <p:cNvSpPr txBox="1"/>
          <p:nvPr/>
        </p:nvSpPr>
        <p:spPr bwMode="auto">
          <a:xfrm>
            <a:off x="838200" y="1638300"/>
            <a:ext cx="53227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b="1">
                <a:latin typeface="Now"/>
              </a:rPr>
              <a:t>Researchers</a:t>
            </a:r>
            <a:r>
              <a:rPr lang="fr-FR" b="1">
                <a:latin typeface="Now"/>
              </a:rPr>
              <a:t> association</a:t>
            </a:r>
            <a:endParaRPr/>
          </a:p>
        </p:txBody>
      </p:sp>
      <p:sp>
        <p:nvSpPr>
          <p:cNvPr id="1216969448" name="Titre 1"/>
          <p:cNvSpPr txBox="1"/>
          <p:nvPr/>
        </p:nvSpPr>
        <p:spPr bwMode="auto">
          <a:xfrm>
            <a:off x="10741301" y="3939930"/>
            <a:ext cx="53227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b="1">
                <a:latin typeface="Now"/>
              </a:rPr>
              <a:t>American Psychological Association</a:t>
            </a:r>
            <a:endParaRPr/>
          </a:p>
        </p:txBody>
      </p:sp>
      <p:sp>
        <p:nvSpPr>
          <p:cNvPr id="1559662192" name="Espace réservé du contenu 2"/>
          <p:cNvSpPr txBox="1"/>
          <p:nvPr/>
        </p:nvSpPr>
        <p:spPr bwMode="auto">
          <a:xfrm>
            <a:off x="1295401" y="5616200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Meta-</a:t>
            </a:r>
            <a:r>
              <a:rPr lang="fr-FR"/>
              <a:t>psychology</a:t>
            </a:r>
            <a:endParaRPr lang="fr-FR">
              <a:latin typeface="Now"/>
            </a:endParaRPr>
          </a:p>
        </p:txBody>
      </p:sp>
      <p:sp>
        <p:nvSpPr>
          <p:cNvPr id="17660251" name="Espace réservé du contenu 2"/>
          <p:cNvSpPr txBox="1"/>
          <p:nvPr/>
        </p:nvSpPr>
        <p:spPr bwMode="auto">
          <a:xfrm>
            <a:off x="1518355" y="2956560"/>
            <a:ext cx="6330245" cy="678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French association in social </a:t>
            </a:r>
            <a:r>
              <a:rPr lang="fr-FR">
                <a:latin typeface="Now"/>
              </a:rPr>
              <a:t>psychology</a:t>
            </a:r>
            <a:endParaRPr lang="fr-FR">
              <a:latin typeface="Now"/>
            </a:endParaRPr>
          </a:p>
        </p:txBody>
      </p:sp>
      <p:pic>
        <p:nvPicPr>
          <p:cNvPr id="905033584" name="Image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95400" y="3230001"/>
            <a:ext cx="6106376" cy="2181529"/>
          </a:xfrm>
          <a:prstGeom prst="rect">
            <a:avLst/>
          </a:prstGeom>
        </p:spPr>
      </p:pic>
      <p:pic>
        <p:nvPicPr>
          <p:cNvPr id="1776202285" name="Image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85689" y="6208388"/>
            <a:ext cx="7525800" cy="800212"/>
          </a:xfrm>
          <a:prstGeom prst="rect">
            <a:avLst/>
          </a:prstGeom>
        </p:spPr>
      </p:pic>
      <p:sp>
        <p:nvSpPr>
          <p:cNvPr id="271197744" name="Espace réservé du contenu 2"/>
          <p:cNvSpPr txBox="1"/>
          <p:nvPr/>
        </p:nvSpPr>
        <p:spPr bwMode="auto">
          <a:xfrm>
            <a:off x="10960423" y="1078355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Collabra: Psychology</a:t>
            </a:r>
            <a:endParaRPr lang="fr-FR">
              <a:latin typeface="Now"/>
            </a:endParaRPr>
          </a:p>
        </p:txBody>
      </p:sp>
      <p:pic>
        <p:nvPicPr>
          <p:cNvPr id="703860947" name="Image 1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166574" y="1778866"/>
            <a:ext cx="7626502" cy="2066592"/>
          </a:xfrm>
          <a:prstGeom prst="rect">
            <a:avLst/>
          </a:prstGeom>
        </p:spPr>
      </p:pic>
      <p:pic>
        <p:nvPicPr>
          <p:cNvPr id="2124244430" name="Image 19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6678" y="5280708"/>
            <a:ext cx="7125693" cy="752580"/>
          </a:xfrm>
          <a:prstGeom prst="rect">
            <a:avLst/>
          </a:prstGeom>
        </p:spPr>
      </p:pic>
      <p:sp>
        <p:nvSpPr>
          <p:cNvPr id="2063502957" name="Espace réservé du contenu 2"/>
          <p:cNvSpPr txBox="1"/>
          <p:nvPr/>
        </p:nvSpPr>
        <p:spPr bwMode="auto">
          <a:xfrm>
            <a:off x="1219200" y="7204330"/>
            <a:ext cx="4267199" cy="678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Association for Psychological science</a:t>
            </a:r>
            <a:endParaRPr/>
          </a:p>
        </p:txBody>
      </p:sp>
      <p:pic>
        <p:nvPicPr>
          <p:cNvPr id="1239979158" name="Image 24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52400" y="7915287"/>
            <a:ext cx="4341345" cy="2376702"/>
          </a:xfrm>
          <a:prstGeom prst="rect">
            <a:avLst/>
          </a:prstGeom>
        </p:spPr>
      </p:pic>
      <p:pic>
        <p:nvPicPr>
          <p:cNvPr id="112383304" name="Image 28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4663599" y="9227240"/>
            <a:ext cx="11089996" cy="697197"/>
          </a:xfrm>
          <a:prstGeom prst="rect">
            <a:avLst/>
          </a:prstGeom>
        </p:spPr>
      </p:pic>
      <p:sp>
        <p:nvSpPr>
          <p:cNvPr id="1705914785" name="Titre 1"/>
          <p:cNvSpPr txBox="1"/>
          <p:nvPr/>
        </p:nvSpPr>
        <p:spPr bwMode="auto">
          <a:xfrm>
            <a:off x="11125200" y="6772287"/>
            <a:ext cx="53227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b="1">
                <a:latin typeface="Now"/>
              </a:rPr>
              <a:t>Proceeding</a:t>
            </a:r>
            <a:r>
              <a:rPr lang="fr-FR" b="1">
                <a:latin typeface="Now"/>
              </a:rPr>
              <a:t> of the National </a:t>
            </a:r>
            <a:r>
              <a:rPr lang="fr-FR" b="1">
                <a:latin typeface="Now"/>
              </a:rPr>
              <a:t>Academy</a:t>
            </a:r>
            <a:r>
              <a:rPr lang="fr-FR" b="1">
                <a:latin typeface="Now"/>
              </a:rPr>
              <a:t> of Sciences </a:t>
            </a:r>
            <a:endParaRPr/>
          </a:p>
        </p:txBody>
      </p:sp>
      <p:pic>
        <p:nvPicPr>
          <p:cNvPr id="1381063171" name="Image 1027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10774431" y="7641483"/>
            <a:ext cx="5815592" cy="1733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05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3705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66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03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0503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66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5966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20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50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6350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7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3997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3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1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1197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86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386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96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696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2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24244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91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0591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0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810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827194" name="Espace réservé du contenu 2"/>
          <p:cNvSpPr txBox="1"/>
          <p:nvPr/>
        </p:nvSpPr>
        <p:spPr bwMode="auto">
          <a:xfrm>
            <a:off x="990600" y="1028700"/>
            <a:ext cx="16840200" cy="3558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A conclusion </a:t>
            </a:r>
            <a:r>
              <a:rPr lang="fr-FR">
                <a:latin typeface="Now"/>
              </a:rPr>
              <a:t>from</a:t>
            </a:r>
            <a:r>
              <a:rPr lang="fr-FR">
                <a:latin typeface="Now"/>
              </a:rPr>
              <a:t> the </a:t>
            </a:r>
            <a:r>
              <a:rPr lang="fr-FR">
                <a:latin typeface="Now"/>
              </a:rPr>
              <a:t>review</a:t>
            </a:r>
            <a:r>
              <a:rPr lang="fr-FR">
                <a:latin typeface="Now"/>
              </a:rPr>
              <a:t> of the </a:t>
            </a:r>
            <a:r>
              <a:rPr lang="fr-FR">
                <a:latin typeface="Now"/>
              </a:rPr>
              <a:t>economics</a:t>
            </a:r>
            <a:r>
              <a:rPr lang="fr-FR">
                <a:latin typeface="Now"/>
              </a:rPr>
              <a:t> journal </a:t>
            </a:r>
            <a:r>
              <a:rPr lang="fr-FR">
                <a:latin typeface="Now"/>
              </a:rPr>
              <a:t>could</a:t>
            </a:r>
            <a:r>
              <a:rPr lang="fr-FR">
                <a:latin typeface="Now"/>
              </a:rPr>
              <a:t> have been: </a:t>
            </a:r>
            <a:r>
              <a:rPr lang="fr-FR">
                <a:latin typeface="Now"/>
              </a:rPr>
              <a:t>create</a:t>
            </a:r>
            <a:r>
              <a:rPr lang="fr-FR">
                <a:latin typeface="Now"/>
              </a:rPr>
              <a:t> more </a:t>
            </a:r>
            <a:r>
              <a:rPr lang="fr-FR">
                <a:latin typeface="Now"/>
              </a:rPr>
              <a:t>researcher’s</a:t>
            </a:r>
            <a:r>
              <a:rPr lang="fr-FR">
                <a:latin typeface="Now"/>
              </a:rPr>
              <a:t> associations </a:t>
            </a:r>
            <a:r>
              <a:rPr lang="fr-FR">
                <a:latin typeface="Now"/>
              </a:rPr>
              <a:t>that</a:t>
            </a:r>
            <a:r>
              <a:rPr lang="fr-FR">
                <a:latin typeface="Now"/>
              </a:rPr>
              <a:t> run </a:t>
            </a:r>
            <a:r>
              <a:rPr lang="fr-FR">
                <a:latin typeface="Now"/>
              </a:rPr>
              <a:t>their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own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journals</a:t>
            </a:r>
            <a:r>
              <a:rPr lang="fr-FR">
                <a:latin typeface="Now"/>
              </a:rPr>
              <a:t> for </a:t>
            </a:r>
            <a:r>
              <a:rPr lang="fr-FR">
                <a:latin typeface="Now"/>
              </a:rPr>
              <a:t>less</a:t>
            </a:r>
            <a:r>
              <a:rPr lang="fr-FR">
                <a:latin typeface="Now"/>
              </a:rPr>
              <a:t> money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However</a:t>
            </a:r>
            <a:r>
              <a:rPr lang="fr-FR">
                <a:latin typeface="Now"/>
              </a:rPr>
              <a:t>, the </a:t>
            </a:r>
            <a:r>
              <a:rPr lang="fr-FR">
                <a:latin typeface="Now"/>
              </a:rPr>
              <a:t>review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from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psychology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indicates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that</a:t>
            </a:r>
            <a:r>
              <a:rPr lang="fr-FR">
                <a:latin typeface="Now"/>
              </a:rPr>
              <a:t> the </a:t>
            </a:r>
            <a:r>
              <a:rPr lang="fr-FR">
                <a:latin typeface="Now"/>
              </a:rPr>
              <a:t>problem</a:t>
            </a:r>
            <a:r>
              <a:rPr lang="fr-FR">
                <a:latin typeface="Now"/>
              </a:rPr>
              <a:t> can </a:t>
            </a:r>
            <a:r>
              <a:rPr lang="fr-FR">
                <a:latin typeface="Now"/>
              </a:rPr>
              <a:t>remain</a:t>
            </a:r>
            <a:endParaRPr lang="fr-FR">
              <a:latin typeface="Now"/>
            </a:endParaRPr>
          </a:p>
          <a:p>
            <a:pPr>
              <a:defRPr/>
            </a:pPr>
            <a:r>
              <a:rPr lang="fr-FR">
                <a:latin typeface="Now"/>
              </a:rPr>
              <a:t>But </a:t>
            </a:r>
            <a:r>
              <a:rPr lang="fr-FR">
                <a:latin typeface="Now"/>
              </a:rPr>
              <a:t>also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that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APCs</a:t>
            </a:r>
            <a:r>
              <a:rPr lang="fr-FR">
                <a:latin typeface="Now"/>
              </a:rPr>
              <a:t> can </a:t>
            </a:r>
            <a:r>
              <a:rPr lang="fr-FR">
                <a:latin typeface="Now"/>
              </a:rPr>
              <a:t>completly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disappear</a:t>
            </a:r>
            <a:r>
              <a:rPr lang="fr-FR">
                <a:latin typeface="Now"/>
              </a:rPr>
              <a:t> if </a:t>
            </a:r>
            <a:r>
              <a:rPr lang="fr-FR">
                <a:latin typeface="Now"/>
              </a:rPr>
              <a:t>compensated</a:t>
            </a:r>
            <a:r>
              <a:rPr lang="fr-FR">
                <a:latin typeface="Now"/>
              </a:rPr>
              <a:t> by </a:t>
            </a:r>
            <a:r>
              <a:rPr lang="fr-FR">
                <a:latin typeface="Now"/>
              </a:rPr>
              <a:t>external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funding</a:t>
            </a:r>
            <a:endParaRPr lang="fr-FR">
              <a:latin typeface="Now"/>
            </a:endParaRPr>
          </a:p>
          <a:p>
            <a:pPr>
              <a:defRPr/>
            </a:pPr>
            <a:r>
              <a:rPr lang="fr-FR">
                <a:latin typeface="Now"/>
              </a:rPr>
              <a:t>(</a:t>
            </a:r>
            <a:r>
              <a:rPr lang="fr-FR">
                <a:latin typeface="Now"/>
              </a:rPr>
              <a:t>so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is</a:t>
            </a:r>
            <a:r>
              <a:rPr lang="fr-FR">
                <a:latin typeface="Now"/>
              </a:rPr>
              <a:t> the South American Example)</a:t>
            </a:r>
            <a:endParaRPr/>
          </a:p>
        </p:txBody>
      </p:sp>
      <p:sp>
        <p:nvSpPr>
          <p:cNvPr id="555593827" name="Titre 1"/>
          <p:cNvSpPr>
            <a:spLocks noGrp="1"/>
          </p:cNvSpPr>
          <p:nvPr>
            <p:ph type="title"/>
          </p:nvPr>
        </p:nvSpPr>
        <p:spPr bwMode="auto">
          <a:xfrm>
            <a:off x="495300" y="4013200"/>
            <a:ext cx="17297400" cy="1143000"/>
          </a:xfrm>
        </p:spPr>
        <p:txBody>
          <a:bodyPr/>
          <a:lstStyle/>
          <a:p>
            <a:pPr>
              <a:defRPr/>
            </a:pPr>
            <a:r>
              <a:rPr lang="fr-FR" b="1">
                <a:latin typeface="Now"/>
              </a:rPr>
              <a:t>Add</a:t>
            </a:r>
            <a:r>
              <a:rPr lang="fr-FR" b="1">
                <a:latin typeface="Now"/>
              </a:rPr>
              <a:t> </a:t>
            </a:r>
            <a:r>
              <a:rPr lang="fr-FR" b="1">
                <a:latin typeface="Now"/>
              </a:rPr>
              <a:t>complexity</a:t>
            </a:r>
            <a:endParaRPr lang="fr-FR" b="1">
              <a:latin typeface="Now"/>
            </a:endParaRPr>
          </a:p>
        </p:txBody>
      </p:sp>
      <p:sp>
        <p:nvSpPr>
          <p:cNvPr id="691253061" name="Espace réservé du contenu 2"/>
          <p:cNvSpPr txBox="1"/>
          <p:nvPr/>
        </p:nvSpPr>
        <p:spPr bwMode="auto">
          <a:xfrm>
            <a:off x="838200" y="5189220"/>
            <a:ext cx="16840200" cy="3558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fr-FR">
              <a:latin typeface="Now"/>
            </a:endParaRPr>
          </a:p>
        </p:txBody>
      </p:sp>
      <p:sp>
        <p:nvSpPr>
          <p:cNvPr id="1939630675" name="Espace réservé du contenu 2"/>
          <p:cNvSpPr txBox="1"/>
          <p:nvPr/>
        </p:nvSpPr>
        <p:spPr bwMode="auto">
          <a:xfrm>
            <a:off x="985519" y="5189220"/>
            <a:ext cx="16840200" cy="4297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No time to </a:t>
            </a:r>
            <a:r>
              <a:rPr lang="fr-FR">
                <a:latin typeface="Now"/>
              </a:rPr>
              <a:t>read</a:t>
            </a:r>
            <a:r>
              <a:rPr lang="fr-FR">
                <a:latin typeface="Now"/>
              </a:rPr>
              <a:t> the </a:t>
            </a:r>
            <a:r>
              <a:rPr lang="fr-FR">
                <a:latin typeface="Now"/>
              </a:rPr>
              <a:t>published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literature</a:t>
            </a:r>
            <a:endParaRPr lang="fr-FR">
              <a:latin typeface="Now"/>
            </a:endParaRPr>
          </a:p>
          <a:p>
            <a:pPr>
              <a:defRPr/>
            </a:pPr>
            <a:r>
              <a:rPr lang="fr-FR">
                <a:latin typeface="Now"/>
              </a:rPr>
              <a:t>No time to </a:t>
            </a:r>
            <a:r>
              <a:rPr lang="fr-FR">
                <a:latin typeface="Now"/>
              </a:rPr>
              <a:t>review</a:t>
            </a:r>
            <a:r>
              <a:rPr lang="fr-FR">
                <a:latin typeface="Now"/>
              </a:rPr>
              <a:t> the articles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AI </a:t>
            </a:r>
            <a:r>
              <a:rPr lang="fr-FR">
                <a:latin typeface="Now"/>
              </a:rPr>
              <a:t>is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destroying</a:t>
            </a:r>
            <a:r>
              <a:rPr lang="fr-FR">
                <a:latin typeface="Now"/>
              </a:rPr>
              <a:t> the </a:t>
            </a:r>
            <a:r>
              <a:rPr lang="fr-FR">
                <a:latin typeface="Now"/>
              </a:rPr>
              <a:t>peer-review</a:t>
            </a:r>
            <a:r>
              <a:rPr lang="fr-FR">
                <a:latin typeface="Now"/>
              </a:rPr>
              <a:t> process (in </a:t>
            </a:r>
            <a:r>
              <a:rPr lang="fr-FR">
                <a:latin typeface="Now"/>
              </a:rPr>
              <a:t>writing</a:t>
            </a:r>
            <a:r>
              <a:rPr lang="fr-FR">
                <a:latin typeface="Now"/>
              </a:rPr>
              <a:t> articles and in </a:t>
            </a:r>
            <a:r>
              <a:rPr lang="fr-FR">
                <a:latin typeface="Now"/>
              </a:rPr>
              <a:t>writing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review</a:t>
            </a:r>
            <a:r>
              <a:rPr lang="fr-FR">
                <a:latin typeface="Now"/>
              </a:rPr>
              <a:t>)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Structural </a:t>
            </a:r>
            <a:r>
              <a:rPr lang="fr-FR">
                <a:latin typeface="Now"/>
              </a:rPr>
              <a:t>costs</a:t>
            </a:r>
            <a:r>
              <a:rPr lang="fr-FR">
                <a:latin typeface="Now"/>
              </a:rPr>
              <a:t> – </a:t>
            </a:r>
            <a:r>
              <a:rPr lang="fr-FR">
                <a:latin typeface="Now"/>
              </a:rPr>
              <a:t>submission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systems</a:t>
            </a:r>
            <a:r>
              <a:rPr lang="fr-FR">
                <a:latin typeface="Now"/>
              </a:rPr>
              <a:t> - are </a:t>
            </a:r>
            <a:r>
              <a:rPr lang="fr-FR">
                <a:latin typeface="Now"/>
              </a:rPr>
              <a:t>increasing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without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added</a:t>
            </a:r>
            <a:r>
              <a:rPr lang="fr-FR">
                <a:latin typeface="Now"/>
              </a:rPr>
              <a:t> value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Editors and </a:t>
            </a:r>
            <a:r>
              <a:rPr lang="fr-FR">
                <a:latin typeface="Now"/>
              </a:rPr>
              <a:t>reviewers</a:t>
            </a:r>
            <a:r>
              <a:rPr lang="fr-FR">
                <a:latin typeface="Now"/>
              </a:rPr>
              <a:t> are </a:t>
            </a:r>
            <a:r>
              <a:rPr lang="fr-FR">
                <a:latin typeface="Now"/>
              </a:rPr>
              <a:t>still</a:t>
            </a:r>
            <a:r>
              <a:rPr lang="fr-FR">
                <a:latin typeface="Now"/>
              </a:rPr>
              <a:t> not </a:t>
            </a:r>
            <a:r>
              <a:rPr lang="fr-FR">
                <a:latin typeface="Now"/>
              </a:rPr>
              <a:t>paid</a:t>
            </a:r>
            <a:r>
              <a:rPr lang="fr-FR">
                <a:latin typeface="Now"/>
              </a:rPr>
              <a:t> to do </a:t>
            </a:r>
            <a:r>
              <a:rPr lang="fr-FR">
                <a:latin typeface="Now"/>
              </a:rPr>
              <a:t>their</a:t>
            </a:r>
            <a:r>
              <a:rPr lang="fr-FR">
                <a:latin typeface="Now"/>
              </a:rPr>
              <a:t> job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All of </a:t>
            </a:r>
            <a:r>
              <a:rPr lang="fr-FR">
                <a:latin typeface="Now"/>
              </a:rPr>
              <a:t>it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is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said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without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discussing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other</a:t>
            </a:r>
            <a:r>
              <a:rPr lang="fr-FR">
                <a:latin typeface="Now"/>
              </a:rPr>
              <a:t> aspects of open science: </a:t>
            </a:r>
            <a:r>
              <a:rPr lang="fr-FR">
                <a:latin typeface="Now"/>
              </a:rPr>
              <a:t>access</a:t>
            </a:r>
            <a:r>
              <a:rPr lang="fr-FR">
                <a:latin typeface="Now"/>
              </a:rPr>
              <a:t> (and </a:t>
            </a:r>
            <a:r>
              <a:rPr lang="fr-FR">
                <a:latin typeface="Now"/>
              </a:rPr>
              <a:t>review</a:t>
            </a:r>
            <a:r>
              <a:rPr lang="fr-FR">
                <a:latin typeface="Now"/>
              </a:rPr>
              <a:t>) of data, script, </a:t>
            </a:r>
            <a:r>
              <a:rPr lang="fr-FR">
                <a:latin typeface="Now"/>
              </a:rPr>
              <a:t>methods</a:t>
            </a:r>
            <a:r>
              <a:rPr lang="fr-FR">
                <a:latin typeface="Now"/>
              </a:rPr>
              <a:t>, </a:t>
            </a:r>
            <a:r>
              <a:rPr lang="fr-FR">
                <a:latin typeface="Now"/>
              </a:rPr>
              <a:t>computational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reproducibility</a:t>
            </a:r>
            <a:r>
              <a:rPr lang="fr-FR">
                <a:latin typeface="Now"/>
              </a:rPr>
              <a:t>, </a:t>
            </a:r>
            <a:r>
              <a:rPr lang="fr-FR">
                <a:latin typeface="Now"/>
              </a:rPr>
              <a:t>which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would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also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cost</a:t>
            </a:r>
            <a:r>
              <a:rPr lang="fr-FR">
                <a:latin typeface="Now"/>
              </a:rPr>
              <a:t> more to </a:t>
            </a:r>
            <a:r>
              <a:rPr lang="fr-FR">
                <a:latin typeface="Now"/>
              </a:rPr>
              <a:t>take</a:t>
            </a:r>
            <a:r>
              <a:rPr lang="fr-FR">
                <a:latin typeface="Now"/>
              </a:rPr>
              <a:t> care of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We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don’t</a:t>
            </a:r>
            <a:r>
              <a:rPr lang="fr-FR">
                <a:latin typeface="Now"/>
              </a:rPr>
              <a:t> have </a:t>
            </a:r>
            <a:r>
              <a:rPr lang="fr-FR">
                <a:latin typeface="Now"/>
              </a:rPr>
              <a:t>evidence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that</a:t>
            </a:r>
            <a:r>
              <a:rPr lang="fr-FR">
                <a:latin typeface="Now"/>
              </a:rPr>
              <a:t> the </a:t>
            </a:r>
            <a:r>
              <a:rPr lang="fr-FR">
                <a:latin typeface="Now"/>
              </a:rPr>
              <a:t>peer-review</a:t>
            </a:r>
            <a:r>
              <a:rPr lang="fr-FR">
                <a:latin typeface="Now"/>
              </a:rPr>
              <a:t> system </a:t>
            </a:r>
            <a:r>
              <a:rPr lang="fr-FR">
                <a:latin typeface="Now"/>
              </a:rPr>
              <a:t>works</a:t>
            </a:r>
            <a:r>
              <a:rPr lang="fr-FR">
                <a:latin typeface="Now"/>
              </a:rPr>
              <a:t> as </a:t>
            </a:r>
            <a:r>
              <a:rPr lang="fr-FR">
                <a:latin typeface="Now"/>
              </a:rPr>
              <a:t>intended</a:t>
            </a:r>
            <a:endParaRPr lang="fr-FR">
              <a:latin typeface="Now"/>
            </a:endParaRPr>
          </a:p>
          <a:p>
            <a:pPr lvl="1">
              <a:defRPr/>
            </a:pPr>
            <a:r>
              <a:rPr lang="fr-FR">
                <a:latin typeface="Now"/>
              </a:rPr>
              <a:t>We</a:t>
            </a:r>
            <a:r>
              <a:rPr lang="fr-FR">
                <a:latin typeface="Now"/>
              </a:rPr>
              <a:t> have indications </a:t>
            </a:r>
            <a:r>
              <a:rPr lang="fr-FR">
                <a:latin typeface="Now"/>
              </a:rPr>
              <a:t>it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does</a:t>
            </a:r>
            <a:r>
              <a:rPr lang="fr-FR">
                <a:latin typeface="Now"/>
              </a:rPr>
              <a:t> not (file </a:t>
            </a:r>
            <a:r>
              <a:rPr lang="fr-FR">
                <a:latin typeface="Now"/>
              </a:rPr>
              <a:t>drawer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problem</a:t>
            </a:r>
            <a:r>
              <a:rPr lang="fr-FR">
                <a:latin typeface="Now"/>
              </a:rPr>
              <a:t> - p-hacking – </a:t>
            </a:r>
            <a:r>
              <a:rPr lang="fr-FR">
                <a:latin typeface="Now"/>
              </a:rPr>
              <a:t>paper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mills</a:t>
            </a:r>
            <a:r>
              <a:rPr lang="fr-FR">
                <a:latin typeface="Now"/>
              </a:rPr>
              <a:t> – data and image manipulation – fake </a:t>
            </a:r>
            <a:r>
              <a:rPr lang="fr-FR">
                <a:latin typeface="Now"/>
              </a:rPr>
              <a:t>journals</a:t>
            </a:r>
            <a:r>
              <a:rPr lang="fr-FR">
                <a:latin typeface="Now"/>
              </a:rPr>
              <a:t> – « </a:t>
            </a:r>
            <a:r>
              <a:rPr lang="fr-FR">
                <a:latin typeface="Now"/>
              </a:rPr>
              <a:t>special</a:t>
            </a:r>
            <a:r>
              <a:rPr lang="fr-FR">
                <a:latin typeface="Now"/>
              </a:rPr>
              <a:t> » issues – faked editorial boards – unethical network of peer reviewers ...)</a:t>
            </a:r>
            <a:endParaRPr/>
          </a:p>
          <a:p>
            <a:pPr>
              <a:defRPr/>
            </a:pPr>
            <a:r>
              <a:rPr lang="fr-FR">
                <a:latin typeface="Now"/>
              </a:rPr>
              <a:t>But (as far as I know) </a:t>
            </a:r>
            <a:r>
              <a:rPr lang="fr-FR">
                <a:latin typeface="Now"/>
              </a:rPr>
              <a:t>we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don’t</a:t>
            </a:r>
            <a:r>
              <a:rPr lang="fr-FR">
                <a:latin typeface="Now"/>
              </a:rPr>
              <a:t> have </a:t>
            </a:r>
            <a:r>
              <a:rPr lang="fr-FR">
                <a:latin typeface="Now"/>
              </a:rPr>
              <a:t>better</a:t>
            </a:r>
            <a:r>
              <a:rPr lang="fr-FR">
                <a:latin typeface="Now"/>
              </a:rPr>
              <a:t> </a:t>
            </a:r>
            <a:r>
              <a:rPr lang="fr-FR">
                <a:latin typeface="Now"/>
              </a:rPr>
              <a:t>systems</a:t>
            </a:r>
            <a:endParaRPr lang="fr-FR">
              <a:latin typeface="No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59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63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056756" name="Titre 1"/>
          <p:cNvSpPr>
            <a:spLocks noGrp="1"/>
          </p:cNvSpPr>
          <p:nvPr>
            <p:ph type="title"/>
          </p:nvPr>
        </p:nvSpPr>
        <p:spPr bwMode="auto">
          <a:xfrm>
            <a:off x="1828800" y="342900"/>
            <a:ext cx="15087600" cy="23542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Now"/>
              </a:rPr>
              <a:t>What</a:t>
            </a:r>
            <a:r>
              <a:rPr lang="fr-FR" b="1">
                <a:latin typeface="Now"/>
              </a:rPr>
              <a:t> are Article </a:t>
            </a:r>
            <a:r>
              <a:rPr lang="fr-FR" b="1">
                <a:latin typeface="Now"/>
              </a:rPr>
              <a:t>Processing</a:t>
            </a:r>
            <a:r>
              <a:rPr lang="fr-FR" b="1">
                <a:latin typeface="Now"/>
              </a:rPr>
              <a:t> Charges ?</a:t>
            </a:r>
            <a:endParaRPr/>
          </a:p>
        </p:txBody>
      </p:sp>
      <p:sp>
        <p:nvSpPr>
          <p:cNvPr id="1604624330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821531" y="2781299"/>
            <a:ext cx="8229600" cy="10286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/>
              <a:t>We</a:t>
            </a:r>
            <a:r>
              <a:rPr lang="fr-FR"/>
              <a:t> </a:t>
            </a:r>
            <a:r>
              <a:rPr lang="fr-FR"/>
              <a:t>don’t</a:t>
            </a:r>
            <a:r>
              <a:rPr lang="fr-FR"/>
              <a:t> know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835379832" name="Espace réservé du contenu 2"/>
          <p:cNvSpPr txBox="1"/>
          <p:nvPr/>
        </p:nvSpPr>
        <p:spPr bwMode="auto">
          <a:xfrm>
            <a:off x="9296402" y="3467100"/>
            <a:ext cx="4419600" cy="186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Submission systems</a:t>
            </a:r>
            <a:endParaRPr/>
          </a:p>
          <a:p>
            <a:pPr>
              <a:defRPr/>
            </a:pPr>
            <a:r>
              <a:rPr lang="fr-FR" sz="2600">
                <a:latin typeface="Now"/>
              </a:rPr>
              <a:t>Proofreaders</a:t>
            </a:r>
            <a:endParaRPr lang="fr-FR" sz="2600">
              <a:latin typeface="Now"/>
            </a:endParaRPr>
          </a:p>
          <a:p>
            <a:pPr>
              <a:defRPr/>
            </a:pPr>
            <a:r>
              <a:rPr lang="fr-FR" sz="2600">
                <a:latin typeface="Now"/>
              </a:rPr>
              <a:t>Secured</a:t>
            </a:r>
            <a:r>
              <a:rPr lang="fr-FR" sz="2600">
                <a:latin typeface="Now"/>
              </a:rPr>
              <a:t> servers (and </a:t>
            </a:r>
            <a:r>
              <a:rPr lang="fr-FR" sz="2600">
                <a:latin typeface="Now"/>
              </a:rPr>
              <a:t>sometimes</a:t>
            </a:r>
            <a:r>
              <a:rPr lang="fr-FR" sz="2600">
                <a:latin typeface="Now"/>
              </a:rPr>
              <a:t> printing)</a:t>
            </a:r>
            <a:endParaRPr/>
          </a:p>
        </p:txBody>
      </p:sp>
      <p:sp>
        <p:nvSpPr>
          <p:cNvPr id="1163506193" name="Espace réservé du contenu 2"/>
          <p:cNvSpPr txBox="1"/>
          <p:nvPr/>
        </p:nvSpPr>
        <p:spPr bwMode="auto">
          <a:xfrm flipH="0" flipV="0">
            <a:off x="9296401" y="5329577"/>
            <a:ext cx="6205329" cy="101267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600" b="0" i="0" u="none" strike="noStrike" cap="none" spc="0">
                <a:solidFill>
                  <a:schemeClr val="tx1"/>
                </a:solidFill>
                <a:latin typeface="Now"/>
                <a:ea typeface="Now"/>
                <a:cs typeface="Now"/>
              </a:rPr>
              <a:t>Inflation </a:t>
            </a:r>
            <a:r>
              <a:rPr lang="fr-FR" sz="2600">
                <a:latin typeface="Now"/>
              </a:rPr>
              <a:t>(but </a:t>
            </a:r>
            <a:r>
              <a:rPr lang="fr-FR" sz="2600">
                <a:latin typeface="Now"/>
              </a:rPr>
              <a:t>it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increases</a:t>
            </a:r>
            <a:r>
              <a:rPr lang="fr-FR" sz="2600">
                <a:latin typeface="Now"/>
              </a:rPr>
              <a:t> at a </a:t>
            </a:r>
            <a:r>
              <a:rPr lang="fr-FR" sz="2600">
                <a:latin typeface="Now"/>
              </a:rPr>
              <a:t>higher</a:t>
            </a:r>
            <a:r>
              <a:rPr lang="fr-FR" sz="2600">
                <a:latin typeface="Now"/>
              </a:rPr>
              <a:t> rate </a:t>
            </a:r>
            <a:r>
              <a:rPr lang="fr-FR" sz="2600">
                <a:latin typeface="Now"/>
              </a:rPr>
              <a:t>than</a:t>
            </a:r>
            <a:r>
              <a:rPr lang="fr-FR" sz="2600">
                <a:latin typeface="Now"/>
              </a:rPr>
              <a:t> inflation)</a:t>
            </a:r>
            <a:endParaRPr sz="2600"/>
          </a:p>
        </p:txBody>
      </p:sp>
      <p:sp>
        <p:nvSpPr>
          <p:cNvPr id="836364141" name="Espace réservé du contenu 2"/>
          <p:cNvSpPr txBox="1"/>
          <p:nvPr/>
        </p:nvSpPr>
        <p:spPr bwMode="auto">
          <a:xfrm>
            <a:off x="9372600" y="6342256"/>
            <a:ext cx="6205330" cy="960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The « </a:t>
            </a:r>
            <a:r>
              <a:rPr lang="fr-FR" sz="2600">
                <a:latin typeface="Now"/>
              </a:rPr>
              <a:t>loss</a:t>
            </a:r>
            <a:r>
              <a:rPr lang="fr-FR" sz="2600">
                <a:latin typeface="Now"/>
              </a:rPr>
              <a:t> of money » made by </a:t>
            </a:r>
            <a:r>
              <a:rPr lang="fr-FR" sz="2600">
                <a:latin typeface="Now"/>
              </a:rPr>
              <a:t>making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libraries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pay</a:t>
            </a:r>
            <a:r>
              <a:rPr lang="fr-FR" sz="2600">
                <a:latin typeface="Now"/>
              </a:rPr>
              <a:t> the </a:t>
            </a:r>
            <a:r>
              <a:rPr lang="fr-FR" sz="2600">
                <a:latin typeface="Now"/>
              </a:rPr>
              <a:t>access</a:t>
            </a:r>
            <a:endParaRPr lang="fr-FR" sz="2600">
              <a:latin typeface="Now"/>
            </a:endParaRPr>
          </a:p>
        </p:txBody>
      </p:sp>
      <p:sp>
        <p:nvSpPr>
          <p:cNvPr id="851011106" name="Espace réservé du contenu 2"/>
          <p:cNvSpPr txBox="1"/>
          <p:nvPr/>
        </p:nvSpPr>
        <p:spPr bwMode="auto">
          <a:xfrm>
            <a:off x="1774135" y="7581899"/>
            <a:ext cx="6205330" cy="159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IRSP -&gt; 500</a:t>
            </a:r>
            <a:r>
              <a:rPr lang="fr-FR" sz="2600" baseline="30000">
                <a:latin typeface="Now"/>
              </a:rPr>
              <a:t>e</a:t>
            </a:r>
            <a:r>
              <a:rPr lang="fr-FR" sz="2600">
                <a:latin typeface="Now"/>
              </a:rPr>
              <a:t> per article</a:t>
            </a:r>
            <a:endParaRPr/>
          </a:p>
          <a:p>
            <a:pPr>
              <a:defRPr/>
            </a:pPr>
            <a:r>
              <a:rPr lang="fr-FR" sz="2600">
                <a:latin typeface="Now"/>
              </a:rPr>
              <a:t>AEA -&gt; </a:t>
            </a:r>
            <a:r>
              <a:rPr lang="fr-FR" sz="2600">
                <a:latin typeface="Now"/>
              </a:rPr>
              <a:t>around</a:t>
            </a:r>
            <a:r>
              <a:rPr lang="fr-FR" sz="2600">
                <a:latin typeface="Now"/>
              </a:rPr>
              <a:t> 900</a:t>
            </a:r>
            <a:r>
              <a:rPr lang="fr-FR" sz="2600" baseline="30000">
                <a:latin typeface="Now"/>
              </a:rPr>
              <a:t>e</a:t>
            </a:r>
            <a:r>
              <a:rPr lang="fr-FR" sz="2600">
                <a:latin typeface="Now"/>
              </a:rPr>
              <a:t> per article</a:t>
            </a:r>
            <a:endParaRPr/>
          </a:p>
          <a:p>
            <a:pPr>
              <a:defRPr/>
            </a:pPr>
            <a:r>
              <a:rPr lang="fr-FR" sz="2600">
                <a:latin typeface="Now"/>
              </a:rPr>
              <a:t>Collabra -&gt; 1500</a:t>
            </a:r>
            <a:r>
              <a:rPr lang="fr-FR" sz="2600" baseline="30000">
                <a:latin typeface="Now"/>
              </a:rPr>
              <a:t>e</a:t>
            </a:r>
            <a:r>
              <a:rPr lang="fr-FR" sz="2600">
                <a:latin typeface="Now"/>
              </a:rPr>
              <a:t> per article</a:t>
            </a:r>
            <a:endParaRPr/>
          </a:p>
        </p:txBody>
      </p:sp>
      <p:sp>
        <p:nvSpPr>
          <p:cNvPr id="1782290480" name="Espace réservé du contenu 2"/>
          <p:cNvSpPr txBox="1"/>
          <p:nvPr/>
        </p:nvSpPr>
        <p:spPr bwMode="auto">
          <a:xfrm flipH="0" flipV="0">
            <a:off x="8839199" y="8077200"/>
            <a:ext cx="6205329" cy="1098874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More </a:t>
            </a:r>
            <a:r>
              <a:rPr lang="fr-FR" sz="2600">
                <a:latin typeface="Now"/>
              </a:rPr>
              <a:t>than</a:t>
            </a:r>
            <a:r>
              <a:rPr lang="fr-FR" sz="2600">
                <a:latin typeface="Now"/>
              </a:rPr>
              <a:t> 1500</a:t>
            </a:r>
            <a:r>
              <a:rPr lang="fr-FR" sz="2600" baseline="30000">
                <a:latin typeface="Now"/>
              </a:rPr>
              <a:t>e</a:t>
            </a:r>
            <a:r>
              <a:rPr lang="fr-FR" sz="2600">
                <a:latin typeface="Now"/>
              </a:rPr>
              <a:t> per article?</a:t>
            </a:r>
            <a:endParaRPr lang="fr-FR" sz="2600">
              <a:latin typeface="Now"/>
            </a:endParaRPr>
          </a:p>
          <a:p>
            <a:pPr>
              <a:defRPr/>
            </a:pPr>
            <a:r>
              <a:rPr lang="fr-FR" sz="2600">
                <a:latin typeface="Now"/>
              </a:rPr>
              <a:t>Are there ways to lower the cost ?</a:t>
            </a:r>
            <a:endParaRPr/>
          </a:p>
        </p:txBody>
      </p:sp>
      <p:sp>
        <p:nvSpPr>
          <p:cNvPr id="749428380" name=""/>
          <p:cNvSpPr txBox="1"/>
          <p:nvPr/>
        </p:nvSpPr>
        <p:spPr bwMode="auto">
          <a:xfrm flipH="0" flipV="0">
            <a:off x="761999" y="3429000"/>
            <a:ext cx="547223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Arial"/>
              <a:buChar char="•"/>
              <a:defRPr/>
            </a:pPr>
            <a:r>
              <a:rPr lang="fr-FR" sz="3200"/>
              <a:t>Even </a:t>
            </a:r>
            <a:r>
              <a:rPr lang="fr-FR" sz="3200"/>
              <a:t>Journals</a:t>
            </a:r>
            <a:r>
              <a:rPr lang="fr-FR" sz="3200"/>
              <a:t> </a:t>
            </a:r>
            <a:r>
              <a:rPr lang="fr-FR" sz="3200"/>
              <a:t>don’t</a:t>
            </a:r>
            <a:r>
              <a:rPr lang="fr-FR" sz="3200"/>
              <a:t> know.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62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0462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42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37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50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36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1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2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2789742" name="Picture 2" descr="Slow Science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07720" y="446366"/>
            <a:ext cx="8981440" cy="1092874"/>
          </a:xfrm>
          <a:prstGeom prst="rect">
            <a:avLst/>
          </a:prstGeom>
          <a:noFill/>
        </p:spPr>
      </p:pic>
      <p:sp>
        <p:nvSpPr>
          <p:cNvPr id="195701559" name="Espace réservé du contenu 2"/>
          <p:cNvSpPr txBox="1"/>
          <p:nvPr/>
        </p:nvSpPr>
        <p:spPr bwMode="auto">
          <a:xfrm>
            <a:off x="6553200" y="2095500"/>
            <a:ext cx="51816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>
                <a:latin typeface="Now"/>
              </a:rPr>
              <a:t>Individual</a:t>
            </a:r>
            <a:r>
              <a:rPr lang="fr-FR">
                <a:latin typeface="Now"/>
              </a:rPr>
              <a:t> versus system</a:t>
            </a:r>
            <a:endParaRPr/>
          </a:p>
        </p:txBody>
      </p:sp>
      <p:cxnSp>
        <p:nvCxnSpPr>
          <p:cNvPr id="447413865" name="Connecteur droit avec flèche 4"/>
          <p:cNvCxnSpPr/>
          <p:nvPr/>
        </p:nvCxnSpPr>
        <p:spPr bwMode="auto">
          <a:xfrm>
            <a:off x="11734799" y="2552700"/>
            <a:ext cx="685799" cy="3636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4022136" name="Espace réservé du contenu 2"/>
          <p:cNvSpPr txBox="1"/>
          <p:nvPr/>
        </p:nvSpPr>
        <p:spPr bwMode="auto">
          <a:xfrm>
            <a:off x="11523980" y="3009900"/>
            <a:ext cx="6248400" cy="2362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Reward</a:t>
            </a:r>
            <a:r>
              <a:rPr lang="fr-FR" sz="2600">
                <a:latin typeface="Now"/>
              </a:rPr>
              <a:t> alternatives to « articles » </a:t>
            </a:r>
            <a:endParaRPr/>
          </a:p>
          <a:p>
            <a:pPr lvl="1">
              <a:defRPr/>
            </a:pPr>
            <a:r>
              <a:rPr lang="fr-FR" sz="2600">
                <a:latin typeface="Now"/>
              </a:rPr>
              <a:t>Octopus system</a:t>
            </a:r>
            <a:endParaRPr/>
          </a:p>
          <a:p>
            <a:pPr lvl="1">
              <a:defRPr/>
            </a:pPr>
            <a:r>
              <a:rPr lang="fr-FR" sz="2600">
                <a:latin typeface="Now"/>
              </a:rPr>
              <a:t>Making</a:t>
            </a:r>
            <a:r>
              <a:rPr lang="fr-FR" sz="2600">
                <a:latin typeface="Now"/>
              </a:rPr>
              <a:t> the best out of </a:t>
            </a:r>
            <a:r>
              <a:rPr lang="fr-FR" sz="2600">
                <a:latin typeface="Now"/>
              </a:rPr>
              <a:t>metadata</a:t>
            </a:r>
            <a:r>
              <a:rPr lang="fr-FR" sz="2600">
                <a:latin typeface="Now"/>
              </a:rPr>
              <a:t> for machine-</a:t>
            </a:r>
            <a:r>
              <a:rPr lang="fr-FR" sz="2600">
                <a:latin typeface="Now"/>
              </a:rPr>
              <a:t>readable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scientific</a:t>
            </a:r>
            <a:r>
              <a:rPr lang="fr-FR" sz="2600">
                <a:latin typeface="Now"/>
              </a:rPr>
              <a:t> output</a:t>
            </a:r>
            <a:endParaRPr/>
          </a:p>
        </p:txBody>
      </p:sp>
      <p:sp>
        <p:nvSpPr>
          <p:cNvPr id="149971685" name="Espace réservé du contenu 2"/>
          <p:cNvSpPr txBox="1"/>
          <p:nvPr/>
        </p:nvSpPr>
        <p:spPr bwMode="auto">
          <a:xfrm>
            <a:off x="11709399" y="5038724"/>
            <a:ext cx="6248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Get</a:t>
            </a:r>
            <a:r>
              <a:rPr lang="fr-FR" sz="2600">
                <a:latin typeface="Now"/>
              </a:rPr>
              <a:t> the help of </a:t>
            </a:r>
            <a:r>
              <a:rPr lang="fr-FR" sz="2600">
                <a:latin typeface="Now"/>
              </a:rPr>
              <a:t>governments</a:t>
            </a:r>
            <a:r>
              <a:rPr lang="fr-FR" sz="2600">
                <a:latin typeface="Now"/>
              </a:rPr>
              <a:t> to </a:t>
            </a:r>
            <a:r>
              <a:rPr lang="fr-FR" sz="2600">
                <a:latin typeface="Now"/>
              </a:rPr>
              <a:t>fight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publishing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predation</a:t>
            </a:r>
            <a:endParaRPr lang="fr-FR" sz="2600">
              <a:latin typeface="Now"/>
            </a:endParaRPr>
          </a:p>
          <a:p>
            <a:pPr lvl="1">
              <a:defRPr/>
            </a:pPr>
            <a:r>
              <a:rPr lang="fr-FR" sz="2600">
                <a:latin typeface="Now"/>
              </a:rPr>
              <a:t>Governments</a:t>
            </a:r>
            <a:r>
              <a:rPr lang="fr-FR" sz="2600">
                <a:latin typeface="Now"/>
              </a:rPr>
              <a:t> are more </a:t>
            </a:r>
            <a:r>
              <a:rPr lang="fr-FR" sz="2600">
                <a:latin typeface="Now"/>
              </a:rPr>
              <a:t>willing</a:t>
            </a:r>
            <a:r>
              <a:rPr lang="fr-FR" sz="2600">
                <a:latin typeface="Now"/>
              </a:rPr>
              <a:t> to </a:t>
            </a:r>
            <a:r>
              <a:rPr lang="fr-FR" sz="2600">
                <a:latin typeface="Now"/>
              </a:rPr>
              <a:t>pay</a:t>
            </a:r>
            <a:r>
              <a:rPr lang="fr-FR" sz="2600">
                <a:latin typeface="Now"/>
              </a:rPr>
              <a:t> for </a:t>
            </a:r>
            <a:r>
              <a:rPr lang="fr-FR" sz="2600">
                <a:latin typeface="Now"/>
              </a:rPr>
              <a:t>APCs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than</a:t>
            </a:r>
            <a:r>
              <a:rPr lang="fr-FR" sz="2600">
                <a:latin typeface="Now"/>
              </a:rPr>
              <a:t> not </a:t>
            </a:r>
            <a:r>
              <a:rPr lang="fr-FR" sz="2600">
                <a:latin typeface="Now"/>
              </a:rPr>
              <a:t>making</a:t>
            </a:r>
            <a:r>
              <a:rPr lang="fr-FR" sz="2600">
                <a:latin typeface="Now"/>
              </a:rPr>
              <a:t> the final output open (</a:t>
            </a:r>
            <a:r>
              <a:rPr lang="fr-FR" sz="2600">
                <a:latin typeface="Now"/>
              </a:rPr>
              <a:t>even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with</a:t>
            </a:r>
            <a:r>
              <a:rPr lang="fr-FR" sz="2600">
                <a:latin typeface="Now"/>
              </a:rPr>
              <a:t> open </a:t>
            </a:r>
            <a:r>
              <a:rPr lang="fr-FR" sz="2600">
                <a:latin typeface="Now"/>
              </a:rPr>
              <a:t>preprints</a:t>
            </a:r>
            <a:r>
              <a:rPr lang="fr-FR" sz="2600">
                <a:latin typeface="Now"/>
              </a:rPr>
              <a:t>)!</a:t>
            </a:r>
            <a:endParaRPr/>
          </a:p>
        </p:txBody>
      </p:sp>
      <p:sp>
        <p:nvSpPr>
          <p:cNvPr id="2068171674" name="Espace réservé du contenu 2"/>
          <p:cNvSpPr txBox="1"/>
          <p:nvPr/>
        </p:nvSpPr>
        <p:spPr bwMode="auto">
          <a:xfrm flipH="0" flipV="0">
            <a:off x="11709399" y="7781924"/>
            <a:ext cx="6248399" cy="1917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Slow science : </a:t>
            </a:r>
            <a:r>
              <a:rPr lang="fr-FR" sz="2600">
                <a:latin typeface="Now"/>
              </a:rPr>
              <a:t>reward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better</a:t>
            </a:r>
            <a:r>
              <a:rPr lang="fr-FR" sz="2600">
                <a:latin typeface="Now"/>
              </a:rPr>
              <a:t> science </a:t>
            </a:r>
            <a:r>
              <a:rPr lang="fr-FR" sz="2600">
                <a:latin typeface="Now"/>
              </a:rPr>
              <a:t>than</a:t>
            </a:r>
            <a:r>
              <a:rPr lang="fr-FR" sz="2600">
                <a:latin typeface="Now"/>
              </a:rPr>
              <a:t> more science</a:t>
            </a:r>
            <a:endParaRPr/>
          </a:p>
          <a:p>
            <a:pPr>
              <a:defRPr/>
            </a:pPr>
            <a:r>
              <a:rPr lang="fr-FR" sz="2600">
                <a:latin typeface="Now"/>
              </a:rPr>
              <a:t>(good </a:t>
            </a:r>
            <a:r>
              <a:rPr lang="fr-FR" sz="2600">
                <a:latin typeface="Now"/>
              </a:rPr>
              <a:t>luck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finding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metrics</a:t>
            </a:r>
            <a:r>
              <a:rPr lang="fr-FR" sz="2600">
                <a:latin typeface="Now"/>
              </a:rPr>
              <a:t>)</a:t>
            </a:r>
            <a:endParaRPr/>
          </a:p>
        </p:txBody>
      </p:sp>
      <p:cxnSp>
        <p:nvCxnSpPr>
          <p:cNvPr id="294878545" name="Connecteur droit avec flèche 13"/>
          <p:cNvCxnSpPr/>
          <p:nvPr/>
        </p:nvCxnSpPr>
        <p:spPr bwMode="auto">
          <a:xfrm flipH="1">
            <a:off x="6324600" y="2576830"/>
            <a:ext cx="609600" cy="33949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8060719" name="Espace réservé du contenu 2"/>
          <p:cNvSpPr txBox="1"/>
          <p:nvPr/>
        </p:nvSpPr>
        <p:spPr bwMode="auto">
          <a:xfrm>
            <a:off x="515621" y="2871674"/>
            <a:ext cx="6248400" cy="135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Give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priority</a:t>
            </a:r>
            <a:r>
              <a:rPr lang="fr-FR" sz="2600">
                <a:latin typeface="Now"/>
              </a:rPr>
              <a:t> to </a:t>
            </a:r>
            <a:r>
              <a:rPr lang="fr-FR" sz="2600">
                <a:latin typeface="Now"/>
              </a:rPr>
              <a:t>journals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that</a:t>
            </a:r>
            <a:r>
              <a:rPr lang="fr-FR" sz="2600">
                <a:latin typeface="Now"/>
              </a:rPr>
              <a:t> charge </a:t>
            </a:r>
            <a:r>
              <a:rPr lang="fr-FR" sz="2600">
                <a:latin typeface="Now"/>
              </a:rPr>
              <a:t>reasonably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while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having</a:t>
            </a:r>
            <a:r>
              <a:rPr lang="fr-FR" sz="2600">
                <a:latin typeface="Now"/>
              </a:rPr>
              <a:t> good impact factor</a:t>
            </a:r>
            <a:endParaRPr/>
          </a:p>
        </p:txBody>
      </p:sp>
      <p:sp>
        <p:nvSpPr>
          <p:cNvPr id="162309621" name="Espace réservé du contenu 2"/>
          <p:cNvSpPr txBox="1"/>
          <p:nvPr/>
        </p:nvSpPr>
        <p:spPr bwMode="auto">
          <a:xfrm>
            <a:off x="401320" y="5386274"/>
            <a:ext cx="6248400" cy="135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Do not </a:t>
            </a:r>
            <a:r>
              <a:rPr lang="fr-FR" sz="2600">
                <a:latin typeface="Now"/>
              </a:rPr>
              <a:t>publish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openly</a:t>
            </a:r>
            <a:r>
              <a:rPr lang="fr-FR" sz="2600">
                <a:latin typeface="Now"/>
              </a:rPr>
              <a:t> but </a:t>
            </a:r>
            <a:r>
              <a:rPr lang="fr-FR" sz="2600">
                <a:latin typeface="Now"/>
              </a:rPr>
              <a:t>give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access</a:t>
            </a:r>
            <a:r>
              <a:rPr lang="fr-FR" sz="2600">
                <a:latin typeface="Now"/>
              </a:rPr>
              <a:t> to a </a:t>
            </a:r>
            <a:r>
              <a:rPr lang="fr-FR" sz="2600">
                <a:latin typeface="Now"/>
              </a:rPr>
              <a:t>preprint</a:t>
            </a:r>
            <a:r>
              <a:rPr lang="fr-FR" sz="2600">
                <a:latin typeface="Now"/>
              </a:rPr>
              <a:t> if </a:t>
            </a:r>
            <a:r>
              <a:rPr lang="fr-FR" sz="2600">
                <a:latin typeface="Now"/>
              </a:rPr>
              <a:t>APCs</a:t>
            </a:r>
            <a:r>
              <a:rPr lang="fr-FR" sz="2600">
                <a:latin typeface="Now"/>
              </a:rPr>
              <a:t> are </a:t>
            </a:r>
            <a:r>
              <a:rPr lang="fr-FR" sz="2600">
                <a:latin typeface="Now"/>
              </a:rPr>
              <a:t>too</a:t>
            </a:r>
            <a:r>
              <a:rPr lang="fr-FR" sz="2600">
                <a:latin typeface="Now"/>
              </a:rPr>
              <a:t> high</a:t>
            </a:r>
            <a:endParaRPr/>
          </a:p>
        </p:txBody>
      </p:sp>
      <p:sp>
        <p:nvSpPr>
          <p:cNvPr id="887831841" name="Espace réservé du contenu 2"/>
          <p:cNvSpPr txBox="1"/>
          <p:nvPr/>
        </p:nvSpPr>
        <p:spPr bwMode="auto">
          <a:xfrm>
            <a:off x="515620" y="4291534"/>
            <a:ext cx="6248400" cy="135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And if possible, in non-for-profit </a:t>
            </a:r>
            <a:r>
              <a:rPr lang="fr-FR" sz="2600">
                <a:latin typeface="Now"/>
              </a:rPr>
              <a:t>journals</a:t>
            </a:r>
            <a:endParaRPr lang="fr-FR" sz="2600">
              <a:latin typeface="Now"/>
            </a:endParaRPr>
          </a:p>
        </p:txBody>
      </p:sp>
      <p:sp>
        <p:nvSpPr>
          <p:cNvPr id="1231935894" name="Espace réservé du contenu 2"/>
          <p:cNvSpPr txBox="1"/>
          <p:nvPr/>
        </p:nvSpPr>
        <p:spPr bwMode="auto">
          <a:xfrm>
            <a:off x="401320" y="6841694"/>
            <a:ext cx="6248400" cy="135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Pay</a:t>
            </a:r>
            <a:r>
              <a:rPr lang="fr-FR" sz="2600">
                <a:latin typeface="Now"/>
              </a:rPr>
              <a:t> for </a:t>
            </a:r>
            <a:r>
              <a:rPr lang="fr-FR" sz="2600">
                <a:latin typeface="Now"/>
              </a:rPr>
              <a:t>membership</a:t>
            </a:r>
            <a:r>
              <a:rPr lang="fr-FR" sz="2600">
                <a:latin typeface="Now"/>
              </a:rPr>
              <a:t> in a </a:t>
            </a:r>
            <a:r>
              <a:rPr lang="fr-FR" sz="2600">
                <a:latin typeface="Now"/>
              </a:rPr>
              <a:t>researcher’s</a:t>
            </a:r>
            <a:r>
              <a:rPr lang="fr-FR" sz="2600">
                <a:latin typeface="Now"/>
              </a:rPr>
              <a:t> association if the money </a:t>
            </a:r>
            <a:r>
              <a:rPr lang="fr-FR" sz="2600">
                <a:latin typeface="Now"/>
              </a:rPr>
              <a:t>goes</a:t>
            </a:r>
            <a:r>
              <a:rPr lang="fr-FR" sz="2600">
                <a:latin typeface="Now"/>
              </a:rPr>
              <a:t> to charges </a:t>
            </a:r>
            <a:r>
              <a:rPr lang="fr-FR" sz="2600">
                <a:latin typeface="Now"/>
              </a:rPr>
              <a:t>covering</a:t>
            </a:r>
            <a:endParaRPr lang="fr-FR" sz="2600">
              <a:latin typeface="Now"/>
            </a:endParaRPr>
          </a:p>
        </p:txBody>
      </p:sp>
      <p:cxnSp>
        <p:nvCxnSpPr>
          <p:cNvPr id="1567506231" name="Connecteur droit avec flèche 20"/>
          <p:cNvCxnSpPr/>
          <p:nvPr/>
        </p:nvCxnSpPr>
        <p:spPr bwMode="auto">
          <a:xfrm>
            <a:off x="7315200" y="2734513"/>
            <a:ext cx="381000" cy="8158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86291" name="Connecteur droit avec flèche 24"/>
          <p:cNvCxnSpPr/>
          <p:nvPr/>
        </p:nvCxnSpPr>
        <p:spPr bwMode="auto">
          <a:xfrm flipH="1">
            <a:off x="10134600" y="2716505"/>
            <a:ext cx="689611" cy="8338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8729808" name="Espace réservé du contenu 2"/>
          <p:cNvSpPr txBox="1"/>
          <p:nvPr/>
        </p:nvSpPr>
        <p:spPr bwMode="auto">
          <a:xfrm>
            <a:off x="6649720" y="3862274"/>
            <a:ext cx="5387341" cy="1357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600">
                <a:latin typeface="Now"/>
              </a:rPr>
              <a:t>Do </a:t>
            </a:r>
            <a:r>
              <a:rPr lang="fr-FR" sz="2600">
                <a:latin typeface="Now"/>
              </a:rPr>
              <a:t>better</a:t>
            </a:r>
            <a:r>
              <a:rPr lang="fr-FR" sz="2600">
                <a:latin typeface="Now"/>
              </a:rPr>
              <a:t> at </a:t>
            </a:r>
            <a:r>
              <a:rPr lang="fr-FR" sz="2600">
                <a:latin typeface="Now"/>
              </a:rPr>
              <a:t>creating</a:t>
            </a:r>
            <a:r>
              <a:rPr lang="fr-FR" sz="2600">
                <a:latin typeface="Now"/>
              </a:rPr>
              <a:t> a </a:t>
            </a:r>
            <a:r>
              <a:rPr lang="fr-FR" sz="2600">
                <a:latin typeface="Now"/>
              </a:rPr>
              <a:t>fair</a:t>
            </a:r>
            <a:r>
              <a:rPr lang="fr-FR" sz="2600">
                <a:latin typeface="Now"/>
              </a:rPr>
              <a:t> </a:t>
            </a:r>
            <a:r>
              <a:rPr lang="fr-FR" sz="2600">
                <a:latin typeface="Now"/>
              </a:rPr>
              <a:t>research</a:t>
            </a:r>
            <a:r>
              <a:rPr lang="fr-FR" sz="2600">
                <a:latin typeface="Now"/>
              </a:rPr>
              <a:t> system by and for </a:t>
            </a:r>
            <a:r>
              <a:rPr lang="fr-FR" sz="2600">
                <a:latin typeface="Now"/>
              </a:rPr>
              <a:t>researchers</a:t>
            </a:r>
            <a:r>
              <a:rPr lang="fr-FR" sz="2600">
                <a:latin typeface="Now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0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06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3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1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741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02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1402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17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0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72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464006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2133599" y="571499"/>
            <a:ext cx="14325599" cy="37782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fr-FR"/>
              <a:t>APCs</a:t>
            </a:r>
            <a:r>
              <a:rPr lang="fr-FR"/>
              <a:t> </a:t>
            </a:r>
            <a:r>
              <a:rPr lang="fr-FR"/>
              <a:t>was</a:t>
            </a:r>
            <a:r>
              <a:rPr lang="fr-FR"/>
              <a:t> a (</a:t>
            </a:r>
            <a:r>
              <a:rPr lang="fr-FR"/>
              <a:t>recent</a:t>
            </a:r>
            <a:r>
              <a:rPr lang="fr-FR"/>
              <a:t>) </a:t>
            </a:r>
            <a:r>
              <a:rPr lang="fr-FR"/>
              <a:t>decision</a:t>
            </a:r>
            <a:r>
              <a:rPr lang="fr-FR"/>
              <a:t> </a:t>
            </a:r>
            <a:r>
              <a:rPr lang="fr-FR"/>
              <a:t>from</a:t>
            </a:r>
            <a:r>
              <a:rPr lang="fr-FR"/>
              <a:t> for-profit </a:t>
            </a:r>
            <a:r>
              <a:rPr lang="fr-FR"/>
              <a:t>publishers</a:t>
            </a:r>
            <a:r>
              <a:rPr lang="fr-FR"/>
              <a:t> to </a:t>
            </a:r>
            <a:r>
              <a:rPr lang="fr-FR"/>
              <a:t>make</a:t>
            </a:r>
            <a:r>
              <a:rPr lang="fr-FR"/>
              <a:t> the </a:t>
            </a:r>
            <a:r>
              <a:rPr lang="fr-FR"/>
              <a:t>authors</a:t>
            </a:r>
            <a:r>
              <a:rPr lang="fr-FR"/>
              <a:t> </a:t>
            </a:r>
            <a:r>
              <a:rPr lang="fr-FR"/>
              <a:t>pay</a:t>
            </a:r>
            <a:r>
              <a:rPr lang="fr-FR"/>
              <a:t> to </a:t>
            </a:r>
            <a:r>
              <a:rPr lang="fr-FR"/>
              <a:t>publish</a:t>
            </a:r>
            <a:r>
              <a:rPr lang="fr-FR"/>
              <a:t> the </a:t>
            </a:r>
            <a:r>
              <a:rPr lang="fr-FR"/>
              <a:t>work</a:t>
            </a:r>
            <a:r>
              <a:rPr lang="fr-FR"/>
              <a:t>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wrote</a:t>
            </a:r>
            <a:r>
              <a:rPr lang="fr-FR"/>
              <a:t> in </a:t>
            </a:r>
            <a:r>
              <a:rPr lang="fr-FR"/>
              <a:t>journals</a:t>
            </a:r>
            <a:r>
              <a:rPr lang="fr-FR"/>
              <a:t> </a:t>
            </a:r>
            <a:r>
              <a:rPr lang="fr-FR"/>
              <a:t>they</a:t>
            </a:r>
            <a:r>
              <a:rPr lang="fr-FR"/>
              <a:t> (</a:t>
            </a:r>
            <a:r>
              <a:rPr lang="fr-FR"/>
              <a:t>still</a:t>
            </a:r>
            <a:r>
              <a:rPr lang="fr-FR"/>
              <a:t>) </a:t>
            </a:r>
            <a:r>
              <a:rPr lang="fr-FR"/>
              <a:t>pay</a:t>
            </a:r>
            <a:r>
              <a:rPr lang="fr-FR"/>
              <a:t> to </a:t>
            </a:r>
            <a:r>
              <a:rPr lang="fr-FR"/>
              <a:t>read</a:t>
            </a:r>
            <a:br>
              <a:rPr lang="fr-FR"/>
            </a:br>
            <a:br>
              <a:rPr lang="fr-FR"/>
            </a:br>
            <a:endParaRPr/>
          </a:p>
        </p:txBody>
      </p:sp>
      <p:sp>
        <p:nvSpPr>
          <p:cNvPr id="1605558434" name=""/>
          <p:cNvSpPr txBox="1"/>
          <p:nvPr/>
        </p:nvSpPr>
        <p:spPr bwMode="auto">
          <a:xfrm flipH="0" flipV="0">
            <a:off x="2621316" y="2857500"/>
            <a:ext cx="13607437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4400"/>
              <a:t>In an </a:t>
            </a:r>
            <a:r>
              <a:rPr lang="fr-FR" sz="4400"/>
              <a:t>ecosystem</a:t>
            </a:r>
            <a:r>
              <a:rPr lang="fr-FR" sz="4400"/>
              <a:t> </a:t>
            </a:r>
            <a:r>
              <a:rPr lang="fr-FR" sz="4400"/>
              <a:t>where</a:t>
            </a:r>
            <a:r>
              <a:rPr lang="fr-FR" sz="4400"/>
              <a:t> </a:t>
            </a:r>
            <a:r>
              <a:rPr lang="fr-FR" sz="4400"/>
              <a:t>everything</a:t>
            </a:r>
            <a:r>
              <a:rPr lang="fr-FR" sz="4400"/>
              <a:t> </a:t>
            </a:r>
            <a:r>
              <a:rPr lang="fr-FR" sz="4400"/>
              <a:t>is</a:t>
            </a:r>
            <a:r>
              <a:rPr lang="fr-FR" sz="4400"/>
              <a:t> </a:t>
            </a:r>
            <a:r>
              <a:rPr lang="fr-FR" sz="4400"/>
              <a:t>basically</a:t>
            </a:r>
            <a:r>
              <a:rPr lang="fr-FR" sz="4400"/>
              <a:t> a </a:t>
            </a:r>
            <a:r>
              <a:rPr lang="fr-FR" sz="4400"/>
              <a:t>pdf</a:t>
            </a:r>
            <a:endParaRPr sz="4400"/>
          </a:p>
        </p:txBody>
      </p:sp>
      <p:sp>
        <p:nvSpPr>
          <p:cNvPr id="185255682" name=""/>
          <p:cNvSpPr txBox="1"/>
          <p:nvPr/>
        </p:nvSpPr>
        <p:spPr bwMode="auto">
          <a:xfrm flipH="0" flipV="0">
            <a:off x="2407925" y="3833494"/>
            <a:ext cx="14034219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4400"/>
              <a:t>Individual</a:t>
            </a:r>
            <a:r>
              <a:rPr lang="fr-FR" sz="4400"/>
              <a:t> and </a:t>
            </a:r>
            <a:r>
              <a:rPr lang="fr-FR" sz="4400"/>
              <a:t>systemic</a:t>
            </a:r>
            <a:r>
              <a:rPr lang="fr-FR" sz="4400"/>
              <a:t> solutions </a:t>
            </a:r>
            <a:r>
              <a:rPr lang="fr-FR" sz="4400"/>
              <a:t>exist</a:t>
            </a:r>
            <a:r>
              <a:rPr lang="fr-FR" sz="4400"/>
              <a:t> and are </a:t>
            </a:r>
            <a:r>
              <a:rPr lang="fr-FR" sz="4400"/>
              <a:t>already</a:t>
            </a:r>
            <a:r>
              <a:rPr lang="fr-FR" sz="4400"/>
              <a:t> </a:t>
            </a:r>
            <a:r>
              <a:rPr lang="fr-FR" sz="4400"/>
              <a:t>used</a:t>
            </a:r>
            <a:endParaRPr sz="4400"/>
          </a:p>
        </p:txBody>
      </p:sp>
      <p:sp>
        <p:nvSpPr>
          <p:cNvPr id="793149419" name=""/>
          <p:cNvSpPr txBox="1"/>
          <p:nvPr/>
        </p:nvSpPr>
        <p:spPr bwMode="auto">
          <a:xfrm flipH="0" flipV="0">
            <a:off x="2424618" y="5297532"/>
            <a:ext cx="14078137" cy="1432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4400"/>
              <a:t>We at least need to understand what are APCs</a:t>
            </a:r>
            <a:r>
              <a:rPr sz="4400"/>
              <a:t> and for what exactly we are paying.</a:t>
            </a:r>
            <a:endParaRPr sz="4400"/>
          </a:p>
        </p:txBody>
      </p:sp>
      <p:sp>
        <p:nvSpPr>
          <p:cNvPr id="380800415" name=""/>
          <p:cNvSpPr txBox="1"/>
          <p:nvPr/>
        </p:nvSpPr>
        <p:spPr bwMode="auto">
          <a:xfrm flipH="0" flipV="0">
            <a:off x="764944" y="6913530"/>
            <a:ext cx="434912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4400"/>
              <a:t>Transparency</a:t>
            </a:r>
            <a:endParaRPr sz="4400"/>
          </a:p>
        </p:txBody>
      </p:sp>
      <p:sp>
        <p:nvSpPr>
          <p:cNvPr id="826442147" name=""/>
          <p:cNvSpPr txBox="1"/>
          <p:nvPr/>
        </p:nvSpPr>
        <p:spPr bwMode="auto">
          <a:xfrm flipH="0" flipV="0">
            <a:off x="4909755" y="7752657"/>
            <a:ext cx="7333009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4400"/>
              <a:t>Trust in the editorial process</a:t>
            </a:r>
            <a:endParaRPr sz="4400"/>
          </a:p>
        </p:txBody>
      </p:sp>
      <p:sp>
        <p:nvSpPr>
          <p:cNvPr id="52387263" name=""/>
          <p:cNvSpPr txBox="1"/>
          <p:nvPr/>
        </p:nvSpPr>
        <p:spPr bwMode="auto">
          <a:xfrm flipH="0" flipV="0">
            <a:off x="10153340" y="7752657"/>
            <a:ext cx="7366849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fr-FR" sz="4400"/>
              <a:t>Rationalisation and effectiveness of science production</a:t>
            </a:r>
            <a:endParaRPr lang="fr-FR" sz="4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6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525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14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9314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8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4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 Modern Clean Minimalism Presentation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White Modern Clean Minimalism Presentation (1)</Template>
  <TotalTime>0</TotalTime>
  <Words>0</Words>
  <Application>onlyoffice/9.0.4.50</Application>
  <DocSecurity>0</DocSecurity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Modern Clean Minimalism Presentation</dc:title>
  <dc:subject/>
  <dc:creator>adrien</dc:creator>
  <cp:keywords/>
  <dc:description/>
  <dc:identifier>DAGBQvl9viA</dc:identifier>
  <dc:language/>
  <cp:lastModifiedBy>Adrien.FILLON</cp:lastModifiedBy>
  <cp:revision>10</cp:revision>
  <dcterms:created xsi:type="dcterms:W3CDTF">2006-08-16T00:00:00Z</dcterms:created>
  <dcterms:modified xsi:type="dcterms:W3CDTF">2025-09-10T05:42:55Z</dcterms:modified>
  <cp:category/>
  <cp:contentStatus/>
  <cp:version/>
</cp:coreProperties>
</file>
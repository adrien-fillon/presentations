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258" r:id="rId4"/>
    <p:sldId id="259" r:id="rId5"/>
    <p:sldId id="264" r:id="rId6"/>
    <p:sldId id="261" r:id="rId7"/>
    <p:sldId id="265" r:id="rId8"/>
    <p:sldId id="284" r:id="rId9"/>
    <p:sldId id="28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6" r:id="rId20"/>
    <p:sldId id="275" r:id="rId21"/>
    <p:sldId id="277" r:id="rId22"/>
    <p:sldId id="281" r:id="rId23"/>
    <p:sldId id="278" r:id="rId24"/>
    <p:sldId id="279" r:id="rId25"/>
    <p:sldId id="283" r:id="rId26"/>
    <p:sldId id="286" r:id="rId27"/>
    <p:sldId id="282" r:id="rId28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08D0CD6-962A-4FEA-BAE9-966A52F4BA54}" v="3" dt="2025-05-30T13:08:51.63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3" autoAdjust="0"/>
    <p:restoredTop sz="90864" autoAdjust="0"/>
  </p:normalViewPr>
  <p:slideViewPr>
    <p:cSldViewPr snapToGrid="0">
      <p:cViewPr varScale="1">
        <p:scale>
          <a:sx n="95" d="100"/>
          <a:sy n="95" d="100"/>
        </p:scale>
        <p:origin x="528" y="30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35" Type="http://schemas.microsoft.com/office/2015/10/relationships/revisionInfo" Target="revisionInfo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drien fillon" userId="66f96a88708f0a3f" providerId="LiveId" clId="{5691C018-42BD-41AC-9565-122B10A9898A}"/>
    <pc:docChg chg="undo custSel addSld delSld modSld sldOrd">
      <pc:chgData name="adrien fillon" userId="66f96a88708f0a3f" providerId="LiveId" clId="{5691C018-42BD-41AC-9565-122B10A9898A}" dt="2025-04-08T15:05:21.067" v="212"/>
      <pc:docMkLst>
        <pc:docMk/>
      </pc:docMkLst>
      <pc:sldChg chg="modAnim">
        <pc:chgData name="adrien fillon" userId="66f96a88708f0a3f" providerId="LiveId" clId="{5691C018-42BD-41AC-9565-122B10A9898A}" dt="2025-04-07T12:17:51.492" v="1"/>
        <pc:sldMkLst>
          <pc:docMk/>
          <pc:sldMk cId="3975926669" sldId="257"/>
        </pc:sldMkLst>
      </pc:sldChg>
      <pc:sldChg chg="modAnim">
        <pc:chgData name="adrien fillon" userId="66f96a88708f0a3f" providerId="LiveId" clId="{5691C018-42BD-41AC-9565-122B10A9898A}" dt="2025-04-07T12:18:01.038" v="4"/>
        <pc:sldMkLst>
          <pc:docMk/>
          <pc:sldMk cId="1306444353" sldId="258"/>
        </pc:sldMkLst>
      </pc:sldChg>
      <pc:sldChg chg="delSp mod">
        <pc:chgData name="adrien fillon" userId="66f96a88708f0a3f" providerId="LiveId" clId="{5691C018-42BD-41AC-9565-122B10A9898A}" dt="2025-04-07T12:22:52.382" v="6" actId="478"/>
        <pc:sldMkLst>
          <pc:docMk/>
          <pc:sldMk cId="1342307980" sldId="265"/>
        </pc:sldMkLst>
        <pc:picChg chg="del">
          <ac:chgData name="adrien fillon" userId="66f96a88708f0a3f" providerId="LiveId" clId="{5691C018-42BD-41AC-9565-122B10A9898A}" dt="2025-04-07T12:22:52.382" v="6" actId="478"/>
          <ac:picMkLst>
            <pc:docMk/>
            <pc:sldMk cId="1342307980" sldId="265"/>
            <ac:picMk id="11" creationId="{AC2EB57A-39B2-7FFB-B50E-8040610C62CF}"/>
          </ac:picMkLst>
        </pc:picChg>
      </pc:sldChg>
      <pc:sldChg chg="modSp mod modAnim">
        <pc:chgData name="adrien fillon" userId="66f96a88708f0a3f" providerId="LiveId" clId="{5691C018-42BD-41AC-9565-122B10A9898A}" dt="2025-04-07T12:26:23.662" v="14"/>
        <pc:sldMkLst>
          <pc:docMk/>
          <pc:sldMk cId="1925109173" sldId="266"/>
        </pc:sldMkLst>
        <pc:picChg chg="mod">
          <ac:chgData name="adrien fillon" userId="66f96a88708f0a3f" providerId="LiveId" clId="{5691C018-42BD-41AC-9565-122B10A9898A}" dt="2025-04-07T12:26:17.270" v="11" actId="1076"/>
          <ac:picMkLst>
            <pc:docMk/>
            <pc:sldMk cId="1925109173" sldId="266"/>
            <ac:picMk id="10" creationId="{9C6B50B0-358D-260D-DB1E-FEAF305213AE}"/>
          </ac:picMkLst>
        </pc:picChg>
      </pc:sldChg>
      <pc:sldChg chg="modSp modAnim">
        <pc:chgData name="adrien fillon" userId="66f96a88708f0a3f" providerId="LiveId" clId="{5691C018-42BD-41AC-9565-122B10A9898A}" dt="2025-04-08T15:04:28.115" v="208" actId="20577"/>
        <pc:sldMkLst>
          <pc:docMk/>
          <pc:sldMk cId="913860246" sldId="274"/>
        </pc:sldMkLst>
        <pc:spChg chg="mod">
          <ac:chgData name="adrien fillon" userId="66f96a88708f0a3f" providerId="LiveId" clId="{5691C018-42BD-41AC-9565-122B10A9898A}" dt="2025-04-08T15:04:28.115" v="208" actId="20577"/>
          <ac:spMkLst>
            <pc:docMk/>
            <pc:sldMk cId="913860246" sldId="274"/>
            <ac:spMk id="8" creationId="{82E66561-61B2-B27A-D19A-54FF979FD543}"/>
          </ac:spMkLst>
        </pc:spChg>
      </pc:sldChg>
      <pc:sldChg chg="modAnim">
        <pc:chgData name="adrien fillon" userId="66f96a88708f0a3f" providerId="LiveId" clId="{5691C018-42BD-41AC-9565-122B10A9898A}" dt="2025-04-07T12:30:33.812" v="18"/>
        <pc:sldMkLst>
          <pc:docMk/>
          <pc:sldMk cId="2954082081" sldId="275"/>
        </pc:sldMkLst>
      </pc:sldChg>
      <pc:sldChg chg="modAnim">
        <pc:chgData name="adrien fillon" userId="66f96a88708f0a3f" providerId="LiveId" clId="{5691C018-42BD-41AC-9565-122B10A9898A}" dt="2025-04-08T15:05:21.067" v="212"/>
        <pc:sldMkLst>
          <pc:docMk/>
          <pc:sldMk cId="2847518117" sldId="277"/>
        </pc:sldMkLst>
      </pc:sldChg>
      <pc:sldChg chg="modAnim">
        <pc:chgData name="adrien fillon" userId="66f96a88708f0a3f" providerId="LiveId" clId="{5691C018-42BD-41AC-9565-122B10A9898A}" dt="2025-04-07T12:31:23.031" v="28"/>
        <pc:sldMkLst>
          <pc:docMk/>
          <pc:sldMk cId="1672475673" sldId="278"/>
        </pc:sldMkLst>
      </pc:sldChg>
      <pc:sldChg chg="modAnim">
        <pc:chgData name="adrien fillon" userId="66f96a88708f0a3f" providerId="LiveId" clId="{5691C018-42BD-41AC-9565-122B10A9898A}" dt="2025-04-07T12:31:30.646" v="30"/>
        <pc:sldMkLst>
          <pc:docMk/>
          <pc:sldMk cId="3775586696" sldId="279"/>
        </pc:sldMkLst>
      </pc:sldChg>
      <pc:sldChg chg="del modAnim">
        <pc:chgData name="adrien fillon" userId="66f96a88708f0a3f" providerId="LiveId" clId="{5691C018-42BD-41AC-9565-122B10A9898A}" dt="2025-04-07T12:31:14.446" v="26" actId="47"/>
        <pc:sldMkLst>
          <pc:docMk/>
          <pc:sldMk cId="506989543" sldId="280"/>
        </pc:sldMkLst>
      </pc:sldChg>
      <pc:sldChg chg="modAnim">
        <pc:chgData name="adrien fillon" userId="66f96a88708f0a3f" providerId="LiveId" clId="{5691C018-42BD-41AC-9565-122B10A9898A}" dt="2025-04-07T12:31:19.191" v="27"/>
        <pc:sldMkLst>
          <pc:docMk/>
          <pc:sldMk cId="1536209825" sldId="281"/>
        </pc:sldMkLst>
      </pc:sldChg>
      <pc:sldChg chg="modSp mod">
        <pc:chgData name="adrien fillon" userId="66f96a88708f0a3f" providerId="LiveId" clId="{5691C018-42BD-41AC-9565-122B10A9898A}" dt="2025-04-07T12:42:19.737" v="32" actId="1076"/>
        <pc:sldMkLst>
          <pc:docMk/>
          <pc:sldMk cId="1651994392" sldId="283"/>
        </pc:sldMkLst>
        <pc:picChg chg="mod">
          <ac:chgData name="adrien fillon" userId="66f96a88708f0a3f" providerId="LiveId" clId="{5691C018-42BD-41AC-9565-122B10A9898A}" dt="2025-04-07T12:42:19.737" v="32" actId="1076"/>
          <ac:picMkLst>
            <pc:docMk/>
            <pc:sldMk cId="1651994392" sldId="283"/>
            <ac:picMk id="5" creationId="{E358C4EB-59E5-3EAD-505F-C390583D7325}"/>
          </ac:picMkLst>
        </pc:picChg>
        <pc:picChg chg="mod">
          <ac:chgData name="adrien fillon" userId="66f96a88708f0a3f" providerId="LiveId" clId="{5691C018-42BD-41AC-9565-122B10A9898A}" dt="2025-04-07T12:42:18.092" v="31" actId="1076"/>
          <ac:picMkLst>
            <pc:docMk/>
            <pc:sldMk cId="1651994392" sldId="283"/>
            <ac:picMk id="7" creationId="{3640073A-8A70-3089-5151-72816D4A2918}"/>
          </ac:picMkLst>
        </pc:picChg>
      </pc:sldChg>
      <pc:sldChg chg="addSp delSp add mod">
        <pc:chgData name="adrien fillon" userId="66f96a88708f0a3f" providerId="LiveId" clId="{5691C018-42BD-41AC-9565-122B10A9898A}" dt="2025-04-07T12:23:02.359" v="10" actId="478"/>
        <pc:sldMkLst>
          <pc:docMk/>
          <pc:sldMk cId="1705849298" sldId="284"/>
        </pc:sldMkLst>
        <pc:picChg chg="add del">
          <ac:chgData name="adrien fillon" userId="66f96a88708f0a3f" providerId="LiveId" clId="{5691C018-42BD-41AC-9565-122B10A9898A}" dt="2025-04-07T12:23:02.359" v="10" actId="478"/>
          <ac:picMkLst>
            <pc:docMk/>
            <pc:sldMk cId="1705849298" sldId="284"/>
            <ac:picMk id="9" creationId="{6665E631-697E-0FD6-D573-33D8DEB022DF}"/>
          </ac:picMkLst>
        </pc:picChg>
      </pc:sldChg>
      <pc:sldChg chg="add">
        <pc:chgData name="adrien fillon" userId="66f96a88708f0a3f" providerId="LiveId" clId="{5691C018-42BD-41AC-9565-122B10A9898A}" dt="2025-04-07T12:23:00.707" v="9" actId="2890"/>
        <pc:sldMkLst>
          <pc:docMk/>
          <pc:sldMk cId="2057832866" sldId="285"/>
        </pc:sldMkLst>
      </pc:sldChg>
      <pc:sldChg chg="addSp modSp add mod ord modAnim">
        <pc:chgData name="adrien fillon" userId="66f96a88708f0a3f" providerId="LiveId" clId="{5691C018-42BD-41AC-9565-122B10A9898A}" dt="2025-04-07T12:50:37.353" v="178"/>
        <pc:sldMkLst>
          <pc:docMk/>
          <pc:sldMk cId="7585859" sldId="286"/>
        </pc:sldMkLst>
        <pc:spChg chg="add mod">
          <ac:chgData name="adrien fillon" userId="66f96a88708f0a3f" providerId="LiveId" clId="{5691C018-42BD-41AC-9565-122B10A9898A}" dt="2025-04-07T12:50:11.666" v="177" actId="20577"/>
          <ac:spMkLst>
            <pc:docMk/>
            <pc:sldMk cId="7585859" sldId="286"/>
            <ac:spMk id="8" creationId="{272A7565-5109-E19B-A28D-83F4F15EABEC}"/>
          </ac:spMkLst>
        </pc:spChg>
        <pc:picChg chg="add mod">
          <ac:chgData name="adrien fillon" userId="66f96a88708f0a3f" providerId="LiveId" clId="{5691C018-42BD-41AC-9565-122B10A9898A}" dt="2025-04-07T12:46:57.616" v="45" actId="1076"/>
          <ac:picMkLst>
            <pc:docMk/>
            <pc:sldMk cId="7585859" sldId="286"/>
            <ac:picMk id="5" creationId="{4DB3525F-8CE0-5785-8D24-BDCB1EF9E6B3}"/>
          </ac:picMkLst>
        </pc:picChg>
        <pc:cxnChg chg="add">
          <ac:chgData name="adrien fillon" userId="66f96a88708f0a3f" providerId="LiveId" clId="{5691C018-42BD-41AC-9565-122B10A9898A}" dt="2025-04-07T12:47:02.777" v="46" actId="11529"/>
          <ac:cxnSpMkLst>
            <pc:docMk/>
            <pc:sldMk cId="7585859" sldId="286"/>
            <ac:cxnSpMk id="7" creationId="{86E26E08-D712-92D1-6C0E-192AABB6C9D1}"/>
          </ac:cxnSpMkLst>
        </pc:cxnChg>
      </pc:sldChg>
      <pc:sldChg chg="new del">
        <pc:chgData name="adrien fillon" userId="66f96a88708f0a3f" providerId="LiveId" clId="{5691C018-42BD-41AC-9565-122B10A9898A}" dt="2025-04-07T12:42:24.599" v="34" actId="47"/>
        <pc:sldMkLst>
          <pc:docMk/>
          <pc:sldMk cId="2824330458" sldId="286"/>
        </pc:sldMkLst>
      </pc:sldChg>
    </pc:docChg>
  </pc:docChgLst>
  <pc:docChgLst>
    <pc:chgData name="adrien fillon" userId="66f96a88708f0a3f" providerId="Windows Live" clId="Web-{208D0CD6-962A-4FEA-BAE9-966A52F4BA54}"/>
    <pc:docChg chg="delSld">
      <pc:chgData name="adrien fillon" userId="66f96a88708f0a3f" providerId="Windows Live" clId="Web-{208D0CD6-962A-4FEA-BAE9-966A52F4BA54}" dt="2025-05-30T13:08:51.634" v="2"/>
      <pc:docMkLst>
        <pc:docMk/>
      </pc:docMkLst>
      <pc:sldChg chg="del">
        <pc:chgData name="adrien fillon" userId="66f96a88708f0a3f" providerId="Windows Live" clId="Web-{208D0CD6-962A-4FEA-BAE9-966A52F4BA54}" dt="2025-05-30T13:08:51.634" v="2"/>
        <pc:sldMkLst>
          <pc:docMk/>
          <pc:sldMk cId="2350766734" sldId="260"/>
        </pc:sldMkLst>
      </pc:sldChg>
      <pc:sldChg chg="del">
        <pc:chgData name="adrien fillon" userId="66f96a88708f0a3f" providerId="Windows Live" clId="Web-{208D0CD6-962A-4FEA-BAE9-966A52F4BA54}" dt="2025-05-30T13:08:51.634" v="1"/>
        <pc:sldMkLst>
          <pc:docMk/>
          <pc:sldMk cId="2817910917" sldId="262"/>
        </pc:sldMkLst>
      </pc:sldChg>
      <pc:sldChg chg="del">
        <pc:chgData name="adrien fillon" userId="66f96a88708f0a3f" providerId="Windows Live" clId="Web-{208D0CD6-962A-4FEA-BAE9-966A52F4BA54}" dt="2025-05-30T13:08:51.634" v="0"/>
        <pc:sldMkLst>
          <pc:docMk/>
          <pc:sldMk cId="2239660982" sldId="263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FD000CA-2BA2-4D87-ADB5-3FBF394C57F5}" type="datetimeFigureOut">
              <a:rPr lang="fr-FR" smtClean="0"/>
              <a:t>30/05/2025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61D4D3-B902-4924-9702-BD9C8D4E2E46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291374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61D4D3-B902-4924-9702-BD9C8D4E2E46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709196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333D42"/>
                </a:solidFill>
                <a:effectLst/>
                <a:latin typeface="-apple-system"/>
              </a:rPr>
              <a:t>No, the prior is a Cauchy distribution centered at 0 ("location" in </a:t>
            </a:r>
            <a:r>
              <a:rPr lang="en-US" b="0" i="0" dirty="0" err="1">
                <a:solidFill>
                  <a:srgbClr val="333D42"/>
                </a:solidFill>
                <a:effectLst/>
                <a:latin typeface="-apple-system"/>
              </a:rPr>
              <a:t>Jamovi</a:t>
            </a:r>
            <a:r>
              <a:rPr lang="en-US" b="0" i="0" dirty="0">
                <a:solidFill>
                  <a:srgbClr val="333D42"/>
                </a:solidFill>
                <a:effectLst/>
                <a:latin typeface="-apple-system"/>
              </a:rPr>
              <a:t>) with scale 0.707, which is the Interquartile range (i.e. the central 50% of the distribution are between -0.707 and +0.707). I'm not sure what the origin of this value is, but it's mentioned in </a:t>
            </a:r>
            <a:r>
              <a:rPr lang="en-US" b="0" i="0" dirty="0" err="1">
                <a:solidFill>
                  <a:srgbClr val="333D42"/>
                </a:solidFill>
                <a:effectLst/>
                <a:latin typeface="-apple-system"/>
              </a:rPr>
              <a:t>Wagenmakers</a:t>
            </a:r>
            <a:r>
              <a:rPr lang="en-US" b="0" i="0" dirty="0">
                <a:solidFill>
                  <a:srgbClr val="333D42"/>
                </a:solidFill>
                <a:effectLst/>
                <a:latin typeface="-apple-system"/>
              </a:rPr>
              <a:t> et al. (2018) doi:10.3758/s13423-017-1323-7.</a:t>
            </a:r>
          </a:p>
          <a:p>
            <a:endParaRPr lang="en-US" b="0" i="0" dirty="0">
              <a:solidFill>
                <a:srgbClr val="333D42"/>
              </a:solidFill>
              <a:effectLst/>
              <a:latin typeface="-apple-system"/>
            </a:endParaRPr>
          </a:p>
          <a:p>
            <a:r>
              <a:rPr lang="en-US" dirty="0"/>
              <a:t>we recommend to set the scale parameter r to 1 as suggested by </a:t>
            </a:r>
            <a:r>
              <a:rPr lang="en-US" dirty="0" err="1"/>
              <a:t>Rouder</a:t>
            </a:r>
            <a:r>
              <a:rPr lang="en-US" dirty="0"/>
              <a:t> et al. (2009), unless there is a compelling reason to do otherwise. Smaller values of r increase the rate of FPE and make it rather di cult to reach the H0 boundary with a reasonable sample size (see Table 1). </a:t>
            </a:r>
            <a:endParaRPr lang="en-US" b="0" i="0" dirty="0">
              <a:solidFill>
                <a:srgbClr val="333D42"/>
              </a:solidFill>
              <a:effectLst/>
              <a:latin typeface="-apple-system"/>
            </a:endParaRPr>
          </a:p>
          <a:p>
            <a:endParaRPr lang="fr-FR" dirty="0"/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61D4D3-B902-4924-9702-BD9C8D4E2E46}" type="slidenum">
              <a:rPr lang="fr-FR" smtClean="0"/>
              <a:t>27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573147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Delta est le d de </a:t>
            </a:r>
            <a:r>
              <a:rPr lang="fr-FR" dirty="0" err="1"/>
              <a:t>cohen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61D4D3-B902-4924-9702-BD9C8D4E2E46}" type="slidenum">
              <a:rPr lang="fr-FR" smtClean="0"/>
              <a:t>28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207696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F176F3-05A9-F73B-51CC-A101E004D5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C92D44ED-21E1-D83B-86BB-31CFFBB7A2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4BC9E5A9-EE12-3A2D-88C0-F0325C999A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333D42"/>
                </a:solidFill>
                <a:effectLst/>
                <a:latin typeface="-apple-system"/>
              </a:rPr>
              <a:t>No, the prior is a Cauchy distribution centered at 0 ("location" in </a:t>
            </a:r>
            <a:r>
              <a:rPr lang="en-US" b="0" i="0" dirty="0" err="1">
                <a:solidFill>
                  <a:srgbClr val="333D42"/>
                </a:solidFill>
                <a:effectLst/>
                <a:latin typeface="-apple-system"/>
              </a:rPr>
              <a:t>Jamovi</a:t>
            </a:r>
            <a:r>
              <a:rPr lang="en-US" b="0" i="0" dirty="0">
                <a:solidFill>
                  <a:srgbClr val="333D42"/>
                </a:solidFill>
                <a:effectLst/>
                <a:latin typeface="-apple-system"/>
              </a:rPr>
              <a:t>) with scale 0.707, which is the Interquartile range (i.e. the central 50% of the distribution are between -0.707 and +0.707). I'm not sure what the origin of this value is, but it's mentioned in </a:t>
            </a:r>
            <a:r>
              <a:rPr lang="en-US" b="0" i="0" dirty="0" err="1">
                <a:solidFill>
                  <a:srgbClr val="333D42"/>
                </a:solidFill>
                <a:effectLst/>
                <a:latin typeface="-apple-system"/>
              </a:rPr>
              <a:t>Wagenmakers</a:t>
            </a:r>
            <a:r>
              <a:rPr lang="en-US" b="0" i="0" dirty="0">
                <a:solidFill>
                  <a:srgbClr val="333D42"/>
                </a:solidFill>
                <a:effectLst/>
                <a:latin typeface="-apple-system"/>
              </a:rPr>
              <a:t> et al. (2018) doi:10.3758/s13423-017-1323-7.</a:t>
            </a:r>
          </a:p>
          <a:p>
            <a:endParaRPr lang="en-US" b="0" i="0" dirty="0">
              <a:solidFill>
                <a:srgbClr val="333D42"/>
              </a:solidFill>
              <a:effectLst/>
              <a:latin typeface="-apple-system"/>
            </a:endParaRPr>
          </a:p>
          <a:p>
            <a:r>
              <a:rPr lang="en-US" dirty="0"/>
              <a:t>we recommend to set the scale parameter r to 1 as suggested by </a:t>
            </a:r>
            <a:r>
              <a:rPr lang="en-US" dirty="0" err="1"/>
              <a:t>Rouder</a:t>
            </a:r>
            <a:r>
              <a:rPr lang="en-US" dirty="0"/>
              <a:t> et al. (2009), unless there is a compelling reason to do otherwise. Smaller values of r increase the rate of FPE and make it rather di cult to reach the H0 boundary with a reasonable sample size (see Table 1). </a:t>
            </a:r>
            <a:endParaRPr lang="en-US" b="0" i="0" dirty="0">
              <a:solidFill>
                <a:srgbClr val="333D42"/>
              </a:solidFill>
              <a:effectLst/>
              <a:latin typeface="-apple-system"/>
            </a:endParaRPr>
          </a:p>
          <a:p>
            <a:endParaRPr lang="fr-FR" dirty="0"/>
          </a:p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25A3B29-B4E7-31BC-C3EB-8AD2490D86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61D4D3-B902-4924-9702-BD9C8D4E2E46}" type="slidenum">
              <a:rPr lang="fr-FR" smtClean="0"/>
              <a:t>29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790452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0DECC82-FD66-A5A9-6E3C-89F040F6E4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423D99D0-8C07-E2CC-7E0E-05D3D432BF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8E07D6E-CC9A-755D-AC78-C88E3CEC18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40B6E-8759-4B76-BE8F-D209446EB8FF}" type="datetimeFigureOut">
              <a:rPr lang="fr-FR" smtClean="0"/>
              <a:t>30/05/2025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8270249-DFA7-5294-47D9-B8C7A95AB2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4184969-2833-5B24-B3DE-7D6D79C008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353C50-567F-4507-BC96-6B254DBA3B02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792918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6D52FF3-D4C3-F1A2-12AF-FBBE0AFFD1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2A76DB0-A559-1985-F4F4-16A0D09B7F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5EAEEE5-74A0-EB77-F448-DDFD9868BA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40B6E-8759-4B76-BE8F-D209446EB8FF}" type="datetimeFigureOut">
              <a:rPr lang="fr-FR" smtClean="0"/>
              <a:t>30/05/2025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B6FA075-EEDA-3E36-6FF3-988B5C6024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94901AB-F2E5-23A1-B99E-73764705F1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353C50-567F-4507-BC96-6B254DBA3B02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218213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3F321A0-F386-012D-346C-030964EF60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C950152-B974-60A3-5C68-F5246E21F1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000A73E-8168-D2D5-3626-3AF1D7FAFC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40B6E-8759-4B76-BE8F-D209446EB8FF}" type="datetimeFigureOut">
              <a:rPr lang="fr-FR" smtClean="0"/>
              <a:t>30/05/2025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FB59FC8-5591-1712-71AE-6A05201843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D55FDE1-8E54-85D2-2AC1-E4F1D9A4F7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353C50-567F-4507-BC96-6B254DBA3B02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31260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FEA9A84-BFD2-9F25-8057-CA51C644BA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AC15B99-40C6-9E7E-8A48-596ADCF2423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9C46A970-B9AE-7B71-922E-3B0B3C2BB6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B2D3EE0-F865-B437-6824-5D68C7D239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40B6E-8759-4B76-BE8F-D209446EB8FF}" type="datetimeFigureOut">
              <a:rPr lang="fr-FR" smtClean="0"/>
              <a:t>30/05/2025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BD384634-08C4-9387-B140-85889A4F35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31625AA-7BBE-108C-AE46-EAB33EF61C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353C50-567F-4507-BC96-6B254DBA3B02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819723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9FE4700-589E-76CC-290B-BA7A28F295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4D30648-A280-79C6-99F3-96CDE1C2B8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B10F752F-C4A1-17BF-1D55-8A822910DC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E69812AB-024A-F0FB-202E-25F51465029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324154FB-D573-FA79-F6AE-1B20937CD5F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66C13EA5-82A2-F606-BC5A-8DE546A0FA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40B6E-8759-4B76-BE8F-D209446EB8FF}" type="datetimeFigureOut">
              <a:rPr lang="fr-FR" smtClean="0"/>
              <a:t>30/05/2025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0D067D2F-EF79-9201-D8AC-DF4B228550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BAE87DD7-E917-0C69-B233-37CA3CF370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353C50-567F-4507-BC96-6B254DBA3B02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471880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5407312-79BF-AA21-ACCC-42F050D6C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9B69BA8B-D755-14F0-92C7-916AEDE043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40B6E-8759-4B76-BE8F-D209446EB8FF}" type="datetimeFigureOut">
              <a:rPr lang="fr-FR" smtClean="0"/>
              <a:t>30/05/2025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64263A9C-6317-3D49-3D1C-01123610BC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71DF4139-F62A-6EE3-866F-5CEBD3E64A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353C50-567F-4507-BC96-6B254DBA3B02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233773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BDADE58A-C57D-1C0B-E25C-5A681EBA2F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40B6E-8759-4B76-BE8F-D209446EB8FF}" type="datetimeFigureOut">
              <a:rPr lang="fr-FR" smtClean="0"/>
              <a:t>30/05/2025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788AC6D3-7E50-BF68-4511-5D3E792DC6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556CF1B-754D-61F0-8EA0-05493F6298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353C50-567F-4507-BC96-6B254DBA3B02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433480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01E5597-B06F-DEF4-2BFE-3697EB13C1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13D69DA-5A5D-4E61-DBA3-41CA381CD9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BA16F890-1B29-A3B6-6CE9-CB3462B398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2D82AF2-A11D-2EB5-4499-38BF078551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40B6E-8759-4B76-BE8F-D209446EB8FF}" type="datetimeFigureOut">
              <a:rPr lang="fr-FR" smtClean="0"/>
              <a:t>30/05/2025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69D560C3-F45D-C5D8-C49C-7E19D295B8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5E76B657-CC60-A151-64CE-92BC2AF888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353C50-567F-4507-BC96-6B254DBA3B02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828698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EEA689C-0E5A-E0AC-B0CE-D677E06FBE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85D0392C-F6C8-866A-37BB-017675B1629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FCFECE2B-8F43-F03B-BAF9-1FD6C58BCA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DA328529-C06E-C55F-CC5F-61EFAFEED8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40B6E-8759-4B76-BE8F-D209446EB8FF}" type="datetimeFigureOut">
              <a:rPr lang="fr-FR" smtClean="0"/>
              <a:t>30/05/2025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BC71D2A1-1ACC-A9C2-5B59-C35AD1A875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0841BA7-9757-2C1C-16D2-E49D2DC6E5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353C50-567F-4507-BC96-6B254DBA3B02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136496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27612A8-B58B-8260-E04F-344921137F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3B765058-7941-4A78-5061-7AB108E20E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81CABC3-D0A5-45A0-9080-D9788C20B3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40B6E-8759-4B76-BE8F-D209446EB8FF}" type="datetimeFigureOut">
              <a:rPr lang="fr-FR" smtClean="0"/>
              <a:t>30/05/2025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48E9FA8-78B9-1CB8-EFD6-F9F4376327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AE90FE5-91B9-74D5-B39B-3232D9A657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353C50-567F-4507-BC96-6B254DBA3B02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280545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3A541AED-8839-9D02-D31F-9C2B3280006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EE3FEF4A-2957-4743-8424-4696A7FBAD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820FAC3-4FF3-E9D7-D43A-D79722F798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40B6E-8759-4B76-BE8F-D209446EB8FF}" type="datetimeFigureOut">
              <a:rPr lang="fr-FR" smtClean="0"/>
              <a:t>30/05/2025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FCA287C-E760-8A71-04B4-569F6AD06E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9982C1A-EFE0-359E-B7B8-CEA80AFA46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353C50-567F-4507-BC96-6B254DBA3B02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395697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CCB6B46A-5AA8-4DE6-B0BC-59D4125C7D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DACD1F44-61A9-E770-8424-511A491BF7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673E1D0-1E4C-D084-07B3-0A9F2E89279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4440B6E-8759-4B76-BE8F-D209446EB8FF}" type="datetimeFigureOut">
              <a:rPr lang="fr-FR" smtClean="0"/>
              <a:t>30/05/2025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3DF8808-4212-65C8-B2A0-85FE8E21EC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DB1D5AF-F6A2-19DE-32F3-B093F49A84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9353C50-567F-4507-BC96-6B254DBA3B02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936225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12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7D2EBA0-0E7D-6685-1D93-01BC1E58265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/>
              <a:t>Analyses séquentielles et </a:t>
            </a:r>
            <a:r>
              <a:rPr lang="fr-FR" dirty="0" err="1"/>
              <a:t>optional</a:t>
            </a:r>
            <a:r>
              <a:rPr lang="fr-FR" dirty="0"/>
              <a:t> </a:t>
            </a:r>
            <a:r>
              <a:rPr lang="fr-FR" dirty="0" err="1"/>
              <a:t>stopping</a:t>
            </a:r>
            <a:endParaRPr lang="fr-FR" dirty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EF21AD20-31CF-A665-4376-56486EB9242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662834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C34AE73-0DFC-EC5E-AD2E-6D2989D95E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Analyses séquentielles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E7E0D45-C0D9-C9E6-1B57-AFD576B01F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Objectif : réduire le nombre nécessaire de participants pour détecter un effet</a:t>
            </a:r>
          </a:p>
          <a:p>
            <a:r>
              <a:rPr lang="fr-FR" dirty="0"/>
              <a:t>Problème : comment être sûr que l’effet détecté est un vrai effet ?</a:t>
            </a:r>
          </a:p>
          <a:p>
            <a:r>
              <a:rPr lang="fr-FR" dirty="0"/>
              <a:t>Nécessité de contrôler les erreurs : faux positifs et faux négatifs</a:t>
            </a:r>
          </a:p>
          <a:p>
            <a:r>
              <a:rPr lang="fr-FR" dirty="0" err="1"/>
              <a:t>Fréquentiste</a:t>
            </a:r>
            <a:r>
              <a:rPr lang="fr-FR" dirty="0"/>
              <a:t> : ajustement de la puissance</a:t>
            </a:r>
          </a:p>
          <a:p>
            <a:r>
              <a:rPr lang="fr-FR" dirty="0"/>
              <a:t>Bayésien : Ajustement du </a:t>
            </a:r>
            <a:r>
              <a:rPr lang="fr-FR" dirty="0" err="1"/>
              <a:t>prior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9759266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8BDE186-1ACF-5953-7989-1F3A7A55BF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Optional</a:t>
            </a:r>
            <a:r>
              <a:rPr lang="fr-FR" dirty="0"/>
              <a:t> </a:t>
            </a:r>
            <a:r>
              <a:rPr lang="fr-FR" dirty="0" err="1"/>
              <a:t>Stopping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EF491FC-147D-FFF6-0D9A-B7912E0D3B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S’arrêter jusqu’à ce qu’un résultat d’analyse passe un seuil déterminé</a:t>
            </a:r>
          </a:p>
          <a:p>
            <a:r>
              <a:rPr lang="fr-FR" dirty="0"/>
              <a:t>Le contraire de la falsification de données : on ne retire pas des participants jusqu’à avoir un résultat significatif, on en rajoute</a:t>
            </a:r>
          </a:p>
          <a:p>
            <a:r>
              <a:rPr lang="fr-FR" dirty="0"/>
              <a:t>Une des pratiques de recherche questionnable les plus graves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99FE60B0-3F71-1EA1-C553-D8E64257AB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9724" y="4005602"/>
            <a:ext cx="6772552" cy="25425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64443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EC55256-992C-8DF0-81AF-C85A4E99DA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Eviter l’</a:t>
            </a:r>
            <a:r>
              <a:rPr lang="fr-FR" dirty="0" err="1"/>
              <a:t>optional</a:t>
            </a:r>
            <a:r>
              <a:rPr lang="fr-FR" dirty="0"/>
              <a:t> </a:t>
            </a:r>
            <a:r>
              <a:rPr lang="fr-FR" dirty="0" err="1"/>
              <a:t>stopping</a:t>
            </a:r>
            <a:r>
              <a:rPr lang="fr-FR" dirty="0"/>
              <a:t> ?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D75123B-D1CA-6A7F-6513-82621D22CF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Le seul moyen d’éviter l’</a:t>
            </a:r>
            <a:r>
              <a:rPr lang="fr-FR" dirty="0" err="1"/>
              <a:t>optional</a:t>
            </a:r>
            <a:r>
              <a:rPr lang="fr-FR" dirty="0"/>
              <a:t> </a:t>
            </a:r>
            <a:r>
              <a:rPr lang="fr-FR" dirty="0" err="1"/>
              <a:t>stopping</a:t>
            </a:r>
            <a:r>
              <a:rPr lang="fr-FR" dirty="0"/>
              <a:t> est de contrôler le risque d’erreur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481443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E95B00-3C88-EFB2-2790-355FE35783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4ADEFF5-3D96-7529-0D0C-57590A4C10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2175164" cy="1325563"/>
          </a:xfrm>
        </p:spPr>
        <p:txBody>
          <a:bodyPr/>
          <a:lstStyle/>
          <a:p>
            <a:pPr algn="ctr"/>
            <a:r>
              <a:rPr lang="fr-FR" dirty="0"/>
              <a:t>H0 accepté</a:t>
            </a:r>
          </a:p>
        </p:txBody>
      </p:sp>
      <p:pic>
        <p:nvPicPr>
          <p:cNvPr id="4" name="Image 3" descr="Une image contenant texte, capture d’écran, ligne, Tracé&#10;&#10;Le contenu généré par l’IA peut être incorrect.">
            <a:extLst>
              <a:ext uri="{FF2B5EF4-FFF2-40B4-BE49-F238E27FC236}">
                <a16:creationId xmlns:a16="http://schemas.microsoft.com/office/drawing/2014/main" id="{67A430BC-5EEC-E70D-8A25-007F885A57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8867" y="2195946"/>
            <a:ext cx="4869878" cy="3895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19777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698CB4-C156-8B57-8EC3-4EF16B079C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0518CE5-E91D-A066-482B-39EB6A23E3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25781" y="517525"/>
            <a:ext cx="2175164" cy="1325563"/>
          </a:xfrm>
        </p:spPr>
        <p:txBody>
          <a:bodyPr/>
          <a:lstStyle/>
          <a:p>
            <a:pPr algn="ctr"/>
            <a:r>
              <a:rPr lang="fr-FR" dirty="0"/>
              <a:t>H0 accepté</a:t>
            </a:r>
          </a:p>
        </p:txBody>
      </p:sp>
      <p:pic>
        <p:nvPicPr>
          <p:cNvPr id="4" name="Image 3" descr="Une image contenant texte, capture d’écran, ligne, Tracé&#10;&#10;Le contenu généré par l’IA peut être incorrect.">
            <a:extLst>
              <a:ext uri="{FF2B5EF4-FFF2-40B4-BE49-F238E27FC236}">
                <a16:creationId xmlns:a16="http://schemas.microsoft.com/office/drawing/2014/main" id="{1532B521-7721-9D62-5E88-E3A366C190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043" y="2098964"/>
            <a:ext cx="5368641" cy="4294913"/>
          </a:xfrm>
          <a:prstGeom prst="rect">
            <a:avLst/>
          </a:prstGeom>
        </p:spPr>
      </p:pic>
      <p:pic>
        <p:nvPicPr>
          <p:cNvPr id="7" name="Image 6" descr="Une image contenant texte, capture d’écran, ligne, Tracé&#10;&#10;Le contenu généré par l’IA peut être incorrect.">
            <a:extLst>
              <a:ext uri="{FF2B5EF4-FFF2-40B4-BE49-F238E27FC236}">
                <a16:creationId xmlns:a16="http://schemas.microsoft.com/office/drawing/2014/main" id="{80E8586C-D6C6-330A-4E33-5EAAF8C0B8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3425" y="2098964"/>
            <a:ext cx="5368641" cy="4294913"/>
          </a:xfrm>
          <a:prstGeom prst="rect">
            <a:avLst/>
          </a:prstGeom>
        </p:spPr>
      </p:pic>
      <p:sp>
        <p:nvSpPr>
          <p:cNvPr id="8" name="Titre 1">
            <a:extLst>
              <a:ext uri="{FF2B5EF4-FFF2-40B4-BE49-F238E27FC236}">
                <a16:creationId xmlns:a16="http://schemas.microsoft.com/office/drawing/2014/main" id="{732652F9-6323-5B17-963A-203F3BFEE3B4}"/>
              </a:ext>
            </a:extLst>
          </p:cNvPr>
          <p:cNvSpPr txBox="1">
            <a:spLocks/>
          </p:cNvSpPr>
          <p:nvPr/>
        </p:nvSpPr>
        <p:spPr>
          <a:xfrm>
            <a:off x="8091057" y="517525"/>
            <a:ext cx="2175164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dirty="0"/>
              <a:t>H0 rejeté</a:t>
            </a:r>
          </a:p>
        </p:txBody>
      </p:sp>
    </p:spTree>
    <p:extLst>
      <p:ext uri="{BB962C8B-B14F-4D97-AF65-F5344CB8AC3E}">
        <p14:creationId xmlns:p14="http://schemas.microsoft.com/office/powerpoint/2010/main" val="34106281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B7AE06-CF71-38B3-6656-2357F70DF4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3DCF010-6C3E-355F-456F-AA6CA14F22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25781" y="517525"/>
            <a:ext cx="2175164" cy="1325563"/>
          </a:xfrm>
        </p:spPr>
        <p:txBody>
          <a:bodyPr/>
          <a:lstStyle/>
          <a:p>
            <a:pPr algn="ctr"/>
            <a:r>
              <a:rPr lang="fr-FR" dirty="0"/>
              <a:t>H0 accepté</a:t>
            </a:r>
          </a:p>
        </p:txBody>
      </p:sp>
      <p:sp>
        <p:nvSpPr>
          <p:cNvPr id="8" name="Titre 1">
            <a:extLst>
              <a:ext uri="{FF2B5EF4-FFF2-40B4-BE49-F238E27FC236}">
                <a16:creationId xmlns:a16="http://schemas.microsoft.com/office/drawing/2014/main" id="{AECCC5F1-FE18-F573-3425-78BDE14EE469}"/>
              </a:ext>
            </a:extLst>
          </p:cNvPr>
          <p:cNvSpPr txBox="1">
            <a:spLocks/>
          </p:cNvSpPr>
          <p:nvPr/>
        </p:nvSpPr>
        <p:spPr>
          <a:xfrm>
            <a:off x="8091057" y="517525"/>
            <a:ext cx="2175164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dirty="0"/>
              <a:t>H0 rejeté</a:t>
            </a:r>
          </a:p>
        </p:txBody>
      </p:sp>
      <p:pic>
        <p:nvPicPr>
          <p:cNvPr id="9" name="Image 8" descr="Une image contenant texte, capture d’écran, Rectangle, ligne&#10;&#10;Le contenu généré par l’IA peut être incorrect.">
            <a:extLst>
              <a:ext uri="{FF2B5EF4-FFF2-40B4-BE49-F238E27FC236}">
                <a16:creationId xmlns:a16="http://schemas.microsoft.com/office/drawing/2014/main" id="{42CAF890-3B61-55D7-3824-4C09445F8E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661" y="1879023"/>
            <a:ext cx="4734793" cy="4734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23079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6EF713-3DB1-2AA4-089A-FEE6E90FA8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228CA9E-4E33-5361-E471-B498AA13AB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25781" y="517525"/>
            <a:ext cx="2175164" cy="1325563"/>
          </a:xfrm>
        </p:spPr>
        <p:txBody>
          <a:bodyPr/>
          <a:lstStyle/>
          <a:p>
            <a:pPr algn="ctr"/>
            <a:r>
              <a:rPr lang="fr-FR" dirty="0"/>
              <a:t>H0 accepté</a:t>
            </a:r>
          </a:p>
        </p:txBody>
      </p:sp>
      <p:sp>
        <p:nvSpPr>
          <p:cNvPr id="8" name="Titre 1">
            <a:extLst>
              <a:ext uri="{FF2B5EF4-FFF2-40B4-BE49-F238E27FC236}">
                <a16:creationId xmlns:a16="http://schemas.microsoft.com/office/drawing/2014/main" id="{BD6384EE-2F7B-26B0-6428-5EBC7B50B4DC}"/>
              </a:ext>
            </a:extLst>
          </p:cNvPr>
          <p:cNvSpPr txBox="1">
            <a:spLocks/>
          </p:cNvSpPr>
          <p:nvPr/>
        </p:nvSpPr>
        <p:spPr>
          <a:xfrm>
            <a:off x="8091057" y="517525"/>
            <a:ext cx="2175164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dirty="0"/>
              <a:t>H0 rejeté</a:t>
            </a:r>
          </a:p>
        </p:txBody>
      </p:sp>
      <p:pic>
        <p:nvPicPr>
          <p:cNvPr id="11" name="Image 10" descr="Une image contenant texte, capture d’écran, Rectangle, ligne&#10;&#10;Le contenu généré par l’IA peut être incorrect.">
            <a:extLst>
              <a:ext uri="{FF2B5EF4-FFF2-40B4-BE49-F238E27FC236}">
                <a16:creationId xmlns:a16="http://schemas.microsoft.com/office/drawing/2014/main" id="{C3633B4A-951F-26A4-AFF8-F5F078E4EF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0854" y="1879022"/>
            <a:ext cx="4807527" cy="4807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58492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71ACC0-6E49-0BDB-EB13-CCEFBF9AE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BE231F2-7277-BF83-CF70-3B0AA00514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25781" y="517525"/>
            <a:ext cx="2175164" cy="1325563"/>
          </a:xfrm>
        </p:spPr>
        <p:txBody>
          <a:bodyPr/>
          <a:lstStyle/>
          <a:p>
            <a:pPr algn="ctr"/>
            <a:r>
              <a:rPr lang="fr-FR" dirty="0"/>
              <a:t>H0 accepté</a:t>
            </a:r>
          </a:p>
        </p:txBody>
      </p:sp>
      <p:sp>
        <p:nvSpPr>
          <p:cNvPr id="8" name="Titre 1">
            <a:extLst>
              <a:ext uri="{FF2B5EF4-FFF2-40B4-BE49-F238E27FC236}">
                <a16:creationId xmlns:a16="http://schemas.microsoft.com/office/drawing/2014/main" id="{C4E5CB25-83FD-4685-928F-A2E1C04C4A49}"/>
              </a:ext>
            </a:extLst>
          </p:cNvPr>
          <p:cNvSpPr txBox="1">
            <a:spLocks/>
          </p:cNvSpPr>
          <p:nvPr/>
        </p:nvSpPr>
        <p:spPr>
          <a:xfrm>
            <a:off x="8091057" y="517525"/>
            <a:ext cx="2175164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dirty="0"/>
              <a:t>H0 rejeté</a:t>
            </a:r>
          </a:p>
        </p:txBody>
      </p:sp>
      <p:pic>
        <p:nvPicPr>
          <p:cNvPr id="9" name="Image 8" descr="Une image contenant texte, capture d’écran, Rectangle, ligne&#10;&#10;Le contenu généré par l’IA peut être incorrect.">
            <a:extLst>
              <a:ext uri="{FF2B5EF4-FFF2-40B4-BE49-F238E27FC236}">
                <a16:creationId xmlns:a16="http://schemas.microsoft.com/office/drawing/2014/main" id="{D7B265E3-96F6-7C0A-7870-9709F2C995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661" y="1879023"/>
            <a:ext cx="4734793" cy="4734793"/>
          </a:xfrm>
          <a:prstGeom prst="rect">
            <a:avLst/>
          </a:prstGeom>
        </p:spPr>
      </p:pic>
      <p:pic>
        <p:nvPicPr>
          <p:cNvPr id="11" name="Image 10" descr="Une image contenant texte, capture d’écran, Rectangle, ligne&#10;&#10;Le contenu généré par l’IA peut être incorrect.">
            <a:extLst>
              <a:ext uri="{FF2B5EF4-FFF2-40B4-BE49-F238E27FC236}">
                <a16:creationId xmlns:a16="http://schemas.microsoft.com/office/drawing/2014/main" id="{7964134B-9101-E30E-97C8-5E381A68473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0854" y="1879022"/>
            <a:ext cx="4807527" cy="4807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78328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98F7CC-62A6-75BA-9350-748C9B1D1C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E1CCA06-DDC0-3AE2-B065-03FFE60969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25779" y="697635"/>
            <a:ext cx="2175164" cy="1325563"/>
          </a:xfrm>
        </p:spPr>
        <p:txBody>
          <a:bodyPr/>
          <a:lstStyle/>
          <a:p>
            <a:pPr algn="ctr"/>
            <a:r>
              <a:rPr lang="fr-FR" dirty="0"/>
              <a:t>H0 accepté</a:t>
            </a:r>
          </a:p>
        </p:txBody>
      </p:sp>
      <p:sp>
        <p:nvSpPr>
          <p:cNvPr id="8" name="Titre 1">
            <a:extLst>
              <a:ext uri="{FF2B5EF4-FFF2-40B4-BE49-F238E27FC236}">
                <a16:creationId xmlns:a16="http://schemas.microsoft.com/office/drawing/2014/main" id="{4EBF3A87-02D1-9C54-8B7B-DFBD033D6870}"/>
              </a:ext>
            </a:extLst>
          </p:cNvPr>
          <p:cNvSpPr txBox="1">
            <a:spLocks/>
          </p:cNvSpPr>
          <p:nvPr/>
        </p:nvSpPr>
        <p:spPr>
          <a:xfrm>
            <a:off x="6636330" y="258979"/>
            <a:ext cx="4488870" cy="24889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dirty="0"/>
              <a:t>Contrôler l’erreur en réduisant le seuil de faux positifs</a:t>
            </a:r>
          </a:p>
        </p:txBody>
      </p:sp>
      <p:pic>
        <p:nvPicPr>
          <p:cNvPr id="6" name="Image 5" descr="Une image contenant texte, capture d’écran, Police, ligne&#10;&#10;Le contenu généré par l’IA peut être incorrect.">
            <a:extLst>
              <a:ext uri="{FF2B5EF4-FFF2-40B4-BE49-F238E27FC236}">
                <a16:creationId xmlns:a16="http://schemas.microsoft.com/office/drawing/2014/main" id="{FE6A95D0-94BE-5D3D-A9FD-1429FDEC6D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7358" y="2237505"/>
            <a:ext cx="4572009" cy="3657607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9C6B50B0-358D-260D-DB1E-FEAF305213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6894" y="3242803"/>
            <a:ext cx="5292000" cy="1979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51091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F4E844-B336-1016-CB98-ACEBED4F58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E9462B4-7D0D-6060-6ABB-0E4A5EFAC5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25779" y="697635"/>
            <a:ext cx="2175164" cy="1325563"/>
          </a:xfrm>
        </p:spPr>
        <p:txBody>
          <a:bodyPr/>
          <a:lstStyle/>
          <a:p>
            <a:pPr algn="ctr"/>
            <a:r>
              <a:rPr lang="fr-FR" dirty="0"/>
              <a:t>H0 accepté</a:t>
            </a:r>
          </a:p>
        </p:txBody>
      </p:sp>
      <p:sp>
        <p:nvSpPr>
          <p:cNvPr id="8" name="Titre 1">
            <a:extLst>
              <a:ext uri="{FF2B5EF4-FFF2-40B4-BE49-F238E27FC236}">
                <a16:creationId xmlns:a16="http://schemas.microsoft.com/office/drawing/2014/main" id="{A9E1F303-9F4E-3339-2DB9-1243A8883344}"/>
              </a:ext>
            </a:extLst>
          </p:cNvPr>
          <p:cNvSpPr txBox="1">
            <a:spLocks/>
          </p:cNvSpPr>
          <p:nvPr/>
        </p:nvSpPr>
        <p:spPr>
          <a:xfrm>
            <a:off x="6636330" y="258979"/>
            <a:ext cx="4488870" cy="24889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dirty="0"/>
              <a:t>Contrôler l’erreur en réduisant le seuil de faux positifs</a:t>
            </a:r>
          </a:p>
        </p:txBody>
      </p:sp>
      <p:pic>
        <p:nvPicPr>
          <p:cNvPr id="6" name="Image 5" descr="Une image contenant texte, capture d’écran, Police, ligne&#10;&#10;Le contenu généré par l’IA peut être incorrect.">
            <a:extLst>
              <a:ext uri="{FF2B5EF4-FFF2-40B4-BE49-F238E27FC236}">
                <a16:creationId xmlns:a16="http://schemas.microsoft.com/office/drawing/2014/main" id="{BED48BAF-FD17-5ED3-F7AE-E6402D08C9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7358" y="2237505"/>
            <a:ext cx="4572009" cy="3657607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7A1BBF26-B931-B1A1-44AF-250EAB3702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6112" y="3222021"/>
            <a:ext cx="5292000" cy="1979494"/>
          </a:xfrm>
          <a:prstGeom prst="rect">
            <a:avLst/>
          </a:prstGeom>
        </p:spPr>
      </p:pic>
      <p:pic>
        <p:nvPicPr>
          <p:cNvPr id="4" name="Image 3" descr="Une image contenant texte, capture d’écran, Police, ligne&#10;&#10;Le contenu généré par l’IA peut être incorrect.">
            <a:extLst>
              <a:ext uri="{FF2B5EF4-FFF2-40B4-BE49-F238E27FC236}">
                <a16:creationId xmlns:a16="http://schemas.microsoft.com/office/drawing/2014/main" id="{B24CC4A6-CBE9-945F-D0D8-82869DB3DA6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7356" y="2237504"/>
            <a:ext cx="4572009" cy="3657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64437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23415E-3373-6691-AD29-68D282450B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4310C68-7C4D-D84E-85AA-E699E24CF9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25779" y="697635"/>
            <a:ext cx="2175164" cy="1325563"/>
          </a:xfrm>
        </p:spPr>
        <p:txBody>
          <a:bodyPr/>
          <a:lstStyle/>
          <a:p>
            <a:pPr algn="ctr"/>
            <a:r>
              <a:rPr lang="fr-FR" dirty="0"/>
              <a:t>H0 accepté</a:t>
            </a:r>
          </a:p>
        </p:txBody>
      </p:sp>
      <p:sp>
        <p:nvSpPr>
          <p:cNvPr id="8" name="Titre 1">
            <a:extLst>
              <a:ext uri="{FF2B5EF4-FFF2-40B4-BE49-F238E27FC236}">
                <a16:creationId xmlns:a16="http://schemas.microsoft.com/office/drawing/2014/main" id="{9B0A3633-E9C8-7756-6E3F-B4D54148770F}"/>
              </a:ext>
            </a:extLst>
          </p:cNvPr>
          <p:cNvSpPr txBox="1">
            <a:spLocks/>
          </p:cNvSpPr>
          <p:nvPr/>
        </p:nvSpPr>
        <p:spPr>
          <a:xfrm>
            <a:off x="6636330" y="258979"/>
            <a:ext cx="4488870" cy="24889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dirty="0"/>
              <a:t>Contrôler l’erreur en réduisant le seuil de faux positifs</a:t>
            </a:r>
          </a:p>
        </p:txBody>
      </p:sp>
      <p:pic>
        <p:nvPicPr>
          <p:cNvPr id="6" name="Image 5" descr="Une image contenant texte, capture d’écran, Police, ligne&#10;&#10;Le contenu généré par l’IA peut être incorrect.">
            <a:extLst>
              <a:ext uri="{FF2B5EF4-FFF2-40B4-BE49-F238E27FC236}">
                <a16:creationId xmlns:a16="http://schemas.microsoft.com/office/drawing/2014/main" id="{BDCC686C-BB8D-CF61-0CE2-B0241D739D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7358" y="2237505"/>
            <a:ext cx="4572009" cy="3657607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87F1497F-C420-23DE-8E91-B275A971DA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6112" y="3222021"/>
            <a:ext cx="5292000" cy="1979494"/>
          </a:xfrm>
          <a:prstGeom prst="rect">
            <a:avLst/>
          </a:prstGeom>
        </p:spPr>
      </p:pic>
      <p:pic>
        <p:nvPicPr>
          <p:cNvPr id="4" name="Image 3" descr="Une image contenant texte, capture d’écran, Police, ligne&#10;&#10;Le contenu généré par l’IA peut être incorrect.">
            <a:extLst>
              <a:ext uri="{FF2B5EF4-FFF2-40B4-BE49-F238E27FC236}">
                <a16:creationId xmlns:a16="http://schemas.microsoft.com/office/drawing/2014/main" id="{D2E58E74-FA5C-DF6D-D2EC-08B9C0681C8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7356" y="2237504"/>
            <a:ext cx="4572009" cy="3657607"/>
          </a:xfrm>
          <a:prstGeom prst="rect">
            <a:avLst/>
          </a:prstGeom>
        </p:spPr>
      </p:pic>
      <p:pic>
        <p:nvPicPr>
          <p:cNvPr id="9" name="Image 8" descr="Une image contenant texte, capture d’écran, Police, ligne&#10;&#10;Le contenu généré par l’IA peut être incorrect.">
            <a:extLst>
              <a:ext uri="{FF2B5EF4-FFF2-40B4-BE49-F238E27FC236}">
                <a16:creationId xmlns:a16="http://schemas.microsoft.com/office/drawing/2014/main" id="{68FFB752-4996-0B0E-BB86-BB54E208B50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7354" y="2237504"/>
            <a:ext cx="4572009" cy="3657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47465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CB101F-0ACA-9D7C-62AD-D38CA37FBB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0E8B0D8-E53E-2748-E743-9E05579B25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25779" y="697635"/>
            <a:ext cx="2175164" cy="1325563"/>
          </a:xfrm>
        </p:spPr>
        <p:txBody>
          <a:bodyPr/>
          <a:lstStyle/>
          <a:p>
            <a:pPr algn="ctr"/>
            <a:r>
              <a:rPr lang="fr-FR" dirty="0"/>
              <a:t>H0 accepté</a:t>
            </a:r>
          </a:p>
        </p:txBody>
      </p:sp>
      <p:sp>
        <p:nvSpPr>
          <p:cNvPr id="8" name="Titre 1">
            <a:extLst>
              <a:ext uri="{FF2B5EF4-FFF2-40B4-BE49-F238E27FC236}">
                <a16:creationId xmlns:a16="http://schemas.microsoft.com/office/drawing/2014/main" id="{D07DA349-AED4-A076-7754-12202E2A8682}"/>
              </a:ext>
            </a:extLst>
          </p:cNvPr>
          <p:cNvSpPr txBox="1">
            <a:spLocks/>
          </p:cNvSpPr>
          <p:nvPr/>
        </p:nvSpPr>
        <p:spPr>
          <a:xfrm>
            <a:off x="6636330" y="258979"/>
            <a:ext cx="4488870" cy="24889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dirty="0"/>
              <a:t>Contrôler l’erreur en réduisant le seuil de faux positifs</a:t>
            </a:r>
          </a:p>
        </p:txBody>
      </p:sp>
      <p:pic>
        <p:nvPicPr>
          <p:cNvPr id="6" name="Image 5" descr="Une image contenant texte, capture d’écran, Police, ligne&#10;&#10;Le contenu généré par l’IA peut être incorrect.">
            <a:extLst>
              <a:ext uri="{FF2B5EF4-FFF2-40B4-BE49-F238E27FC236}">
                <a16:creationId xmlns:a16="http://schemas.microsoft.com/office/drawing/2014/main" id="{563E1D33-BBF8-15E6-D683-558D39BD68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7358" y="2237505"/>
            <a:ext cx="4572009" cy="3657607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FD6FF206-66BF-C280-24DB-417B080FA8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6112" y="3222021"/>
            <a:ext cx="5292000" cy="1979494"/>
          </a:xfrm>
          <a:prstGeom prst="rect">
            <a:avLst/>
          </a:prstGeom>
        </p:spPr>
      </p:pic>
      <p:pic>
        <p:nvPicPr>
          <p:cNvPr id="4" name="Image 3" descr="Une image contenant texte, capture d’écran, Police, ligne&#10;&#10;Le contenu généré par l’IA peut être incorrect.">
            <a:extLst>
              <a:ext uri="{FF2B5EF4-FFF2-40B4-BE49-F238E27FC236}">
                <a16:creationId xmlns:a16="http://schemas.microsoft.com/office/drawing/2014/main" id="{047EF922-1757-3059-8140-5CF0890953C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7356" y="2237504"/>
            <a:ext cx="4572009" cy="3657607"/>
          </a:xfrm>
          <a:prstGeom prst="rect">
            <a:avLst/>
          </a:prstGeom>
        </p:spPr>
      </p:pic>
      <p:pic>
        <p:nvPicPr>
          <p:cNvPr id="9" name="Image 8" descr="Une image contenant texte, capture d’écran, Police, ligne&#10;&#10;Le contenu généré par l’IA peut être incorrect.">
            <a:extLst>
              <a:ext uri="{FF2B5EF4-FFF2-40B4-BE49-F238E27FC236}">
                <a16:creationId xmlns:a16="http://schemas.microsoft.com/office/drawing/2014/main" id="{F399B97D-E257-0A1B-B0C1-C2904AB8336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7354" y="2237504"/>
            <a:ext cx="4572009" cy="3657607"/>
          </a:xfrm>
          <a:prstGeom prst="rect">
            <a:avLst/>
          </a:prstGeom>
        </p:spPr>
      </p:pic>
      <p:pic>
        <p:nvPicPr>
          <p:cNvPr id="5" name="Image 4" descr="Une image contenant texte, capture d’écran, Police, ligne&#10;&#10;Le contenu généré par l’IA peut être incorrect.">
            <a:extLst>
              <a:ext uri="{FF2B5EF4-FFF2-40B4-BE49-F238E27FC236}">
                <a16:creationId xmlns:a16="http://schemas.microsoft.com/office/drawing/2014/main" id="{A258C33A-495C-89C1-331F-592D3118499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7354" y="2237503"/>
            <a:ext cx="4572009" cy="3657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2561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B7FD0A-94B0-2FDF-EB4C-C3470CC7F8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3047F8D-EA8B-3932-959D-95ACF39570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25779" y="697635"/>
            <a:ext cx="2175164" cy="1325563"/>
          </a:xfrm>
        </p:spPr>
        <p:txBody>
          <a:bodyPr/>
          <a:lstStyle/>
          <a:p>
            <a:pPr algn="ctr"/>
            <a:r>
              <a:rPr lang="fr-FR" dirty="0"/>
              <a:t>H0 accepté</a:t>
            </a:r>
          </a:p>
        </p:txBody>
      </p:sp>
      <p:pic>
        <p:nvPicPr>
          <p:cNvPr id="6" name="Image 5" descr="Une image contenant texte, capture d’écran, Police, ligne&#10;&#10;Le contenu généré par l’IA peut être incorrect.">
            <a:extLst>
              <a:ext uri="{FF2B5EF4-FFF2-40B4-BE49-F238E27FC236}">
                <a16:creationId xmlns:a16="http://schemas.microsoft.com/office/drawing/2014/main" id="{3FBC6C0E-D538-5F3E-67B1-9C87BE65BC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7358" y="2237505"/>
            <a:ext cx="4572009" cy="3657607"/>
          </a:xfrm>
          <a:prstGeom prst="rect">
            <a:avLst/>
          </a:prstGeom>
        </p:spPr>
      </p:pic>
      <p:pic>
        <p:nvPicPr>
          <p:cNvPr id="4" name="Image 3" descr="Une image contenant texte, capture d’écran, Police, ligne&#10;&#10;Le contenu généré par l’IA peut être incorrect.">
            <a:extLst>
              <a:ext uri="{FF2B5EF4-FFF2-40B4-BE49-F238E27FC236}">
                <a16:creationId xmlns:a16="http://schemas.microsoft.com/office/drawing/2014/main" id="{89339C34-F018-1F6F-5C03-6478B166DCB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7696" y="2237505"/>
            <a:ext cx="4572009" cy="3657607"/>
          </a:xfrm>
          <a:prstGeom prst="rect">
            <a:avLst/>
          </a:prstGeom>
        </p:spPr>
      </p:pic>
      <p:sp>
        <p:nvSpPr>
          <p:cNvPr id="5" name="Titre 1">
            <a:extLst>
              <a:ext uri="{FF2B5EF4-FFF2-40B4-BE49-F238E27FC236}">
                <a16:creationId xmlns:a16="http://schemas.microsoft.com/office/drawing/2014/main" id="{80BF5634-B46F-6E03-C5A7-C58B13DCEC64}"/>
              </a:ext>
            </a:extLst>
          </p:cNvPr>
          <p:cNvSpPr txBox="1">
            <a:spLocks/>
          </p:cNvSpPr>
          <p:nvPr/>
        </p:nvSpPr>
        <p:spPr>
          <a:xfrm>
            <a:off x="8091057" y="517525"/>
            <a:ext cx="2175164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dirty="0"/>
              <a:t>H0 rejeté</a:t>
            </a:r>
          </a:p>
        </p:txBody>
      </p:sp>
    </p:spTree>
    <p:extLst>
      <p:ext uri="{BB962C8B-B14F-4D97-AF65-F5344CB8AC3E}">
        <p14:creationId xmlns:p14="http://schemas.microsoft.com/office/powerpoint/2010/main" val="8596253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5DAB3D-429A-7C56-0E23-B392E18BD0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 descr="Une image contenant texte, capture d’écran, Police, ligne&#10;&#10;Le contenu généré par l’IA peut être incorrect.">
            <a:extLst>
              <a:ext uri="{FF2B5EF4-FFF2-40B4-BE49-F238E27FC236}">
                <a16:creationId xmlns:a16="http://schemas.microsoft.com/office/drawing/2014/main" id="{680F05C6-82F1-47DB-B872-75BF141C11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7696" y="2237505"/>
            <a:ext cx="4572009" cy="3657607"/>
          </a:xfrm>
          <a:prstGeom prst="rect">
            <a:avLst/>
          </a:prstGeom>
        </p:spPr>
      </p:pic>
      <p:sp>
        <p:nvSpPr>
          <p:cNvPr id="5" name="Titre 1">
            <a:extLst>
              <a:ext uri="{FF2B5EF4-FFF2-40B4-BE49-F238E27FC236}">
                <a16:creationId xmlns:a16="http://schemas.microsoft.com/office/drawing/2014/main" id="{255C7291-DD48-6E66-ED53-2465C7388B81}"/>
              </a:ext>
            </a:extLst>
          </p:cNvPr>
          <p:cNvSpPr txBox="1">
            <a:spLocks/>
          </p:cNvSpPr>
          <p:nvPr/>
        </p:nvSpPr>
        <p:spPr>
          <a:xfrm>
            <a:off x="8091057" y="517525"/>
            <a:ext cx="2175164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dirty="0"/>
              <a:t>H0 rejeté</a:t>
            </a:r>
          </a:p>
        </p:txBody>
      </p:sp>
    </p:spTree>
    <p:extLst>
      <p:ext uri="{BB962C8B-B14F-4D97-AF65-F5344CB8AC3E}">
        <p14:creationId xmlns:p14="http://schemas.microsoft.com/office/powerpoint/2010/main" val="8188725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F4B1C7-EE34-D172-755F-142EE75660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 descr="Une image contenant texte, capture d’écran, Police, ligne&#10;&#10;Le contenu généré par l’IA peut être incorrect.">
            <a:extLst>
              <a:ext uri="{FF2B5EF4-FFF2-40B4-BE49-F238E27FC236}">
                <a16:creationId xmlns:a16="http://schemas.microsoft.com/office/drawing/2014/main" id="{7FD065D7-17F3-7AB4-BBE8-457A2621FB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7696" y="2237505"/>
            <a:ext cx="4572009" cy="3657607"/>
          </a:xfrm>
          <a:prstGeom prst="rect">
            <a:avLst/>
          </a:prstGeom>
        </p:spPr>
      </p:pic>
      <p:sp>
        <p:nvSpPr>
          <p:cNvPr id="5" name="Titre 1">
            <a:extLst>
              <a:ext uri="{FF2B5EF4-FFF2-40B4-BE49-F238E27FC236}">
                <a16:creationId xmlns:a16="http://schemas.microsoft.com/office/drawing/2014/main" id="{848B894C-3817-CE39-1659-F7CDEA073157}"/>
              </a:ext>
            </a:extLst>
          </p:cNvPr>
          <p:cNvSpPr txBox="1">
            <a:spLocks/>
          </p:cNvSpPr>
          <p:nvPr/>
        </p:nvSpPr>
        <p:spPr>
          <a:xfrm>
            <a:off x="8091057" y="517525"/>
            <a:ext cx="2175164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dirty="0"/>
              <a:t>H0 rejeté</a:t>
            </a:r>
          </a:p>
        </p:txBody>
      </p:sp>
      <p:pic>
        <p:nvPicPr>
          <p:cNvPr id="3" name="Image 2" descr="Une image contenant texte, capture d’écran, Police, Tracé&#10;&#10;Le contenu généré par l’IA peut être incorrect.">
            <a:extLst>
              <a:ext uri="{FF2B5EF4-FFF2-40B4-BE49-F238E27FC236}">
                <a16:creationId xmlns:a16="http://schemas.microsoft.com/office/drawing/2014/main" id="{04DABE29-1D24-A519-65D9-32A97251D3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7696" y="2237505"/>
            <a:ext cx="4572009" cy="3657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6628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F1B1B4-5D12-DA11-D834-F61E62D365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 descr="Une image contenant texte, capture d’écran, Police, ligne&#10;&#10;Le contenu généré par l’IA peut être incorrect.">
            <a:extLst>
              <a:ext uri="{FF2B5EF4-FFF2-40B4-BE49-F238E27FC236}">
                <a16:creationId xmlns:a16="http://schemas.microsoft.com/office/drawing/2014/main" id="{F78367E2-BDE3-5529-D221-D9679F32F3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7696" y="2237505"/>
            <a:ext cx="4572009" cy="3657607"/>
          </a:xfrm>
          <a:prstGeom prst="rect">
            <a:avLst/>
          </a:prstGeom>
        </p:spPr>
      </p:pic>
      <p:sp>
        <p:nvSpPr>
          <p:cNvPr id="5" name="Titre 1">
            <a:extLst>
              <a:ext uri="{FF2B5EF4-FFF2-40B4-BE49-F238E27FC236}">
                <a16:creationId xmlns:a16="http://schemas.microsoft.com/office/drawing/2014/main" id="{6347204E-1492-6B52-A38C-A025A93E5C0C}"/>
              </a:ext>
            </a:extLst>
          </p:cNvPr>
          <p:cNvSpPr txBox="1">
            <a:spLocks/>
          </p:cNvSpPr>
          <p:nvPr/>
        </p:nvSpPr>
        <p:spPr>
          <a:xfrm>
            <a:off x="8091057" y="517525"/>
            <a:ext cx="2175164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dirty="0"/>
              <a:t>H0 rejeté</a:t>
            </a:r>
          </a:p>
        </p:txBody>
      </p:sp>
      <p:pic>
        <p:nvPicPr>
          <p:cNvPr id="3" name="Image 2" descr="Une image contenant texte, capture d’écran, Police, Tracé&#10;&#10;Le contenu généré par l’IA peut être incorrect.">
            <a:extLst>
              <a:ext uri="{FF2B5EF4-FFF2-40B4-BE49-F238E27FC236}">
                <a16:creationId xmlns:a16="http://schemas.microsoft.com/office/drawing/2014/main" id="{BA575BD4-BF53-2055-A080-2ECA59D136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7696" y="2237505"/>
            <a:ext cx="4572009" cy="3657607"/>
          </a:xfrm>
          <a:prstGeom prst="rect">
            <a:avLst/>
          </a:prstGeom>
        </p:spPr>
      </p:pic>
      <p:pic>
        <p:nvPicPr>
          <p:cNvPr id="6" name="Image 5" descr="Une image contenant texte, capture d’écran, Tracé, diagramme&#10;&#10;Le contenu généré par l’IA peut être incorrect.">
            <a:extLst>
              <a:ext uri="{FF2B5EF4-FFF2-40B4-BE49-F238E27FC236}">
                <a16:creationId xmlns:a16="http://schemas.microsoft.com/office/drawing/2014/main" id="{FF7D37B5-49AE-601B-793A-4A43AF5396E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7696" y="2172519"/>
            <a:ext cx="4572009" cy="3657607"/>
          </a:xfrm>
          <a:prstGeom prst="rect">
            <a:avLst/>
          </a:prstGeom>
        </p:spPr>
      </p:pic>
      <p:cxnSp>
        <p:nvCxnSpPr>
          <p:cNvPr id="9" name="Connecteur droit avec flèche 8">
            <a:extLst>
              <a:ext uri="{FF2B5EF4-FFF2-40B4-BE49-F238E27FC236}">
                <a16:creationId xmlns:a16="http://schemas.microsoft.com/office/drawing/2014/main" id="{BF661039-3C3E-93E9-56BE-6073D19B6406}"/>
              </a:ext>
            </a:extLst>
          </p:cNvPr>
          <p:cNvCxnSpPr/>
          <p:nvPr/>
        </p:nvCxnSpPr>
        <p:spPr>
          <a:xfrm flipV="1">
            <a:off x="6038987" y="5164058"/>
            <a:ext cx="1973525" cy="9144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ZoneTexte 9">
            <a:extLst>
              <a:ext uri="{FF2B5EF4-FFF2-40B4-BE49-F238E27FC236}">
                <a16:creationId xmlns:a16="http://schemas.microsoft.com/office/drawing/2014/main" id="{7DEF2633-92C4-E2CD-9B22-A46EF2BB156A}"/>
              </a:ext>
            </a:extLst>
          </p:cNvPr>
          <p:cNvSpPr txBox="1"/>
          <p:nvPr/>
        </p:nvSpPr>
        <p:spPr>
          <a:xfrm>
            <a:off x="4289128" y="6139822"/>
            <a:ext cx="31044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28 participants au lieu de 100</a:t>
            </a:r>
          </a:p>
        </p:txBody>
      </p:sp>
    </p:spTree>
    <p:extLst>
      <p:ext uri="{BB962C8B-B14F-4D97-AF65-F5344CB8AC3E}">
        <p14:creationId xmlns:p14="http://schemas.microsoft.com/office/powerpoint/2010/main" val="34578959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D7401C-242F-4279-B7FB-B30B96D995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87E56A3-2028-7CFE-6BB9-F26BF8E6E6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25780" y="177940"/>
            <a:ext cx="2175164" cy="1325563"/>
          </a:xfrm>
        </p:spPr>
        <p:txBody>
          <a:bodyPr/>
          <a:lstStyle/>
          <a:p>
            <a:pPr algn="ctr"/>
            <a:r>
              <a:rPr lang="fr-FR" dirty="0"/>
              <a:t>H0 accepté</a:t>
            </a:r>
          </a:p>
        </p:txBody>
      </p:sp>
      <p:pic>
        <p:nvPicPr>
          <p:cNvPr id="6" name="Image 5" descr="Une image contenant texte, capture d’écran, Police, ligne&#10;&#10;Le contenu généré par l’IA peut être incorrect.">
            <a:extLst>
              <a:ext uri="{FF2B5EF4-FFF2-40B4-BE49-F238E27FC236}">
                <a16:creationId xmlns:a16="http://schemas.microsoft.com/office/drawing/2014/main" id="{F2BE1BEF-8A82-E00D-CF12-021CDF5B3F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7358" y="2237505"/>
            <a:ext cx="4572009" cy="3657607"/>
          </a:xfrm>
          <a:prstGeom prst="rect">
            <a:avLst/>
          </a:prstGeom>
        </p:spPr>
      </p:pic>
      <p:pic>
        <p:nvPicPr>
          <p:cNvPr id="4" name="Image 3" descr="Une image contenant texte, capture d’écran, Police, ligne&#10;&#10;Le contenu généré par l’IA peut être incorrect.">
            <a:extLst>
              <a:ext uri="{FF2B5EF4-FFF2-40B4-BE49-F238E27FC236}">
                <a16:creationId xmlns:a16="http://schemas.microsoft.com/office/drawing/2014/main" id="{8FCC14E6-E29C-9DFA-E760-6FD0CD931CD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7696" y="2237505"/>
            <a:ext cx="4572009" cy="3657607"/>
          </a:xfrm>
          <a:prstGeom prst="rect">
            <a:avLst/>
          </a:prstGeom>
        </p:spPr>
      </p:pic>
      <p:sp>
        <p:nvSpPr>
          <p:cNvPr id="5" name="Titre 1">
            <a:extLst>
              <a:ext uri="{FF2B5EF4-FFF2-40B4-BE49-F238E27FC236}">
                <a16:creationId xmlns:a16="http://schemas.microsoft.com/office/drawing/2014/main" id="{09275161-73E9-1E9C-F51A-DB5CCE925E6F}"/>
              </a:ext>
            </a:extLst>
          </p:cNvPr>
          <p:cNvSpPr txBox="1">
            <a:spLocks/>
          </p:cNvSpPr>
          <p:nvPr/>
        </p:nvSpPr>
        <p:spPr>
          <a:xfrm>
            <a:off x="8091058" y="300106"/>
            <a:ext cx="2175164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dirty="0"/>
              <a:t>H0 rejeté</a:t>
            </a:r>
          </a:p>
        </p:txBody>
      </p:sp>
      <p:pic>
        <p:nvPicPr>
          <p:cNvPr id="3" name="Image 2" descr="Une image contenant texte, capture d’écran, Tracé, diagramme&#10;&#10;Le contenu généré par l’IA peut être incorrect.">
            <a:extLst>
              <a:ext uri="{FF2B5EF4-FFF2-40B4-BE49-F238E27FC236}">
                <a16:creationId xmlns:a16="http://schemas.microsoft.com/office/drawing/2014/main" id="{58509992-82AF-61BE-947B-57E3C6782A4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7696" y="2172519"/>
            <a:ext cx="4572009" cy="3657607"/>
          </a:xfrm>
          <a:prstGeom prst="rect">
            <a:avLst/>
          </a:prstGeom>
        </p:spPr>
      </p:pic>
      <p:pic>
        <p:nvPicPr>
          <p:cNvPr id="7" name="Image 6" descr="Une image contenant texte, capture d’écran, Police, ligne&#10;&#10;Le contenu généré par l’IA peut être incorrect.">
            <a:extLst>
              <a:ext uri="{FF2B5EF4-FFF2-40B4-BE49-F238E27FC236}">
                <a16:creationId xmlns:a16="http://schemas.microsoft.com/office/drawing/2014/main" id="{E46697A0-49E7-6C2B-B486-025A94BFC61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7354" y="2237503"/>
            <a:ext cx="4572009" cy="3657607"/>
          </a:xfrm>
          <a:prstGeom prst="rect">
            <a:avLst/>
          </a:prstGeom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82E66561-61B2-B27A-D19A-54FF979FD543}"/>
              </a:ext>
            </a:extLst>
          </p:cNvPr>
          <p:cNvSpPr txBox="1"/>
          <p:nvPr/>
        </p:nvSpPr>
        <p:spPr>
          <a:xfrm>
            <a:off x="1230163" y="5895110"/>
            <a:ext cx="96421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En réduisant le seuil de </a:t>
            </a:r>
            <a:r>
              <a:rPr lang="fr-FR" dirty="0" err="1"/>
              <a:t>sig</a:t>
            </a:r>
            <a:r>
              <a:rPr lang="fr-FR" dirty="0"/>
              <a:t>. – On peut faire de l’analyse séquentielle sans risque de faux positifs</a:t>
            </a:r>
          </a:p>
        </p:txBody>
      </p:sp>
    </p:spTree>
    <p:extLst>
      <p:ext uri="{BB962C8B-B14F-4D97-AF65-F5344CB8AC3E}">
        <p14:creationId xmlns:p14="http://schemas.microsoft.com/office/powerpoint/2010/main" val="9138602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25BC30C-CC0C-9581-019C-EB62D857A9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Source :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9ED223C-29A0-D9C5-D380-DC04B8CC36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Chapitre 10 </a:t>
            </a:r>
            <a:r>
              <a:rPr lang="fr-FR" dirty="0" err="1"/>
              <a:t>sequential</a:t>
            </a:r>
            <a:r>
              <a:rPr lang="fr-FR" dirty="0"/>
              <a:t> </a:t>
            </a:r>
            <a:r>
              <a:rPr lang="fr-FR" dirty="0" err="1"/>
              <a:t>analysis</a:t>
            </a:r>
            <a:r>
              <a:rPr lang="fr-FR" dirty="0"/>
              <a:t> du livre </a:t>
            </a:r>
            <a:r>
              <a:rPr lang="fr-FR" dirty="0" err="1"/>
              <a:t>Improving</a:t>
            </a:r>
            <a:r>
              <a:rPr lang="fr-FR" dirty="0"/>
              <a:t> </a:t>
            </a:r>
            <a:r>
              <a:rPr lang="fr-FR" dirty="0" err="1"/>
              <a:t>your</a:t>
            </a:r>
            <a:r>
              <a:rPr lang="fr-FR" dirty="0"/>
              <a:t> </a:t>
            </a:r>
            <a:r>
              <a:rPr lang="fr-FR" dirty="0" err="1"/>
              <a:t>statistical</a:t>
            </a:r>
            <a:r>
              <a:rPr lang="fr-FR" dirty="0"/>
              <a:t> </a:t>
            </a:r>
            <a:r>
              <a:rPr lang="fr-FR" dirty="0" err="1"/>
              <a:t>inferences</a:t>
            </a:r>
            <a:r>
              <a:rPr lang="fr-FR" dirty="0"/>
              <a:t> de Daniel Lakens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2E3823CF-3BBD-A5C7-6EAE-18EFBDE257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9527" y="2816419"/>
            <a:ext cx="9012702" cy="3360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856378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4CD0A75-5BD4-7FFF-78A0-ACFC9F6FAF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Et en analyse bayésienne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7337434-2822-3662-16AF-F5FB29AFDC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Il n’y a pas besoin d’analyse de puissance – remplacé par le Prior</a:t>
            </a:r>
          </a:p>
          <a:p>
            <a:r>
              <a:rPr lang="fr-FR" dirty="0"/>
              <a:t>Il n’y a pas de taille d’effet supposé dans l’échantillon – les données sont analysées en tant que telle (il y a une taille d’effet supposé dans la population, qui est dans le </a:t>
            </a:r>
            <a:r>
              <a:rPr lang="fr-FR" dirty="0" err="1"/>
              <a:t>prior</a:t>
            </a:r>
            <a:r>
              <a:rPr lang="fr-FR" dirty="0"/>
              <a:t>)</a:t>
            </a:r>
          </a:p>
          <a:p>
            <a:r>
              <a:rPr lang="fr-FR" dirty="0"/>
              <a:t>Il y a donc une maitrise des faux négatifs – seulement un risque de faux positifs</a:t>
            </a:r>
          </a:p>
          <a:p>
            <a:r>
              <a:rPr lang="fr-FR" dirty="0"/>
              <a:t>Contrairement au </a:t>
            </a:r>
            <a:r>
              <a:rPr lang="fr-FR" dirty="0" err="1"/>
              <a:t>fréquentisme</a:t>
            </a:r>
            <a:r>
              <a:rPr lang="fr-FR" dirty="0"/>
              <a:t>, on peut effectuer une analyse en ajoutant chaque participant un à un</a:t>
            </a:r>
          </a:p>
        </p:txBody>
      </p:sp>
    </p:spTree>
    <p:extLst>
      <p:ext uri="{BB962C8B-B14F-4D97-AF65-F5344CB8AC3E}">
        <p14:creationId xmlns:p14="http://schemas.microsoft.com/office/powerpoint/2010/main" val="29540820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986E61-B78F-6347-AD4C-03671BBA83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022FB83-6257-6E6A-6D3C-9CEC811F2D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Et en analyse bayésienne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099E4E2F-1A3B-8937-11DC-FE5F65C52D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2133" y="3602615"/>
            <a:ext cx="1381125" cy="523875"/>
          </a:xfrm>
          <a:prstGeom prst="rect">
            <a:avLst/>
          </a:prstGeom>
        </p:spPr>
      </p:pic>
      <p:cxnSp>
        <p:nvCxnSpPr>
          <p:cNvPr id="7" name="Connecteur droit avec flèche 6">
            <a:extLst>
              <a:ext uri="{FF2B5EF4-FFF2-40B4-BE49-F238E27FC236}">
                <a16:creationId xmlns:a16="http://schemas.microsoft.com/office/drawing/2014/main" id="{9E797C7E-F463-1872-D69B-FC00099A802F}"/>
              </a:ext>
            </a:extLst>
          </p:cNvPr>
          <p:cNvCxnSpPr>
            <a:cxnSpLocks/>
          </p:cNvCxnSpPr>
          <p:nvPr/>
        </p:nvCxnSpPr>
        <p:spPr>
          <a:xfrm flipH="1">
            <a:off x="2226096" y="3429000"/>
            <a:ext cx="471055" cy="23552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eur droit avec flèche 7">
            <a:extLst>
              <a:ext uri="{FF2B5EF4-FFF2-40B4-BE49-F238E27FC236}">
                <a16:creationId xmlns:a16="http://schemas.microsoft.com/office/drawing/2014/main" id="{8237F806-7D52-854D-BA1F-BAA4BA63D3D1}"/>
              </a:ext>
            </a:extLst>
          </p:cNvPr>
          <p:cNvCxnSpPr>
            <a:cxnSpLocks/>
          </p:cNvCxnSpPr>
          <p:nvPr/>
        </p:nvCxnSpPr>
        <p:spPr>
          <a:xfrm flipH="1" flipV="1">
            <a:off x="2282201" y="3864552"/>
            <a:ext cx="516008" cy="15843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ZoneTexte 16">
            <a:extLst>
              <a:ext uri="{FF2B5EF4-FFF2-40B4-BE49-F238E27FC236}">
                <a16:creationId xmlns:a16="http://schemas.microsoft.com/office/drawing/2014/main" id="{05824F63-0F16-2BB0-705E-5585E1B9121E}"/>
              </a:ext>
            </a:extLst>
          </p:cNvPr>
          <p:cNvSpPr txBox="1"/>
          <p:nvPr/>
        </p:nvSpPr>
        <p:spPr>
          <a:xfrm>
            <a:off x="8527241" y="867220"/>
            <a:ext cx="287732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Ces données sont 10x </a:t>
            </a:r>
          </a:p>
          <a:p>
            <a:r>
              <a:rPr lang="fr-FR" dirty="0"/>
              <a:t>plus probables si </a:t>
            </a:r>
          </a:p>
          <a:p>
            <a:r>
              <a:rPr lang="fr-FR" dirty="0"/>
              <a:t>h1 est vrai que si h0 est vrai</a:t>
            </a:r>
          </a:p>
        </p:txBody>
      </p:sp>
      <p:pic>
        <p:nvPicPr>
          <p:cNvPr id="23" name="Image 22">
            <a:extLst>
              <a:ext uri="{FF2B5EF4-FFF2-40B4-BE49-F238E27FC236}">
                <a16:creationId xmlns:a16="http://schemas.microsoft.com/office/drawing/2014/main" id="{4FF0216D-9961-A273-32B0-BCC162B5F9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8369" y="1890411"/>
            <a:ext cx="6277535" cy="3312704"/>
          </a:xfrm>
          <a:prstGeom prst="rect">
            <a:avLst/>
          </a:prstGeom>
        </p:spPr>
      </p:pic>
      <p:cxnSp>
        <p:nvCxnSpPr>
          <p:cNvPr id="16" name="Connecteur droit avec flèche 15">
            <a:extLst>
              <a:ext uri="{FF2B5EF4-FFF2-40B4-BE49-F238E27FC236}">
                <a16:creationId xmlns:a16="http://schemas.microsoft.com/office/drawing/2014/main" id="{22CC4ECA-4A69-5A46-1BEC-313EF1FDDD5D}"/>
              </a:ext>
            </a:extLst>
          </p:cNvPr>
          <p:cNvCxnSpPr>
            <a:cxnSpLocks/>
          </p:cNvCxnSpPr>
          <p:nvPr/>
        </p:nvCxnSpPr>
        <p:spPr>
          <a:xfrm flipH="1">
            <a:off x="7536157" y="1790549"/>
            <a:ext cx="1217878" cy="119503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eur droit 25">
            <a:extLst>
              <a:ext uri="{FF2B5EF4-FFF2-40B4-BE49-F238E27FC236}">
                <a16:creationId xmlns:a16="http://schemas.microsoft.com/office/drawing/2014/main" id="{DB32C65E-C336-8541-B1BB-9816237BE2B6}"/>
              </a:ext>
            </a:extLst>
          </p:cNvPr>
          <p:cNvCxnSpPr/>
          <p:nvPr/>
        </p:nvCxnSpPr>
        <p:spPr>
          <a:xfrm>
            <a:off x="4302285" y="3328679"/>
            <a:ext cx="5479821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eur droit 26">
            <a:extLst>
              <a:ext uri="{FF2B5EF4-FFF2-40B4-BE49-F238E27FC236}">
                <a16:creationId xmlns:a16="http://schemas.microsoft.com/office/drawing/2014/main" id="{6C79834C-8E47-CE94-64BF-B6A1C5D34968}"/>
              </a:ext>
            </a:extLst>
          </p:cNvPr>
          <p:cNvCxnSpPr/>
          <p:nvPr/>
        </p:nvCxnSpPr>
        <p:spPr>
          <a:xfrm>
            <a:off x="4302285" y="3915254"/>
            <a:ext cx="5479821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eur droit avec flèche 27">
            <a:extLst>
              <a:ext uri="{FF2B5EF4-FFF2-40B4-BE49-F238E27FC236}">
                <a16:creationId xmlns:a16="http://schemas.microsoft.com/office/drawing/2014/main" id="{A1FE96BB-3D6B-DED9-43B7-1FAC5FE6B397}"/>
              </a:ext>
            </a:extLst>
          </p:cNvPr>
          <p:cNvCxnSpPr>
            <a:cxnSpLocks/>
          </p:cNvCxnSpPr>
          <p:nvPr/>
        </p:nvCxnSpPr>
        <p:spPr>
          <a:xfrm flipH="1" flipV="1">
            <a:off x="9834734" y="3915254"/>
            <a:ext cx="653972" cy="102591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ZoneTexte 30">
            <a:extLst>
              <a:ext uri="{FF2B5EF4-FFF2-40B4-BE49-F238E27FC236}">
                <a16:creationId xmlns:a16="http://schemas.microsoft.com/office/drawing/2014/main" id="{E83F74E9-0EB6-D90C-4FE8-4E3C7A338735}"/>
              </a:ext>
            </a:extLst>
          </p:cNvPr>
          <p:cNvSpPr txBox="1"/>
          <p:nvPr/>
        </p:nvSpPr>
        <p:spPr>
          <a:xfrm>
            <a:off x="9369054" y="4941173"/>
            <a:ext cx="297401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De très nombreuses études </a:t>
            </a:r>
          </a:p>
          <a:p>
            <a:r>
              <a:rPr lang="fr-FR" dirty="0"/>
              <a:t>auraient accepté H0 </a:t>
            </a:r>
          </a:p>
          <a:p>
            <a:r>
              <a:rPr lang="fr-FR" dirty="0"/>
              <a:t>au seuil 3-1/3</a:t>
            </a:r>
          </a:p>
        </p:txBody>
      </p:sp>
    </p:spTree>
    <p:extLst>
      <p:ext uri="{BB962C8B-B14F-4D97-AF65-F5344CB8AC3E}">
        <p14:creationId xmlns:p14="http://schemas.microsoft.com/office/powerpoint/2010/main" val="28475181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31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813DB6-A665-F4B0-8358-46698C0BA4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5B4BDBC-4BFD-3AD5-2E33-86CC2DA8C0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Et en analyse bayésienne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F61B4D9A-37EC-745E-313C-CEBC70CE04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2133" y="3602615"/>
            <a:ext cx="1381125" cy="523875"/>
          </a:xfrm>
          <a:prstGeom prst="rect">
            <a:avLst/>
          </a:prstGeom>
        </p:spPr>
      </p:pic>
      <p:cxnSp>
        <p:nvCxnSpPr>
          <p:cNvPr id="7" name="Connecteur droit avec flèche 6">
            <a:extLst>
              <a:ext uri="{FF2B5EF4-FFF2-40B4-BE49-F238E27FC236}">
                <a16:creationId xmlns:a16="http://schemas.microsoft.com/office/drawing/2014/main" id="{ADD46A85-5AFD-125C-9800-C2C84AADCB9D}"/>
              </a:ext>
            </a:extLst>
          </p:cNvPr>
          <p:cNvCxnSpPr>
            <a:cxnSpLocks/>
          </p:cNvCxnSpPr>
          <p:nvPr/>
        </p:nvCxnSpPr>
        <p:spPr>
          <a:xfrm flipH="1">
            <a:off x="2226096" y="3429000"/>
            <a:ext cx="471055" cy="23552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eur droit avec flèche 7">
            <a:extLst>
              <a:ext uri="{FF2B5EF4-FFF2-40B4-BE49-F238E27FC236}">
                <a16:creationId xmlns:a16="http://schemas.microsoft.com/office/drawing/2014/main" id="{F1840471-FBE9-98D4-321A-ABF2D0CAED71}"/>
              </a:ext>
            </a:extLst>
          </p:cNvPr>
          <p:cNvCxnSpPr>
            <a:cxnSpLocks/>
          </p:cNvCxnSpPr>
          <p:nvPr/>
        </p:nvCxnSpPr>
        <p:spPr>
          <a:xfrm flipH="1" flipV="1">
            <a:off x="2282201" y="3864552"/>
            <a:ext cx="516008" cy="15843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3" name="Image 22">
            <a:extLst>
              <a:ext uri="{FF2B5EF4-FFF2-40B4-BE49-F238E27FC236}">
                <a16:creationId xmlns:a16="http://schemas.microsoft.com/office/drawing/2014/main" id="{CB696336-CBEF-1735-59C6-6E0A1A926E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8369" y="1890411"/>
            <a:ext cx="6277535" cy="3312704"/>
          </a:xfrm>
          <a:prstGeom prst="rect">
            <a:avLst/>
          </a:prstGeom>
        </p:spPr>
      </p:pic>
      <p:cxnSp>
        <p:nvCxnSpPr>
          <p:cNvPr id="26" name="Connecteur droit 25">
            <a:extLst>
              <a:ext uri="{FF2B5EF4-FFF2-40B4-BE49-F238E27FC236}">
                <a16:creationId xmlns:a16="http://schemas.microsoft.com/office/drawing/2014/main" id="{462DA73C-836B-5F57-A67F-BB949E9379BE}"/>
              </a:ext>
            </a:extLst>
          </p:cNvPr>
          <p:cNvCxnSpPr/>
          <p:nvPr/>
        </p:nvCxnSpPr>
        <p:spPr>
          <a:xfrm>
            <a:off x="4302285" y="2985585"/>
            <a:ext cx="5479821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eur droit 26">
            <a:extLst>
              <a:ext uri="{FF2B5EF4-FFF2-40B4-BE49-F238E27FC236}">
                <a16:creationId xmlns:a16="http://schemas.microsoft.com/office/drawing/2014/main" id="{8BA0B2F5-C3CF-873A-AF97-94B607C1CD8B}"/>
              </a:ext>
            </a:extLst>
          </p:cNvPr>
          <p:cNvCxnSpPr/>
          <p:nvPr/>
        </p:nvCxnSpPr>
        <p:spPr>
          <a:xfrm>
            <a:off x="4302285" y="4251430"/>
            <a:ext cx="5479821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eur droit avec flèche 27">
            <a:extLst>
              <a:ext uri="{FF2B5EF4-FFF2-40B4-BE49-F238E27FC236}">
                <a16:creationId xmlns:a16="http://schemas.microsoft.com/office/drawing/2014/main" id="{19785041-F028-C0CC-1824-ADC8B9BC3E10}"/>
              </a:ext>
            </a:extLst>
          </p:cNvPr>
          <p:cNvCxnSpPr>
            <a:cxnSpLocks/>
          </p:cNvCxnSpPr>
          <p:nvPr/>
        </p:nvCxnSpPr>
        <p:spPr>
          <a:xfrm flipH="1" flipV="1">
            <a:off x="9909799" y="4309782"/>
            <a:ext cx="578907" cy="63139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ZoneTexte 30">
            <a:extLst>
              <a:ext uri="{FF2B5EF4-FFF2-40B4-BE49-F238E27FC236}">
                <a16:creationId xmlns:a16="http://schemas.microsoft.com/office/drawing/2014/main" id="{761CC837-0C65-75F4-15ED-C3FEF7FBF5A7}"/>
              </a:ext>
            </a:extLst>
          </p:cNvPr>
          <p:cNvSpPr txBox="1"/>
          <p:nvPr/>
        </p:nvSpPr>
        <p:spPr>
          <a:xfrm>
            <a:off x="9369054" y="4941173"/>
            <a:ext cx="287732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Au moins une étude aurait</a:t>
            </a:r>
          </a:p>
          <a:p>
            <a:r>
              <a:rPr lang="fr-FR" dirty="0"/>
              <a:t>accepté h0 au seuil </a:t>
            </a:r>
          </a:p>
          <a:p>
            <a:r>
              <a:rPr lang="fr-FR" dirty="0"/>
              <a:t>10-1/10</a:t>
            </a:r>
          </a:p>
        </p:txBody>
      </p:sp>
    </p:spTree>
    <p:extLst>
      <p:ext uri="{BB962C8B-B14F-4D97-AF65-F5344CB8AC3E}">
        <p14:creationId xmlns:p14="http://schemas.microsoft.com/office/powerpoint/2010/main" val="15362098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7EDCF4-DB9C-BEAC-E266-53385E1A49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10F81D5-31E4-BBCD-BF0A-97DEDA3F49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MAIS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61FB81CC-EF62-F0E0-13B9-07CCAB63AC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11757" y="2839590"/>
            <a:ext cx="3600450" cy="3333750"/>
          </a:xfrm>
          <a:prstGeom prst="rect">
            <a:avLst/>
          </a:prstGeom>
        </p:spPr>
      </p:pic>
      <p:cxnSp>
        <p:nvCxnSpPr>
          <p:cNvPr id="9" name="Connecteur droit avec flèche 8">
            <a:extLst>
              <a:ext uri="{FF2B5EF4-FFF2-40B4-BE49-F238E27FC236}">
                <a16:creationId xmlns:a16="http://schemas.microsoft.com/office/drawing/2014/main" id="{F600F230-F756-D861-B10D-1EF41ABAE63D}"/>
              </a:ext>
            </a:extLst>
          </p:cNvPr>
          <p:cNvCxnSpPr>
            <a:cxnSpLocks/>
          </p:cNvCxnSpPr>
          <p:nvPr/>
        </p:nvCxnSpPr>
        <p:spPr>
          <a:xfrm flipH="1">
            <a:off x="7400719" y="3287265"/>
            <a:ext cx="621063" cy="6772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eur droit avec flèche 10">
            <a:extLst>
              <a:ext uri="{FF2B5EF4-FFF2-40B4-BE49-F238E27FC236}">
                <a16:creationId xmlns:a16="http://schemas.microsoft.com/office/drawing/2014/main" id="{5C99B829-A9C7-F529-B831-7F133B5B687D}"/>
              </a:ext>
            </a:extLst>
          </p:cNvPr>
          <p:cNvCxnSpPr>
            <a:cxnSpLocks/>
          </p:cNvCxnSpPr>
          <p:nvPr/>
        </p:nvCxnSpPr>
        <p:spPr>
          <a:xfrm flipH="1">
            <a:off x="6787213" y="3418327"/>
            <a:ext cx="1234569" cy="193102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Espace réservé du contenu 2">
            <a:extLst>
              <a:ext uri="{FF2B5EF4-FFF2-40B4-BE49-F238E27FC236}">
                <a16:creationId xmlns:a16="http://schemas.microsoft.com/office/drawing/2014/main" id="{8504D743-3EBA-1D7B-3C33-18D57AB99CB8}"/>
              </a:ext>
            </a:extLst>
          </p:cNvPr>
          <p:cNvSpPr txBox="1">
            <a:spLocks/>
          </p:cNvSpPr>
          <p:nvPr/>
        </p:nvSpPr>
        <p:spPr>
          <a:xfrm>
            <a:off x="8109055" y="2839590"/>
            <a:ext cx="3410361" cy="389113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FR" dirty="0"/>
              <a:t>Entre le r le plus petit et le plus gros, le </a:t>
            </a:r>
            <a:r>
              <a:rPr lang="fr-FR" dirty="0" err="1"/>
              <a:t>posterior</a:t>
            </a:r>
            <a:r>
              <a:rPr lang="fr-FR" dirty="0"/>
              <a:t> BF peut doubler.</a:t>
            </a:r>
          </a:p>
        </p:txBody>
      </p:sp>
    </p:spTree>
    <p:extLst>
      <p:ext uri="{BB962C8B-B14F-4D97-AF65-F5344CB8AC3E}">
        <p14:creationId xmlns:p14="http://schemas.microsoft.com/office/powerpoint/2010/main" val="16724756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52C3D6E-4003-D8D1-CBC2-FFF248E05A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Recommandation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A75138C-35F7-89A2-EF7E-7129C761E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Tester différent </a:t>
            </a:r>
            <a:r>
              <a:rPr lang="fr-FR" dirty="0" err="1"/>
              <a:t>priors</a:t>
            </a:r>
            <a:r>
              <a:rPr lang="fr-FR" dirty="0"/>
              <a:t> de plus en plus robustes, en </a:t>
            </a:r>
            <a:r>
              <a:rPr lang="fr-FR" dirty="0" err="1"/>
              <a:t>commancant</a:t>
            </a:r>
            <a:r>
              <a:rPr lang="fr-FR" dirty="0"/>
              <a:t> par une dispersion de 1 (plus conservatrice qu’un </a:t>
            </a:r>
            <a:r>
              <a:rPr lang="fr-FR" dirty="0" err="1"/>
              <a:t>cauchy</a:t>
            </a:r>
            <a:r>
              <a:rPr lang="fr-FR" dirty="0"/>
              <a:t> à 0.707)</a:t>
            </a:r>
          </a:p>
          <a:p>
            <a:r>
              <a:rPr lang="fr-FR" dirty="0"/>
              <a:t>Augmenter la dispersion pour vérifier a quel point le </a:t>
            </a:r>
            <a:r>
              <a:rPr lang="fr-FR" dirty="0" err="1"/>
              <a:t>posterior</a:t>
            </a:r>
            <a:r>
              <a:rPr lang="fr-FR" dirty="0"/>
              <a:t> est sensible aux spécifications de départ</a:t>
            </a:r>
          </a:p>
          <a:p>
            <a:r>
              <a:rPr lang="fr-FR" dirty="0"/>
              <a:t>Augmenter drastiquement le seuil de BF10, avec un minimum du minimum à 5. Avec un BF10 de 3, le risque de faux positifs est d’environ 65%. Avec un BF10 à 5, le risque sera d’environ 7%.</a:t>
            </a:r>
          </a:p>
          <a:p>
            <a:r>
              <a:rPr lang="fr-FR" dirty="0"/>
              <a:t>Ne pas commencer l’analyse séquentielle sous 20 participants, ce qui permet de réduire drastiquement les risques de biais d’</a:t>
            </a:r>
            <a:r>
              <a:rPr lang="fr-FR" dirty="0" err="1"/>
              <a:t>échantillonage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7755866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E358C4EB-59E5-3EAD-505F-C390583D73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32517" y="650600"/>
            <a:ext cx="6326965" cy="2515164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3640073A-8A70-3089-5151-72816D4A29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3692" y="3935013"/>
            <a:ext cx="4703618" cy="26688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199439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3D6BDC-B20A-8663-1566-83765233FD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B6E5C0C-2344-40FF-91F5-B6AB4A9074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Recommandation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BE75D0B-1FA7-3009-C5C4-B5A73295F5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Tester différent </a:t>
            </a:r>
            <a:r>
              <a:rPr lang="fr-FR" dirty="0" err="1"/>
              <a:t>priors</a:t>
            </a:r>
            <a:r>
              <a:rPr lang="fr-FR" dirty="0"/>
              <a:t> de plus en plus robustes, en </a:t>
            </a:r>
            <a:r>
              <a:rPr lang="fr-FR" dirty="0" err="1"/>
              <a:t>commancant</a:t>
            </a:r>
            <a:r>
              <a:rPr lang="fr-FR" dirty="0"/>
              <a:t> par une dispersion de 1 (plus conservatrice qu’un </a:t>
            </a:r>
            <a:r>
              <a:rPr lang="fr-FR" dirty="0" err="1"/>
              <a:t>cauchy</a:t>
            </a:r>
            <a:r>
              <a:rPr lang="fr-FR" dirty="0"/>
              <a:t> à 0.707)</a:t>
            </a:r>
          </a:p>
          <a:p>
            <a:r>
              <a:rPr lang="fr-FR" dirty="0"/>
              <a:t>Augmenter la dispersion pour vérifier a quel point le </a:t>
            </a:r>
            <a:r>
              <a:rPr lang="fr-FR" dirty="0" err="1"/>
              <a:t>posterior</a:t>
            </a:r>
            <a:r>
              <a:rPr lang="fr-FR" dirty="0"/>
              <a:t> est sensible aux spécifications de départ</a:t>
            </a:r>
          </a:p>
          <a:p>
            <a:r>
              <a:rPr lang="fr-FR" dirty="0"/>
              <a:t>Augmenter drastiquement le seuil de BF10, avec un minimum du minimum à 5. Avec un BF10 de 3, le risque de faux positifs est d’environ 65%. Avec un BF10 à 5, le risque sera d’environ 7%.</a:t>
            </a:r>
          </a:p>
          <a:p>
            <a:r>
              <a:rPr lang="fr-FR" dirty="0"/>
              <a:t>Ne pas commencer l’analyse séquentielle sous 20 participants, ce qui permet de réduire drastiquement les risques de biais d’</a:t>
            </a:r>
            <a:r>
              <a:rPr lang="fr-FR" dirty="0" err="1"/>
              <a:t>échantillonage</a:t>
            </a:r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4DB3525F-8CE0-5785-8D24-BDCB1EF9E6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5478" y="2897945"/>
            <a:ext cx="5207210" cy="3545058"/>
          </a:xfrm>
          <a:prstGeom prst="rect">
            <a:avLst/>
          </a:prstGeom>
        </p:spPr>
      </p:pic>
      <p:cxnSp>
        <p:nvCxnSpPr>
          <p:cNvPr id="7" name="Connecteur droit avec flèche 6">
            <a:extLst>
              <a:ext uri="{FF2B5EF4-FFF2-40B4-BE49-F238E27FC236}">
                <a16:creationId xmlns:a16="http://schemas.microsoft.com/office/drawing/2014/main" id="{86E26E08-D712-92D1-6C0E-192AABB6C9D1}"/>
              </a:ext>
            </a:extLst>
          </p:cNvPr>
          <p:cNvCxnSpPr/>
          <p:nvPr/>
        </p:nvCxnSpPr>
        <p:spPr>
          <a:xfrm flipH="1" flipV="1">
            <a:off x="5233182" y="3263705"/>
            <a:ext cx="2560320" cy="16529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ZoneTexte 7">
            <a:extLst>
              <a:ext uri="{FF2B5EF4-FFF2-40B4-BE49-F238E27FC236}">
                <a16:creationId xmlns:a16="http://schemas.microsoft.com/office/drawing/2014/main" id="{272A7565-5109-E19B-A28D-83F4F15EABEC}"/>
              </a:ext>
            </a:extLst>
          </p:cNvPr>
          <p:cNvSpPr txBox="1"/>
          <p:nvPr/>
        </p:nvSpPr>
        <p:spPr>
          <a:xfrm>
            <a:off x="8063345" y="3263705"/>
            <a:ext cx="3158837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GROS PROBLEME:</a:t>
            </a:r>
          </a:p>
          <a:p>
            <a:endParaRPr lang="fr-FR" dirty="0"/>
          </a:p>
          <a:p>
            <a:r>
              <a:rPr lang="fr-FR" dirty="0"/>
              <a:t>Impossible de modifier le </a:t>
            </a:r>
            <a:r>
              <a:rPr lang="fr-FR" dirty="0" err="1"/>
              <a:t>prior</a:t>
            </a:r>
            <a:r>
              <a:rPr lang="fr-FR" dirty="0"/>
              <a:t> sur JASP</a:t>
            </a:r>
          </a:p>
          <a:p>
            <a:endParaRPr lang="fr-FR" dirty="0"/>
          </a:p>
          <a:p>
            <a:r>
              <a:rPr lang="fr-FR" dirty="0"/>
              <a:t>Possible sur R avec le package </a:t>
            </a:r>
            <a:r>
              <a:rPr lang="fr-FR" dirty="0" err="1"/>
              <a:t>BayesFactor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75858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E3EAF17-B56E-0EED-DA3E-B6FAF6A940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F4FF4E6-303A-E5B8-297C-35858B498D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EC70D58E-889B-193C-AB05-A054FD701E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3982" y="547909"/>
            <a:ext cx="7160538" cy="5629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9976895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237</TotalTime>
  <Words>884</Words>
  <Application>Microsoft Office PowerPoint</Application>
  <PresentationFormat>Widescreen</PresentationFormat>
  <Paragraphs>88</Paragraphs>
  <Slides>27</Slides>
  <Notes>4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28" baseType="lpstr">
      <vt:lpstr>Thème Office</vt:lpstr>
      <vt:lpstr>Analyses séquentielles et optional stopping</vt:lpstr>
      <vt:lpstr>Analyses séquentielles</vt:lpstr>
      <vt:lpstr>Optional Stopping</vt:lpstr>
      <vt:lpstr>Eviter l’optional stopping ?</vt:lpstr>
      <vt:lpstr>H0 accepté</vt:lpstr>
      <vt:lpstr>H0 accepté</vt:lpstr>
      <vt:lpstr>H0 accepté</vt:lpstr>
      <vt:lpstr>H0 accepté</vt:lpstr>
      <vt:lpstr>H0 accepté</vt:lpstr>
      <vt:lpstr>H0 accepté</vt:lpstr>
      <vt:lpstr>H0 accepté</vt:lpstr>
      <vt:lpstr>H0 accepté</vt:lpstr>
      <vt:lpstr>H0 accepté</vt:lpstr>
      <vt:lpstr>H0 accepté</vt:lpstr>
      <vt:lpstr>PowerPoint Presentation</vt:lpstr>
      <vt:lpstr>PowerPoint Presentation</vt:lpstr>
      <vt:lpstr>PowerPoint Presentation</vt:lpstr>
      <vt:lpstr>H0 accepté</vt:lpstr>
      <vt:lpstr>Source :</vt:lpstr>
      <vt:lpstr>Et en analyse bayésienne</vt:lpstr>
      <vt:lpstr>Et en analyse bayésienne</vt:lpstr>
      <vt:lpstr>Et en analyse bayésienne</vt:lpstr>
      <vt:lpstr>MAIS</vt:lpstr>
      <vt:lpstr>Recommandation</vt:lpstr>
      <vt:lpstr>PowerPoint Presentation</vt:lpstr>
      <vt:lpstr>Recommandation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adrien fillon</dc:creator>
  <cp:lastModifiedBy>adrien fillon</cp:lastModifiedBy>
  <cp:revision>2</cp:revision>
  <dcterms:created xsi:type="dcterms:W3CDTF">2025-04-07T08:31:28Z</dcterms:created>
  <dcterms:modified xsi:type="dcterms:W3CDTF">2025-05-30T13:08:51Z</dcterms:modified>
</cp:coreProperties>
</file>